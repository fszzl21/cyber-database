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1" r:id="rId1"/>
  </p:sldMasterIdLst>
  <p:notesMasterIdLst>
    <p:notesMasterId r:id="rId39"/>
  </p:notesMasterIdLst>
  <p:sldIdLst>
    <p:sldId id="256" r:id="rId2"/>
    <p:sldId id="257" r:id="rId3"/>
    <p:sldId id="292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94" r:id="rId16"/>
    <p:sldId id="273" r:id="rId17"/>
    <p:sldId id="274" r:id="rId18"/>
    <p:sldId id="275" r:id="rId19"/>
    <p:sldId id="276" r:id="rId20"/>
    <p:sldId id="277" r:id="rId21"/>
    <p:sldId id="278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91" r:id="rId30"/>
    <p:sldId id="287" r:id="rId31"/>
    <p:sldId id="288" r:id="rId32"/>
    <p:sldId id="258" r:id="rId33"/>
    <p:sldId id="375" r:id="rId34"/>
    <p:sldId id="376" r:id="rId35"/>
    <p:sldId id="377" r:id="rId36"/>
    <p:sldId id="290" r:id="rId37"/>
    <p:sldId id="259" r:id="rId38"/>
  </p:sldIdLst>
  <p:sldSz cx="9144000" cy="5143500" type="screen16x9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6">
          <p15:clr>
            <a:srgbClr val="A4A3A4"/>
          </p15:clr>
        </p15:guide>
        <p15:guide id="4" pos="28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0" autoAdjust="0"/>
    <p:restoredTop sz="86457" autoAdjust="0"/>
  </p:normalViewPr>
  <p:slideViewPr>
    <p:cSldViewPr snapToGrid="0" snapToObjects="1" showGuides="1">
      <p:cViewPr varScale="1">
        <p:scale>
          <a:sx n="120" d="100"/>
          <a:sy n="120" d="100"/>
        </p:scale>
        <p:origin x="234" y="108"/>
      </p:cViewPr>
      <p:guideLst>
        <p:guide orient="horz" pos="2160"/>
        <p:guide pos="2880"/>
        <p:guide orient="horz" pos="1626"/>
        <p:guide pos="28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A605D3-16DF-DF43-AE35-A9E379D47CEE}" type="datetimeFigureOut">
              <a:rPr lang="nl-NL" smtClean="0"/>
              <a:t>9-9-2025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FEC66-6BFA-9A4F-8C14-93D2FB19A68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019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9353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Stateless: </a:t>
            </a:r>
            <a:r>
              <a:rPr lang="en-US" dirty="0" err="1"/>
              <a:t>komt</a:t>
            </a:r>
            <a:r>
              <a:rPr lang="en-US" dirty="0"/>
              <a:t> in sheet</a:t>
            </a:r>
            <a:r>
              <a:rPr lang="en-US" baseline="0" dirty="0"/>
              <a:t> 6 </a:t>
            </a:r>
            <a:r>
              <a:rPr lang="en-US" baseline="0" dirty="0" err="1"/>
              <a:t>terug</a:t>
            </a:r>
            <a:endParaRPr lang="en-US" baseline="0" dirty="0"/>
          </a:p>
          <a:p>
            <a:r>
              <a:rPr lang="en-US" baseline="0" dirty="0"/>
              <a:t>We </a:t>
            </a:r>
            <a:r>
              <a:rPr lang="en-US" baseline="0" dirty="0" err="1"/>
              <a:t>noemen</a:t>
            </a:r>
            <a:r>
              <a:rPr lang="en-US" baseline="0" dirty="0"/>
              <a:t> </a:t>
            </a:r>
            <a:r>
              <a:rPr lang="en-US" baseline="0" dirty="0" err="1"/>
              <a:t>hier</a:t>
            </a:r>
            <a:r>
              <a:rPr lang="en-US" baseline="0" dirty="0"/>
              <a:t> </a:t>
            </a:r>
            <a:r>
              <a:rPr lang="en-US" baseline="0" dirty="0" err="1"/>
              <a:t>wel</a:t>
            </a:r>
            <a:r>
              <a:rPr lang="en-US" baseline="0" dirty="0"/>
              <a:t> even HTTP/2 maar </a:t>
            </a:r>
            <a:r>
              <a:rPr lang="en-US" baseline="0" dirty="0" err="1"/>
              <a:t>behandelen</a:t>
            </a:r>
            <a:r>
              <a:rPr lang="en-US" baseline="0" dirty="0"/>
              <a:t> </a:t>
            </a:r>
            <a:r>
              <a:rPr lang="en-US" baseline="0" dirty="0" err="1"/>
              <a:t>verder</a:t>
            </a:r>
            <a:r>
              <a:rPr lang="en-US" baseline="0" dirty="0"/>
              <a:t> HTTP/1.1 </a:t>
            </a:r>
            <a:r>
              <a:rPr lang="en-US" baseline="0" dirty="0" err="1"/>
              <a:t>aangezien</a:t>
            </a:r>
            <a:r>
              <a:rPr lang="en-US" baseline="0" dirty="0"/>
              <a:t> de </a:t>
            </a:r>
            <a:r>
              <a:rPr lang="en-US" baseline="0" dirty="0" err="1"/>
              <a:t>principes</a:t>
            </a:r>
            <a:r>
              <a:rPr lang="en-US" baseline="0" dirty="0"/>
              <a:t> </a:t>
            </a:r>
            <a:r>
              <a:rPr lang="en-US" baseline="0" dirty="0" err="1"/>
              <a:t>daarvan</a:t>
            </a:r>
            <a:r>
              <a:rPr lang="en-US" baseline="0" dirty="0"/>
              <a:t> </a:t>
            </a:r>
            <a:r>
              <a:rPr lang="en-US" baseline="0" dirty="0" err="1"/>
              <a:t>blijven</a:t>
            </a:r>
            <a:r>
              <a:rPr lang="en-US" baseline="0" dirty="0"/>
              <a:t> </a:t>
            </a:r>
            <a:r>
              <a:rPr lang="en-US" baseline="0" dirty="0" err="1"/>
              <a:t>gelden</a:t>
            </a:r>
            <a:r>
              <a:rPr lang="en-US" baseline="0" dirty="0"/>
              <a:t>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91583026-8B91-45F6-8F66-DF8008DBAF58}" type="datetime1">
              <a:rPr lang="en-US" altLang="nl-NL" smtClean="0"/>
              <a:pPr>
                <a:defRPr/>
              </a:pPr>
              <a:t>9/9/2025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DDA7E93-3876-45DD-A94F-BAB3F2885A38}" type="slidenum">
              <a:rPr lang="en-US" altLang="nl-NL" smtClean="0"/>
              <a:pPr/>
              <a:t>4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797654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Bron</a:t>
            </a:r>
            <a:r>
              <a:rPr lang="en-US" dirty="0"/>
              <a:t> </a:t>
            </a:r>
            <a:r>
              <a:rPr lang="en-US" dirty="0" err="1"/>
              <a:t>illustratie</a:t>
            </a:r>
            <a:r>
              <a:rPr lang="en-US" dirty="0"/>
              <a:t>:</a:t>
            </a:r>
            <a:r>
              <a:rPr lang="en-US" baseline="0" dirty="0"/>
              <a:t> </a:t>
            </a:r>
            <a:r>
              <a:rPr lang="en-US" baseline="0" dirty="0" err="1"/>
              <a:t>onbekend</a:t>
            </a:r>
            <a:r>
              <a:rPr lang="en-US" baseline="0" dirty="0"/>
              <a:t>, </a:t>
            </a:r>
            <a:r>
              <a:rPr lang="en-US" baseline="0" dirty="0" err="1"/>
              <a:t>gebruikt</a:t>
            </a:r>
            <a:r>
              <a:rPr lang="en-US" baseline="0" dirty="0"/>
              <a:t> </a:t>
            </a:r>
            <a:r>
              <a:rPr lang="en-US" baseline="0" dirty="0" err="1"/>
              <a:t>onder</a:t>
            </a:r>
            <a:r>
              <a:rPr lang="en-US" baseline="0" dirty="0"/>
              <a:t> fair use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588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Omschrijving</a:t>
            </a:r>
            <a:r>
              <a:rPr lang="en-US" dirty="0"/>
              <a:t> ‘stateless’ in RFC 7230: “each request message can be understood in isolation” (RFC 7230, Hypertext Transfer Protocol (HTTP/1.1): Message Syntax and Routing)</a:t>
            </a:r>
          </a:p>
          <a:p>
            <a:r>
              <a:rPr lang="en-US" dirty="0" err="1"/>
              <a:t>Omschrijving</a:t>
            </a:r>
            <a:r>
              <a:rPr lang="en-US" dirty="0"/>
              <a:t> ‘stateless’ in RFC 7235: “all of the information necessary to authenticate a request MUST be provided in the request, rather than be dependent on the server remembering prior requests” (RFC 7235,</a:t>
            </a:r>
            <a:r>
              <a:rPr lang="en-US" baseline="0" dirty="0"/>
              <a:t> Hypertext Transfer Protocol (HTTP/1.1): Authentication)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91583026-8B91-45F6-8F66-DF8008DBAF58}" type="datetime1">
              <a:rPr lang="en-US" altLang="nl-NL" smtClean="0"/>
              <a:pPr>
                <a:defRPr/>
              </a:pPr>
              <a:t>9/9/2025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DDA7E93-3876-45DD-A94F-BAB3F2885A38}" type="slidenum">
              <a:rPr lang="en-US" altLang="nl-NL" smtClean="0"/>
              <a:pPr/>
              <a:t>6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927906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Voorbeeld uit 2016, maar er zijn steeds minder websites die op poort 80 niet antwoorden met alleen een </a:t>
            </a:r>
            <a:r>
              <a:rPr lang="nl-NL" dirty="0" err="1"/>
              <a:t>redirect</a:t>
            </a:r>
            <a:r>
              <a:rPr lang="nl-NL" dirty="0"/>
              <a:t> (naar HTTPS)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5421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Getoonde output kan verkregen worden met </a:t>
            </a:r>
            <a:r>
              <a:rPr lang="nl-NL" i="0" dirty="0" err="1"/>
              <a:t>curl</a:t>
            </a:r>
            <a:r>
              <a:rPr lang="nl-NL" i="0" dirty="0"/>
              <a:t> -v of met </a:t>
            </a:r>
            <a:r>
              <a:rPr lang="nl-NL" dirty="0"/>
              <a:t>een </a:t>
            </a:r>
            <a:r>
              <a:rPr lang="nl-NL" i="1" dirty="0" err="1"/>
              <a:t>packet</a:t>
            </a:r>
            <a:r>
              <a:rPr lang="nl-NL" i="1" dirty="0"/>
              <a:t> analyzer</a:t>
            </a:r>
            <a:r>
              <a:rPr lang="nl-NL" i="0" dirty="0"/>
              <a:t>, bijvoorbeeld </a:t>
            </a:r>
            <a:r>
              <a:rPr lang="nl-NL" i="0" dirty="0" err="1"/>
              <a:t>Wireshark</a:t>
            </a:r>
            <a:r>
              <a:rPr lang="nl-NL" i="0" dirty="0"/>
              <a:t>, maar kan ook geproduceerd worden met </a:t>
            </a:r>
            <a:r>
              <a:rPr lang="nl-NL" i="0" dirty="0" err="1"/>
              <a:t>ncat</a:t>
            </a:r>
            <a:r>
              <a:rPr lang="nl-NL" i="0" dirty="0"/>
              <a:t>, bijvoorbeeld:</a:t>
            </a:r>
          </a:p>
          <a:p>
            <a:pPr lvl="1"/>
            <a:r>
              <a:rPr lang="fr-FR" sz="1800" dirty="0">
                <a:solidFill>
                  <a:prstClr val="black"/>
                </a:solidFill>
                <a:latin typeface="Consolas" panose="020B0609020204030204" pitchFamily="49" charset="0"/>
              </a:rPr>
              <a:t>$ </a:t>
            </a:r>
            <a:r>
              <a:rPr lang="fr-FR" sz="1800" dirty="0" err="1">
                <a:solidFill>
                  <a:prstClr val="black"/>
                </a:solidFill>
                <a:latin typeface="Consolas" panose="020B0609020204030204" pitchFamily="49" charset="0"/>
              </a:rPr>
              <a:t>nc</a:t>
            </a:r>
            <a:r>
              <a:rPr lang="fr-FR" sz="1800" dirty="0">
                <a:solidFill>
                  <a:prstClr val="black"/>
                </a:solidFill>
                <a:latin typeface="Consolas" panose="020B0609020204030204" pitchFamily="49" charset="0"/>
              </a:rPr>
              <a:t> www.hu.nl 80</a:t>
            </a:r>
          </a:p>
          <a:p>
            <a:pPr lvl="1"/>
            <a:r>
              <a:rPr lang="nl-NL" sz="1800" dirty="0">
                <a:solidFill>
                  <a:prstClr val="black"/>
                </a:solidFill>
                <a:latin typeface="Consolas" panose="020B0609020204030204" pitchFamily="49" charset="0"/>
              </a:rPr>
              <a:t>GET / HTTP/1.1</a:t>
            </a:r>
          </a:p>
          <a:p>
            <a:pPr lvl="1"/>
            <a:r>
              <a:rPr lang="nl-NL" sz="1800" dirty="0">
                <a:solidFill>
                  <a:prstClr val="black"/>
                </a:solidFill>
                <a:latin typeface="Consolas" panose="020B0609020204030204" pitchFamily="49" charset="0"/>
              </a:rPr>
              <a:t>Host: www.hu.nl</a:t>
            </a:r>
          </a:p>
          <a:p>
            <a:pPr lvl="1"/>
            <a:r>
              <a:rPr lang="nl-NL" sz="1800" dirty="0">
                <a:solidFill>
                  <a:prstClr val="black"/>
                </a:solidFill>
                <a:latin typeface="Consolas" panose="020B0609020204030204" pitchFamily="49" charset="0"/>
              </a:rPr>
              <a:t>User-Agent: </a:t>
            </a:r>
            <a:r>
              <a:rPr lang="nl-NL" sz="1800" dirty="0" err="1">
                <a:solidFill>
                  <a:prstClr val="black"/>
                </a:solidFill>
                <a:latin typeface="Consolas" panose="020B0609020204030204" pitchFamily="49" charset="0"/>
              </a:rPr>
              <a:t>nc</a:t>
            </a:r>
            <a:endParaRPr lang="nl-NL" sz="18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1"/>
            <a:r>
              <a:rPr lang="nl-NL" sz="1800" dirty="0">
                <a:solidFill>
                  <a:prstClr val="black"/>
                </a:solidFill>
                <a:latin typeface="Consolas" panose="020B0609020204030204" pitchFamily="49" charset="0"/>
              </a:rPr>
              <a:t>Accept: */*</a:t>
            </a:r>
          </a:p>
          <a:p>
            <a:endParaRPr lang="nl-NL" sz="18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nl-NL" dirty="0"/>
              <a:t>Weliswaar komt dan een </a:t>
            </a:r>
            <a:r>
              <a:rPr lang="nl-NL" i="1" dirty="0" err="1"/>
              <a:t>redirection</a:t>
            </a:r>
            <a:r>
              <a:rPr lang="nl-NL" dirty="0"/>
              <a:t> naar HTTPS terug, maar het heeft dan al wel gewerkt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12611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41732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Bron</a:t>
            </a:r>
            <a:r>
              <a:rPr lang="en-US" dirty="0"/>
              <a:t> </a:t>
            </a:r>
            <a:r>
              <a:rPr lang="en-US" dirty="0" err="1"/>
              <a:t>illustraties</a:t>
            </a:r>
            <a:r>
              <a:rPr lang="en-US" dirty="0"/>
              <a:t>: </a:t>
            </a:r>
            <a:r>
              <a:rPr lang="en-US" dirty="0" err="1"/>
              <a:t>eigen</a:t>
            </a:r>
            <a:r>
              <a:rPr lang="en-US" dirty="0"/>
              <a:t> screenshots</a:t>
            </a:r>
          </a:p>
          <a:p>
            <a:endParaRPr lang="en-US" dirty="0"/>
          </a:p>
          <a:p>
            <a:r>
              <a:rPr lang="en-US" dirty="0" err="1"/>
              <a:t>Opvragen</a:t>
            </a:r>
            <a:r>
              <a:rPr lang="en-US" baseline="0" dirty="0"/>
              <a:t> van http://webwereld.nl/development/90315-tijd-om-php-aan-de-wilgen-te-hangen </a:t>
            </a:r>
            <a:r>
              <a:rPr lang="en-US" baseline="0" dirty="0" err="1"/>
              <a:t>resulteert</a:t>
            </a:r>
            <a:r>
              <a:rPr lang="en-US" baseline="0" dirty="0"/>
              <a:t> </a:t>
            </a:r>
            <a:r>
              <a:rPr lang="en-US" baseline="0" dirty="0" err="1"/>
              <a:t>tegenwoordig</a:t>
            </a:r>
            <a:r>
              <a:rPr lang="en-US" baseline="0" dirty="0"/>
              <a:t> in </a:t>
            </a:r>
            <a:r>
              <a:rPr lang="en-US" baseline="0" dirty="0" err="1"/>
              <a:t>een</a:t>
            </a:r>
            <a:r>
              <a:rPr lang="en-US" baseline="0" dirty="0"/>
              <a:t> 302 redirect </a:t>
            </a:r>
            <a:r>
              <a:rPr lang="en-US" baseline="0" dirty="0" err="1"/>
              <a:t>naar</a:t>
            </a:r>
            <a:r>
              <a:rPr lang="en-US" baseline="0" dirty="0"/>
              <a:t> de HTTPS </a:t>
            </a:r>
            <a:r>
              <a:rPr lang="en-US" baseline="0" dirty="0" err="1"/>
              <a:t>versie</a:t>
            </a:r>
            <a:r>
              <a:rPr lang="en-US" baseline="0" dirty="0"/>
              <a:t>.</a:t>
            </a:r>
          </a:p>
          <a:p>
            <a:r>
              <a:rPr lang="en-US" baseline="0" dirty="0"/>
              <a:t>“curl </a:t>
            </a:r>
            <a:r>
              <a:rPr lang="en-US" b="1" baseline="0" dirty="0"/>
              <a:t>-L</a:t>
            </a:r>
            <a:r>
              <a:rPr lang="en-US" b="0" baseline="0" dirty="0"/>
              <a:t> http://webwereld.nl/development/90315-tijd-om-php-aan-de-wilgen-te-hangen”</a:t>
            </a:r>
            <a:r>
              <a:rPr lang="en-US" baseline="0" dirty="0"/>
              <a:t> </a:t>
            </a:r>
            <a:r>
              <a:rPr lang="en-US" baseline="0" dirty="0" err="1"/>
              <a:t>volgt</a:t>
            </a:r>
            <a:r>
              <a:rPr lang="en-US" baseline="0" dirty="0"/>
              <a:t> de redirect</a:t>
            </a:r>
          </a:p>
          <a:p>
            <a:r>
              <a:rPr lang="en-US" baseline="0" dirty="0"/>
              <a:t>Het PowerShell </a:t>
            </a:r>
            <a:r>
              <a:rPr lang="en-US" baseline="0" dirty="0" err="1"/>
              <a:t>voorbeeld</a:t>
            </a:r>
            <a:r>
              <a:rPr lang="en-US" baseline="0" dirty="0"/>
              <a:t> </a:t>
            </a:r>
            <a:r>
              <a:rPr lang="en-US" baseline="0" dirty="0" err="1"/>
              <a:t>volgt</a:t>
            </a:r>
            <a:r>
              <a:rPr lang="en-US" baseline="0" dirty="0"/>
              <a:t> de redirect maar </a:t>
            </a:r>
            <a:r>
              <a:rPr lang="en-US" baseline="0" dirty="0" err="1"/>
              <a:t>werkt</a:t>
            </a:r>
            <a:r>
              <a:rPr lang="en-US" baseline="0" dirty="0"/>
              <a:t> </a:t>
            </a:r>
            <a:r>
              <a:rPr lang="en-US" baseline="0" dirty="0" err="1"/>
              <a:t>alleen</a:t>
            </a:r>
            <a:r>
              <a:rPr lang="en-US" baseline="0" dirty="0"/>
              <a:t> </a:t>
            </a:r>
            <a:r>
              <a:rPr lang="en-US" baseline="0" dirty="0" err="1"/>
              <a:t>als</a:t>
            </a:r>
            <a:r>
              <a:rPr lang="en-US" baseline="0" dirty="0"/>
              <a:t> </a:t>
            </a:r>
            <a:r>
              <a:rPr lang="en-US" baseline="0" dirty="0" err="1"/>
              <a:t>eerst</a:t>
            </a:r>
            <a:r>
              <a:rPr lang="en-US" baseline="0" dirty="0"/>
              <a:t> de </a:t>
            </a:r>
            <a:r>
              <a:rPr lang="en-US" baseline="0" dirty="0" err="1"/>
              <a:t>volgende</a:t>
            </a:r>
            <a:r>
              <a:rPr lang="en-US" baseline="0" dirty="0"/>
              <a:t> setting </a:t>
            </a:r>
            <a:r>
              <a:rPr lang="en-US" baseline="0" dirty="0" err="1"/>
              <a:t>wordt</a:t>
            </a:r>
            <a:r>
              <a:rPr lang="en-US" baseline="0" dirty="0"/>
              <a:t> </a:t>
            </a:r>
            <a:r>
              <a:rPr lang="en-US" baseline="0" dirty="0" err="1"/>
              <a:t>doorgevoerd</a:t>
            </a:r>
            <a:r>
              <a:rPr lang="en-US" baseline="0" dirty="0"/>
              <a:t>: “[</a:t>
            </a:r>
            <a:r>
              <a:rPr lang="en-US" baseline="0" dirty="0" err="1"/>
              <a:t>Net.ServicePointManager</a:t>
            </a:r>
            <a:r>
              <a:rPr lang="en-US" baseline="0" dirty="0"/>
              <a:t>]::</a:t>
            </a:r>
            <a:r>
              <a:rPr lang="en-US" baseline="0" dirty="0" err="1"/>
              <a:t>SecurityProtocol</a:t>
            </a:r>
            <a:r>
              <a:rPr lang="en-US" baseline="0" dirty="0"/>
              <a:t> = [</a:t>
            </a:r>
            <a:r>
              <a:rPr lang="en-US" baseline="0" dirty="0" err="1"/>
              <a:t>Net.SecurityProtocolType</a:t>
            </a:r>
            <a:r>
              <a:rPr lang="en-US" baseline="0" dirty="0"/>
              <a:t>]::Tls12”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“</a:t>
            </a:r>
            <a:r>
              <a:rPr lang="en-US" baseline="0" dirty="0" err="1"/>
              <a:t>wget</a:t>
            </a:r>
            <a:r>
              <a:rPr lang="en-US" baseline="0" dirty="0"/>
              <a:t> http://webwereld.nl/development/90315-tijd-om-php-aan-de-wilgen-te-hangen” </a:t>
            </a:r>
            <a:r>
              <a:rPr lang="en-US" baseline="0" dirty="0" err="1"/>
              <a:t>volgt</a:t>
            </a:r>
            <a:r>
              <a:rPr lang="en-US" baseline="0" dirty="0"/>
              <a:t> de redirect </a:t>
            </a:r>
            <a:r>
              <a:rPr lang="en-US" i="1" baseline="0" dirty="0"/>
              <a:t>by default</a:t>
            </a:r>
            <a:endParaRPr lang="en-US" baseline="0" dirty="0"/>
          </a:p>
          <a:p>
            <a:r>
              <a:rPr lang="en-US" dirty="0"/>
              <a:t>Het Python </a:t>
            </a:r>
            <a:r>
              <a:rPr lang="en-US" dirty="0" err="1"/>
              <a:t>voorbeeld</a:t>
            </a:r>
            <a:r>
              <a:rPr lang="en-US" dirty="0"/>
              <a:t> </a:t>
            </a:r>
            <a:r>
              <a:rPr lang="en-US" dirty="0" err="1"/>
              <a:t>werkt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gekozen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http.client.HTTP</a:t>
            </a:r>
            <a:r>
              <a:rPr lang="en-US" b="1" dirty="0" err="1"/>
              <a:t>S</a:t>
            </a:r>
            <a:r>
              <a:rPr lang="en-US" b="0" dirty="0" err="1"/>
              <a:t>Connection</a:t>
            </a:r>
            <a:r>
              <a:rPr lang="en-US" b="0" baseline="0" dirty="0"/>
              <a:t> in </a:t>
            </a:r>
            <a:r>
              <a:rPr lang="en-US" b="0" baseline="0" dirty="0" err="1"/>
              <a:t>plaats</a:t>
            </a:r>
            <a:r>
              <a:rPr lang="en-US" b="0" baseline="0" dirty="0"/>
              <a:t> van </a:t>
            </a:r>
            <a:r>
              <a:rPr lang="en-US" b="0" baseline="0" dirty="0" err="1"/>
              <a:t>http.client.HTTPConnection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8662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91583026-8B91-45F6-8F66-DF8008DBAF58}" type="datetime1">
              <a:rPr lang="en-US" altLang="nl-NL" smtClean="0"/>
              <a:pPr>
                <a:defRPr/>
              </a:pPr>
              <a:t>9/9/2025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DDA7E93-3876-45DD-A94F-BAB3F2885A38}" type="slidenum">
              <a:rPr lang="en-US" altLang="nl-NL" smtClean="0"/>
              <a:pPr/>
              <a:t>11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2618056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Bron</a:t>
            </a:r>
            <a:r>
              <a:rPr lang="en-US" dirty="0"/>
              <a:t> </a:t>
            </a:r>
            <a:r>
              <a:rPr lang="en-US" dirty="0" err="1"/>
              <a:t>illustratie</a:t>
            </a:r>
            <a:r>
              <a:rPr lang="en-US" dirty="0"/>
              <a:t>: © 2009</a:t>
            </a:r>
            <a:r>
              <a:rPr lang="en-US" baseline="0" dirty="0"/>
              <a:t> </a:t>
            </a:r>
            <a:r>
              <a:rPr lang="en-US" dirty="0"/>
              <a:t>Sun Microsystems</a:t>
            </a:r>
            <a:r>
              <a:rPr lang="en-US" baseline="0" dirty="0"/>
              <a:t> Inc.</a:t>
            </a:r>
            <a:r>
              <a:rPr lang="en-US" dirty="0"/>
              <a:t>, Sun Java System Web Server 6.1 SP12 Administrator's Guide (</a:t>
            </a:r>
            <a:r>
              <a:rPr lang="en-US" dirty="0" err="1"/>
              <a:t>gearchiveerd</a:t>
            </a:r>
            <a:r>
              <a:rPr lang="en-US" dirty="0"/>
              <a:t> </a:t>
            </a:r>
            <a:r>
              <a:rPr lang="en-US" dirty="0" err="1"/>
              <a:t>onder</a:t>
            </a:r>
            <a:r>
              <a:rPr lang="en-US" dirty="0"/>
              <a:t> https://docs.oracle.com/cd/E19857-01/) </a:t>
            </a:r>
            <a:r>
              <a:rPr lang="en-US" dirty="0" err="1"/>
              <a:t>gebruikt</a:t>
            </a:r>
            <a:r>
              <a:rPr lang="en-US" baseline="0" dirty="0"/>
              <a:t> </a:t>
            </a:r>
            <a:r>
              <a:rPr lang="en-US" dirty="0" err="1"/>
              <a:t>onder</a:t>
            </a:r>
            <a:r>
              <a:rPr lang="en-US" dirty="0"/>
              <a:t> fair use</a:t>
            </a:r>
            <a:endParaRPr lang="nl-N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91583026-8B91-45F6-8F66-DF8008DBAF58}" type="datetime1">
              <a:rPr lang="en-US" altLang="nl-NL" smtClean="0"/>
              <a:pPr>
                <a:defRPr/>
              </a:pPr>
              <a:t>9/9/2025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DDA7E93-3876-45DD-A94F-BAB3F2885A38}" type="slidenum">
              <a:rPr lang="en-US" altLang="nl-NL" smtClean="0"/>
              <a:pPr/>
              <a:t>12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9621995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Bron</a:t>
            </a:r>
            <a:r>
              <a:rPr lang="en-US" dirty="0"/>
              <a:t> </a:t>
            </a:r>
            <a:r>
              <a:rPr lang="en-US" dirty="0" err="1"/>
              <a:t>illustratie</a:t>
            </a:r>
            <a:r>
              <a:rPr lang="en-US" dirty="0"/>
              <a:t>:</a:t>
            </a:r>
            <a:r>
              <a:rPr lang="en-US" baseline="0" dirty="0"/>
              <a:t> </a:t>
            </a:r>
            <a:r>
              <a:rPr lang="en-US" baseline="0" dirty="0" err="1"/>
              <a:t>onbekend</a:t>
            </a:r>
            <a:r>
              <a:rPr lang="en-US" baseline="0" dirty="0"/>
              <a:t>, </a:t>
            </a:r>
            <a:r>
              <a:rPr lang="en-US" baseline="0" dirty="0" err="1"/>
              <a:t>gebruikt</a:t>
            </a:r>
            <a:r>
              <a:rPr lang="en-US" baseline="0" dirty="0"/>
              <a:t> </a:t>
            </a:r>
            <a:r>
              <a:rPr lang="en-US" baseline="0" dirty="0" err="1"/>
              <a:t>onder</a:t>
            </a:r>
            <a:r>
              <a:rPr lang="en-US" baseline="0" dirty="0"/>
              <a:t> fair use</a:t>
            </a:r>
          </a:p>
          <a:p>
            <a:endParaRPr lang="en-US" baseline="0" dirty="0"/>
          </a:p>
          <a:p>
            <a:r>
              <a:rPr lang="en-US" dirty="0" err="1"/>
              <a:t>Algemene</a:t>
            </a:r>
            <a:r>
              <a:rPr lang="en-US" baseline="0" dirty="0"/>
              <a:t> </a:t>
            </a:r>
            <a:r>
              <a:rPr lang="en-US" baseline="0" dirty="0" err="1"/>
              <a:t>definitie</a:t>
            </a:r>
            <a:r>
              <a:rPr lang="en-US" baseline="0" dirty="0"/>
              <a:t> van </a:t>
            </a:r>
            <a:r>
              <a:rPr lang="en-US" i="1" baseline="0" dirty="0"/>
              <a:t>proxy</a:t>
            </a:r>
            <a:r>
              <a:rPr lang="en-US" i="0" baseline="0" dirty="0"/>
              <a:t> in Merriam-Webster </a:t>
            </a:r>
            <a:r>
              <a:rPr lang="en-US" i="0" baseline="0" dirty="0" err="1"/>
              <a:t>woordenboek</a:t>
            </a:r>
            <a:r>
              <a:rPr lang="en-US" i="0" baseline="0" dirty="0"/>
              <a:t> (via https://www.merriam-webster.com/dictionary/proxy):</a:t>
            </a:r>
          </a:p>
          <a:p>
            <a:r>
              <a:rPr lang="en-US" b="1" dirty="0"/>
              <a:t>“Definition of </a:t>
            </a:r>
            <a:r>
              <a:rPr lang="en-US" b="1" i="1" dirty="0"/>
              <a:t>proxy</a:t>
            </a:r>
            <a:endParaRPr lang="en-US" b="1" dirty="0"/>
          </a:p>
          <a:p>
            <a:r>
              <a:rPr lang="en-US" b="1" dirty="0"/>
              <a:t>1</a:t>
            </a:r>
            <a:r>
              <a:rPr lang="en-US" dirty="0"/>
              <a:t> </a:t>
            </a:r>
            <a:r>
              <a:rPr lang="en-US" b="1" dirty="0"/>
              <a:t>: </a:t>
            </a:r>
            <a:r>
              <a:rPr lang="en-US" dirty="0"/>
              <a:t>the agency, function, or office of a deputy who acts as a substitute for another </a:t>
            </a:r>
          </a:p>
          <a:p>
            <a:r>
              <a:rPr lang="en-US" b="1" dirty="0"/>
              <a:t>2a</a:t>
            </a:r>
            <a:r>
              <a:rPr lang="en-US" dirty="0"/>
              <a:t> </a:t>
            </a:r>
            <a:r>
              <a:rPr lang="en-US" b="1" dirty="0"/>
              <a:t>: </a:t>
            </a:r>
            <a:r>
              <a:rPr lang="en-US" dirty="0"/>
              <a:t>authority or power to act for another </a:t>
            </a:r>
          </a:p>
          <a:p>
            <a:r>
              <a:rPr lang="en-US" b="1" dirty="0"/>
              <a:t>b</a:t>
            </a:r>
            <a:r>
              <a:rPr lang="en-US" dirty="0"/>
              <a:t> </a:t>
            </a:r>
            <a:r>
              <a:rPr lang="en-US" b="1" dirty="0"/>
              <a:t>: </a:t>
            </a:r>
            <a:r>
              <a:rPr lang="en-US" dirty="0"/>
              <a:t>a document giving such authority specifically </a:t>
            </a:r>
            <a:r>
              <a:rPr lang="en-US" b="1" dirty="0"/>
              <a:t>: </a:t>
            </a:r>
            <a:r>
              <a:rPr lang="en-US" dirty="0"/>
              <a:t>a power of attorney authorizing a specified person to vote corporate stock </a:t>
            </a:r>
          </a:p>
          <a:p>
            <a:r>
              <a:rPr lang="en-US" b="1" dirty="0"/>
              <a:t>3</a:t>
            </a:r>
            <a:r>
              <a:rPr lang="en-US" dirty="0"/>
              <a:t> </a:t>
            </a:r>
            <a:r>
              <a:rPr lang="en-US" b="1" dirty="0"/>
              <a:t>: </a:t>
            </a:r>
            <a:r>
              <a:rPr lang="en-US" dirty="0"/>
              <a:t>a person authorized to act for another </a:t>
            </a:r>
            <a:r>
              <a:rPr lang="en-US" b="1" dirty="0"/>
              <a:t>: </a:t>
            </a:r>
            <a:r>
              <a:rPr lang="en-US" b="0" i="1" dirty="0"/>
              <a:t>procurator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68954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Bron</a:t>
            </a:r>
            <a:r>
              <a:rPr lang="en-US" dirty="0"/>
              <a:t> </a:t>
            </a:r>
            <a:r>
              <a:rPr lang="en-US" dirty="0" err="1"/>
              <a:t>illustratie</a:t>
            </a:r>
            <a:r>
              <a:rPr lang="en-US" dirty="0"/>
              <a:t>: </a:t>
            </a:r>
            <a:r>
              <a:rPr lang="en-US" dirty="0" err="1"/>
              <a:t>Alextalker</a:t>
            </a:r>
            <a:r>
              <a:rPr lang="en-US" dirty="0"/>
              <a:t>, https://commons.wikimedia.org/wiki/File:Reverse_Proxy.png </a:t>
            </a:r>
            <a:r>
              <a:rPr lang="en-US" dirty="0" err="1"/>
              <a:t>onder</a:t>
            </a:r>
            <a:r>
              <a:rPr lang="en-US" dirty="0"/>
              <a:t> </a:t>
            </a:r>
            <a:r>
              <a:rPr lang="nl-NL" b="0" dirty="0"/>
              <a:t>CC BY-SA 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79554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Sinds</a:t>
            </a:r>
            <a:r>
              <a:rPr lang="en-US" dirty="0"/>
              <a:t> </a:t>
            </a:r>
            <a:r>
              <a:rPr lang="en-US" dirty="0" err="1"/>
              <a:t>april</a:t>
            </a:r>
            <a:r>
              <a:rPr lang="en-US" dirty="0"/>
              <a:t> 2019 is </a:t>
            </a:r>
            <a:r>
              <a:rPr lang="en-US" dirty="0" err="1"/>
              <a:t>volgens</a:t>
            </a:r>
            <a:r>
              <a:rPr lang="en-US" dirty="0"/>
              <a:t> </a:t>
            </a:r>
            <a:r>
              <a:rPr lang="en-US" dirty="0" err="1"/>
              <a:t>Netcraft</a:t>
            </a:r>
            <a:r>
              <a:rPr lang="en-US" dirty="0"/>
              <a:t> (https://web.archive.org/web/20230410053035/https://news.netcraft.com/archives/2019/04/22/april-2019-web-server-survey.html) nginx de HTTP server </a:t>
            </a:r>
            <a:r>
              <a:rPr lang="en-US" dirty="0" err="1"/>
              <a:t>waar</a:t>
            </a:r>
            <a:r>
              <a:rPr lang="en-US" baseline="0" dirty="0"/>
              <a:t> het </a:t>
            </a:r>
            <a:r>
              <a:rPr lang="en-US" baseline="0" dirty="0" err="1"/>
              <a:t>grootste</a:t>
            </a:r>
            <a:r>
              <a:rPr lang="en-US" baseline="0" dirty="0"/>
              <a:t> </a:t>
            </a:r>
            <a:r>
              <a:rPr lang="en-US" baseline="0" dirty="0" err="1"/>
              <a:t>deel</a:t>
            </a:r>
            <a:r>
              <a:rPr lang="en-US" baseline="0" dirty="0"/>
              <a:t> van alle sites op </a:t>
            </a:r>
            <a:r>
              <a:rPr lang="en-US" baseline="0" dirty="0" err="1"/>
              <a:t>draait</a:t>
            </a:r>
            <a:r>
              <a:rPr lang="en-US" baseline="0" dirty="0"/>
              <a:t>, met </a:t>
            </a:r>
            <a:r>
              <a:rPr lang="en-US" baseline="0" dirty="0" err="1"/>
              <a:t>betrekking</a:t>
            </a:r>
            <a:r>
              <a:rPr lang="en-US" baseline="0" dirty="0"/>
              <a:t> tot ‘</a:t>
            </a:r>
            <a:r>
              <a:rPr lang="en-US" baseline="0" dirty="0" err="1"/>
              <a:t>actieve</a:t>
            </a:r>
            <a:r>
              <a:rPr lang="en-US" baseline="0" dirty="0"/>
              <a:t>’ sites (https://web.archive.org/web/20230324131853/https://www.netcraft.com/active-sites/: </a:t>
            </a:r>
            <a:r>
              <a:rPr lang="en-US" baseline="0" dirty="0" err="1"/>
              <a:t>niet</a:t>
            </a:r>
            <a:r>
              <a:rPr lang="en-US" baseline="0" dirty="0"/>
              <a:t> </a:t>
            </a:r>
            <a:r>
              <a:rPr lang="en-US" baseline="0" dirty="0" err="1"/>
              <a:t>alleen</a:t>
            </a:r>
            <a:r>
              <a:rPr lang="en-US" baseline="0" dirty="0"/>
              <a:t> </a:t>
            </a:r>
            <a:r>
              <a:rPr lang="en-US" baseline="0" dirty="0" err="1"/>
              <a:t>een</a:t>
            </a:r>
            <a:r>
              <a:rPr lang="en-US" baseline="0" dirty="0"/>
              <a:t> </a:t>
            </a:r>
            <a:r>
              <a:rPr lang="en-US" baseline="0" dirty="0" err="1"/>
              <a:t>standaard</a:t>
            </a:r>
            <a:r>
              <a:rPr lang="en-US" baseline="0" dirty="0"/>
              <a:t> template) is Apache nog steeds </a:t>
            </a:r>
            <a:r>
              <a:rPr lang="en-US" baseline="0" dirty="0" err="1"/>
              <a:t>marktleider</a:t>
            </a:r>
            <a:r>
              <a:rPr lang="en-US" baseline="0" dirty="0"/>
              <a:t> (</a:t>
            </a:r>
            <a:r>
              <a:rPr lang="en-US" baseline="0" dirty="0" err="1"/>
              <a:t>als</a:t>
            </a:r>
            <a:r>
              <a:rPr lang="en-US" baseline="0" dirty="0"/>
              <a:t> we </a:t>
            </a:r>
            <a:r>
              <a:rPr lang="en-US" baseline="0" dirty="0" err="1"/>
              <a:t>ervan</a:t>
            </a:r>
            <a:r>
              <a:rPr lang="en-US" baseline="0" dirty="0"/>
              <a:t> </a:t>
            </a:r>
            <a:r>
              <a:rPr lang="en-US" baseline="0" dirty="0" err="1"/>
              <a:t>uit</a:t>
            </a:r>
            <a:r>
              <a:rPr lang="en-US" baseline="0" dirty="0"/>
              <a:t> </a:t>
            </a:r>
            <a:r>
              <a:rPr lang="en-US" baseline="0" dirty="0" err="1"/>
              <a:t>gaan</a:t>
            </a:r>
            <a:r>
              <a:rPr lang="en-US" baseline="0" dirty="0"/>
              <a:t> </a:t>
            </a:r>
            <a:r>
              <a:rPr lang="en-US" baseline="0" dirty="0" err="1"/>
              <a:t>dat</a:t>
            </a:r>
            <a:r>
              <a:rPr lang="en-US" baseline="0" dirty="0"/>
              <a:t> “Other” </a:t>
            </a:r>
            <a:r>
              <a:rPr lang="en-US" baseline="0" dirty="0" err="1"/>
              <a:t>een</a:t>
            </a:r>
            <a:r>
              <a:rPr lang="en-US" baseline="0" dirty="0"/>
              <a:t> </a:t>
            </a:r>
            <a:r>
              <a:rPr lang="en-US" baseline="0" dirty="0" err="1"/>
              <a:t>samengesteld</a:t>
            </a:r>
            <a:r>
              <a:rPr lang="en-US" baseline="0" dirty="0"/>
              <a:t> </a:t>
            </a:r>
            <a:r>
              <a:rPr lang="en-US" baseline="0" dirty="0" err="1"/>
              <a:t>geheel</a:t>
            </a:r>
            <a:r>
              <a:rPr lang="en-US" baseline="0" dirty="0"/>
              <a:t> is).</a:t>
            </a:r>
          </a:p>
          <a:p>
            <a:r>
              <a:rPr lang="en-US" baseline="0" dirty="0" err="1"/>
              <a:t>Actuele</a:t>
            </a:r>
            <a:r>
              <a:rPr lang="en-US" baseline="0" dirty="0"/>
              <a:t> info op https://www.netcraft.com/resources/?topic=web-server-survey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9701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  <a:p>
            <a:endParaRPr lang="nl-N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91583026-8B91-45F6-8F66-DF8008DBAF58}" type="datetime1">
              <a:rPr lang="en-US" altLang="nl-NL" smtClean="0"/>
              <a:pPr>
                <a:defRPr/>
              </a:pPr>
              <a:t>9/9/2025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DDA7E93-3876-45DD-A94F-BAB3F2885A38}" type="slidenum">
              <a:rPr lang="en-US" altLang="nl-NL" smtClean="0"/>
              <a:pPr/>
              <a:t>16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5506999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nano of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editor in </a:t>
            </a:r>
            <a:r>
              <a:rPr lang="en-US" dirty="0" err="1"/>
              <a:t>plaats</a:t>
            </a:r>
            <a:r>
              <a:rPr lang="en-US" dirty="0"/>
              <a:t> van vi mag </a:t>
            </a:r>
            <a:r>
              <a:rPr lang="en-US" dirty="0" err="1"/>
              <a:t>natuurlijk</a:t>
            </a:r>
            <a:r>
              <a:rPr lang="en-US" baseline="0" dirty="0"/>
              <a:t> </a:t>
            </a:r>
            <a:r>
              <a:rPr lang="en-US" baseline="0" dirty="0" err="1"/>
              <a:t>ook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05591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nano of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editor in </a:t>
            </a:r>
            <a:r>
              <a:rPr lang="en-US" dirty="0" err="1"/>
              <a:t>plaats</a:t>
            </a:r>
            <a:r>
              <a:rPr lang="en-US" dirty="0"/>
              <a:t> van vi mag </a:t>
            </a:r>
            <a:r>
              <a:rPr lang="en-US" dirty="0" err="1"/>
              <a:t>natuurlijk</a:t>
            </a:r>
            <a:r>
              <a:rPr lang="en-US" baseline="0" dirty="0"/>
              <a:t> </a:t>
            </a:r>
            <a:r>
              <a:rPr lang="en-US" baseline="0" dirty="0" err="1"/>
              <a:t>ook</a:t>
            </a:r>
            <a:endParaRPr lang="nl-N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91583026-8B91-45F6-8F66-DF8008DBAF58}" type="datetime1">
              <a:rPr lang="en-US" altLang="nl-NL" smtClean="0"/>
              <a:pPr>
                <a:defRPr/>
              </a:pPr>
              <a:t>9/9/2025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DDA7E93-3876-45DD-A94F-BAB3F2885A38}" type="slidenum">
              <a:rPr lang="en-US" altLang="nl-NL" smtClean="0"/>
              <a:pPr/>
              <a:t>18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1586180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831244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91583026-8B91-45F6-8F66-DF8008DBAF58}" type="datetime1">
              <a:rPr lang="en-US" altLang="nl-NL" smtClean="0"/>
              <a:pPr>
                <a:defRPr/>
              </a:pPr>
              <a:t>9/9/2025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DDA7E93-3876-45DD-A94F-BAB3F2885A38}" type="slidenum">
              <a:rPr lang="en-US" altLang="nl-NL" smtClean="0"/>
              <a:pPr/>
              <a:t>21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5124508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850281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CIFS: </a:t>
            </a:r>
            <a:r>
              <a:rPr lang="en-US" dirty="0"/>
              <a:t>Common Internet File System</a:t>
            </a:r>
            <a:endParaRPr lang="nl-N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91583026-8B91-45F6-8F66-DF8008DBAF58}" type="datetime1">
              <a:rPr lang="en-US" altLang="nl-NL" smtClean="0"/>
              <a:pPr>
                <a:defRPr/>
              </a:pPr>
              <a:t>9/9/2025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DDA7E93-3876-45DD-A94F-BAB3F2885A38}" type="slidenum">
              <a:rPr lang="en-US" altLang="nl-NL" smtClean="0"/>
              <a:pPr/>
              <a:t>23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2870945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257977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WINBIND: </a:t>
            </a:r>
            <a:r>
              <a:rPr lang="en-US" dirty="0" err="1"/>
              <a:t>vaak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meer</a:t>
            </a:r>
            <a:r>
              <a:rPr lang="en-US" dirty="0"/>
              <a:t> </a:t>
            </a:r>
            <a:r>
              <a:rPr lang="en-US" dirty="0" err="1"/>
              <a:t>nodig</a:t>
            </a:r>
            <a:r>
              <a:rPr lang="en-US" dirty="0"/>
              <a:t> nu REALMD</a:t>
            </a:r>
            <a:r>
              <a:rPr lang="en-US" baseline="0" dirty="0"/>
              <a:t> </a:t>
            </a:r>
            <a:r>
              <a:rPr lang="en-US" baseline="0" dirty="0" err="1"/>
              <a:t>hiervoor</a:t>
            </a:r>
            <a:r>
              <a:rPr lang="en-US" baseline="0" dirty="0"/>
              <a:t> </a:t>
            </a:r>
            <a:r>
              <a:rPr lang="en-US" baseline="0" dirty="0" err="1"/>
              <a:t>gebruikt</a:t>
            </a:r>
            <a:r>
              <a:rPr lang="en-US" baseline="0" dirty="0"/>
              <a:t> </a:t>
            </a:r>
            <a:r>
              <a:rPr lang="en-US" baseline="0" dirty="0" err="1"/>
              <a:t>kan</a:t>
            </a:r>
            <a:r>
              <a:rPr lang="en-US" baseline="0" dirty="0"/>
              <a:t> </a:t>
            </a:r>
            <a:r>
              <a:rPr lang="en-US" baseline="0" dirty="0" err="1"/>
              <a:t>worden</a:t>
            </a:r>
            <a:r>
              <a:rPr lang="en-US" baseline="0" dirty="0"/>
              <a:t>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36434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19492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…: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vervolgd</a:t>
            </a:r>
            <a:r>
              <a:rPr lang="en-US" baseline="0" dirty="0"/>
              <a:t> op </a:t>
            </a:r>
            <a:r>
              <a:rPr lang="en-US" baseline="0" dirty="0" err="1"/>
              <a:t>volgende</a:t>
            </a:r>
            <a:r>
              <a:rPr lang="en-US" baseline="0" dirty="0"/>
              <a:t> slide</a:t>
            </a:r>
            <a:endParaRPr lang="nl-NL" dirty="0"/>
          </a:p>
          <a:p>
            <a:endParaRPr lang="nl-N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91583026-8B91-45F6-8F66-DF8008DBAF58}" type="datetime1">
              <a:rPr lang="en-US" altLang="nl-NL" smtClean="0"/>
              <a:pPr>
                <a:defRPr/>
              </a:pPr>
              <a:t>9/9/2025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DDA7E93-3876-45DD-A94F-BAB3F2885A38}" type="slidenum">
              <a:rPr lang="en-US" altLang="nl-NL" smtClean="0"/>
              <a:pPr/>
              <a:t>28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27665377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…: </a:t>
            </a:r>
            <a:r>
              <a:rPr lang="en-US" dirty="0" err="1"/>
              <a:t>vervolg</a:t>
            </a:r>
            <a:r>
              <a:rPr lang="en-US" baseline="0" dirty="0"/>
              <a:t> van </a:t>
            </a:r>
            <a:r>
              <a:rPr lang="en-US" baseline="0" dirty="0" err="1"/>
              <a:t>vorige</a:t>
            </a:r>
            <a:r>
              <a:rPr lang="en-US" baseline="0" dirty="0"/>
              <a:t> slide</a:t>
            </a:r>
            <a:endParaRPr lang="nl-N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91583026-8B91-45F6-8F66-DF8008DBAF58}" type="datetime1">
              <a:rPr lang="en-US" altLang="nl-NL" smtClean="0"/>
              <a:pPr>
                <a:defRPr/>
              </a:pPr>
              <a:t>9/9/2025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DDA7E93-3876-45DD-A94F-BAB3F2885A38}" type="slidenum">
              <a:rPr lang="en-US" altLang="nl-NL" smtClean="0"/>
              <a:pPr/>
              <a:t>29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1098953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Herhaling</a:t>
            </a:r>
            <a:r>
              <a:rPr lang="en-US" dirty="0"/>
              <a:t> van slide in “</a:t>
            </a:r>
            <a:r>
              <a:rPr lang="en-US" dirty="0" err="1"/>
              <a:t>Inleiding</a:t>
            </a:r>
            <a:r>
              <a:rPr lang="en-US" dirty="0"/>
              <a:t> </a:t>
            </a:r>
            <a:r>
              <a:rPr lang="en-US" dirty="0" err="1"/>
              <a:t>systeembeveiliging</a:t>
            </a:r>
            <a:r>
              <a:rPr lang="en-US" dirty="0"/>
              <a:t>” </a:t>
            </a:r>
            <a:r>
              <a:rPr lang="en-US" dirty="0" err="1"/>
              <a:t>aangezien</a:t>
            </a:r>
            <a:r>
              <a:rPr lang="en-US" dirty="0"/>
              <a:t> we </a:t>
            </a:r>
            <a:r>
              <a:rPr lang="en-US" dirty="0" err="1"/>
              <a:t>hier</a:t>
            </a:r>
            <a:r>
              <a:rPr lang="en-US" dirty="0"/>
              <a:t> in de context van Apache en Samba </a:t>
            </a:r>
            <a:r>
              <a:rPr lang="en-US" dirty="0" err="1"/>
              <a:t>daadwerkelijk</a:t>
            </a:r>
            <a:r>
              <a:rPr lang="en-US" dirty="0"/>
              <a:t> </a:t>
            </a:r>
            <a:r>
              <a:rPr lang="en-US" dirty="0" err="1"/>
              <a:t>iets</a:t>
            </a:r>
            <a:r>
              <a:rPr lang="en-US" dirty="0"/>
              <a:t> </a:t>
            </a:r>
            <a:r>
              <a:rPr lang="en-US" dirty="0" err="1"/>
              <a:t>nuttigs</a:t>
            </a:r>
            <a:r>
              <a:rPr lang="en-US" dirty="0"/>
              <a:t> mee </a:t>
            </a:r>
            <a:r>
              <a:rPr lang="en-US" dirty="0" err="1"/>
              <a:t>kunnen</a:t>
            </a:r>
            <a:r>
              <a:rPr lang="en-US" dirty="0"/>
              <a:t> </a:t>
            </a:r>
            <a:r>
              <a:rPr lang="en-US" dirty="0" err="1"/>
              <a:t>doen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33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472208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Licht </a:t>
            </a:r>
            <a:r>
              <a:rPr lang="en-US" dirty="0" err="1"/>
              <a:t>aangepaste</a:t>
            </a:r>
            <a:r>
              <a:rPr lang="en-US" dirty="0"/>
              <a:t> </a:t>
            </a:r>
            <a:r>
              <a:rPr lang="en-US" dirty="0" err="1"/>
              <a:t>herhaling</a:t>
            </a:r>
            <a:r>
              <a:rPr lang="en-US" dirty="0"/>
              <a:t> van slide in “</a:t>
            </a:r>
            <a:r>
              <a:rPr lang="en-US" dirty="0" err="1"/>
              <a:t>Inleiding</a:t>
            </a:r>
            <a:r>
              <a:rPr lang="en-US" dirty="0"/>
              <a:t> </a:t>
            </a:r>
            <a:r>
              <a:rPr lang="en-US" dirty="0" err="1"/>
              <a:t>systeembeveiliging</a:t>
            </a:r>
            <a:r>
              <a:rPr lang="en-US" dirty="0"/>
              <a:t>” </a:t>
            </a:r>
            <a:r>
              <a:rPr lang="en-US" dirty="0" err="1"/>
              <a:t>aangezien</a:t>
            </a:r>
            <a:r>
              <a:rPr lang="en-US" dirty="0"/>
              <a:t> we </a:t>
            </a:r>
            <a:r>
              <a:rPr lang="en-US" dirty="0" err="1"/>
              <a:t>hier</a:t>
            </a:r>
            <a:r>
              <a:rPr lang="en-US" dirty="0"/>
              <a:t> in de context van Apache en Samba </a:t>
            </a:r>
            <a:r>
              <a:rPr lang="en-US" dirty="0" err="1"/>
              <a:t>daadwerkelijk</a:t>
            </a:r>
            <a:r>
              <a:rPr lang="en-US" dirty="0"/>
              <a:t> </a:t>
            </a:r>
            <a:r>
              <a:rPr lang="en-US" dirty="0" err="1"/>
              <a:t>iets</a:t>
            </a:r>
            <a:r>
              <a:rPr lang="en-US" dirty="0"/>
              <a:t> </a:t>
            </a:r>
            <a:r>
              <a:rPr lang="en-US" dirty="0" err="1"/>
              <a:t>nuttigs</a:t>
            </a:r>
            <a:r>
              <a:rPr lang="en-US" dirty="0"/>
              <a:t> mee </a:t>
            </a:r>
            <a:r>
              <a:rPr lang="en-US" dirty="0" err="1"/>
              <a:t>kunnen</a:t>
            </a:r>
            <a:r>
              <a:rPr lang="en-US" dirty="0"/>
              <a:t> </a:t>
            </a:r>
            <a:r>
              <a:rPr lang="en-US" dirty="0" err="1"/>
              <a:t>doen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9318E-11B4-4637-91FD-939BD4A48B75}" type="slidenum">
              <a:rPr lang="nl-NL" smtClean="0"/>
              <a:pPr/>
              <a:t>34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35041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91583026-8B91-45F6-8F66-DF8008DBAF58}" type="datetime1">
              <a:rPr lang="en-US" altLang="nl-NL" smtClean="0"/>
              <a:pPr>
                <a:defRPr/>
              </a:pPr>
              <a:t>9/9/2025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DDA7E93-3876-45DD-A94F-BAB3F2885A38}" type="slidenum">
              <a:rPr lang="en-US" altLang="nl-NL" smtClean="0"/>
              <a:pPr/>
              <a:t>36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6572601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C41B7890-C643-460B-88D9-77F9E61E1546}" type="datetime1">
              <a:rPr lang="en-US" altLang="nl-NL" smtClean="0"/>
              <a:pPr>
                <a:defRPr/>
              </a:pPr>
              <a:t>9/9/2025</a:t>
            </a:fld>
            <a:endParaRPr lang="en-US" alt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F7D06B2-5EAB-4995-A0F5-6691DB0AC2A8}" type="slidenum">
              <a:rPr lang="en-US" altLang="nl-NL" smtClean="0"/>
              <a:pPr>
                <a:defRPr/>
              </a:pPr>
              <a:t>37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418157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or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2" name="Afbeelding 11" descr="hu voluit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14" y="300471"/>
            <a:ext cx="4042858" cy="98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04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hoek 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5" name="Afbeelding 14" descr="HU logo payoff wit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13" y="281357"/>
            <a:ext cx="657225" cy="996341"/>
          </a:xfrm>
          <a:prstGeom prst="rect">
            <a:avLst/>
          </a:prstGeom>
        </p:spPr>
      </p:pic>
      <p:sp>
        <p:nvSpPr>
          <p:cNvPr id="10" name="Rechthoek 9"/>
          <p:cNvSpPr/>
          <p:nvPr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kstvak 7"/>
          <p:cNvSpPr txBox="1"/>
          <p:nvPr/>
        </p:nvSpPr>
        <p:spPr>
          <a:xfrm>
            <a:off x="720000" y="594001"/>
            <a:ext cx="7551298" cy="4847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nl-NL" sz="4200" b="1" dirty="0">
              <a:solidFill>
                <a:schemeClr val="bg1"/>
              </a:solidFill>
            </a:endParaRP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Afbeelding 8" descr="HU logo payoff wit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13" y="281357"/>
            <a:ext cx="657225" cy="996341"/>
          </a:xfrm>
          <a:prstGeom prst="rect">
            <a:avLst/>
          </a:prstGeom>
        </p:spPr>
      </p:pic>
      <p:sp>
        <p:nvSpPr>
          <p:cNvPr id="11" name="Rechthoek 10"/>
          <p:cNvSpPr/>
          <p:nvPr userDrawn="1"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kstvak 11"/>
          <p:cNvSpPr txBox="1"/>
          <p:nvPr userDrawn="1"/>
        </p:nvSpPr>
        <p:spPr>
          <a:xfrm>
            <a:off x="720000" y="594001"/>
            <a:ext cx="7551298" cy="4847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nl-NL" sz="4200" b="1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028473-4BE8-43EC-93F5-C09C596F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7800962-39D7-4A2F-877C-C0B248DA24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0888" y="1166813"/>
            <a:ext cx="7150100" cy="458787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nl-NL" dirty="0"/>
              <a:t>Subtitel</a:t>
            </a:r>
          </a:p>
        </p:txBody>
      </p:sp>
    </p:spTree>
    <p:extLst>
      <p:ext uri="{BB962C8B-B14F-4D97-AF65-F5344CB8AC3E}">
        <p14:creationId xmlns:p14="http://schemas.microsoft.com/office/powerpoint/2010/main" val="227877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hoek 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5" name="Afbeelding 14" descr="HU logo payoff wit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13" y="281357"/>
            <a:ext cx="657225" cy="996341"/>
          </a:xfrm>
          <a:prstGeom prst="rect">
            <a:avLst/>
          </a:prstGeom>
        </p:spPr>
      </p:pic>
      <p:sp>
        <p:nvSpPr>
          <p:cNvPr id="10" name="Rechthoek 9"/>
          <p:cNvSpPr/>
          <p:nvPr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kstvak 7"/>
          <p:cNvSpPr txBox="1"/>
          <p:nvPr/>
        </p:nvSpPr>
        <p:spPr>
          <a:xfrm>
            <a:off x="720000" y="594001"/>
            <a:ext cx="7551298" cy="4847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nl-NL" sz="4200" b="1" dirty="0">
              <a:solidFill>
                <a:schemeClr val="bg1"/>
              </a:solidFill>
            </a:endParaRP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Afbeelding 8" descr="HU logo payoff wit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13" y="281357"/>
            <a:ext cx="657225" cy="996341"/>
          </a:xfrm>
          <a:prstGeom prst="rect">
            <a:avLst/>
          </a:prstGeom>
        </p:spPr>
      </p:pic>
      <p:sp>
        <p:nvSpPr>
          <p:cNvPr id="11" name="Rechthoek 10"/>
          <p:cNvSpPr/>
          <p:nvPr userDrawn="1"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kstvak 11"/>
          <p:cNvSpPr txBox="1"/>
          <p:nvPr userDrawn="1"/>
        </p:nvSpPr>
        <p:spPr>
          <a:xfrm>
            <a:off x="720000" y="594001"/>
            <a:ext cx="7551298" cy="4847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nl-NL" sz="4200" b="1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028473-4BE8-43EC-93F5-C09C596F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6827B49-8514-4B4D-93BE-DF1EBC13308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1729589"/>
            <a:ext cx="9144000" cy="3413911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4" name="Tijdelijke aanduiding voor tekst 3">
            <a:extLst>
              <a:ext uri="{FF2B5EF4-FFF2-40B4-BE49-F238E27FC236}">
                <a16:creationId xmlns:a16="http://schemas.microsoft.com/office/drawing/2014/main" id="{142AF5AF-6D65-499C-A5ED-F3C429D05A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888" y="1166813"/>
            <a:ext cx="7150100" cy="458787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nl-NL" dirty="0"/>
              <a:t>Subtitel</a:t>
            </a:r>
          </a:p>
        </p:txBody>
      </p:sp>
    </p:spTree>
    <p:extLst>
      <p:ext uri="{BB962C8B-B14F-4D97-AF65-F5344CB8AC3E}">
        <p14:creationId xmlns:p14="http://schemas.microsoft.com/office/powerpoint/2010/main" val="2757719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ijdelijke aanduiding voor tekst 10"/>
          <p:cNvSpPr>
            <a:spLocks noGrp="1"/>
          </p:cNvSpPr>
          <p:nvPr>
            <p:ph type="body" sz="quarter" idx="11" hasCustomPrompt="1"/>
          </p:nvPr>
        </p:nvSpPr>
        <p:spPr>
          <a:xfrm>
            <a:off x="718219" y="1196341"/>
            <a:ext cx="7553716" cy="3292316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dirty="0" smtClean="0"/>
            </a:lvl1pPr>
            <a:lvl2pPr marL="457200" indent="0">
              <a:buNone/>
              <a:defRPr lang="en-US" dirty="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6" name="Rechthoek 5"/>
          <p:cNvSpPr/>
          <p:nvPr userDrawn="1"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4338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Artikel_vervol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6"/>
          <p:cNvSpPr>
            <a:spLocks noGrp="1"/>
          </p:cNvSpPr>
          <p:nvPr>
            <p:ph type="body" sz="quarter" idx="13" hasCustomPrompt="1"/>
          </p:nvPr>
        </p:nvSpPr>
        <p:spPr>
          <a:xfrm>
            <a:off x="718218" y="594516"/>
            <a:ext cx="7670132" cy="3894143"/>
          </a:xfrm>
          <a:prstGeom prst="rect">
            <a:avLst/>
          </a:prstGeom>
        </p:spPr>
        <p:txBody>
          <a:bodyPr vert="horz" wrap="square">
            <a:noAutofit/>
          </a:bodyPr>
          <a:lstStyle>
            <a:lvl1pPr marL="0" indent="0">
              <a:buFont typeface="Arial"/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2000" b="1"/>
            </a:lvl3pPr>
            <a:lvl4pPr marL="1371600" indent="0">
              <a:buNone/>
              <a:defRPr sz="2000" b="1"/>
            </a:lvl4pPr>
            <a:lvl5pPr marL="1828800" indent="0">
              <a:buNone/>
              <a:defRPr sz="2000" b="1"/>
            </a:lvl5pPr>
          </a:lstStyle>
          <a:p>
            <a:pPr lvl="0"/>
            <a:r>
              <a:rPr lang="nl-NL" dirty="0"/>
              <a:t>Vervolg</a:t>
            </a:r>
          </a:p>
        </p:txBody>
      </p:sp>
    </p:spTree>
    <p:extLst>
      <p:ext uri="{BB962C8B-B14F-4D97-AF65-F5344CB8AC3E}">
        <p14:creationId xmlns:p14="http://schemas.microsoft.com/office/powerpoint/2010/main" val="1980861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rtikel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5" y="-1512"/>
            <a:ext cx="4570483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3" name="Tijdelijke aanduiding voor afbeelding 5"/>
          <p:cNvSpPr>
            <a:spLocks noGrp="1"/>
          </p:cNvSpPr>
          <p:nvPr>
            <p:ph type="pic" sz="quarter" idx="15"/>
          </p:nvPr>
        </p:nvSpPr>
        <p:spPr>
          <a:xfrm>
            <a:off x="4570488" y="-1512"/>
            <a:ext cx="4570483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ekstvak 8"/>
          <p:cNvSpPr txBox="1"/>
          <p:nvPr/>
        </p:nvSpPr>
        <p:spPr>
          <a:xfrm>
            <a:off x="453006" y="4811317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23" name="Rechthoek 22"/>
          <p:cNvSpPr/>
          <p:nvPr/>
        </p:nvSpPr>
        <p:spPr>
          <a:xfrm>
            <a:off x="531064" y="290226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4" name="Tekstvak 23"/>
          <p:cNvSpPr txBox="1"/>
          <p:nvPr/>
        </p:nvSpPr>
        <p:spPr>
          <a:xfrm>
            <a:off x="453006" y="7028737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/>
              <a:t>‹#›</a:t>
            </a:fld>
            <a:endParaRPr lang="nl-NL" sz="800" dirty="0"/>
          </a:p>
        </p:txBody>
      </p:sp>
      <p:sp>
        <p:nvSpPr>
          <p:cNvPr id="28" name="Tijdelijke aanduiding voor tekst 10"/>
          <p:cNvSpPr>
            <a:spLocks noGrp="1"/>
          </p:cNvSpPr>
          <p:nvPr>
            <p:ph type="body" sz="quarter" idx="17"/>
          </p:nvPr>
        </p:nvSpPr>
        <p:spPr>
          <a:xfrm flipH="1">
            <a:off x="718284" y="3414474"/>
            <a:ext cx="7670066" cy="1074185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DBE96C8-0802-4DEF-9B61-78DAF483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283" y="2905077"/>
            <a:ext cx="7725727" cy="461665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4911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rtikel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5"/>
          <p:cNvSpPr>
            <a:spLocks noGrp="1"/>
          </p:cNvSpPr>
          <p:nvPr>
            <p:ph type="pic" sz="quarter" idx="15"/>
          </p:nvPr>
        </p:nvSpPr>
        <p:spPr>
          <a:xfrm>
            <a:off x="6084002" y="2576512"/>
            <a:ext cx="3059999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31" name="Afbeelding 30" descr="hu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8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5" y="2576512"/>
            <a:ext cx="3059999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0" name="Tijdelijke aanduiding voor afbeelding 5"/>
          <p:cNvSpPr>
            <a:spLocks noGrp="1"/>
          </p:cNvSpPr>
          <p:nvPr>
            <p:ph type="pic" sz="quarter" idx="16"/>
          </p:nvPr>
        </p:nvSpPr>
        <p:spPr>
          <a:xfrm>
            <a:off x="3063645" y="2576512"/>
            <a:ext cx="3023998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6" name="Rechthoek 15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ijdelijke aanduiding voor tekst 10"/>
          <p:cNvSpPr>
            <a:spLocks noGrp="1"/>
          </p:cNvSpPr>
          <p:nvPr>
            <p:ph type="body" sz="quarter" idx="11"/>
          </p:nvPr>
        </p:nvSpPr>
        <p:spPr>
          <a:xfrm flipH="1">
            <a:off x="718284" y="1196341"/>
            <a:ext cx="7670066" cy="1104300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kstvak 13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pic>
        <p:nvPicPr>
          <p:cNvPr id="12" name="Afbeelding 11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15" name="Tekstvak 14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89D279-AE2A-4F81-B9FC-573B4F895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284" y="581675"/>
            <a:ext cx="7670066" cy="461665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4927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rtikel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5" y="1408"/>
            <a:ext cx="3059999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9" name="Tijdelijke aanduiding voor afbeelding 5"/>
          <p:cNvSpPr>
            <a:spLocks noGrp="1"/>
          </p:cNvSpPr>
          <p:nvPr>
            <p:ph type="pic" sz="quarter" idx="15"/>
          </p:nvPr>
        </p:nvSpPr>
        <p:spPr>
          <a:xfrm>
            <a:off x="6084002" y="1408"/>
            <a:ext cx="3059999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0" name="Tijdelijke aanduiding voor afbeelding 5"/>
          <p:cNvSpPr>
            <a:spLocks noGrp="1"/>
          </p:cNvSpPr>
          <p:nvPr>
            <p:ph type="pic" sz="quarter" idx="16"/>
          </p:nvPr>
        </p:nvSpPr>
        <p:spPr>
          <a:xfrm>
            <a:off x="3063645" y="1408"/>
            <a:ext cx="3023998" cy="256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6" name="Rechthoek 25"/>
          <p:cNvSpPr/>
          <p:nvPr/>
        </p:nvSpPr>
        <p:spPr>
          <a:xfrm>
            <a:off x="531064" y="290226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Tijdelijke aanduiding voor tekst 10"/>
          <p:cNvSpPr>
            <a:spLocks noGrp="1"/>
          </p:cNvSpPr>
          <p:nvPr>
            <p:ph type="body" sz="quarter" idx="18"/>
          </p:nvPr>
        </p:nvSpPr>
        <p:spPr>
          <a:xfrm flipH="1">
            <a:off x="718284" y="3414474"/>
            <a:ext cx="7670066" cy="1074185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CD6AF1-FC9F-4D85-84FA-79A0AD542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284" y="2762106"/>
            <a:ext cx="7670066" cy="461665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13135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rtikel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5" y="0"/>
            <a:ext cx="4570483" cy="5143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Rechthoek 10"/>
          <p:cNvSpPr/>
          <p:nvPr/>
        </p:nvSpPr>
        <p:spPr>
          <a:xfrm>
            <a:off x="5104925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ijdelijke aanduiding voor tekst 10"/>
          <p:cNvSpPr>
            <a:spLocks noGrp="1"/>
          </p:cNvSpPr>
          <p:nvPr>
            <p:ph type="body" sz="quarter" idx="11"/>
          </p:nvPr>
        </p:nvSpPr>
        <p:spPr>
          <a:xfrm flipH="1">
            <a:off x="5292148" y="1196341"/>
            <a:ext cx="3568072" cy="3292316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8" name="Tekstvak 7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A9F7ADF-4FD4-440E-B278-2B96AD709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148" y="581675"/>
            <a:ext cx="3568072" cy="461665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46462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Artikel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4573522" y="0"/>
            <a:ext cx="4570483" cy="5143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Rechthoek 10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ijdelijke aanduiding voor tekst 10"/>
          <p:cNvSpPr>
            <a:spLocks noGrp="1"/>
          </p:cNvSpPr>
          <p:nvPr>
            <p:ph type="body" sz="quarter" idx="11"/>
          </p:nvPr>
        </p:nvSpPr>
        <p:spPr>
          <a:xfrm flipH="1">
            <a:off x="718284" y="1196341"/>
            <a:ext cx="3493676" cy="3292316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Afbeelding 6" descr="hu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pic>
        <p:nvPicPr>
          <p:cNvPr id="8" name="Afbeelding 7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5EA1F60-581A-4678-83E6-545DB57C3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572" y="581675"/>
            <a:ext cx="3461388" cy="461665"/>
          </a:xfrm>
        </p:spPr>
        <p:txBody>
          <a:bodyPr/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84926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hthoek 13"/>
          <p:cNvSpPr/>
          <p:nvPr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echthoek 10"/>
          <p:cNvSpPr/>
          <p:nvPr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hthoek 11"/>
          <p:cNvSpPr/>
          <p:nvPr/>
        </p:nvSpPr>
        <p:spPr>
          <a:xfrm>
            <a:off x="529142" y="686249"/>
            <a:ext cx="108000" cy="7327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9" name="Afbeelding 8" descr="hu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15" name="Tekstvak 14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pic>
        <p:nvPicPr>
          <p:cNvPr id="13" name="Afbeelding 12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16" name="Tekstvak 15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A25B72-A285-45B6-B8DA-EA3102788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571" y="581675"/>
            <a:ext cx="7207861" cy="46166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79519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/>
          <p:cNvSpPr/>
          <p:nvPr/>
        </p:nvSpPr>
        <p:spPr>
          <a:xfrm>
            <a:off x="0" y="2"/>
            <a:ext cx="9144000" cy="183230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53DB5DD-F031-4348-AE63-F011E5030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31038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BDEEBC-F862-428A-BC14-C55F21938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435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hthoek 17"/>
          <p:cNvSpPr/>
          <p:nvPr/>
        </p:nvSpPr>
        <p:spPr>
          <a:xfrm>
            <a:off x="531064" y="684841"/>
            <a:ext cx="108000" cy="4573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Tijdelijke aanduiding voor tekst 10"/>
          <p:cNvSpPr>
            <a:spLocks noGrp="1"/>
          </p:cNvSpPr>
          <p:nvPr>
            <p:ph type="body" sz="quarter" idx="10" hasCustomPrompt="1"/>
          </p:nvPr>
        </p:nvSpPr>
        <p:spPr>
          <a:xfrm>
            <a:off x="718224" y="623650"/>
            <a:ext cx="3493741" cy="312906"/>
          </a:xfrm>
        </p:spPr>
        <p:txBody>
          <a:bodyPr wrap="square">
            <a:spAutoFit/>
          </a:bodyPr>
          <a:lstStyle>
            <a:lvl1pPr>
              <a:defRPr sz="2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Tabelkop</a:t>
            </a:r>
          </a:p>
        </p:txBody>
      </p:sp>
      <p:sp>
        <p:nvSpPr>
          <p:cNvPr id="20" name="Tijdelijke aanduiding voor tekst 10"/>
          <p:cNvSpPr>
            <a:spLocks noGrp="1"/>
          </p:cNvSpPr>
          <p:nvPr>
            <p:ph type="body" sz="quarter" idx="11"/>
          </p:nvPr>
        </p:nvSpPr>
        <p:spPr>
          <a:xfrm flipH="1">
            <a:off x="718284" y="1196341"/>
            <a:ext cx="3493676" cy="3292316"/>
          </a:xfr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kstvak 15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7" name="Tekstvak 6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387718-F286-4F2E-8A56-4A663086FBB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0" y="0"/>
            <a:ext cx="4572000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432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5" name="Afbeelding 4" descr="hu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9" name="Tekstvak 8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  <p:pic>
        <p:nvPicPr>
          <p:cNvPr id="7" name="Afbeelding 6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70027"/>
          </a:xfrm>
          <a:prstGeom prst="rect">
            <a:avLst/>
          </a:prstGeom>
        </p:spPr>
      </p:pic>
      <p:sp>
        <p:nvSpPr>
          <p:cNvPr id="8" name="Tekstvak 7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>
                <a:solidFill>
                  <a:schemeClr val="bg1"/>
                </a:solidFill>
              </a:rPr>
              <a:t>‹#›</a:t>
            </a:fld>
            <a:endParaRPr lang="nl-NL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292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14"/>
          <p:cNvSpPr>
            <a:spLocks noGrp="1"/>
          </p:cNvSpPr>
          <p:nvPr>
            <p:ph type="pic" sz="quarter" idx="13"/>
          </p:nvPr>
        </p:nvSpPr>
        <p:spPr>
          <a:xfrm>
            <a:off x="0" y="6362"/>
            <a:ext cx="9144000" cy="332303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9" name="Tijdelijke aanduiding voor tekst 6"/>
          <p:cNvSpPr>
            <a:spLocks noGrp="1"/>
          </p:cNvSpPr>
          <p:nvPr>
            <p:ph type="body" sz="quarter" idx="12" hasCustomPrompt="1"/>
          </p:nvPr>
        </p:nvSpPr>
        <p:spPr>
          <a:xfrm>
            <a:off x="531064" y="3695965"/>
            <a:ext cx="7857286" cy="792692"/>
          </a:xfrm>
          <a:prstGeom prst="rect">
            <a:avLst/>
          </a:prstGeom>
        </p:spPr>
        <p:txBody>
          <a:bodyPr vert="horz" wrap="square">
            <a:noAutofit/>
          </a:bodyPr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2000" b="1"/>
            </a:lvl3pPr>
            <a:lvl4pPr marL="1371600" indent="0">
              <a:buNone/>
              <a:defRPr sz="2000" b="1"/>
            </a:lvl4pPr>
            <a:lvl5pPr marL="1828800" indent="0">
              <a:buNone/>
              <a:defRPr sz="2000" b="1"/>
            </a:lvl5pPr>
          </a:lstStyle>
          <a:p>
            <a:pPr lvl="0"/>
            <a:r>
              <a:rPr lang="en-US" dirty="0" err="1"/>
              <a:t>Bijschrift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68919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idx="1"/>
          </p:nvPr>
        </p:nvSpPr>
        <p:spPr>
          <a:xfrm>
            <a:off x="750570" y="1369219"/>
            <a:ext cx="7637780" cy="120225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nl-NL" dirty="0"/>
              <a:t>Niveau 1</a:t>
            </a:r>
          </a:p>
          <a:p>
            <a:pPr lvl="1"/>
            <a:r>
              <a:rPr lang="nl-NL" dirty="0"/>
              <a:t>Niveau 2</a:t>
            </a:r>
          </a:p>
          <a:p>
            <a:pPr lvl="2"/>
            <a:r>
              <a:rPr lang="nl-NL" dirty="0"/>
              <a:t>Niveau 3</a:t>
            </a:r>
          </a:p>
        </p:txBody>
      </p:sp>
      <p:sp>
        <p:nvSpPr>
          <p:cNvPr id="5" name="Tijdelijke aanduiding voor titel 4"/>
          <p:cNvSpPr>
            <a:spLocks noGrp="1"/>
          </p:cNvSpPr>
          <p:nvPr>
            <p:ph type="title"/>
          </p:nvPr>
        </p:nvSpPr>
        <p:spPr>
          <a:xfrm>
            <a:off x="750572" y="581675"/>
            <a:ext cx="7637778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nl-NL" dirty="0"/>
              <a:t>Titelstijl van model bewerken</a:t>
            </a:r>
          </a:p>
        </p:txBody>
      </p:sp>
      <p:pic>
        <p:nvPicPr>
          <p:cNvPr id="13" name="Afbeelding 12" descr="hu logo.pn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69461"/>
          </a:xfrm>
          <a:prstGeom prst="rect">
            <a:avLst/>
          </a:prstGeom>
        </p:spPr>
      </p:pic>
      <p:sp>
        <p:nvSpPr>
          <p:cNvPr id="14" name="Tekstvak 13"/>
          <p:cNvSpPr txBox="1"/>
          <p:nvPr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/>
              <a:t>‹#›</a:t>
            </a:fld>
            <a:endParaRPr lang="nl-NL" sz="800" dirty="0"/>
          </a:p>
        </p:txBody>
      </p:sp>
      <p:pic>
        <p:nvPicPr>
          <p:cNvPr id="6" name="Afbeelding 5" descr="hu logo.png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8" y="4608939"/>
            <a:ext cx="432000" cy="369461"/>
          </a:xfrm>
          <a:prstGeom prst="rect">
            <a:avLst/>
          </a:prstGeom>
        </p:spPr>
      </p:pic>
      <p:sp>
        <p:nvSpPr>
          <p:cNvPr id="7" name="Tekstvak 6"/>
          <p:cNvSpPr txBox="1"/>
          <p:nvPr userDrawn="1"/>
        </p:nvSpPr>
        <p:spPr>
          <a:xfrm>
            <a:off x="453001" y="4751389"/>
            <a:ext cx="3672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4644ED-88FD-4C4D-9D4F-18215A7BD5D3}" type="slidenum">
              <a:rPr lang="nl-NL" sz="800" smtClean="0"/>
              <a:t>‹#›</a:t>
            </a:fld>
            <a:endParaRPr lang="nl-NL" sz="800" dirty="0"/>
          </a:p>
        </p:txBody>
      </p:sp>
    </p:spTree>
    <p:extLst>
      <p:ext uri="{BB962C8B-B14F-4D97-AF65-F5344CB8AC3E}">
        <p14:creationId xmlns:p14="http://schemas.microsoft.com/office/powerpoint/2010/main" val="935259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710" r:id="rId3"/>
    <p:sldLayoutId id="2147483695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lnSpc>
          <a:spcPts val="24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457200" rtl="0" eaLnBrk="1" latinLnBrk="0" hangingPunct="1">
        <a:lnSpc>
          <a:spcPts val="2400"/>
        </a:lnSpc>
        <a:spcBef>
          <a:spcPts val="0"/>
        </a:spcBef>
        <a:buClr>
          <a:schemeClr val="accent1"/>
        </a:buClr>
        <a:buFont typeface="Courier New" panose="02070309020205020404" pitchFamily="49" charset="0"/>
        <a:buChar char="o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457200" rtl="0" eaLnBrk="1" latinLnBrk="0" hangingPunct="1">
        <a:lnSpc>
          <a:spcPts val="2400"/>
        </a:lnSpc>
        <a:spcBef>
          <a:spcPts val="0"/>
        </a:spcBef>
        <a:buClr>
          <a:schemeClr val="accent1"/>
        </a:buClr>
        <a:buFont typeface="Wingdings" panose="05000000000000000000" pitchFamily="2" charset="2"/>
        <a:buChar char="§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lnSpc>
          <a:spcPts val="2400"/>
        </a:lnSpc>
        <a:spcBef>
          <a:spcPts val="0"/>
        </a:spcBef>
        <a:buClr>
          <a:schemeClr val="accent1"/>
        </a:buClr>
        <a:buFont typeface="Arial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lnSpc>
          <a:spcPts val="2400"/>
        </a:lnSpc>
        <a:spcBef>
          <a:spcPts val="0"/>
        </a:spcBef>
        <a:buClr>
          <a:schemeClr val="accent1"/>
        </a:buClr>
        <a:buFont typeface="Arial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5284">
          <p15:clr>
            <a:srgbClr val="F26B43"/>
          </p15:clr>
        </p15:guide>
        <p15:guide id="4" orient="horz" pos="37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2616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atatracker.ietf.org/doc/html/rfc7540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hyperlink" Target="https://www.netcraft.com/blog/march-2025-web-server-survey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bmc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torialspoint.com/http/http_message_examples.htm" TargetMode="External"/><Relationship Id="rId7" Type="http://schemas.openxmlformats.org/officeDocument/2006/relationships/hyperlink" Target="https://access.redhat.com/documentation/en-us/red_hat_enterprise_linux/9/html/configuring_and_using_network_file_services/assembly_using-samba-as-a-server_configuring-and-using-network-file-services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sherweb.com/blog/manage-and-install-iis8-on-windows-2012-server-core/" TargetMode="External"/><Relationship Id="rId5" Type="http://schemas.openxmlformats.org/officeDocument/2006/relationships/hyperlink" Target="http://www.iis.net/learn/install/installing-iis-85/installing-iis-85-on-windows-server-2012-r2" TargetMode="External"/><Relationship Id="rId4" Type="http://schemas.openxmlformats.org/officeDocument/2006/relationships/hyperlink" Target="https://access.redhat.com/documentation/en-us/red_hat_enterprise_linux/9/html/deploying_web_servers_and_reverse_proxies/setting-apache-http-server_deploying-web-servers-and-reverse-proxies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288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Platformen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Applicatieservices</a:t>
            </a:r>
            <a:r>
              <a:rPr lang="en-US" dirty="0"/>
              <a:t>: HTTP en SMB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59557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Network services on </a:t>
            </a:r>
            <a:r>
              <a:rPr lang="nl-NL" dirty="0" err="1"/>
              <a:t>higher</a:t>
            </a:r>
            <a:r>
              <a:rPr lang="nl-NL" dirty="0"/>
              <a:t> levels…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Basic Services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404529" y="2796974"/>
            <a:ext cx="2867406" cy="1951401"/>
            <a:chOff x="5597335" y="3429001"/>
            <a:chExt cx="4197415" cy="2501403"/>
          </a:xfrm>
        </p:grpSpPr>
        <p:sp>
          <p:nvSpPr>
            <p:cNvPr id="10" name="TextBox 9"/>
            <p:cNvSpPr txBox="1"/>
            <p:nvPr/>
          </p:nvSpPr>
          <p:spPr>
            <a:xfrm>
              <a:off x="5597336" y="5678895"/>
              <a:ext cx="4167771" cy="2515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675" dirty="0"/>
                <a:t>http://www.reduses.nl/wp-content/uploads/2014/09/ziekenhuizen.jpg</a:t>
              </a:r>
            </a:p>
          </p:txBody>
        </p:sp>
        <p:pic>
          <p:nvPicPr>
            <p:cNvPr id="1036" name="Picture 12" descr="http://www.reduses.nl/wp-content/uploads/2014/09/ziekenhuizen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7335" y="3429001"/>
              <a:ext cx="4197415" cy="22907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oup 10"/>
          <p:cNvGrpSpPr/>
          <p:nvPr/>
        </p:nvGrpSpPr>
        <p:grpSpPr>
          <a:xfrm>
            <a:off x="996964" y="1781476"/>
            <a:ext cx="3926075" cy="2089303"/>
            <a:chOff x="539552" y="2636912"/>
            <a:chExt cx="5234766" cy="2785737"/>
          </a:xfrm>
        </p:grpSpPr>
        <p:pic>
          <p:nvPicPr>
            <p:cNvPr id="1028" name="Picture 4" descr="http://www.cisco.com/en/US/prod/collateral/routers/ps9701/images/data_sheet_c22_517151-1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552" y="2636912"/>
              <a:ext cx="5048250" cy="252412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539552" y="5161038"/>
              <a:ext cx="5234766" cy="2616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NL" sz="675" dirty="0"/>
                <a:t>http://www.cisco.com/en/US/prod/collateral/routers/ps9701/images/data_sheet_c22_517151-1.jpg</a:t>
              </a: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4519393" y="2649612"/>
              <a:ext cx="360040" cy="216024"/>
            </a:xfrm>
            <a:prstGeom prst="rect">
              <a:avLst/>
            </a:prstGeom>
            <a:solidFill>
              <a:srgbClr val="E5EFF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nl-NL" sz="700" b="1" dirty="0">
                  <a:ln w="6350">
                    <a:solidFill>
                      <a:schemeClr val="tx1">
                        <a:lumMod val="75000"/>
                        <a:lumOff val="25000"/>
                        <a:alpha val="37000"/>
                      </a:schemeClr>
                    </a:solidFill>
                  </a:ln>
                  <a:solidFill>
                    <a:schemeClr val="tx1">
                      <a:alpha val="71000"/>
                    </a:schemeClr>
                  </a:solidFill>
                  <a:latin typeface="Arial" charset="0"/>
                  <a:ea typeface="ＭＳ Ｐゴシック" charset="0"/>
                </a:rPr>
                <a:t>Files</a:t>
              </a:r>
            </a:p>
          </p:txBody>
        </p:sp>
      </p:grpSp>
      <p:sp>
        <p:nvSpPr>
          <p:cNvPr id="12" name="Oval 11"/>
          <p:cNvSpPr/>
          <p:nvPr/>
        </p:nvSpPr>
        <p:spPr bwMode="auto">
          <a:xfrm>
            <a:off x="1764771" y="2339056"/>
            <a:ext cx="540060" cy="415847"/>
          </a:xfrm>
          <a:prstGeom prst="ellipse">
            <a:avLst/>
          </a:prstGeom>
          <a:noFill/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nl-NL" sz="1050">
              <a:latin typeface="Arial" charset="0"/>
              <a:ea typeface="ＭＳ Ｐゴシック" charset="0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2620028" y="2339204"/>
            <a:ext cx="540060" cy="415847"/>
          </a:xfrm>
          <a:prstGeom prst="ellipse">
            <a:avLst/>
          </a:prstGeom>
          <a:noFill/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nl-NL" sz="1050">
              <a:latin typeface="Arial" charset="0"/>
              <a:ea typeface="ＭＳ Ｐゴシック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2185096" y="1735571"/>
            <a:ext cx="540060" cy="693978"/>
          </a:xfrm>
          <a:prstGeom prst="ellipse">
            <a:avLst/>
          </a:prstGeom>
          <a:noFill/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nl-NL" sz="1050">
              <a:latin typeface="Arial" charset="0"/>
              <a:ea typeface="ＭＳ Ｐゴシック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3832279" y="1735571"/>
            <a:ext cx="540060" cy="693977"/>
          </a:xfrm>
          <a:prstGeom prst="ellipse">
            <a:avLst/>
          </a:prstGeom>
          <a:noFill/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nl-NL" sz="1050"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25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"Serveren" van content…</a:t>
            </a:r>
          </a:p>
          <a:p>
            <a:endParaRPr lang="nl-NL" dirty="0"/>
          </a:p>
          <a:p>
            <a:r>
              <a:rPr lang="nl-NL" dirty="0" err="1"/>
              <a:t>HyperText</a:t>
            </a:r>
            <a:r>
              <a:rPr lang="nl-NL" dirty="0"/>
              <a:t> Transfer Protocol</a:t>
            </a:r>
          </a:p>
          <a:p>
            <a:r>
              <a:rPr lang="nl-NL" dirty="0"/>
              <a:t>Application protocol</a:t>
            </a:r>
          </a:p>
          <a:p>
            <a:r>
              <a:rPr lang="nl-NL" dirty="0" err="1"/>
              <a:t>Request</a:t>
            </a:r>
            <a:r>
              <a:rPr lang="nl-NL" dirty="0"/>
              <a:t> (client) – Response (server)</a:t>
            </a:r>
          </a:p>
          <a:p>
            <a:r>
              <a:rPr lang="nl-NL" dirty="0"/>
              <a:t>Port TCP: 80 of 443 (HTTPS)</a:t>
            </a:r>
          </a:p>
          <a:p>
            <a:r>
              <a:rPr lang="nl-NL" dirty="0">
                <a:hlinkClick r:id="rId3"/>
              </a:rPr>
              <a:t>https://datatracker.ietf.org/doc/html/rfc2616</a:t>
            </a:r>
            <a:r>
              <a:rPr lang="nl-NL" dirty="0"/>
              <a:t>: HTTP/1.1	(1999)</a:t>
            </a:r>
          </a:p>
          <a:p>
            <a:r>
              <a:rPr lang="nl-NL" dirty="0">
                <a:hlinkClick r:id="rId4"/>
              </a:rPr>
              <a:t>https://datatracker.ietf.org/doc/html/rfc7540</a:t>
            </a:r>
            <a:r>
              <a:rPr lang="nl-NL" dirty="0"/>
              <a:t>: HTTP/2	(2015)</a:t>
            </a:r>
          </a:p>
          <a:p>
            <a:r>
              <a:rPr lang="nl-NL" dirty="0" err="1"/>
              <a:t>Stateless</a:t>
            </a:r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HTTP</a:t>
            </a:r>
          </a:p>
        </p:txBody>
      </p:sp>
    </p:spTree>
    <p:extLst>
      <p:ext uri="{BB962C8B-B14F-4D97-AF65-F5344CB8AC3E}">
        <p14:creationId xmlns:p14="http://schemas.microsoft.com/office/powerpoint/2010/main" val="1837501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18219" y="1196341"/>
            <a:ext cx="5235772" cy="3292316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nl-NL" dirty="0"/>
              <a:t>IP-adres van server </a:t>
            </a:r>
            <a:r>
              <a:rPr lang="nl-NL" i="1" dirty="0" err="1"/>
              <a:t>resolven</a:t>
            </a:r>
            <a:br>
              <a:rPr lang="nl-NL" dirty="0"/>
            </a:br>
            <a:endParaRPr lang="nl-NL" dirty="0"/>
          </a:p>
          <a:p>
            <a:pPr>
              <a:buFont typeface="+mj-lt"/>
              <a:buAutoNum type="arabicPeriod"/>
            </a:pPr>
            <a:r>
              <a:rPr lang="nl-NL" dirty="0"/>
              <a:t>Openen TCP-verbinding</a:t>
            </a:r>
            <a:br>
              <a:rPr lang="nl-NL" dirty="0"/>
            </a:br>
            <a:endParaRPr lang="nl-NL" dirty="0"/>
          </a:p>
          <a:p>
            <a:pPr>
              <a:buFont typeface="+mj-lt"/>
              <a:buAutoNum type="arabicPeriod"/>
            </a:pPr>
            <a:r>
              <a:rPr lang="nl-NL" dirty="0"/>
              <a:t>HTTP GET </a:t>
            </a:r>
            <a:r>
              <a:rPr lang="nl-NL" dirty="0" err="1"/>
              <a:t>request</a:t>
            </a:r>
            <a:r>
              <a:rPr lang="nl-NL" dirty="0"/>
              <a:t> van ingetypte URL &amp; parsen HTML</a:t>
            </a:r>
            <a:br>
              <a:rPr lang="nl-NL" dirty="0"/>
            </a:br>
            <a:endParaRPr lang="nl-NL" dirty="0"/>
          </a:p>
          <a:p>
            <a:pPr>
              <a:buFont typeface="+mj-lt"/>
              <a:buAutoNum type="arabicPeriod"/>
            </a:pPr>
            <a:r>
              <a:rPr lang="nl-NL" dirty="0"/>
              <a:t>Ophalen content waarnaar vanuit </a:t>
            </a:r>
            <a:r>
              <a:rPr lang="nl-NL" dirty="0" err="1"/>
              <a:t>HTML-file</a:t>
            </a:r>
            <a:r>
              <a:rPr lang="nl-NL" dirty="0"/>
              <a:t> verwezen wordt</a:t>
            </a:r>
          </a:p>
          <a:p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Hoe wordt content opgevraagd?</a:t>
            </a:r>
          </a:p>
        </p:txBody>
      </p:sp>
      <p:pic>
        <p:nvPicPr>
          <p:cNvPr id="4" name="Picture 6" descr="http://www.karelgeenen.nl/wp-content/uploads/http-tcp-connection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17"/>
          <a:stretch/>
        </p:blipFill>
        <p:spPr bwMode="auto">
          <a:xfrm>
            <a:off x="5704609" y="528219"/>
            <a:ext cx="2683741" cy="4244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9172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Tot en met HTTP 1.0 werd de TCP connectie afgesloten na een enkel </a:t>
            </a:r>
            <a:r>
              <a:rPr lang="nl-NL" dirty="0" err="1"/>
              <a:t>request</a:t>
            </a:r>
            <a:r>
              <a:rPr lang="nl-NL" dirty="0"/>
              <a:t>/response paar.</a:t>
            </a:r>
          </a:p>
          <a:p>
            <a:r>
              <a:rPr lang="nl-NL" dirty="0"/>
              <a:t>In HTTP 1.1 werd </a:t>
            </a:r>
            <a:r>
              <a:rPr lang="nl-NL" b="1" dirty="0"/>
              <a:t>keep-</a:t>
            </a:r>
            <a:r>
              <a:rPr lang="nl-NL" b="1" dirty="0" err="1"/>
              <a:t>alive</a:t>
            </a:r>
            <a:r>
              <a:rPr lang="nl-NL" dirty="0"/>
              <a:t> geïntroduceerd waarbij connecties worden hergebruikt. Resultaat is minder </a:t>
            </a:r>
            <a:r>
              <a:rPr lang="nl-NL" dirty="0" err="1"/>
              <a:t>latency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/>
              <a:t>HTTP is </a:t>
            </a:r>
            <a:r>
              <a:rPr lang="nl-NL" b="1" dirty="0" err="1"/>
              <a:t>stateless</a:t>
            </a:r>
            <a:r>
              <a:rPr lang="nl-NL" dirty="0"/>
              <a:t>: de HTTP server hoeft geen informatie over elk </a:t>
            </a:r>
            <a:r>
              <a:rPr lang="nl-NL" dirty="0" err="1"/>
              <a:t>request</a:t>
            </a:r>
            <a:r>
              <a:rPr lang="nl-NL" dirty="0"/>
              <a:t> of elke user te bewaren.</a:t>
            </a:r>
          </a:p>
          <a:p>
            <a:r>
              <a:rPr lang="nl-NL" dirty="0"/>
              <a:t>De "state" / "sessie" kan wel op een hoger niveau, door webapplicaties, worden bijgehouden.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HTTP </a:t>
            </a:r>
            <a:r>
              <a:rPr lang="nl-NL" dirty="0" err="1"/>
              <a:t>session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48309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Request</a:t>
            </a:r>
            <a:endParaRPr lang="nl-NL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2055" b="37566"/>
          <a:stretch/>
        </p:blipFill>
        <p:spPr bwMode="auto">
          <a:xfrm>
            <a:off x="2039216" y="808836"/>
            <a:ext cx="5373216" cy="42123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 bwMode="auto">
          <a:xfrm flipH="1">
            <a:off x="3473417" y="1146812"/>
            <a:ext cx="1836204" cy="0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extBox 6"/>
          <p:cNvSpPr txBox="1"/>
          <p:nvPr/>
        </p:nvSpPr>
        <p:spPr>
          <a:xfrm>
            <a:off x="5309621" y="1023991"/>
            <a:ext cx="1781257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1" dirty="0">
                <a:solidFill>
                  <a:srgbClr val="FF0000"/>
                </a:solidFill>
              </a:rPr>
              <a:t>TCP </a:t>
            </a:r>
            <a:r>
              <a:rPr lang="nl-NL" sz="1100" b="1" dirty="0" err="1">
                <a:solidFill>
                  <a:srgbClr val="FF0000"/>
                </a:solidFill>
              </a:rPr>
              <a:t>connection</a:t>
            </a:r>
            <a:endParaRPr lang="nl-NL" sz="1100" b="1" dirty="0">
              <a:solidFill>
                <a:srgbClr val="FF0000"/>
              </a:solidFill>
            </a:endParaRPr>
          </a:p>
          <a:p>
            <a:r>
              <a:rPr lang="nl-NL" sz="1100" b="1" dirty="0">
                <a:solidFill>
                  <a:srgbClr val="FF0000"/>
                </a:solidFill>
              </a:rPr>
              <a:t>Method / URL / Protocol</a:t>
            </a:r>
          </a:p>
          <a:p>
            <a:r>
              <a:rPr lang="nl-NL" sz="1100" b="1" dirty="0" err="1">
                <a:solidFill>
                  <a:srgbClr val="FF0000"/>
                </a:solidFill>
              </a:rPr>
              <a:t>Requested</a:t>
            </a:r>
            <a:r>
              <a:rPr lang="nl-NL" sz="1100" b="1" dirty="0">
                <a:solidFill>
                  <a:srgbClr val="FF0000"/>
                </a:solidFill>
              </a:rPr>
              <a:t> website</a:t>
            </a:r>
          </a:p>
          <a:p>
            <a:endParaRPr lang="nl-NL" sz="1100" b="1" dirty="0">
              <a:solidFill>
                <a:srgbClr val="FF0000"/>
              </a:solidFill>
            </a:endParaRPr>
          </a:p>
          <a:p>
            <a:r>
              <a:rPr lang="nl-NL" sz="1100" b="1" dirty="0">
                <a:solidFill>
                  <a:srgbClr val="FF0000"/>
                </a:solidFill>
              </a:rPr>
              <a:t>Status line</a:t>
            </a:r>
          </a:p>
          <a:p>
            <a:r>
              <a:rPr lang="nl-NL" sz="1100" b="1" dirty="0">
                <a:solidFill>
                  <a:srgbClr val="FF0000"/>
                </a:solidFill>
              </a:rPr>
              <a:t>Response Headers</a:t>
            </a:r>
          </a:p>
          <a:p>
            <a:endParaRPr lang="nl-NL" sz="1100" b="1" dirty="0">
              <a:solidFill>
                <a:srgbClr val="FF0000"/>
              </a:solidFill>
            </a:endParaRPr>
          </a:p>
          <a:p>
            <a:endParaRPr lang="nl-NL" sz="1100" b="1" dirty="0">
              <a:solidFill>
                <a:srgbClr val="FF0000"/>
              </a:solidFill>
            </a:endParaRPr>
          </a:p>
          <a:p>
            <a:endParaRPr lang="nl-NL" sz="1100" b="1" dirty="0">
              <a:solidFill>
                <a:srgbClr val="FF0000"/>
              </a:solidFill>
            </a:endParaRPr>
          </a:p>
          <a:p>
            <a:endParaRPr lang="nl-NL" sz="1100" b="1" dirty="0">
              <a:solidFill>
                <a:srgbClr val="FF0000"/>
              </a:solidFill>
            </a:endParaRPr>
          </a:p>
          <a:p>
            <a:endParaRPr lang="nl-NL" sz="1100" b="1" dirty="0">
              <a:solidFill>
                <a:srgbClr val="FF0000"/>
              </a:solidFill>
            </a:endParaRPr>
          </a:p>
          <a:p>
            <a:endParaRPr lang="nl-NL" sz="1100" b="1" dirty="0">
              <a:solidFill>
                <a:srgbClr val="FF0000"/>
              </a:solidFill>
            </a:endParaRPr>
          </a:p>
          <a:p>
            <a:endParaRPr lang="nl-NL" sz="1100" b="1" dirty="0">
              <a:solidFill>
                <a:srgbClr val="FF0000"/>
              </a:solidFill>
            </a:endParaRPr>
          </a:p>
          <a:p>
            <a:endParaRPr lang="nl-NL" sz="1100" b="1" dirty="0">
              <a:solidFill>
                <a:srgbClr val="FF0000"/>
              </a:solidFill>
            </a:endParaRPr>
          </a:p>
          <a:p>
            <a:endParaRPr lang="nl-NL" sz="1100" b="1" dirty="0">
              <a:solidFill>
                <a:srgbClr val="FF0000"/>
              </a:solidFill>
            </a:endParaRPr>
          </a:p>
          <a:p>
            <a:r>
              <a:rPr lang="nl-NL" sz="1100" b="1" dirty="0">
                <a:solidFill>
                  <a:srgbClr val="FF0000"/>
                </a:solidFill>
              </a:rPr>
              <a:t>Response Data</a:t>
            </a:r>
          </a:p>
        </p:txBody>
      </p:sp>
      <p:cxnSp>
        <p:nvCxnSpPr>
          <p:cNvPr id="9" name="Straight Arrow Connector 8"/>
          <p:cNvCxnSpPr/>
          <p:nvPr/>
        </p:nvCxnSpPr>
        <p:spPr bwMode="auto">
          <a:xfrm flipH="1">
            <a:off x="4333898" y="1936120"/>
            <a:ext cx="954941" cy="0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/>
          <p:nvPr/>
        </p:nvCxnSpPr>
        <p:spPr bwMode="auto">
          <a:xfrm flipH="1">
            <a:off x="3095375" y="1794884"/>
            <a:ext cx="2197080" cy="0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/>
          <p:cNvCxnSpPr/>
          <p:nvPr/>
        </p:nvCxnSpPr>
        <p:spPr bwMode="auto">
          <a:xfrm flipH="1">
            <a:off x="4354680" y="3685094"/>
            <a:ext cx="954941" cy="0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967760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540326-A398-4711-8A96-5C84E7815448}"/>
              </a:ext>
            </a:extLst>
          </p:cNvPr>
          <p:cNvSpPr/>
          <p:nvPr/>
        </p:nvSpPr>
        <p:spPr>
          <a:xfrm>
            <a:off x="1004888" y="1824038"/>
            <a:ext cx="919163" cy="28575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0E0AB1-AB10-4E66-85B4-523DE625857A}"/>
              </a:ext>
            </a:extLst>
          </p:cNvPr>
          <p:cNvSpPr/>
          <p:nvPr/>
        </p:nvSpPr>
        <p:spPr>
          <a:xfrm>
            <a:off x="1004888" y="2119914"/>
            <a:ext cx="538162" cy="28575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1B783-1CC3-4C3E-AEB6-1BC21EBBB11C}"/>
              </a:ext>
            </a:extLst>
          </p:cNvPr>
          <p:cNvSpPr/>
          <p:nvPr/>
        </p:nvSpPr>
        <p:spPr>
          <a:xfrm>
            <a:off x="2005013" y="1819877"/>
            <a:ext cx="1157287" cy="285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46EB90-6E24-4A96-A3F0-771A78F2D2E2}"/>
              </a:ext>
            </a:extLst>
          </p:cNvPr>
          <p:cNvSpPr/>
          <p:nvPr/>
        </p:nvSpPr>
        <p:spPr>
          <a:xfrm>
            <a:off x="1604963" y="2119914"/>
            <a:ext cx="2299480" cy="285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817091-9543-4F0C-8ADA-40EF7DCEE703}"/>
              </a:ext>
            </a:extLst>
          </p:cNvPr>
          <p:cNvSpPr/>
          <p:nvPr/>
        </p:nvSpPr>
        <p:spPr>
          <a:xfrm>
            <a:off x="3538538" y="1815772"/>
            <a:ext cx="962025" cy="285750"/>
          </a:xfrm>
          <a:prstGeom prst="rect">
            <a:avLst/>
          </a:prstGeom>
          <a:solidFill>
            <a:srgbClr val="DE8EFE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4F748A-CBDD-4B64-9C90-F8F5D06DF49F}"/>
              </a:ext>
            </a:extLst>
          </p:cNvPr>
          <p:cNvSpPr/>
          <p:nvPr/>
        </p:nvSpPr>
        <p:spPr>
          <a:xfrm>
            <a:off x="3966356" y="2120515"/>
            <a:ext cx="1200957" cy="285750"/>
          </a:xfrm>
          <a:prstGeom prst="rect">
            <a:avLst/>
          </a:prstGeom>
          <a:solidFill>
            <a:srgbClr val="DE8EFE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i="1" dirty="0" err="1"/>
              <a:t>Methods</a:t>
            </a:r>
            <a:r>
              <a:rPr lang="nl-NL" dirty="0"/>
              <a:t> zoals GET / POST / DELETE</a:t>
            </a:r>
          </a:p>
          <a:p>
            <a:endParaRPr lang="nl-NL" dirty="0"/>
          </a:p>
          <a:p>
            <a:r>
              <a:rPr lang="nl-NL" dirty="0"/>
              <a:t>Method, Resource en Protocol:</a:t>
            </a:r>
          </a:p>
          <a:p>
            <a:pPr marL="357188" lvl="1"/>
            <a:r>
              <a:rPr lang="nl-NL" dirty="0">
                <a:latin typeface="Consolas" panose="020B0609020204030204" pitchFamily="49" charset="0"/>
                <a:cs typeface="Courier New" panose="02070309020205020404" pitchFamily="49" charset="0"/>
              </a:rPr>
              <a:t>GET /images/logo.png HTTP/1.1</a:t>
            </a:r>
          </a:p>
          <a:p>
            <a:pPr marL="357188" lvl="1"/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1" indent="-34290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nl-NL" sz="1950" dirty="0"/>
              <a:t>Headers (vergelijk mail):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Bef>
                <a:spcPts val="600"/>
              </a:spcBef>
            </a:pPr>
            <a:r>
              <a:rPr lang="en-US" dirty="0" err="1"/>
              <a:t>Lege</a:t>
            </a:r>
            <a:r>
              <a:rPr lang="en-US" dirty="0"/>
              <a:t> regel (</a:t>
            </a:r>
            <a:r>
              <a:rPr lang="en-US" dirty="0" err="1"/>
              <a:t>verplicht</a:t>
            </a:r>
            <a:r>
              <a:rPr lang="en-US" dirty="0"/>
              <a:t>: </a:t>
            </a:r>
            <a:r>
              <a:rPr lang="en-US" dirty="0" err="1"/>
              <a:t>deze</a:t>
            </a:r>
            <a:r>
              <a:rPr lang="en-US" dirty="0"/>
              <a:t> sluit het request </a:t>
            </a:r>
            <a:r>
              <a:rPr lang="en-US" dirty="0" err="1"/>
              <a:t>af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Request</a:t>
            </a:r>
            <a:endParaRPr lang="nl-NL" dirty="0"/>
          </a:p>
        </p:txBody>
      </p:sp>
      <p:sp>
        <p:nvSpPr>
          <p:cNvPr id="6" name="TextBox 5"/>
          <p:cNvSpPr txBox="1"/>
          <p:nvPr/>
        </p:nvSpPr>
        <p:spPr>
          <a:xfrm>
            <a:off x="3904443" y="2728199"/>
            <a:ext cx="2765501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GET / HTTP/1.1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Host: www.hu.nl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User-Agent: curl/8.11.1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Accept: */*</a:t>
            </a:r>
          </a:p>
          <a:p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4B7BD8F7-A3BC-AAAB-9BDE-CB7D0A8983DD}"/>
              </a:ext>
            </a:extLst>
          </p:cNvPr>
          <p:cNvSpPr/>
          <p:nvPr/>
        </p:nvSpPr>
        <p:spPr>
          <a:xfrm flipH="1">
            <a:off x="1866584" y="3897838"/>
            <a:ext cx="4224377" cy="912753"/>
          </a:xfrm>
          <a:prstGeom prst="arc">
            <a:avLst>
              <a:gd name="adj1" fmla="val 16385569"/>
              <a:gd name="adj2" fmla="val 0"/>
            </a:avLst>
          </a:prstGeom>
          <a:ln>
            <a:solidFill>
              <a:schemeClr val="tx2"/>
            </a:solidFill>
            <a:head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78824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6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nl-NL" sz="1800" dirty="0"/>
              <a:t>Status line met status code</a:t>
            </a:r>
          </a:p>
          <a:p>
            <a:pPr marL="800100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nl-NL" sz="1800" dirty="0"/>
              <a:t>1xx: Informatie</a:t>
            </a:r>
          </a:p>
          <a:p>
            <a:pPr marL="800100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nl-NL" sz="1800" dirty="0"/>
              <a:t>2xx: Succes</a:t>
            </a:r>
            <a:br>
              <a:rPr lang="nl-NL" dirty="0"/>
            </a:br>
            <a:r>
              <a:rPr lang="nl-NL" sz="1500" dirty="0"/>
              <a:t>(b.v. 200 OK)</a:t>
            </a:r>
            <a:endParaRPr lang="nl-NL" dirty="0"/>
          </a:p>
          <a:p>
            <a:pPr marL="800100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nl-NL" sz="1800" dirty="0"/>
              <a:t>3xx: </a:t>
            </a:r>
            <a:r>
              <a:rPr lang="nl-NL" sz="1800" dirty="0" err="1"/>
              <a:t>Redirection</a:t>
            </a:r>
            <a:br>
              <a:rPr lang="nl-NL" dirty="0"/>
            </a:br>
            <a:r>
              <a:rPr lang="nl-NL" sz="1500" dirty="0"/>
              <a:t>(b.v. 301 </a:t>
            </a:r>
            <a:r>
              <a:rPr lang="nl-NL" sz="1500" dirty="0" err="1"/>
              <a:t>Moved</a:t>
            </a:r>
            <a:r>
              <a:rPr lang="nl-NL" sz="1500" dirty="0"/>
              <a:t> </a:t>
            </a:r>
            <a:r>
              <a:rPr lang="nl-NL" sz="1500" dirty="0" err="1"/>
              <a:t>Permanently</a:t>
            </a:r>
            <a:r>
              <a:rPr lang="nl-NL" sz="1500" dirty="0"/>
              <a:t>)</a:t>
            </a:r>
          </a:p>
          <a:p>
            <a:pPr marL="800100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nl-NL" sz="1800" dirty="0"/>
              <a:t>4xx: Client Error</a:t>
            </a:r>
            <a:br>
              <a:rPr lang="nl-NL" sz="1800" dirty="0"/>
            </a:br>
            <a:r>
              <a:rPr lang="nl-NL" sz="1500" dirty="0"/>
              <a:t>(b.v. 404 </a:t>
            </a:r>
            <a:r>
              <a:rPr lang="nl-NL" sz="1500" dirty="0" err="1"/>
              <a:t>Not</a:t>
            </a:r>
            <a:r>
              <a:rPr lang="nl-NL" sz="1500" dirty="0"/>
              <a:t> Found)</a:t>
            </a:r>
          </a:p>
          <a:p>
            <a:pPr marL="800100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nl-NL" sz="1800" dirty="0"/>
              <a:t>5xx: Server Error</a:t>
            </a:r>
          </a:p>
          <a:p>
            <a:pPr>
              <a:lnSpc>
                <a:spcPct val="100000"/>
              </a:lnSpc>
            </a:pPr>
            <a:r>
              <a:rPr lang="nl-NL" sz="1800" dirty="0"/>
              <a:t>Gevolgd door:</a:t>
            </a:r>
          </a:p>
          <a:p>
            <a:pPr marL="800100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nl-NL" sz="1800" dirty="0"/>
              <a:t>headers</a:t>
            </a:r>
          </a:p>
          <a:p>
            <a:pPr marL="800100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nl-NL" sz="1800" dirty="0"/>
              <a:t>lege regel </a:t>
            </a:r>
          </a:p>
          <a:p>
            <a:pPr marL="800100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nl-NL" sz="1800" dirty="0"/>
              <a:t>body</a:t>
            </a:r>
          </a:p>
          <a:p>
            <a:pPr>
              <a:lnSpc>
                <a:spcPct val="100000"/>
              </a:lnSpc>
            </a:pPr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69461" y="1226672"/>
            <a:ext cx="4347664" cy="32316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1200" dirty="0">
                <a:latin typeface="Consolas" panose="020B0609020204030204" pitchFamily="49" charset="0"/>
              </a:rPr>
              <a:t>HTTP/1.1 200 OK</a:t>
            </a:r>
          </a:p>
          <a:p>
            <a:r>
              <a:rPr lang="nl-NL" sz="1200" dirty="0">
                <a:latin typeface="Consolas" panose="020B0609020204030204" pitchFamily="49" charset="0"/>
              </a:rPr>
              <a:t>Date: </a:t>
            </a:r>
            <a:r>
              <a:rPr lang="en-US" sz="1200" dirty="0">
                <a:latin typeface="Consolas" panose="020B0609020204030204" pitchFamily="49" charset="0"/>
              </a:rPr>
              <a:t>Mon, 03 Mar 2025 16:19:01 GMT</a:t>
            </a:r>
            <a:endParaRPr lang="nl-NL" sz="1200" dirty="0">
              <a:latin typeface="Consolas" panose="020B0609020204030204" pitchFamily="49" charset="0"/>
            </a:endParaRPr>
          </a:p>
          <a:p>
            <a:r>
              <a:rPr lang="nl-NL" sz="1200" dirty="0">
                <a:latin typeface="Consolas" panose="020B0609020204030204" pitchFamily="49" charset="0"/>
              </a:rPr>
              <a:t>Server: Apache/2.4.37 (</a:t>
            </a:r>
            <a:r>
              <a:rPr lang="nl-NL" sz="1200" dirty="0" err="1">
                <a:latin typeface="Consolas" panose="020B0609020204030204" pitchFamily="49" charset="0"/>
              </a:rPr>
              <a:t>Rocky</a:t>
            </a:r>
            <a:r>
              <a:rPr lang="nl-NL" sz="1200" dirty="0">
                <a:latin typeface="Consolas" panose="020B0609020204030204" pitchFamily="49" charset="0"/>
              </a:rPr>
              <a:t> Linux)</a:t>
            </a:r>
          </a:p>
          <a:p>
            <a:r>
              <a:rPr lang="nl-NL" sz="1200" dirty="0">
                <a:latin typeface="Consolas" panose="020B0609020204030204" pitchFamily="49" charset="0"/>
              </a:rPr>
              <a:t>Last-</a:t>
            </a:r>
            <a:r>
              <a:rPr lang="nl-NL" sz="1200" dirty="0" err="1">
                <a:latin typeface="Consolas" panose="020B0609020204030204" pitchFamily="49" charset="0"/>
              </a:rPr>
              <a:t>Modified</a:t>
            </a:r>
            <a:r>
              <a:rPr lang="nl-NL" sz="1200" dirty="0">
                <a:latin typeface="Consolas" panose="020B0609020204030204" pitchFamily="49" charset="0"/>
              </a:rPr>
              <a:t>: </a:t>
            </a:r>
            <a:r>
              <a:rPr lang="en-US" sz="1200" dirty="0">
                <a:latin typeface="Consolas" panose="020B0609020204030204" pitchFamily="49" charset="0"/>
              </a:rPr>
              <a:t>Thu, 13 Feb 2025 17:37:22 GMT</a:t>
            </a:r>
            <a:endParaRPr lang="nl-NL" sz="1200" dirty="0">
              <a:latin typeface="Consolas" panose="020B0609020204030204" pitchFamily="49" charset="0"/>
            </a:endParaRPr>
          </a:p>
          <a:p>
            <a:r>
              <a:rPr lang="nl-NL" sz="1200" dirty="0" err="1">
                <a:latin typeface="Consolas" panose="020B0609020204030204" pitchFamily="49" charset="0"/>
              </a:rPr>
              <a:t>ETag</a:t>
            </a:r>
            <a:r>
              <a:rPr lang="nl-NL" sz="1200" dirty="0">
                <a:latin typeface="Consolas" panose="020B0609020204030204" pitchFamily="49" charset="0"/>
              </a:rPr>
              <a:t>: "74-631ce0d671ca7"</a:t>
            </a:r>
          </a:p>
          <a:p>
            <a:r>
              <a:rPr lang="nl-NL" sz="1200" dirty="0">
                <a:latin typeface="Consolas" panose="020B0609020204030204" pitchFamily="49" charset="0"/>
              </a:rPr>
              <a:t>Accept-Ranges: bytes</a:t>
            </a:r>
          </a:p>
          <a:p>
            <a:r>
              <a:rPr lang="nl-NL" sz="1200" dirty="0">
                <a:latin typeface="Consolas" panose="020B0609020204030204" pitchFamily="49" charset="0"/>
              </a:rPr>
              <a:t>Content-</a:t>
            </a:r>
            <a:r>
              <a:rPr lang="nl-NL" sz="1200" dirty="0" err="1">
                <a:latin typeface="Consolas" panose="020B0609020204030204" pitchFamily="49" charset="0"/>
              </a:rPr>
              <a:t>Length</a:t>
            </a:r>
            <a:r>
              <a:rPr lang="nl-NL" sz="1200" dirty="0">
                <a:latin typeface="Consolas" panose="020B0609020204030204" pitchFamily="49" charset="0"/>
              </a:rPr>
              <a:t>: 116</a:t>
            </a:r>
          </a:p>
          <a:p>
            <a:r>
              <a:rPr lang="nl-NL" sz="1200" dirty="0">
                <a:latin typeface="Consolas" panose="020B0609020204030204" pitchFamily="49" charset="0"/>
              </a:rPr>
              <a:t>Content-Type: text/html; </a:t>
            </a:r>
            <a:r>
              <a:rPr lang="nl-NL" sz="1200" dirty="0" err="1">
                <a:latin typeface="Consolas" panose="020B0609020204030204" pitchFamily="49" charset="0"/>
              </a:rPr>
              <a:t>charset</a:t>
            </a:r>
            <a:r>
              <a:rPr lang="nl-NL" sz="1200" dirty="0">
                <a:latin typeface="Consolas" panose="020B0609020204030204" pitchFamily="49" charset="0"/>
              </a:rPr>
              <a:t>=UTF-8</a:t>
            </a:r>
          </a:p>
          <a:p>
            <a:endParaRPr lang="nl-NL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&lt;html&gt;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&lt;head&gt;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&lt;title&gt; Hello World! &lt;/title&gt;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&lt;/head&gt;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&lt;body&gt;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&lt;h1&gt; Hello World! &lt;/h1&gt;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&lt;/body&gt;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&lt;/html&gt;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866606" y="1375954"/>
            <a:ext cx="702854" cy="0"/>
          </a:xfrm>
          <a:prstGeom prst="straightConnector1">
            <a:avLst/>
          </a:prstGeom>
          <a:ln w="3175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525486" y="1798181"/>
            <a:ext cx="2043974" cy="2164220"/>
          </a:xfrm>
          <a:prstGeom prst="straightConnector1">
            <a:avLst/>
          </a:prstGeom>
          <a:ln w="3175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2603864" y="2890732"/>
            <a:ext cx="1965596" cy="1324217"/>
          </a:xfrm>
          <a:prstGeom prst="straightConnector1">
            <a:avLst/>
          </a:prstGeom>
          <a:ln w="3175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2137954" y="3683726"/>
            <a:ext cx="2431507" cy="804931"/>
          </a:xfrm>
          <a:prstGeom prst="straightConnector1">
            <a:avLst/>
          </a:prstGeom>
          <a:ln w="3175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569461" y="2748885"/>
            <a:ext cx="4347665" cy="180000"/>
          </a:xfrm>
          <a:prstGeom prst="rect">
            <a:avLst/>
          </a:prstGeom>
          <a:noFill/>
          <a:ln w="28575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Rectangle 16"/>
          <p:cNvSpPr/>
          <p:nvPr/>
        </p:nvSpPr>
        <p:spPr>
          <a:xfrm>
            <a:off x="4569460" y="2928885"/>
            <a:ext cx="4347665" cy="1529440"/>
          </a:xfrm>
          <a:prstGeom prst="rect">
            <a:avLst/>
          </a:prstGeom>
          <a:noFill/>
          <a:ln w="28575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Rectangle 18"/>
          <p:cNvSpPr/>
          <p:nvPr/>
        </p:nvSpPr>
        <p:spPr>
          <a:xfrm>
            <a:off x="4569462" y="1229040"/>
            <a:ext cx="4347665" cy="233999"/>
          </a:xfrm>
          <a:prstGeom prst="rect">
            <a:avLst/>
          </a:prstGeom>
          <a:noFill/>
          <a:ln w="28575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/>
          <p:cNvSpPr/>
          <p:nvPr/>
        </p:nvSpPr>
        <p:spPr>
          <a:xfrm>
            <a:off x="4569461" y="1463040"/>
            <a:ext cx="4347665" cy="1285845"/>
          </a:xfrm>
          <a:prstGeom prst="rect">
            <a:avLst/>
          </a:prstGeom>
          <a:noFill/>
          <a:ln w="28575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106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7" grpId="0" animBg="1"/>
      <p:bldP spid="19" grpId="0" animBg="1"/>
      <p:bldP spid="20" grpId="0" animBg="1"/>
      <p:bldP spid="20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Interactief: webbrowser, applicaties zoals mobiele apps</a:t>
            </a:r>
          </a:p>
          <a:p>
            <a:r>
              <a:rPr lang="nl-NL" dirty="0"/>
              <a:t>Tools: </a:t>
            </a:r>
            <a:r>
              <a:rPr lang="nl-NL" dirty="0" err="1">
                <a:latin typeface="Consolas" panose="020B0609020204030204" pitchFamily="49" charset="0"/>
              </a:rPr>
              <a:t>curl</a:t>
            </a:r>
            <a:r>
              <a:rPr lang="nl-NL" dirty="0"/>
              <a:t> / </a:t>
            </a:r>
            <a:r>
              <a:rPr lang="nl-NL" dirty="0" err="1">
                <a:latin typeface="Consolas" panose="020B0609020204030204" pitchFamily="49" charset="0"/>
              </a:rPr>
              <a:t>Invoke-WebRequest</a:t>
            </a:r>
            <a:r>
              <a:rPr lang="nl-NL" dirty="0"/>
              <a:t> / </a:t>
            </a:r>
            <a:r>
              <a:rPr lang="nl-NL" dirty="0" err="1">
                <a:latin typeface="Consolas" panose="020B0609020204030204" pitchFamily="49" charset="0"/>
              </a:rPr>
              <a:t>wget</a:t>
            </a:r>
            <a:endParaRPr lang="nl-NL" dirty="0">
              <a:latin typeface="Consolas" panose="020B0609020204030204" pitchFamily="49" charset="0"/>
            </a:endParaRPr>
          </a:p>
          <a:p>
            <a:endParaRPr lang="en-US" dirty="0"/>
          </a:p>
          <a:p>
            <a:endParaRPr lang="nl-NL" dirty="0"/>
          </a:p>
          <a:p>
            <a:endParaRPr lang="nl-NL" dirty="0"/>
          </a:p>
          <a:p>
            <a:pPr>
              <a:spcBef>
                <a:spcPts val="600"/>
              </a:spcBef>
            </a:pPr>
            <a:r>
              <a:rPr lang="nl-NL" dirty="0"/>
              <a:t>Python: </a:t>
            </a:r>
            <a:r>
              <a:rPr lang="nl-NL" dirty="0">
                <a:latin typeface="Consolas" panose="020B0609020204030204" pitchFamily="49" charset="0"/>
              </a:rPr>
              <a:t>import </a:t>
            </a:r>
            <a:r>
              <a:rPr lang="nl-NL" dirty="0" err="1">
                <a:latin typeface="Consolas" panose="020B0609020204030204" pitchFamily="49" charset="0"/>
              </a:rPr>
              <a:t>http.client</a:t>
            </a:r>
            <a:endParaRPr lang="nl-NL" dirty="0">
              <a:latin typeface="Consolas" panose="020B0609020204030204" pitchFamily="49" charset="0"/>
            </a:endParaRPr>
          </a:p>
          <a:p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HTTP User Agent (client):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670" y="3117705"/>
            <a:ext cx="6157666" cy="1370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670" y="2099535"/>
            <a:ext cx="6533226" cy="702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8543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Encryptie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/>
              <a:t>HTTPS </a:t>
            </a:r>
          </a:p>
          <a:p>
            <a:pPr lvl="2"/>
            <a:r>
              <a:rPr lang="nl-NL" dirty="0"/>
              <a:t>Server certificaat</a:t>
            </a:r>
          </a:p>
          <a:p>
            <a:pPr marL="85725" indent="0">
              <a:buNone/>
            </a:pPr>
            <a:endParaRPr lang="nl-NL" dirty="0"/>
          </a:p>
          <a:p>
            <a:pPr marL="428625"/>
            <a:r>
              <a:rPr lang="nl-NL" dirty="0"/>
              <a:t>Authenticatie</a:t>
            </a:r>
          </a:p>
          <a:p>
            <a:pPr marL="1128713" lvl="1" indent="-342900">
              <a:buFont typeface="Courier New" panose="02070309020205020404" pitchFamily="49" charset="0"/>
              <a:buChar char="o"/>
            </a:pPr>
            <a:r>
              <a:rPr lang="nl-NL" dirty="0"/>
              <a:t>Server authenticatie: server certificaat</a:t>
            </a:r>
          </a:p>
          <a:p>
            <a:pPr marL="1128713" lvl="1" indent="-342900">
              <a:buFont typeface="Courier New" panose="02070309020205020404" pitchFamily="49" charset="0"/>
              <a:buChar char="o"/>
            </a:pPr>
            <a:r>
              <a:rPr lang="nl-NL" dirty="0"/>
              <a:t>Client authenticatie:</a:t>
            </a:r>
          </a:p>
          <a:p>
            <a:pPr marL="1928813" lvl="2">
              <a:buFont typeface="Courier New" panose="02070309020205020404" pitchFamily="49" charset="0"/>
              <a:buChar char="o"/>
            </a:pPr>
            <a:r>
              <a:rPr lang="nl-NL" dirty="0"/>
              <a:t>Slecht: Basic Authenticatie</a:t>
            </a:r>
            <a:br>
              <a:rPr lang="nl-NL" dirty="0"/>
            </a:br>
            <a:r>
              <a:rPr lang="nl-NL" sz="1800" dirty="0"/>
              <a:t>username en password niet versleuteld naar de server.</a:t>
            </a:r>
          </a:p>
          <a:p>
            <a:pPr marL="1928813" lvl="2">
              <a:buFont typeface="Courier New" panose="02070309020205020404" pitchFamily="49" charset="0"/>
              <a:buChar char="o"/>
            </a:pPr>
            <a:r>
              <a:rPr lang="nl-NL" dirty="0"/>
              <a:t>Beter: Digest Authenticatie</a:t>
            </a:r>
            <a:br>
              <a:rPr lang="nl-NL" dirty="0"/>
            </a:br>
            <a:r>
              <a:rPr lang="nl-NL" sz="1800" dirty="0"/>
              <a:t>gebruikt </a:t>
            </a:r>
            <a:r>
              <a:rPr lang="nl-NL" sz="1800" dirty="0" err="1"/>
              <a:t>cryptografische</a:t>
            </a:r>
            <a:r>
              <a:rPr lang="nl-NL" sz="1800" dirty="0"/>
              <a:t> </a:t>
            </a:r>
            <a:r>
              <a:rPr lang="nl-NL" sz="1800" dirty="0" err="1"/>
              <a:t>hash</a:t>
            </a:r>
            <a:r>
              <a:rPr lang="nl-NL" sz="1800" dirty="0"/>
              <a:t> functie</a:t>
            </a:r>
            <a:endParaRPr lang="nl-NL" dirty="0"/>
          </a:p>
          <a:p>
            <a:pPr marL="1928813" lvl="2">
              <a:buFont typeface="Courier New" panose="02070309020205020404" pitchFamily="49" charset="0"/>
              <a:buChar char="o"/>
            </a:pPr>
            <a:r>
              <a:rPr lang="nl-NL" dirty="0"/>
              <a:t>Best: Client certificaten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Beveiligde verbinding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DBA59A-0168-43F4-B7D6-C649177A6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102" y="1468483"/>
            <a:ext cx="1962150" cy="342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8BFA1E-A6B0-4838-A123-041E296F9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9461" y="1478008"/>
            <a:ext cx="1123950" cy="323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8FE36B-76D4-4E27-8DD2-0195B86F8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0620" y="1449433"/>
            <a:ext cx="2162175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239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Virtual </a:t>
            </a:r>
            <a:r>
              <a:rPr lang="nl-NL" dirty="0" err="1"/>
              <a:t>hosts</a:t>
            </a:r>
            <a:r>
              <a:rPr lang="nl-NL" dirty="0"/>
              <a:t> en Host Headers</a:t>
            </a:r>
          </a:p>
        </p:txBody>
      </p:sp>
      <p:pic>
        <p:nvPicPr>
          <p:cNvPr id="4" name="Picture 2" descr="Intranet hosting using URL-host-based virtual serve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888467"/>
            <a:ext cx="5724636" cy="4236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8119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linuxgazette.net/161/misc/prestia/proxy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7"/>
          <a:stretch/>
        </p:blipFill>
        <p:spPr bwMode="auto">
          <a:xfrm>
            <a:off x="4863066" y="348046"/>
            <a:ext cx="3645208" cy="4140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18219" y="1196341"/>
            <a:ext cx="4480798" cy="3292316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nl-NL" dirty="0"/>
              <a:t>Treedt op als “gemachtigde” voor client om met webservers te communiceren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nl-NL" dirty="0"/>
              <a:t>Staat als enige rechtstreeks in verbinding met Internet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nl-NL" dirty="0" err="1"/>
              <a:t>Caching</a:t>
            </a:r>
            <a:r>
              <a:rPr lang="nl-NL" dirty="0"/>
              <a:t> van statische content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nl-NL" dirty="0"/>
              <a:t>Centraal punt waar beleid af te dwingen is</a:t>
            </a:r>
          </a:p>
          <a:p>
            <a:pPr>
              <a:lnSpc>
                <a:spcPct val="100000"/>
              </a:lnSpc>
            </a:pPr>
            <a:r>
              <a:rPr lang="nl-NL" dirty="0"/>
              <a:t>Kan scannen op malware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Proxy</a:t>
            </a:r>
          </a:p>
        </p:txBody>
      </p:sp>
    </p:spTree>
    <p:extLst>
      <p:ext uri="{BB962C8B-B14F-4D97-AF65-F5344CB8AC3E}">
        <p14:creationId xmlns:p14="http://schemas.microsoft.com/office/powerpoint/2010/main" val="575472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sz="2100" dirty="0"/>
          </a:p>
          <a:p>
            <a:r>
              <a:rPr lang="nl-NL" sz="2100" dirty="0"/>
              <a:t>Van buiten naar </a:t>
            </a:r>
          </a:p>
          <a:p>
            <a:pPr marL="357188" lvl="1"/>
            <a:r>
              <a:rPr lang="nl-NL" sz="2025" dirty="0"/>
              <a:t>binnen…</a:t>
            </a:r>
          </a:p>
          <a:p>
            <a:r>
              <a:rPr lang="nl-NL" sz="2100" dirty="0"/>
              <a:t>Kan statische </a:t>
            </a:r>
          </a:p>
          <a:p>
            <a:pPr marL="357188" lvl="1"/>
            <a:r>
              <a:rPr lang="nl-NL" sz="2025" dirty="0"/>
              <a:t>content </a:t>
            </a:r>
            <a:r>
              <a:rPr lang="nl-NL" sz="2025" dirty="0" err="1"/>
              <a:t>cachen</a:t>
            </a:r>
            <a:br>
              <a:rPr lang="nl-NL" sz="2025" dirty="0"/>
            </a:br>
            <a:endParaRPr lang="nl-NL" sz="2025" dirty="0"/>
          </a:p>
          <a:p>
            <a:r>
              <a:rPr lang="nl-NL" sz="2100" dirty="0"/>
              <a:t>Kan SSL </a:t>
            </a:r>
            <a:r>
              <a:rPr lang="nl-NL" sz="2100" dirty="0" err="1"/>
              <a:t>offloaden</a:t>
            </a:r>
            <a:r>
              <a:rPr lang="nl-NL" sz="2100" dirty="0"/>
              <a:t> van webserver</a:t>
            </a:r>
          </a:p>
          <a:p>
            <a:r>
              <a:rPr lang="nl-NL" sz="2100" dirty="0"/>
              <a:t>Kan centrale authenticatie verzorgen</a:t>
            </a:r>
          </a:p>
          <a:p>
            <a:r>
              <a:rPr lang="nl-NL" sz="2100" dirty="0"/>
              <a:t>Kan </a:t>
            </a:r>
            <a:r>
              <a:rPr lang="nl-NL" sz="2100" dirty="0" err="1"/>
              <a:t>loadbalancen</a:t>
            </a:r>
            <a:endParaRPr lang="nl-NL" sz="2100" dirty="0"/>
          </a:p>
          <a:p>
            <a:r>
              <a:rPr lang="nl-NL" sz="2100" dirty="0"/>
              <a:t>Kan scannen op </a:t>
            </a:r>
            <a:r>
              <a:rPr lang="nl-NL" sz="2100" i="1" dirty="0" err="1"/>
              <a:t>malicious</a:t>
            </a:r>
            <a:r>
              <a:rPr lang="nl-NL" sz="2100" i="1" dirty="0"/>
              <a:t> </a:t>
            </a:r>
            <a:r>
              <a:rPr lang="nl-NL" sz="2100" i="1" dirty="0" err="1"/>
              <a:t>use</a:t>
            </a:r>
            <a:endParaRPr lang="nl-NL" sz="2100" i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Reverse Proxy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83" y="899642"/>
            <a:ext cx="5028571" cy="1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431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-603" r="-599"/>
          <a:stretch/>
        </p:blipFill>
        <p:spPr>
          <a:xfrm>
            <a:off x="750572" y="887067"/>
            <a:ext cx="7637777" cy="3984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01530" y="4955403"/>
            <a:ext cx="29161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 err="1"/>
              <a:t>bron</a:t>
            </a:r>
            <a:r>
              <a:rPr lang="en-US" sz="700"/>
              <a:t>: </a:t>
            </a:r>
            <a:r>
              <a:rPr lang="en-US" sz="700">
                <a:hlinkClick r:id="rId4"/>
              </a:rPr>
              <a:t>https://www.netcraft.com/blog/march-2025-web-server-survey/</a:t>
            </a:r>
            <a:endParaRPr lang="nl-NL" sz="7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rcRect l="-547" r="-543"/>
          <a:stretch/>
        </p:blipFill>
        <p:spPr>
          <a:xfrm>
            <a:off x="752400" y="876300"/>
            <a:ext cx="7637778" cy="3995738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servers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695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dnf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httpd</a:t>
            </a:r>
            <a:endParaRPr lang="nl-NL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nl-NL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firewall-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cmd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--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-service=http</a:t>
            </a:r>
          </a:p>
          <a:p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firewall-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cmd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--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-service=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https</a:t>
            </a:r>
            <a:endParaRPr lang="nl-NL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firewall-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cmd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--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runtime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to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-permanent</a:t>
            </a:r>
          </a:p>
          <a:p>
            <a:endParaRPr lang="nl-NL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systemctl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start 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httpd</a:t>
            </a:r>
            <a:endParaRPr lang="nl-NL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systemctl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enable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httpd</a:t>
            </a:r>
            <a:endParaRPr lang="nl-NL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Rocky</a:t>
            </a:r>
            <a:r>
              <a:rPr lang="nl-NL" dirty="0"/>
              <a:t> Linux: Installatie</a:t>
            </a:r>
          </a:p>
        </p:txBody>
      </p:sp>
      <p:cxnSp>
        <p:nvCxnSpPr>
          <p:cNvPr id="6" name="Curved Connector 5"/>
          <p:cNvCxnSpPr>
            <a:stCxn id="3" idx="0"/>
          </p:cNvCxnSpPr>
          <p:nvPr/>
        </p:nvCxnSpPr>
        <p:spPr>
          <a:xfrm rot="16200000" flipV="1">
            <a:off x="6320693" y="2276229"/>
            <a:ext cx="414217" cy="1019910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33110" y="2993292"/>
            <a:ext cx="4009292" cy="830997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</a:rPr>
              <a:t>vergelijkbaar</a:t>
            </a:r>
            <a:r>
              <a:rPr lang="en-US" sz="1600" dirty="0">
                <a:solidFill>
                  <a:srgbClr val="FF0000"/>
                </a:solidFill>
              </a:rPr>
              <a:t> met</a:t>
            </a:r>
            <a:br>
              <a:rPr lang="en-US" sz="1600" dirty="0">
                <a:solidFill>
                  <a:srgbClr val="FF0000"/>
                </a:solidFill>
              </a:rPr>
            </a:br>
            <a:r>
              <a:rPr lang="nl-NL" sz="1600" dirty="0">
                <a:solidFill>
                  <a:srgbClr val="FF0000"/>
                </a:solidFill>
                <a:latin typeface="Consolas" panose="020B0609020204030204" pitchFamily="49" charset="0"/>
              </a:rPr>
              <a:t>copy running-</a:t>
            </a:r>
            <a:r>
              <a:rPr lang="nl-NL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config</a:t>
            </a:r>
            <a:r>
              <a:rPr lang="nl-NL" sz="1600" dirty="0">
                <a:solidFill>
                  <a:srgbClr val="FF0000"/>
                </a:solidFill>
                <a:latin typeface="Consolas" panose="020B0609020204030204" pitchFamily="49" charset="0"/>
              </a:rPr>
              <a:t> startup-</a:t>
            </a:r>
            <a:r>
              <a:rPr lang="nl-NL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config</a:t>
            </a:r>
            <a:br>
              <a:rPr lang="nl-NL" sz="1600" dirty="0">
                <a:solidFill>
                  <a:srgbClr val="FF0000"/>
                </a:solidFill>
              </a:rPr>
            </a:br>
            <a:r>
              <a:rPr lang="nl-NL" sz="1600" dirty="0">
                <a:solidFill>
                  <a:srgbClr val="FF0000"/>
                </a:solidFill>
              </a:rPr>
              <a:t>onder Cisco IOS</a:t>
            </a:r>
          </a:p>
        </p:txBody>
      </p:sp>
      <p:cxnSp>
        <p:nvCxnSpPr>
          <p:cNvPr id="10" name="Curved Connector 9"/>
          <p:cNvCxnSpPr>
            <a:stCxn id="9" idx="0"/>
          </p:cNvCxnSpPr>
          <p:nvPr/>
        </p:nvCxnSpPr>
        <p:spPr>
          <a:xfrm rot="16200000" flipV="1">
            <a:off x="4970301" y="2903543"/>
            <a:ext cx="414217" cy="1344167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27049" y="3782735"/>
            <a:ext cx="4844886" cy="338554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of in </a:t>
            </a:r>
            <a:r>
              <a:rPr lang="en-US" sz="16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éé</a:t>
            </a:r>
            <a:r>
              <a:rPr lang="en-US" sz="1600" dirty="0" err="1">
                <a:solidFill>
                  <a:srgbClr val="FF0000"/>
                </a:solidFill>
              </a:rPr>
              <a:t>n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keer</a:t>
            </a:r>
            <a:r>
              <a:rPr lang="en-US" sz="1600" dirty="0">
                <a:solidFill>
                  <a:srgbClr val="FF0000"/>
                </a:solidFill>
              </a:rPr>
              <a:t>: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systemctl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enable --now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httpd</a:t>
            </a:r>
            <a:endParaRPr lang="nl-NL" sz="1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Right Brace 11"/>
          <p:cNvSpPr/>
          <p:nvPr/>
        </p:nvSpPr>
        <p:spPr>
          <a:xfrm>
            <a:off x="4228123" y="3087077"/>
            <a:ext cx="183665" cy="554892"/>
          </a:xfrm>
          <a:prstGeom prst="rightBrace">
            <a:avLst/>
          </a:prstGeom>
          <a:ln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27266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9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/var/www/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bmc.example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</a:p>
          <a:p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chown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-R 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user:user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/var/www/</a:t>
            </a:r>
          </a:p>
          <a:p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chmod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-R 755 /var/www</a:t>
            </a:r>
          </a:p>
          <a:p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sudo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vi /var/www/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bmc.example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/index.html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Rocky</a:t>
            </a:r>
            <a:r>
              <a:rPr lang="nl-NL" dirty="0"/>
              <a:t> Linux: Configuratie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109" y="2571750"/>
            <a:ext cx="5076564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50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&lt;html&gt;</a:t>
            </a:r>
          </a:p>
          <a:p>
            <a:r>
              <a:rPr lang="en-US" sz="1350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&lt;head&gt;</a:t>
            </a:r>
          </a:p>
          <a:p>
            <a:r>
              <a:rPr lang="en-US" sz="1350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&lt;title&gt;</a:t>
            </a:r>
            <a:r>
              <a:rPr lang="en-US" sz="1350" b="1" dirty="0">
                <a:latin typeface="Consolas" panose="020B0609020204030204" pitchFamily="49" charset="0"/>
                <a:cs typeface="Consolas" panose="020B0609020204030204" pitchFamily="49" charset="0"/>
              </a:rPr>
              <a:t>Welcome to </a:t>
            </a:r>
            <a:r>
              <a:rPr lang="en-US" sz="1350" b="1" dirty="0" err="1">
                <a:latin typeface="Consolas" panose="020B0609020204030204" pitchFamily="49" charset="0"/>
                <a:cs typeface="Consolas" panose="020B0609020204030204" pitchFamily="49" charset="0"/>
              </a:rPr>
              <a:t>Beter</a:t>
            </a:r>
            <a:r>
              <a:rPr lang="en-US" sz="135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35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Medisch</a:t>
            </a:r>
            <a:r>
              <a:rPr lang="en-US" sz="1350" b="1" dirty="0">
                <a:latin typeface="Consolas" panose="020B0609020204030204" pitchFamily="49" charset="0"/>
                <a:cs typeface="Consolas" panose="020B0609020204030204" pitchFamily="49" charset="0"/>
              </a:rPr>
              <a:t> Centrum!</a:t>
            </a:r>
            <a:r>
              <a:rPr lang="en-US" sz="1350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&lt;/title&gt;</a:t>
            </a:r>
          </a:p>
          <a:p>
            <a:r>
              <a:rPr lang="en-US" sz="1350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&lt;/head&gt;</a:t>
            </a:r>
          </a:p>
          <a:p>
            <a:r>
              <a:rPr lang="en-US" sz="1350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&lt;body&gt;</a:t>
            </a:r>
          </a:p>
          <a:p>
            <a:r>
              <a:rPr lang="en-US" sz="1350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&lt;h1&gt;</a:t>
            </a:r>
            <a:r>
              <a:rPr lang="en-US" sz="135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Succes</a:t>
            </a:r>
            <a:r>
              <a:rPr lang="en-US" sz="1350" b="1" dirty="0">
                <a:latin typeface="Consolas" panose="020B0609020204030204" pitchFamily="49" charset="0"/>
                <a:cs typeface="Consolas" panose="020B0609020204030204" pitchFamily="49" charset="0"/>
              </a:rPr>
              <a:t>! De BMC virtual host </a:t>
            </a:r>
            <a:r>
              <a:rPr lang="en-US" sz="135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werkt</a:t>
            </a:r>
            <a:r>
              <a:rPr lang="en-US" sz="1350" b="1" dirty="0"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r>
              <a:rPr lang="en-US" sz="1350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&lt;/h1&gt;</a:t>
            </a:r>
          </a:p>
          <a:p>
            <a:r>
              <a:rPr lang="en-US" sz="1350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&lt;/body&gt;</a:t>
            </a:r>
          </a:p>
          <a:p>
            <a:r>
              <a:rPr lang="en-US" sz="1350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&lt;/html&gt;</a:t>
            </a:r>
            <a:endParaRPr lang="nl-NL" sz="1350" i="1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440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sudo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vi /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httpd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conf.d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/www.bmc.example.conf</a:t>
            </a:r>
            <a:br>
              <a:rPr lang="nl-NL" dirty="0"/>
            </a:br>
            <a:endParaRPr lang="nl-NL" dirty="0"/>
          </a:p>
          <a:p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sudo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systemctl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restart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httpd</a:t>
            </a:r>
            <a:endParaRPr lang="nl-NL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Rocky</a:t>
            </a:r>
            <a:r>
              <a:rPr lang="nl-NL" dirty="0"/>
              <a:t> Linux: Configuratie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1700" y="1653649"/>
            <a:ext cx="5076564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&lt;VirtualHost </a:t>
            </a:r>
            <a:r>
              <a:rPr lang="pt-BR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*:80</a:t>
            </a:r>
            <a:r>
              <a:rPr lang="pt-BR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pt-BR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pt-BR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pt-BR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ServerName</a:t>
            </a:r>
            <a:r>
              <a:rPr lang="pt-BR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www.bmc.example</a:t>
            </a:r>
          </a:p>
          <a:p>
            <a:r>
              <a:rPr lang="pt-BR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pt-BR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ServerAlias</a:t>
            </a:r>
            <a:r>
              <a:rPr lang="pt-BR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bmc.example</a:t>
            </a:r>
          </a:p>
          <a:p>
            <a:r>
              <a:rPr lang="pt-BR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pt-BR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DocumentRoot</a:t>
            </a:r>
            <a:r>
              <a:rPr lang="pt-BR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/var/www/bmc.example</a:t>
            </a:r>
          </a:p>
          <a:p>
            <a:r>
              <a:rPr lang="pt-BR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&lt;/VirtualHost&gt;</a:t>
            </a:r>
          </a:p>
        </p:txBody>
      </p:sp>
    </p:spTree>
    <p:extLst>
      <p:ext uri="{BB962C8B-B14F-4D97-AF65-F5344CB8AC3E}">
        <p14:creationId xmlns:p14="http://schemas.microsoft.com/office/powerpoint/2010/main" val="3912273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Internet Information Server (IIS 10.0)</a:t>
            </a:r>
          </a:p>
          <a:p>
            <a:r>
              <a:rPr lang="nl-NL" dirty="0"/>
              <a:t>Drie methodes: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/>
              <a:t>Server Manager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/>
              <a:t>Command-line installation using DISM (Deployment Image Servicing and Management)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/>
              <a:t>Command-line installation using PowerShell cmdlets</a:t>
            </a:r>
          </a:p>
          <a:p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Windows Installatie</a:t>
            </a:r>
          </a:p>
        </p:txBody>
      </p:sp>
      <p:pic>
        <p:nvPicPr>
          <p:cNvPr id="7170" name="Picture 2" descr="Role Services p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946" y="1545636"/>
            <a:ext cx="2857500" cy="202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895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18219" y="1178923"/>
            <a:ext cx="7553716" cy="3292316"/>
          </a:xfrm>
        </p:spPr>
        <p:txBody>
          <a:bodyPr/>
          <a:lstStyle/>
          <a:p>
            <a:r>
              <a:rPr lang="nl-NL" dirty="0"/>
              <a:t>Alleen voor administrator</a:t>
            </a:r>
          </a:p>
          <a:p>
            <a:r>
              <a:rPr lang="nl-NL" dirty="0"/>
              <a:t>Niet in een productieomgeving:</a:t>
            </a:r>
          </a:p>
          <a:p>
            <a:pPr marL="814388" lvl="2" indent="0"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import-module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servermanager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814388" lvl="2" indent="0"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add-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windowsfeature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web-server –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includeallsubfeature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  <a:p>
            <a:r>
              <a:rPr lang="en-US" dirty="0" err="1"/>
              <a:t>Daarom</a:t>
            </a:r>
            <a:r>
              <a:rPr lang="en-US" dirty="0"/>
              <a:t>:</a:t>
            </a:r>
          </a:p>
          <a:p>
            <a:pPr marL="814388" lvl="2" indent="0"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import-module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servermanager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814388" lvl="2" indent="0"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add-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windowsfeature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Web-Server, Web-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WebServer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Web-Security, Web-Filtering -</a:t>
            </a:r>
            <a:r>
              <a:rPr lang="nl-NL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IncludeManagementTools</a:t>
            </a:r>
            <a:r>
              <a:rPr lang="nl-NL" sz="1600" dirty="0"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Installeer IIS met PowerShell</a:t>
            </a:r>
          </a:p>
        </p:txBody>
      </p:sp>
      <p:sp>
        <p:nvSpPr>
          <p:cNvPr id="4" name="Oval 3"/>
          <p:cNvSpPr/>
          <p:nvPr/>
        </p:nvSpPr>
        <p:spPr bwMode="auto">
          <a:xfrm>
            <a:off x="322218" y="3283131"/>
            <a:ext cx="8066132" cy="697974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nl-NL" sz="1050" dirty="0">
              <a:latin typeface="Arial" charset="0"/>
              <a:ea typeface="ＭＳ Ｐゴシック" charset="0"/>
            </a:endParaRPr>
          </a:p>
        </p:txBody>
      </p:sp>
      <p:cxnSp>
        <p:nvCxnSpPr>
          <p:cNvPr id="6" name="Straight Arrow Connector 5"/>
          <p:cNvCxnSpPr>
            <a:stCxn id="8" idx="1"/>
            <a:endCxn id="4" idx="5"/>
          </p:cNvCxnSpPr>
          <p:nvPr/>
        </p:nvCxnSpPr>
        <p:spPr bwMode="auto">
          <a:xfrm flipH="1" flipV="1">
            <a:off x="7207092" y="3878889"/>
            <a:ext cx="263156" cy="263787"/>
          </a:xfrm>
          <a:prstGeom prst="straightConnector1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7470248" y="3981093"/>
            <a:ext cx="9181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dirty="0">
                <a:solidFill>
                  <a:schemeClr val="accent2"/>
                </a:solidFill>
              </a:rPr>
              <a:t>1 regel</a:t>
            </a:r>
          </a:p>
        </p:txBody>
      </p:sp>
    </p:spTree>
    <p:extLst>
      <p:ext uri="{BB962C8B-B14F-4D97-AF65-F5344CB8AC3E}">
        <p14:creationId xmlns:p14="http://schemas.microsoft.com/office/powerpoint/2010/main" val="3359850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IIS Manager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 err="1"/>
              <a:t>Expand</a:t>
            </a:r>
            <a:r>
              <a:rPr lang="nl-NL" dirty="0"/>
              <a:t> Server en Sites node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/>
              <a:t>Click default website, view virtual directories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/>
              <a:t>click </a:t>
            </a:r>
            <a:r>
              <a:rPr lang="nl-NL" dirty="0" err="1"/>
              <a:t>add</a:t>
            </a:r>
            <a:r>
              <a:rPr lang="nl-NL" dirty="0"/>
              <a:t> virtual directory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/>
              <a:t>Alias: </a:t>
            </a:r>
            <a:r>
              <a:rPr lang="nl-NL" dirty="0" err="1"/>
              <a:t>bmc</a:t>
            </a:r>
            <a:endParaRPr lang="nl-NL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/>
              <a:t>Fysieke Pad:  c:\inetpub\bmc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/>
              <a:t>Plaats een index.html in dit pad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/>
              <a:t>Webbrowser: </a:t>
            </a:r>
            <a:r>
              <a:rPr lang="nl-NL" dirty="0">
                <a:hlinkClick r:id="rId3"/>
              </a:rPr>
              <a:t>http://localhost/bmc/</a:t>
            </a:r>
            <a:endParaRPr lang="nl-NL" dirty="0"/>
          </a:p>
          <a:p>
            <a:pPr lvl="1"/>
            <a:endParaRPr lang="nl-NL" dirty="0"/>
          </a:p>
          <a:p>
            <a:r>
              <a:rPr lang="nl-NL" dirty="0" err="1"/>
              <a:t>PowerShell</a:t>
            </a:r>
            <a:endParaRPr lang="nl-NL" dirty="0"/>
          </a:p>
          <a:p>
            <a:pPr marL="814388" lvl="2" indent="0" defTabSz="809625">
              <a:buNone/>
            </a:pPr>
            <a:r>
              <a:rPr lang="nl-NL" sz="1600" dirty="0">
                <a:latin typeface="Consolas" panose="020B0609020204030204" pitchFamily="49" charset="0"/>
                <a:cs typeface="Consolas" panose="020B0609020204030204" pitchFamily="49" charset="0"/>
              </a:rPr>
              <a:t>New-Website -Name </a:t>
            </a:r>
            <a:r>
              <a:rPr lang="nl-NL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bmc</a:t>
            </a:r>
            <a:r>
              <a:rPr lang="nl-NL" sz="1600" dirty="0">
                <a:latin typeface="Consolas" panose="020B0609020204030204" pitchFamily="49" charset="0"/>
                <a:cs typeface="Consolas" panose="020B0609020204030204" pitchFamily="49" charset="0"/>
              </a:rPr>
              <a:t> -Port 80 -</a:t>
            </a:r>
            <a:r>
              <a:rPr lang="nl-NL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HostHeader</a:t>
            </a:r>
            <a:r>
              <a:rPr lang="nl-NL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bmc</a:t>
            </a:r>
            <a:r>
              <a:rPr lang="nl-NL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814388" lvl="2" indent="0" defTabSz="809625">
              <a:buNone/>
            </a:pPr>
            <a:r>
              <a:rPr lang="nl-NL" sz="1600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nl-NL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PhysicalPath</a:t>
            </a:r>
            <a:r>
              <a:rPr lang="nl-NL" sz="1600" dirty="0">
                <a:latin typeface="Consolas" panose="020B0609020204030204" pitchFamily="49" charset="0"/>
                <a:cs typeface="Consolas" panose="020B0609020204030204" pitchFamily="49" charset="0"/>
              </a:rPr>
              <a:t> "$</a:t>
            </a:r>
            <a:r>
              <a:rPr lang="nl-NL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env:systemdrive</a:t>
            </a:r>
            <a:r>
              <a:rPr lang="nl-NL" sz="1600" dirty="0">
                <a:latin typeface="Consolas" panose="020B0609020204030204" pitchFamily="49" charset="0"/>
                <a:cs typeface="Consolas" panose="020B0609020204030204" pitchFamily="49" charset="0"/>
              </a:rPr>
              <a:t>\</a:t>
            </a:r>
            <a:r>
              <a:rPr lang="nl-NL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inetpub</a:t>
            </a:r>
            <a:r>
              <a:rPr lang="nl-NL" sz="1600" dirty="0">
                <a:latin typeface="Consolas" panose="020B0609020204030204" pitchFamily="49" charset="0"/>
                <a:cs typeface="Consolas" panose="020B0609020204030204" pitchFamily="49" charset="0"/>
              </a:rPr>
              <a:t>\</a:t>
            </a:r>
            <a:r>
              <a:rPr lang="nl-NL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bmc</a:t>
            </a:r>
            <a:r>
              <a:rPr lang="nl-NL" sz="16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nl-NL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Create</a:t>
            </a:r>
            <a:r>
              <a:rPr lang="nl-NL" dirty="0"/>
              <a:t> a Simple Website</a:t>
            </a:r>
          </a:p>
        </p:txBody>
      </p:sp>
      <p:sp>
        <p:nvSpPr>
          <p:cNvPr id="4" name="Oval 3"/>
          <p:cNvSpPr/>
          <p:nvPr/>
        </p:nvSpPr>
        <p:spPr bwMode="auto">
          <a:xfrm>
            <a:off x="718219" y="4136059"/>
            <a:ext cx="6701484" cy="853951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nl-NL" sz="1050" dirty="0">
              <a:latin typeface="Arial" charset="0"/>
              <a:ea typeface="ＭＳ Ｐゴシック" charset="0"/>
            </a:endParaRPr>
          </a:p>
        </p:txBody>
      </p:sp>
      <p:cxnSp>
        <p:nvCxnSpPr>
          <p:cNvPr id="5" name="Straight Arrow Connector 4"/>
          <p:cNvCxnSpPr>
            <a:stCxn id="6" idx="1"/>
            <a:endCxn id="4" idx="7"/>
          </p:cNvCxnSpPr>
          <p:nvPr/>
        </p:nvCxnSpPr>
        <p:spPr bwMode="auto">
          <a:xfrm flipH="1">
            <a:off x="6438293" y="3825776"/>
            <a:ext cx="414746" cy="435341"/>
          </a:xfrm>
          <a:prstGeom prst="straightConnector1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6853039" y="3664193"/>
            <a:ext cx="113332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dirty="0">
                <a:solidFill>
                  <a:schemeClr val="accent2"/>
                </a:solidFill>
              </a:rPr>
              <a:t>1 regel</a:t>
            </a:r>
          </a:p>
        </p:txBody>
      </p:sp>
    </p:spTree>
    <p:extLst>
      <p:ext uri="{BB962C8B-B14F-4D97-AF65-F5344CB8AC3E}">
        <p14:creationId xmlns:p14="http://schemas.microsoft.com/office/powerpoint/2010/main" val="1996822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Filesharing</a:t>
            </a:r>
          </a:p>
        </p:txBody>
      </p:sp>
      <p:pic>
        <p:nvPicPr>
          <p:cNvPr id="4" name="Picture 2" descr="http://1.bp.blogspot.com/-eAVbVspxNeI/ThKVnPvmB3I/AAAAAAAACZA/5pGjN4KQlus/s320/vsftpd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4109" y="1059582"/>
            <a:ext cx="2107406" cy="107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http://1.bp.blogspot.com/_UqUwVPikChs/SXFiGIqlesI/AAAAAAAAIGA/ebA_jVAmVGw/s320/win_tux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078" y="2491648"/>
            <a:ext cx="2114550" cy="228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://www.teradactyl.com/images/nfs.jpg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070417"/>
            <a:ext cx="1928813" cy="707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http://www.geoffke.be/images/nieuws/800px_Logo_Samba_Software_svg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841780"/>
            <a:ext cx="2160240" cy="1012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www.getfilecloud.com/blog/wp-content/uploads/2015/03/Microsoft-OneDrive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646" y="2131145"/>
            <a:ext cx="3153966" cy="517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social.technet.microsoft.com/wiki/cfs-filesystemfile.ashx/__key/communityserver-wikis-components-files/00-00-00-00-05/5670.smb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7934" y="1281038"/>
            <a:ext cx="628650" cy="62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6029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Server Message Block (SMB)</a:t>
            </a:r>
          </a:p>
          <a:p>
            <a:r>
              <a:rPr lang="nl-NL" dirty="0"/>
              <a:t>Voor gedeelde toegang tot files en printers.</a:t>
            </a:r>
          </a:p>
          <a:p>
            <a:r>
              <a:rPr lang="nl-NL" dirty="0"/>
              <a:t>In 1996 werd een versie CIFS genoemd.</a:t>
            </a:r>
          </a:p>
          <a:p>
            <a:endParaRPr lang="nl-NL" dirty="0"/>
          </a:p>
          <a:p>
            <a:r>
              <a:rPr lang="nl-NL" dirty="0"/>
              <a:t>Vanaf Windows 2000: TCP: 445</a:t>
            </a:r>
          </a:p>
          <a:p>
            <a:r>
              <a:rPr lang="nl-NL" dirty="0"/>
              <a:t>Vroeger via Net BIOS: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/>
              <a:t>UDP 137, 138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/>
              <a:t>TCP 137, 139</a:t>
            </a:r>
          </a:p>
          <a:p>
            <a:pPr lvl="1"/>
            <a:endParaRPr lang="nl-NL" dirty="0"/>
          </a:p>
          <a:p>
            <a:r>
              <a:rPr lang="nl-NL" dirty="0"/>
              <a:t>Reverse Engineering </a:t>
            </a:r>
            <a:r>
              <a:rPr lang="nl-NL" dirty="0">
                <a:sym typeface="Wingdings" panose="05000000000000000000" pitchFamily="2" charset="2"/>
              </a:rPr>
              <a:t> Samba project voor het gebruik op andere platforms. Inclusief AD.</a:t>
            </a:r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Samba | SMB | CIFS</a:t>
            </a:r>
          </a:p>
        </p:txBody>
      </p:sp>
    </p:spTree>
    <p:extLst>
      <p:ext uri="{BB962C8B-B14F-4D97-AF65-F5344CB8AC3E}">
        <p14:creationId xmlns:p14="http://schemas.microsoft.com/office/powerpoint/2010/main" val="21230957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nl-NL" dirty="0"/>
              <a:t>Standalone of in werkgroep</a:t>
            </a:r>
          </a:p>
          <a:p>
            <a:pPr>
              <a:lnSpc>
                <a:spcPct val="150000"/>
              </a:lnSpc>
            </a:pPr>
            <a:r>
              <a:rPr lang="nl-NL" dirty="0"/>
              <a:t>Als domain member server</a:t>
            </a:r>
          </a:p>
          <a:p>
            <a:pPr>
              <a:lnSpc>
                <a:spcPct val="150000"/>
              </a:lnSpc>
            </a:pPr>
            <a:r>
              <a:rPr lang="nl-NL" dirty="0"/>
              <a:t>Als Domain Controller (sinds Samba 4)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Hoe zet je Samba in?</a:t>
            </a:r>
          </a:p>
        </p:txBody>
      </p:sp>
    </p:spTree>
    <p:extLst>
      <p:ext uri="{BB962C8B-B14F-4D97-AF65-F5344CB8AC3E}">
        <p14:creationId xmlns:p14="http://schemas.microsoft.com/office/powerpoint/2010/main" val="21908022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sz="1800" dirty="0"/>
              <a:t>3 </a:t>
            </a:r>
            <a:r>
              <a:rPr lang="nl-NL" sz="1800" dirty="0" err="1"/>
              <a:t>Daemons</a:t>
            </a:r>
            <a:r>
              <a:rPr lang="nl-NL" sz="1800" dirty="0"/>
              <a:t>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sz="1800" dirty="0"/>
              <a:t>SMBD: verzorgt file &amp; printer </a:t>
            </a:r>
            <a:r>
              <a:rPr lang="nl-NL" sz="1800" dirty="0" err="1"/>
              <a:t>sharing</a:t>
            </a:r>
            <a:endParaRPr lang="nl-NL" sz="18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sz="1800" dirty="0"/>
              <a:t>NMBD: </a:t>
            </a:r>
            <a:r>
              <a:rPr lang="nl-NL" sz="1800" dirty="0" err="1"/>
              <a:t>NetBIOS</a:t>
            </a:r>
            <a:r>
              <a:rPr lang="nl-NL" sz="1800" dirty="0"/>
              <a:t> naamresolutie &amp; </a:t>
            </a:r>
            <a:r>
              <a:rPr lang="nl-NL" sz="1800" dirty="0" err="1"/>
              <a:t>network</a:t>
            </a:r>
            <a:r>
              <a:rPr lang="nl-NL" sz="1800" dirty="0"/>
              <a:t> </a:t>
            </a:r>
            <a:r>
              <a:rPr lang="nl-NL" sz="1800" dirty="0" err="1"/>
              <a:t>browsing</a:t>
            </a:r>
            <a:endParaRPr lang="nl-NL" sz="18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sz="1800" dirty="0"/>
              <a:t>WINBINDD: authenticatie vanuit Linux aan Windows server</a:t>
            </a:r>
          </a:p>
          <a:p>
            <a:pPr lvl="1"/>
            <a:endParaRPr lang="nl-NL" sz="1800" dirty="0"/>
          </a:p>
          <a:p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firewall-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cmd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--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-service=samba</a:t>
            </a:r>
          </a:p>
          <a:p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firewall-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cmd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--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runtime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to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-permanent</a:t>
            </a:r>
          </a:p>
          <a:p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systemctl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800" i="1" dirty="0"/>
              <a:t>[</a:t>
            </a:r>
            <a:r>
              <a:rPr lang="nl-NL" sz="18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enable</a:t>
            </a:r>
            <a:r>
              <a:rPr lang="nl-NL" sz="1800" i="1" dirty="0">
                <a:latin typeface="Consolas" panose="020B0609020204030204" pitchFamily="49" charset="0"/>
                <a:cs typeface="Consolas" panose="020B0609020204030204" pitchFamily="49" charset="0"/>
              </a:rPr>
              <a:t> [--</a:t>
            </a:r>
            <a:r>
              <a:rPr lang="nl-NL" sz="18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now</a:t>
            </a:r>
            <a:r>
              <a:rPr lang="nl-NL" sz="1800" i="1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nl-NL" sz="1800" i="1" dirty="0"/>
              <a:t>|</a:t>
            </a:r>
            <a:r>
              <a:rPr lang="nl-NL" sz="18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  <a:r>
              <a:rPr lang="nl-NL" sz="1800" i="1" dirty="0" err="1"/>
              <a:t>|</a:t>
            </a:r>
            <a:r>
              <a:rPr lang="nl-NL" sz="18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  <a:r>
              <a:rPr lang="nl-NL" sz="1800" i="1" dirty="0"/>
              <a:t>]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smb.service</a:t>
            </a:r>
            <a:endParaRPr lang="nl-NL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systemctl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800" i="1" dirty="0"/>
              <a:t>[</a:t>
            </a:r>
            <a:r>
              <a:rPr lang="nl-NL" sz="18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enable</a:t>
            </a:r>
            <a:r>
              <a:rPr lang="nl-NL" sz="1800" i="1" dirty="0">
                <a:latin typeface="Consolas" panose="020B0609020204030204" pitchFamily="49" charset="0"/>
                <a:cs typeface="Consolas" panose="020B0609020204030204" pitchFamily="49" charset="0"/>
              </a:rPr>
              <a:t> [--</a:t>
            </a:r>
            <a:r>
              <a:rPr lang="nl-NL" sz="18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now</a:t>
            </a:r>
            <a:r>
              <a:rPr lang="nl-NL" sz="1800" i="1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nl-NL" sz="1800" i="1" dirty="0"/>
              <a:t>|</a:t>
            </a:r>
            <a:r>
              <a:rPr lang="nl-NL" sz="18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  <a:r>
              <a:rPr lang="nl-NL" sz="1800" i="1" dirty="0" err="1"/>
              <a:t>|</a:t>
            </a:r>
            <a:r>
              <a:rPr lang="nl-NL" sz="18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  <a:r>
              <a:rPr lang="nl-NL" sz="1800" i="1" dirty="0"/>
              <a:t>]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nmb.service</a:t>
            </a:r>
            <a:endParaRPr lang="nl-NL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nl-NL" sz="1800" dirty="0"/>
          </a:p>
          <a:p>
            <a:r>
              <a:rPr lang="nl-NL" sz="1800" dirty="0"/>
              <a:t>Controle-tool: </a:t>
            </a:r>
            <a:r>
              <a:rPr lang="nl-NL" sz="1800" dirty="0" err="1">
                <a:latin typeface="Consolas" panose="020B0609020204030204" pitchFamily="49" charset="0"/>
              </a:rPr>
              <a:t>testparm</a:t>
            </a:r>
            <a:endParaRPr lang="nl-NL" sz="1800" dirty="0">
              <a:latin typeface="Consolas" panose="020B0609020204030204" pitchFamily="49" charset="0"/>
            </a:endParaRPr>
          </a:p>
          <a:p>
            <a:pPr lvl="1"/>
            <a:r>
              <a:rPr lang="nl-NL" sz="1600" dirty="0"/>
              <a:t>Controleert </a:t>
            </a:r>
            <a:r>
              <a:rPr lang="nl-NL" sz="1600" dirty="0">
                <a:latin typeface="Consolas" panose="020B0609020204030204" pitchFamily="49" charset="0"/>
              </a:rPr>
              <a:t>/</a:t>
            </a:r>
            <a:r>
              <a:rPr lang="nl-NL" sz="1600" dirty="0" err="1">
                <a:latin typeface="Consolas" panose="020B0609020204030204" pitchFamily="49" charset="0"/>
              </a:rPr>
              <a:t>etc</a:t>
            </a:r>
            <a:r>
              <a:rPr lang="nl-NL" sz="1600" dirty="0">
                <a:latin typeface="Consolas" panose="020B0609020204030204" pitchFamily="49" charset="0"/>
              </a:rPr>
              <a:t>/samba/</a:t>
            </a:r>
            <a:r>
              <a:rPr lang="nl-NL" sz="1600" dirty="0" err="1">
                <a:latin typeface="Consolas" panose="020B0609020204030204" pitchFamily="49" charset="0"/>
              </a:rPr>
              <a:t>smb.conf</a:t>
            </a:r>
            <a:r>
              <a:rPr lang="nl-NL" sz="1600" dirty="0"/>
              <a:t> en toont de resulterende shares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Waaruit bestaat Samba (Linux)</a:t>
            </a:r>
          </a:p>
        </p:txBody>
      </p:sp>
    </p:spTree>
    <p:extLst>
      <p:ext uri="{BB962C8B-B14F-4D97-AF65-F5344CB8AC3E}">
        <p14:creationId xmlns:p14="http://schemas.microsoft.com/office/powerpoint/2010/main" val="1316060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sv-SE" dirty="0">
                <a:latin typeface="Consolas" panose="020B0609020204030204" pitchFamily="49" charset="0"/>
                <a:cs typeface="Consolas" panose="020B0609020204030204" pitchFamily="49" charset="0"/>
              </a:rPr>
              <a:t>dnf install samba\*</a:t>
            </a:r>
          </a:p>
          <a:p>
            <a:r>
              <a:rPr lang="nl-NL" dirty="0" err="1">
                <a:cs typeface="Consolas" panose="020B0609020204030204" pitchFamily="49" charset="0"/>
              </a:rPr>
              <a:t>Included</a:t>
            </a:r>
            <a:r>
              <a:rPr lang="nl-NL" dirty="0">
                <a:cs typeface="Consolas" panose="020B0609020204030204" pitchFamily="49" charset="0"/>
              </a:rPr>
              <a:t> services: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nmbd</a:t>
            </a:r>
            <a:r>
              <a:rPr lang="en-US" dirty="0">
                <a:cs typeface="Consolas" panose="020B0609020204030204" pitchFamily="49" charset="0"/>
              </a:rPr>
              <a:t>: provides NetBIOS (Network Basic </a:t>
            </a:r>
            <a:r>
              <a:rPr lang="en-US" dirty="0" err="1">
                <a:cs typeface="Consolas" panose="020B0609020204030204" pitchFamily="49" charset="0"/>
              </a:rPr>
              <a:t>Input/Output</a:t>
            </a:r>
            <a:r>
              <a:rPr lang="en-US" dirty="0">
                <a:cs typeface="Consolas" panose="020B0609020204030204" pitchFamily="49" charset="0"/>
              </a:rPr>
              <a:t> System) </a:t>
            </a:r>
            <a:r>
              <a:rPr lang="en-US" dirty="0" err="1">
                <a:cs typeface="Consolas" panose="020B0609020204030204" pitchFamily="49" charset="0"/>
              </a:rPr>
              <a:t>nameserving</a:t>
            </a:r>
            <a:r>
              <a:rPr lang="en-US" dirty="0">
                <a:cs typeface="Consolas" panose="020B0609020204030204" pitchFamily="49" charset="0"/>
              </a:rPr>
              <a:t> and  browsing support. A daemon that looks after the Windows Internet Name Service (WINS) and assist with browsing. According to Samba documentation, it should be the first daemon to start;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smbd</a:t>
            </a:r>
            <a:r>
              <a:rPr lang="en-US" dirty="0">
                <a:cs typeface="Consolas" panose="020B0609020204030204" pitchFamily="49" charset="0"/>
              </a:rPr>
              <a:t>: manages file transfers and authentication;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winbindd</a:t>
            </a:r>
            <a:r>
              <a:rPr lang="en-US" dirty="0">
                <a:cs typeface="Consolas" panose="020B0609020204030204" pitchFamily="49" charset="0"/>
              </a:rPr>
              <a:t>: handles Microsoft Windows Domain membership.</a:t>
            </a:r>
            <a:endParaRPr lang="nl-NL" dirty="0">
              <a:cs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Linux </a:t>
            </a:r>
            <a:r>
              <a:rPr lang="nl-NL" dirty="0" err="1"/>
              <a:t>install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771121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 </a:t>
            </a:r>
            <a:r>
              <a:rPr lang="en-US" dirty="0" err="1"/>
              <a:t>belangrijkste</a:t>
            </a:r>
            <a:r>
              <a:rPr lang="en-US" dirty="0"/>
              <a:t> </a:t>
            </a:r>
            <a:r>
              <a:rPr lang="en-US" dirty="0" err="1"/>
              <a:t>configuratiefile</a:t>
            </a:r>
            <a:r>
              <a:rPr lang="en-US" dirty="0"/>
              <a:t> is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smb.conf</a:t>
            </a:r>
            <a:r>
              <a:rPr lang="en-US" dirty="0"/>
              <a:t> en het pad </a:t>
            </a:r>
            <a:r>
              <a:rPr lang="en-US" dirty="0" err="1"/>
              <a:t>naar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bestand</a:t>
            </a:r>
            <a:r>
              <a:rPr lang="en-US" dirty="0"/>
              <a:t> is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/samba/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smb.conf</a:t>
            </a:r>
            <a:r>
              <a:rPr lang="en-US" dirty="0"/>
              <a:t>.</a:t>
            </a:r>
          </a:p>
          <a:p>
            <a:r>
              <a:rPr lang="en-US" dirty="0"/>
              <a:t>Het </a:t>
            </a:r>
            <a:r>
              <a:rPr lang="en-US" dirty="0" err="1"/>
              <a:t>bestand</a:t>
            </a:r>
            <a:r>
              <a:rPr lang="en-US" dirty="0"/>
              <a:t> </a:t>
            </a:r>
            <a:r>
              <a:rPr lang="en-US" dirty="0" err="1"/>
              <a:t>bevat</a:t>
            </a:r>
            <a:r>
              <a:rPr lang="en-US" dirty="0"/>
              <a:t> </a:t>
            </a:r>
            <a:r>
              <a:rPr lang="en-US" dirty="0" err="1"/>
              <a:t>vier</a:t>
            </a:r>
            <a:r>
              <a:rPr lang="en-US" dirty="0"/>
              <a:t> </a:t>
            </a:r>
            <a:r>
              <a:rPr lang="en-US" dirty="0" err="1"/>
              <a:t>secties</a:t>
            </a:r>
            <a:r>
              <a:rPr lang="en-US" dirty="0"/>
              <a:t>:</a:t>
            </a:r>
          </a:p>
          <a:p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Linux configuratie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2203268"/>
            <a:ext cx="4721485" cy="26314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indent="-100012" defTabSz="357188"/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globals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] </a:t>
            </a:r>
            <a:b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500" i="1" dirty="0">
                <a:cs typeface="Consolas" panose="020B0609020204030204" pitchFamily="49" charset="0"/>
              </a:rPr>
              <a:t>&lt;&lt;</a:t>
            </a:r>
            <a:r>
              <a:rPr lang="en-US" sz="1500" i="1" dirty="0" err="1">
                <a:cs typeface="Consolas" panose="020B0609020204030204" pitchFamily="49" charset="0"/>
              </a:rPr>
              <a:t>globale</a:t>
            </a:r>
            <a:r>
              <a:rPr lang="en-US" sz="1500" i="1" dirty="0">
                <a:cs typeface="Consolas" panose="020B0609020204030204" pitchFamily="49" charset="0"/>
              </a:rPr>
              <a:t> </a:t>
            </a:r>
            <a:r>
              <a:rPr lang="en-US" sz="1500" i="1" dirty="0" err="1">
                <a:cs typeface="Consolas" panose="020B0609020204030204" pitchFamily="49" charset="0"/>
              </a:rPr>
              <a:t>configuratie</a:t>
            </a:r>
            <a:r>
              <a:rPr lang="en-US" sz="1500" i="1" dirty="0">
                <a:cs typeface="Consolas" panose="020B0609020204030204" pitchFamily="49" charset="0"/>
              </a:rPr>
              <a:t>&gt;&gt;</a:t>
            </a:r>
          </a:p>
          <a:p>
            <a:pPr indent="-100012" defTabSz="357188"/>
            <a:endParaRPr lang="en-US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indent="-100012" defTabSz="357188"/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[homes] </a:t>
            </a:r>
          </a:p>
          <a:p>
            <a:pPr indent="-100012" defTabSz="357188"/>
            <a:r>
              <a:rPr lang="en-US" sz="1500" i="1" dirty="0">
                <a:cs typeface="Consolas" panose="020B0609020204030204" pitchFamily="49" charset="0"/>
              </a:rPr>
              <a:t>	&lt;&lt;home-directories van </a:t>
            </a:r>
            <a:r>
              <a:rPr lang="en-US" sz="1500" i="1" dirty="0" err="1">
                <a:cs typeface="Consolas" panose="020B0609020204030204" pitchFamily="49" charset="0"/>
              </a:rPr>
              <a:t>gebruikers</a:t>
            </a:r>
            <a:r>
              <a:rPr lang="en-US" sz="1500" i="1" dirty="0">
                <a:cs typeface="Consolas" panose="020B0609020204030204" pitchFamily="49" charset="0"/>
              </a:rPr>
              <a:t>: /home/%u&gt;&gt;</a:t>
            </a:r>
          </a:p>
          <a:p>
            <a:pPr indent="-100012" defTabSz="357188"/>
            <a:endParaRPr lang="en-US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indent="-100012" defTabSz="357188"/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[printers] </a:t>
            </a:r>
            <a:b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500" i="1" dirty="0">
                <a:cs typeface="Consolas" panose="020B0609020204030204" pitchFamily="49" charset="0"/>
              </a:rPr>
              <a:t>&lt;&lt;</a:t>
            </a:r>
            <a:r>
              <a:rPr lang="en-US" sz="1500" i="1" dirty="0" err="1">
                <a:cs typeface="Consolas" panose="020B0609020204030204" pitchFamily="49" charset="0"/>
              </a:rPr>
              <a:t>gedeelde</a:t>
            </a:r>
            <a:r>
              <a:rPr lang="en-US" sz="1500" i="1" dirty="0">
                <a:cs typeface="Consolas" panose="020B0609020204030204" pitchFamily="49" charset="0"/>
              </a:rPr>
              <a:t> printers&gt;&gt;</a:t>
            </a:r>
          </a:p>
          <a:p>
            <a:pPr indent="-100012" defTabSz="357188"/>
            <a:b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[&lt;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sharenaam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&gt;] </a:t>
            </a:r>
            <a:b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500" i="1" dirty="0">
                <a:cs typeface="Consolas" panose="020B0609020204030204" pitchFamily="49" charset="0"/>
              </a:rPr>
              <a:t>&lt;&lt;</a:t>
            </a:r>
            <a:r>
              <a:rPr lang="en-US" sz="1500" i="1" dirty="0" err="1">
                <a:cs typeface="Consolas" panose="020B0609020204030204" pitchFamily="49" charset="0"/>
              </a:rPr>
              <a:t>andere</a:t>
            </a:r>
            <a:r>
              <a:rPr lang="en-US" sz="1500" i="1" dirty="0">
                <a:cs typeface="Consolas" panose="020B0609020204030204" pitchFamily="49" charset="0"/>
              </a:rPr>
              <a:t> shares &amp; </a:t>
            </a:r>
            <a:r>
              <a:rPr lang="en-US" sz="1500" i="1" dirty="0" err="1">
                <a:cs typeface="Consolas" panose="020B0609020204030204" pitchFamily="49" charset="0"/>
              </a:rPr>
              <a:t>instellingen</a:t>
            </a:r>
            <a:r>
              <a:rPr lang="en-US" sz="1500" i="1" dirty="0">
                <a:cs typeface="Consolas" panose="020B0609020204030204" pitchFamily="49" charset="0"/>
              </a:rPr>
              <a:t>&gt;&gt;</a:t>
            </a:r>
          </a:p>
        </p:txBody>
      </p:sp>
    </p:spTree>
    <p:extLst>
      <p:ext uri="{BB962C8B-B14F-4D97-AF65-F5344CB8AC3E}">
        <p14:creationId xmlns:p14="http://schemas.microsoft.com/office/powerpoint/2010/main" val="4983842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18219" y="1196341"/>
            <a:ext cx="7284958" cy="3445328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lIns="108000" tIns="108000" rIns="108000" bIns="108000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[global]</a:t>
            </a:r>
          </a:p>
          <a:p>
            <a:pPr marL="0" indent="0" defTabSz="809625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# Your internal networks workgroup or domain.</a:t>
            </a:r>
          </a:p>
          <a:p>
            <a:pPr marL="0" indent="0" defTabSz="809625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workgroup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= TUX-NET</a:t>
            </a:r>
          </a:p>
          <a:p>
            <a:pPr marL="0" indent="0" defTabSz="809625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# The computer name of the Samba server.</a:t>
            </a:r>
          </a:p>
          <a:p>
            <a:pPr marL="0" indent="0" defTabSz="809625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netbios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name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= KINGPING</a:t>
            </a:r>
          </a:p>
          <a:p>
            <a:pPr marL="0" indent="0" defTabSz="809625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# The equivalent of the NT Description field</a:t>
            </a:r>
          </a:p>
          <a:p>
            <a:pPr marL="0" indent="0" defTabSz="809625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server string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= Linux Samba Server</a:t>
            </a:r>
          </a:p>
          <a:p>
            <a:pPr marL="0" indent="0" defTabSz="809625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# Samba Security Setting</a:t>
            </a:r>
          </a:p>
          <a:p>
            <a:pPr marL="0" indent="0" defTabSz="809625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security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= user</a:t>
            </a:r>
          </a:p>
          <a:p>
            <a:pPr marL="0" indent="0" defTabSz="809625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# Use Samba trivial database credential backend</a:t>
            </a:r>
          </a:p>
          <a:p>
            <a:pPr marL="0" indent="0" defTabSz="809625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passdb</a:t>
            </a:r>
            <a:r>
              <a:rPr lang="en-US" sz="140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backend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tdbsam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cs typeface="Consolas" panose="020B0609020204030204" pitchFamily="49" charset="0"/>
              </a:rPr>
              <a:t>…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 simpele 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smb.conf</a:t>
            </a:r>
            <a:r>
              <a:rPr lang="nl-NL" dirty="0"/>
              <a:t> (1)</a:t>
            </a:r>
            <a:endParaRPr lang="nl-NL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4349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18219" y="1196341"/>
            <a:ext cx="7284958" cy="2957648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lIns="108000" tIns="108000" rIns="108000" bIns="108000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cs typeface="Consolas" panose="020B0609020204030204" pitchFamily="49" charset="0"/>
              </a:rPr>
              <a:t>…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i="1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defTabSz="809625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[homes]</a:t>
            </a:r>
          </a:p>
          <a:p>
            <a:pPr marL="0" indent="0" defTabSz="809625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comment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= Home Directories</a:t>
            </a:r>
          </a:p>
          <a:p>
            <a:pPr marL="0" indent="0" defTabSz="809625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browseable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= yes</a:t>
            </a:r>
          </a:p>
          <a:p>
            <a:pPr marL="0" indent="0" defTabSz="809625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writable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= yes</a:t>
            </a:r>
          </a:p>
          <a:p>
            <a:pPr marL="0" indent="0" defTabSz="809625">
              <a:lnSpc>
                <a:spcPct val="100000"/>
              </a:lnSpc>
              <a:buNone/>
            </a:pP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defTabSz="809625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400" i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timsdir</a:t>
            </a:r>
            <a:r>
              <a:rPr lang="en-US" sz="1400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 marL="0" indent="0" defTabSz="809625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comment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= Tim's Share</a:t>
            </a:r>
          </a:p>
          <a:p>
            <a:pPr marL="0" indent="0" defTabSz="809625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path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= /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usr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/somewhere/private</a:t>
            </a:r>
          </a:p>
          <a:p>
            <a:pPr marL="0" indent="0" defTabSz="809625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valid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tim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defTabSz="809625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public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= no</a:t>
            </a:r>
          </a:p>
          <a:p>
            <a:pPr marL="0" indent="0" defTabSz="809625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writable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= yes</a:t>
            </a:r>
            <a:endParaRPr lang="nl-NL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 simpele 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smb.conf</a:t>
            </a:r>
            <a:r>
              <a:rPr lang="nl-NL" dirty="0"/>
              <a:t> (2)</a:t>
            </a:r>
            <a:endParaRPr lang="nl-NL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200" y="4153989"/>
            <a:ext cx="6378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Belangrijk</a:t>
            </a:r>
            <a:r>
              <a:rPr lang="en-US" dirty="0"/>
              <a:t>: in </a:t>
            </a:r>
            <a:r>
              <a:rPr lang="en-US" dirty="0" err="1"/>
              <a:t>verband</a:t>
            </a:r>
            <a:r>
              <a:rPr lang="en-US" dirty="0"/>
              <a:t> met </a:t>
            </a:r>
            <a:r>
              <a:rPr lang="en-US" dirty="0" err="1"/>
              <a:t>SELinux</a:t>
            </a:r>
            <a:r>
              <a:rPr lang="en-US" dirty="0"/>
              <a:t> (extra </a:t>
            </a:r>
            <a:r>
              <a:rPr lang="en-US" dirty="0" err="1"/>
              <a:t>beveiligingslaag</a:t>
            </a:r>
            <a:r>
              <a:rPr lang="en-US" dirty="0"/>
              <a:t>):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chcon</a:t>
            </a:r>
            <a:r>
              <a:rPr lang="en-US" dirty="0">
                <a:latin typeface="Consolas" panose="020B0609020204030204" pitchFamily="49" charset="0"/>
              </a:rPr>
              <a:t> -t </a:t>
            </a:r>
            <a:r>
              <a:rPr lang="en-US" dirty="0" err="1">
                <a:latin typeface="Consolas" panose="020B0609020204030204" pitchFamily="49" charset="0"/>
              </a:rPr>
              <a:t>samba_share_t</a:t>
            </a:r>
            <a:r>
              <a:rPr lang="en-US" dirty="0">
                <a:latin typeface="Consolas" panose="020B0609020204030204" pitchFamily="49" charset="0"/>
              </a:rPr>
              <a:t> /</a:t>
            </a:r>
            <a:r>
              <a:rPr lang="en-US" dirty="0" err="1">
                <a:latin typeface="Consolas" panose="020B0609020204030204" pitchFamily="49" charset="0"/>
              </a:rPr>
              <a:t>usr</a:t>
            </a:r>
            <a:r>
              <a:rPr lang="en-US" dirty="0">
                <a:latin typeface="Consolas" panose="020B0609020204030204" pitchFamily="49" charset="0"/>
              </a:rPr>
              <a:t>/somewhere/private</a:t>
            </a:r>
          </a:p>
        </p:txBody>
      </p:sp>
    </p:spTree>
    <p:extLst>
      <p:ext uri="{BB962C8B-B14F-4D97-AF65-F5344CB8AC3E}">
        <p14:creationId xmlns:p14="http://schemas.microsoft.com/office/powerpoint/2010/main" val="401950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sz="1800" dirty="0"/>
              <a:t>Windows ID is ongelijk aan Linux ID</a:t>
            </a:r>
            <a:br>
              <a:rPr lang="nl-NL" sz="1800" dirty="0"/>
            </a:br>
            <a:r>
              <a:rPr lang="nl-NL" sz="1800" dirty="0"/>
              <a:t>Hou ze gelijk of gebruik: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sz="1800" dirty="0"/>
              <a:t>In 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smb.conf</a:t>
            </a:r>
            <a:r>
              <a:rPr lang="nl-NL" sz="1800" dirty="0"/>
              <a:t>: </a:t>
            </a:r>
            <a:br>
              <a:rPr lang="nl-NL" sz="1800" dirty="0"/>
            </a:br>
            <a:r>
              <a:rPr lang="nl-NL" sz="1800" dirty="0"/>
              <a:t>	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username map = /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/samba/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smbusers</a:t>
            </a:r>
            <a:endParaRPr lang="nl-NL" sz="18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sz="1800" dirty="0"/>
              <a:t>In 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smbusers</a:t>
            </a:r>
            <a:r>
              <a:rPr lang="nl-NL" sz="1800" dirty="0"/>
              <a:t>:</a:t>
            </a:r>
            <a:br>
              <a:rPr lang="nl-NL" sz="1800" dirty="0"/>
            </a:br>
            <a:r>
              <a:rPr lang="nl-NL" sz="1800" dirty="0"/>
              <a:t>	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parsonsw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: "William Parsons" </a:t>
            </a:r>
            <a:b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marygee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geeringm</a:t>
            </a:r>
            <a:endParaRPr lang="nl-NL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smbpasswd</a:t>
            </a:r>
            <a:r>
              <a:rPr lang="nl-NL" sz="1800" dirty="0"/>
              <a:t> niet gedraaid voor Samba user</a:t>
            </a:r>
          </a:p>
          <a:p>
            <a:r>
              <a:rPr lang="nl-NL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browseable</a:t>
            </a:r>
            <a:r>
              <a:rPr lang="nl-NL" sz="1800" dirty="0">
                <a:latin typeface="Consolas" panose="020B0609020204030204" pitchFamily="49" charset="0"/>
                <a:cs typeface="Consolas" panose="020B0609020204030204" pitchFamily="49" charset="0"/>
              </a:rPr>
              <a:t> = no </a:t>
            </a:r>
            <a:r>
              <a:rPr lang="nl-NL" sz="1800" dirty="0"/>
              <a:t>(share onzichtbaar)</a:t>
            </a:r>
          </a:p>
          <a:p>
            <a:r>
              <a:rPr lang="nl-NL" sz="1800" dirty="0" err="1"/>
              <a:t>Encrypted</a:t>
            </a:r>
            <a:r>
              <a:rPr lang="nl-NL" sz="1800" dirty="0"/>
              <a:t> password: verschillende Windows-versies gebruiken wel/geen encryptie</a:t>
            </a:r>
          </a:p>
          <a:p>
            <a:r>
              <a:rPr lang="nl-NL" sz="1800" dirty="0"/>
              <a:t>Linux als client: alle files worden aangemaakt als dezelfde user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Problemen | Best </a:t>
            </a:r>
            <a:r>
              <a:rPr lang="nl-NL" dirty="0" err="1"/>
              <a:t>practices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41042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PowerShell</a:t>
            </a:r>
            <a:r>
              <a:rPr lang="nl-NL" dirty="0"/>
              <a:t>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new-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smbshare</a:t>
            </a:r>
            <a:endParaRPr lang="nl-NL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get-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smbshare</a:t>
            </a:r>
            <a:endParaRPr lang="nl-NL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nl-NL" dirty="0"/>
          </a:p>
          <a:p>
            <a:r>
              <a:rPr lang="nl-NL" dirty="0"/>
              <a:t>Functionaliteit: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/>
              <a:t>SMB 2.0: pipelining,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/>
              <a:t>SMB 2.1: Ander </a:t>
            </a:r>
            <a:r>
              <a:rPr lang="nl-NL" dirty="0" err="1"/>
              <a:t>locking</a:t>
            </a:r>
            <a:r>
              <a:rPr lang="nl-NL" dirty="0"/>
              <a:t> mechanisme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dirty="0"/>
              <a:t>SMB 3.0: end-</a:t>
            </a:r>
            <a:r>
              <a:rPr lang="nl-NL" dirty="0" err="1"/>
              <a:t>to</a:t>
            </a:r>
            <a:r>
              <a:rPr lang="nl-NL" dirty="0"/>
              <a:t>-end encryptie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Windows en SMB</a:t>
            </a:r>
          </a:p>
        </p:txBody>
      </p:sp>
    </p:spTree>
    <p:extLst>
      <p:ext uri="{BB962C8B-B14F-4D97-AF65-F5344CB8AC3E}">
        <p14:creationId xmlns:p14="http://schemas.microsoft.com/office/powerpoint/2010/main" val="16351127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HTTP </a:t>
            </a:r>
            <a:r>
              <a:rPr lang="en-US" dirty="0" err="1"/>
              <a:t>vanuit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/var/www</a:t>
            </a:r>
            <a:r>
              <a:rPr lang="en-US" dirty="0"/>
              <a:t> </a:t>
            </a:r>
            <a:r>
              <a:rPr lang="en-US" dirty="0" err="1"/>
              <a:t>werkt</a:t>
            </a:r>
            <a:r>
              <a:rPr lang="en-US" dirty="0"/>
              <a:t> </a:t>
            </a:r>
            <a:r>
              <a:rPr lang="en-US" dirty="0" err="1"/>
              <a:t>zoals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zou</a:t>
            </a:r>
            <a:r>
              <a:rPr lang="en-US" dirty="0"/>
              <a:t> </a:t>
            </a:r>
            <a:r>
              <a:rPr lang="en-US" dirty="0" err="1"/>
              <a:t>moeten</a:t>
            </a:r>
            <a:r>
              <a:rPr lang="en-US" dirty="0"/>
              <a:t> </a:t>
            </a:r>
            <a:r>
              <a:rPr lang="en-US" dirty="0" err="1"/>
              <a:t>doordat</a:t>
            </a:r>
            <a:r>
              <a:rPr lang="en-US" dirty="0"/>
              <a:t> </a:t>
            </a:r>
            <a:r>
              <a:rPr lang="en-US" dirty="0" err="1"/>
              <a:t>SELinux</a:t>
            </a:r>
            <a:r>
              <a:rPr lang="en-US" dirty="0"/>
              <a:t> regels in het </a:t>
            </a:r>
            <a:r>
              <a:rPr lang="en-US" dirty="0" err="1"/>
              <a:t>systeem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opgenomen</a:t>
            </a:r>
            <a:r>
              <a:rPr lang="en-US" dirty="0"/>
              <a:t> (</a:t>
            </a:r>
            <a:r>
              <a:rPr lang="en-US" dirty="0" err="1">
                <a:latin typeface="Consolas" panose="020B0609020204030204" pitchFamily="49" charset="0"/>
              </a:rPr>
              <a:t>selinux</a:t>
            </a:r>
            <a:r>
              <a:rPr lang="en-US" dirty="0">
                <a:latin typeface="Consolas" panose="020B0609020204030204" pitchFamily="49" charset="0"/>
              </a:rPr>
              <a:t>-policy-targeted</a:t>
            </a:r>
            <a:r>
              <a:rPr lang="en-US" dirty="0"/>
              <a:t> </a:t>
            </a:r>
            <a:r>
              <a:rPr lang="en-US" i="1" dirty="0"/>
              <a:t>package</a:t>
            </a:r>
            <a:r>
              <a:rPr lang="en-US" dirty="0"/>
              <a:t>).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 err="1"/>
              <a:t>Vanuit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directories </a:t>
            </a:r>
            <a:r>
              <a:rPr lang="en-US" dirty="0" err="1"/>
              <a:t>werkt</a:t>
            </a:r>
            <a:r>
              <a:rPr lang="en-US" dirty="0"/>
              <a:t> HTTP </a:t>
            </a:r>
            <a:r>
              <a:rPr lang="en-US" dirty="0" err="1"/>
              <a:t>niet</a:t>
            </a:r>
            <a:r>
              <a:rPr lang="en-US" dirty="0"/>
              <a:t>, </a:t>
            </a:r>
            <a:r>
              <a:rPr lang="en-US" dirty="0" err="1"/>
              <a:t>daar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file contexts voor </a:t>
            </a:r>
            <a:r>
              <a:rPr lang="en-US" dirty="0" err="1"/>
              <a:t>nodig</a:t>
            </a:r>
            <a:endParaRPr lang="en-US" dirty="0"/>
          </a:p>
          <a:p>
            <a:r>
              <a:rPr lang="en-US" dirty="0"/>
              <a:t>Samba </a:t>
            </a:r>
            <a:r>
              <a:rPr lang="en-US" dirty="0" err="1"/>
              <a:t>werkt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i="1" dirty="0"/>
              <a:t>out of the box</a:t>
            </a:r>
            <a:r>
              <a:rPr lang="en-US" dirty="0"/>
              <a:t>, want </a:t>
            </a:r>
            <a:r>
              <a:rPr lang="en-US" dirty="0" err="1"/>
              <a:t>daarvan</a:t>
            </a:r>
            <a:r>
              <a:rPr lang="en-US" dirty="0"/>
              <a:t> is </a:t>
            </a:r>
            <a:r>
              <a:rPr lang="en-US" dirty="0" err="1"/>
              <a:t>veel</a:t>
            </a:r>
            <a:r>
              <a:rPr lang="en-US" dirty="0"/>
              <a:t> minder </a:t>
            </a:r>
            <a:r>
              <a:rPr lang="en-US" dirty="0" err="1"/>
              <a:t>voorspelbaar</a:t>
            </a:r>
            <a:r>
              <a:rPr lang="en-US" dirty="0"/>
              <a:t> </a:t>
            </a:r>
            <a:r>
              <a:rPr lang="en-US" dirty="0" err="1"/>
              <a:t>welke</a:t>
            </a:r>
            <a:r>
              <a:rPr lang="en-US" dirty="0"/>
              <a:t> </a:t>
            </a:r>
            <a:r>
              <a:rPr lang="en-US" dirty="0" err="1"/>
              <a:t>bestanden</a:t>
            </a:r>
            <a:r>
              <a:rPr lang="en-US" dirty="0"/>
              <a:t> en directories </a:t>
            </a:r>
            <a:r>
              <a:rPr lang="en-US" dirty="0" err="1"/>
              <a:t>gedeeld</a:t>
            </a:r>
            <a:r>
              <a:rPr lang="en-US" dirty="0"/>
              <a:t> </a:t>
            </a:r>
            <a:r>
              <a:rPr lang="en-US" dirty="0" err="1"/>
              <a:t>zullen</a:t>
            </a:r>
            <a:r>
              <a:rPr lang="en-US" dirty="0"/>
              <a:t> </a:t>
            </a:r>
            <a:r>
              <a:rPr lang="en-US" dirty="0" err="1"/>
              <a:t>worden</a:t>
            </a:r>
            <a:endParaRPr lang="en-US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moeten</a:t>
            </a:r>
            <a:r>
              <a:rPr lang="en-US" dirty="0"/>
              <a:t> we </a:t>
            </a:r>
            <a:r>
              <a:rPr lang="en-US" dirty="0" err="1"/>
              <a:t>dus</a:t>
            </a:r>
            <a:r>
              <a:rPr lang="en-US" dirty="0"/>
              <a:t> </a:t>
            </a:r>
            <a:r>
              <a:rPr lang="en-US" dirty="0" err="1"/>
              <a:t>altijd</a:t>
            </a:r>
            <a:r>
              <a:rPr lang="en-US" dirty="0"/>
              <a:t> </a:t>
            </a:r>
            <a:r>
              <a:rPr lang="en-US" dirty="0" err="1"/>
              <a:t>zelf</a:t>
            </a:r>
            <a:r>
              <a:rPr lang="en-US" dirty="0"/>
              <a:t> </a:t>
            </a:r>
            <a:r>
              <a:rPr lang="en-US" dirty="0" err="1"/>
              <a:t>regelen</a:t>
            </a:r>
            <a:r>
              <a:rPr lang="en-US" dirty="0"/>
              <a:t>!</a:t>
            </a:r>
          </a:p>
          <a:p>
            <a:endParaRPr lang="nl-NL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50571" y="581675"/>
            <a:ext cx="7521363" cy="461665"/>
          </a:xfrm>
        </p:spPr>
        <p:txBody>
          <a:bodyPr/>
          <a:lstStyle/>
          <a:p>
            <a:r>
              <a:rPr lang="en-US" dirty="0"/>
              <a:t>HTTP en SMB in </a:t>
            </a:r>
            <a:r>
              <a:rPr lang="en-US" dirty="0" err="1"/>
              <a:t>combinatie</a:t>
            </a:r>
            <a:r>
              <a:rPr lang="en-US" dirty="0"/>
              <a:t> met </a:t>
            </a:r>
            <a:r>
              <a:rPr lang="en-US" dirty="0" err="1"/>
              <a:t>SELinux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55013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ts val="2800"/>
              </a:lnSpc>
            </a:pPr>
            <a:r>
              <a:rPr lang="nl-NL" dirty="0"/>
              <a:t>Elk proces heeft een </a:t>
            </a:r>
            <a:r>
              <a:rPr lang="nl-NL" dirty="0" err="1"/>
              <a:t>SELinux</a:t>
            </a:r>
            <a:r>
              <a:rPr lang="nl-NL" dirty="0"/>
              <a:t> context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scontext</a:t>
            </a:r>
            <a:r>
              <a:rPr lang="nl-NL" dirty="0"/>
              <a:t>, voor </a:t>
            </a:r>
            <a:r>
              <a:rPr lang="nl-NL" b="1" i="1" dirty="0"/>
              <a:t>s</a:t>
            </a:r>
            <a:r>
              <a:rPr lang="nl-NL" dirty="0"/>
              <a:t>ecurity </a:t>
            </a:r>
            <a:r>
              <a:rPr lang="nl-NL" b="1" i="1" dirty="0"/>
              <a:t>context</a:t>
            </a:r>
          </a:p>
          <a:p>
            <a:pPr>
              <a:lnSpc>
                <a:spcPts val="2800"/>
              </a:lnSpc>
            </a:pPr>
            <a:r>
              <a:rPr lang="nl-NL" dirty="0"/>
              <a:t>Elk bestand heeft een </a:t>
            </a:r>
            <a:r>
              <a:rPr lang="nl-NL" dirty="0" err="1"/>
              <a:t>SELinux</a:t>
            </a:r>
            <a:r>
              <a:rPr lang="nl-NL" dirty="0"/>
              <a:t> context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tcontext</a:t>
            </a:r>
            <a:r>
              <a:rPr lang="nl-NL" dirty="0"/>
              <a:t>, voor </a:t>
            </a:r>
            <a:r>
              <a:rPr lang="nl-NL" b="1" i="1" dirty="0"/>
              <a:t>t</a:t>
            </a:r>
            <a:r>
              <a:rPr lang="nl-NL" dirty="0"/>
              <a:t>arget </a:t>
            </a:r>
            <a:r>
              <a:rPr lang="nl-NL" b="1" i="1" dirty="0"/>
              <a:t>context</a:t>
            </a:r>
            <a:endParaRPr lang="nl-NL" dirty="0"/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nl-NL" dirty="0"/>
              <a:t>blijft behouden bij verplaatsen van bestand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nl-NL" dirty="0"/>
              <a:t>bij aanmaken of kopiëren van een bestand krijgt het bestand de standaard context van de directory waar het in terecht komt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SELinux</a:t>
            </a:r>
            <a:r>
              <a:rPr lang="nl-NL" dirty="0"/>
              <a:t> </a:t>
            </a:r>
            <a:r>
              <a:rPr lang="nl-NL" dirty="0" err="1"/>
              <a:t>contexts</a:t>
            </a:r>
            <a:r>
              <a:rPr lang="nl-NL" dirty="0"/>
              <a:t> (herhaling)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A9096D49-DAE3-40DE-93E0-41688E0A5016}" type="slidenum">
              <a:rPr lang="nl-NL" smtClean="0"/>
              <a:pPr/>
              <a:t>33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71405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>
          <a:xfrm>
            <a:off x="718219" y="1196341"/>
            <a:ext cx="8142002" cy="3292316"/>
          </a:xfrm>
        </p:spPr>
        <p:txBody>
          <a:bodyPr/>
          <a:lstStyle/>
          <a:p>
            <a:r>
              <a:rPr lang="nl-NL" dirty="0"/>
              <a:t>De </a:t>
            </a:r>
            <a:r>
              <a:rPr lang="nl-NL" dirty="0" err="1"/>
              <a:t>SELinux</a:t>
            </a:r>
            <a:r>
              <a:rPr lang="nl-NL" dirty="0"/>
              <a:t> context van bestanden is te bekijken met </a:t>
            </a:r>
            <a:r>
              <a:rPr lang="nl-NL" dirty="0" err="1">
                <a:latin typeface="Consolas" panose="020B0609020204030204" pitchFamily="49" charset="0"/>
                <a:cs typeface="Consolas" panose="020B0609020204030204" pitchFamily="49" charset="0"/>
              </a:rPr>
              <a:t>ls</a:t>
            </a:r>
            <a:r>
              <a:rPr lang="nl-NL" dirty="0"/>
              <a:t> optie </a:t>
            </a:r>
            <a:r>
              <a:rPr lang="nl-NL" dirty="0">
                <a:latin typeface="Consolas" panose="020B0609020204030204" pitchFamily="49" charset="0"/>
                <a:cs typeface="Consolas" panose="020B0609020204030204" pitchFamily="49" charset="0"/>
              </a:rPr>
              <a:t>-Z</a:t>
            </a:r>
            <a:r>
              <a:rPr lang="nl-NL" dirty="0"/>
              <a:t>:</a:t>
            </a:r>
          </a:p>
          <a:p>
            <a:pPr marL="357188" lvl="1" indent="0">
              <a:lnSpc>
                <a:spcPct val="150000"/>
              </a:lnSpc>
              <a:buNone/>
            </a:pP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nl-NL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ls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nl-NL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lZ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 /var/www</a:t>
            </a:r>
          </a:p>
          <a:p>
            <a:pPr marL="357188" lvl="1" indent="0">
              <a:lnSpc>
                <a:spcPct val="150000"/>
              </a:lnSpc>
              <a:buNone/>
            </a:pPr>
            <a:r>
              <a:rPr lang="nl-NL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total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 0</a:t>
            </a:r>
          </a:p>
          <a:p>
            <a:pPr marL="357188" lvl="1" indent="0">
              <a:lnSpc>
                <a:spcPct val="150000"/>
              </a:lnSpc>
              <a:buNone/>
            </a:pPr>
            <a:r>
              <a:rPr lang="nl-NL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drwxr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nl-NL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xr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-x. 2 root </a:t>
            </a:r>
            <a:r>
              <a:rPr lang="nl-NL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root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system_u:object_r:httpd_sys_script_exec_t:s0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 6 Feb 21 18:06 </a:t>
            </a:r>
            <a:r>
              <a:rPr lang="nl-NL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cgi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-bin</a:t>
            </a:r>
          </a:p>
          <a:p>
            <a:pPr marL="357188" lvl="1" indent="0">
              <a:lnSpc>
                <a:spcPct val="150000"/>
              </a:lnSpc>
              <a:buNone/>
            </a:pPr>
            <a:r>
              <a:rPr lang="nl-NL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drwxr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nl-NL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xr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-x. 2 root </a:t>
            </a:r>
            <a:r>
              <a:rPr lang="nl-NL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root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system_u:object_r:httpd_sys_content_t:s0</a:t>
            </a:r>
            <a:r>
              <a:rPr lang="nl-NL" sz="1200" dirty="0">
                <a:latin typeface="Consolas" panose="020B0609020204030204" pitchFamily="49" charset="0"/>
                <a:cs typeface="Consolas" panose="020B0609020204030204" pitchFamily="49" charset="0"/>
              </a:rPr>
              <a:t>     6 Feb 21 18:06 html</a:t>
            </a:r>
          </a:p>
          <a:p>
            <a:r>
              <a:rPr lang="nl-NL" dirty="0"/>
              <a:t>Voor alle belangrijke software (waaronder </a:t>
            </a:r>
            <a:r>
              <a:rPr lang="nl-NL" dirty="0" err="1">
                <a:latin typeface="Consolas" panose="020B0609020204030204" pitchFamily="49" charset="0"/>
              </a:rPr>
              <a:t>httpd</a:t>
            </a:r>
            <a:r>
              <a:rPr lang="nl-NL" dirty="0"/>
              <a:t> en </a:t>
            </a:r>
            <a:r>
              <a:rPr lang="nl-NL" dirty="0">
                <a:latin typeface="Consolas" panose="020B0609020204030204" pitchFamily="49" charset="0"/>
              </a:rPr>
              <a:t>samba</a:t>
            </a:r>
            <a:r>
              <a:rPr lang="nl-NL" dirty="0"/>
              <a:t>) zijn vanuit het systeem of vanuit het RPM package al de juiste </a:t>
            </a:r>
            <a:r>
              <a:rPr lang="nl-NL" dirty="0" err="1"/>
              <a:t>SELinux</a:t>
            </a:r>
            <a:r>
              <a:rPr lang="nl-NL" dirty="0"/>
              <a:t> </a:t>
            </a:r>
            <a:r>
              <a:rPr lang="nl-NL" dirty="0" err="1"/>
              <a:t>contexts</a:t>
            </a:r>
            <a:r>
              <a:rPr lang="nl-NL" dirty="0"/>
              <a:t> aangemaakt.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SELinux</a:t>
            </a:r>
            <a:r>
              <a:rPr lang="nl-NL" dirty="0"/>
              <a:t> file context (herhaling)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A9096D49-DAE3-40DE-93E0-41688E0A5016}" type="slidenum">
              <a:rPr lang="nl-NL" smtClean="0"/>
              <a:pPr/>
              <a:t>34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58023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F9C931-FC4A-E33D-98C6-71FA1D2C88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Handmatig:</a:t>
            </a:r>
            <a:br>
              <a:rPr lang="pt-BR" sz="1800" dirty="0">
                <a:solidFill>
                  <a:prstClr val="black"/>
                </a:solidFill>
                <a:latin typeface="Consolas" panose="020B0609020204030204" pitchFamily="49" charset="0"/>
              </a:rPr>
            </a:br>
            <a:r>
              <a:rPr lang="pt-BR" sz="1800" dirty="0">
                <a:solidFill>
                  <a:prstClr val="black"/>
                </a:solidFill>
                <a:latin typeface="Consolas" panose="020B0609020204030204" pitchFamily="49" charset="0"/>
              </a:rPr>
              <a:t>$ sudo chcon -t httpd_sys_content_t -R /plf/www</a:t>
            </a:r>
          </a:p>
          <a:p>
            <a:r>
              <a:rPr lang="pt-BR" dirty="0"/>
              <a:t>Overnemen van een directory met de juiste file context:</a:t>
            </a:r>
            <a:br>
              <a:rPr lang="pt-BR" sz="1800" dirty="0">
                <a:solidFill>
                  <a:prstClr val="black"/>
                </a:solidFill>
                <a:latin typeface="Consolas" panose="020B0609020204030204" pitchFamily="49" charset="0"/>
              </a:rPr>
            </a:br>
            <a:r>
              <a:rPr lang="pt-BR" sz="1800" dirty="0">
                <a:solidFill>
                  <a:prstClr val="black"/>
                </a:solidFill>
                <a:latin typeface="Consolas" panose="020B0609020204030204" pitchFamily="49" charset="0"/>
              </a:rPr>
              <a:t>$ sudo chcon --reference=/var/www -R /plf/www</a:t>
            </a:r>
          </a:p>
          <a:p>
            <a:endParaRPr lang="pt-BR" sz="18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pt-BR" dirty="0"/>
              <a:t>Definitief regelen: met behulp van</a:t>
            </a:r>
            <a:br>
              <a:rPr lang="pt-BR" dirty="0"/>
            </a:br>
            <a:r>
              <a:rPr lang="nl-NL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nl-NL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nl-NL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semanage</a:t>
            </a:r>
            <a:r>
              <a:rPr lang="nl-NL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nl-NL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fcontext</a:t>
            </a:r>
            <a:r>
              <a:rPr lang="nl-NL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-a </a:t>
            </a:r>
            <a:r>
              <a:rPr lang="nl-NL" dirty="0"/>
              <a:t>(zie opdracht)</a:t>
            </a:r>
            <a:endParaRPr lang="pt-BR" dirty="0"/>
          </a:p>
          <a:p>
            <a:endParaRPr lang="nl-N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008F3A-E8C6-C620-C5B5-383730A93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SELinux</a:t>
            </a:r>
            <a:r>
              <a:rPr lang="en-US" dirty="0"/>
              <a:t> file context </a:t>
            </a:r>
            <a:r>
              <a:rPr lang="en-US" dirty="0" err="1"/>
              <a:t>aanpassen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104828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sz="1600" dirty="0"/>
              <a:t>HTTP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sz="1400" dirty="0">
                <a:hlinkClick r:id="rId3"/>
              </a:rPr>
              <a:t>http://www.tutorialspoint.com/http/http_message_examples.htm</a:t>
            </a:r>
            <a:r>
              <a:rPr lang="nl-NL" sz="1400" dirty="0"/>
              <a:t> </a:t>
            </a:r>
          </a:p>
          <a:p>
            <a:r>
              <a:rPr lang="nl-NL" sz="1600" dirty="0"/>
              <a:t>Apache op </a:t>
            </a:r>
            <a:r>
              <a:rPr lang="nl-NL" sz="1600" dirty="0" err="1"/>
              <a:t>Rocky</a:t>
            </a:r>
            <a:r>
              <a:rPr lang="nl-NL" sz="1600" dirty="0"/>
              <a:t>/RHEL:</a:t>
            </a:r>
          </a:p>
          <a:p>
            <a:pPr marL="800100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400" u="sng" dirty="0">
                <a:solidFill>
                  <a:srgbClr val="0000FF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RHEL 9 – Deploying web servers and reverse proxies – Chapter 1. Setting up the Apache HTTP web server</a:t>
            </a:r>
            <a:r>
              <a: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(t/m 1.5 “Setting up a single-instance Apache HTTP Server”)</a:t>
            </a:r>
            <a:endParaRPr lang="nl-NL" sz="1400" dirty="0"/>
          </a:p>
          <a:p>
            <a:r>
              <a:rPr lang="nl-NL" sz="1600" dirty="0"/>
              <a:t>IIS:</a:t>
            </a:r>
          </a:p>
          <a:p>
            <a:pPr marL="800100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nl-NL" sz="1400" dirty="0">
                <a:hlinkClick r:id="rId5"/>
              </a:rPr>
              <a:t>http://www.iis.net/learn/install/installing-iis-85/installing-iis-85-on-windows-server-2012-r2</a:t>
            </a:r>
            <a:endParaRPr lang="nl-NL" sz="14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nl-NL" sz="1400" dirty="0">
                <a:hlinkClick r:id="rId6"/>
              </a:rPr>
              <a:t>http://www.sherweb.com/blog/manage-and-install-iis8-on-windows-2012-server-core/</a:t>
            </a:r>
            <a:endParaRPr lang="nl-NL" sz="1400" dirty="0"/>
          </a:p>
          <a:p>
            <a:r>
              <a:rPr lang="nl-NL" sz="1600" dirty="0"/>
              <a:t>Samba:</a:t>
            </a:r>
          </a:p>
          <a:p>
            <a:pPr marL="800100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400" u="sng" dirty="0">
                <a:solidFill>
                  <a:srgbClr val="0000FF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RHEL 9 – Configuring and using network file services – Chapter 1. Using Samba as a server</a:t>
            </a:r>
            <a:r>
              <a: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(t/m 1.3 “Setting up Samba as a standalone server”)</a:t>
            </a:r>
            <a:endParaRPr lang="nl-NL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Documentatie</a:t>
            </a:r>
          </a:p>
        </p:txBody>
      </p:sp>
    </p:spTree>
    <p:extLst>
      <p:ext uri="{BB962C8B-B14F-4D97-AF65-F5344CB8AC3E}">
        <p14:creationId xmlns:p14="http://schemas.microsoft.com/office/powerpoint/2010/main" val="12138835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/>
              <a:t>Vragen?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3097701" y="316186"/>
            <a:ext cx="2432077" cy="450892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7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?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74153175"/>
      </p:ext>
    </p:extLst>
  </p:cSld>
  <p:clrMapOvr>
    <a:masterClrMapping/>
  </p:clrMapOvr>
</p:sld>
</file>

<file path=ppt/theme/theme1.xml><?xml version="1.0" encoding="utf-8"?>
<a:theme xmlns:a="http://schemas.openxmlformats.org/drawingml/2006/main" name="HU_powerpoint_breed">
  <a:themeElements>
    <a:clrScheme name="Custom 1">
      <a:dk1>
        <a:srgbClr val="000000"/>
      </a:dk1>
      <a:lt1>
        <a:srgbClr val="FFFFFF"/>
      </a:lt1>
      <a:dk2>
        <a:srgbClr val="E6302B"/>
      </a:dk2>
      <a:lt2>
        <a:srgbClr val="00A1E1"/>
      </a:lt2>
      <a:accent1>
        <a:srgbClr val="00A1E1"/>
      </a:accent1>
      <a:accent2>
        <a:srgbClr val="E6302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5070"/>
      </a:hlink>
      <a:folHlink>
        <a:srgbClr val="005070"/>
      </a:folHlink>
    </a:clrScheme>
    <a:fontScheme name="Office - klassiek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1D63E0F2-FB9A-49BF-84FF-B4AE7725241B}" vid="{2C3128D6-C568-4DA5-98E6-FC04C224662D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HU_powerpoint_breed aanpassing Martijn</Template>
  <TotalTime>81</TotalTime>
  <Words>2756</Words>
  <Application>Microsoft Office PowerPoint</Application>
  <PresentationFormat>On-screen Show (16:9)</PresentationFormat>
  <Paragraphs>436</Paragraphs>
  <Slides>37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Consolas</vt:lpstr>
      <vt:lpstr>Courier New</vt:lpstr>
      <vt:lpstr>Wingdings</vt:lpstr>
      <vt:lpstr>HU_powerpoint_breed</vt:lpstr>
      <vt:lpstr>PowerPoint Presentation</vt:lpstr>
      <vt:lpstr>Platformen</vt:lpstr>
      <vt:lpstr>Basic Services</vt:lpstr>
      <vt:lpstr>HTTP</vt:lpstr>
      <vt:lpstr>Hoe wordt content opgevraagd?</vt:lpstr>
      <vt:lpstr>HTTP session</vt:lpstr>
      <vt:lpstr>Request</vt:lpstr>
      <vt:lpstr>Request</vt:lpstr>
      <vt:lpstr>Response</vt:lpstr>
      <vt:lpstr>HTTP User Agent (client):</vt:lpstr>
      <vt:lpstr>Beveiligde verbinding</vt:lpstr>
      <vt:lpstr>Virtual hosts en Host Headers</vt:lpstr>
      <vt:lpstr>Proxy</vt:lpstr>
      <vt:lpstr>Reverse Proxy</vt:lpstr>
      <vt:lpstr>HTTP servers</vt:lpstr>
      <vt:lpstr>Rocky Linux: Installatie</vt:lpstr>
      <vt:lpstr>Rocky Linux: Configuratie</vt:lpstr>
      <vt:lpstr>Rocky Linux: Configuratie (2)</vt:lpstr>
      <vt:lpstr>Windows Installatie</vt:lpstr>
      <vt:lpstr>Installeer IIS met PowerShell</vt:lpstr>
      <vt:lpstr>Create a Simple Website</vt:lpstr>
      <vt:lpstr>Filesharing</vt:lpstr>
      <vt:lpstr>Samba | SMB | CIFS</vt:lpstr>
      <vt:lpstr>Hoe zet je Samba in?</vt:lpstr>
      <vt:lpstr>Waaruit bestaat Samba (Linux)</vt:lpstr>
      <vt:lpstr>Linux install</vt:lpstr>
      <vt:lpstr>Linux configuratie</vt:lpstr>
      <vt:lpstr>Voorbeeld simpele smb.conf (1)</vt:lpstr>
      <vt:lpstr>Voorbeeld simpele smb.conf (2)</vt:lpstr>
      <vt:lpstr>Problemen | Best practices</vt:lpstr>
      <vt:lpstr>Windows en SMB</vt:lpstr>
      <vt:lpstr>HTTP en SMB in combinatie met SELinux</vt:lpstr>
      <vt:lpstr>SELinux contexts (herhaling)</vt:lpstr>
      <vt:lpstr>SELinux file context (herhaling)</vt:lpstr>
      <vt:lpstr>SELinux file context aanpassen</vt:lpstr>
      <vt:lpstr>Documentatie</vt:lpstr>
      <vt:lpstr>Vragen?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van den Boogaard</dc:creator>
  <cp:lastModifiedBy>Marco van den Boogaard</cp:lastModifiedBy>
  <cp:revision>5</cp:revision>
  <dcterms:created xsi:type="dcterms:W3CDTF">2025-04-02T08:42:17Z</dcterms:created>
  <dcterms:modified xsi:type="dcterms:W3CDTF">2025-09-09T16:29:19Z</dcterms:modified>
</cp:coreProperties>
</file>