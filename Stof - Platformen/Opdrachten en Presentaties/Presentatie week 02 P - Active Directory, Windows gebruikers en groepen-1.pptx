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1"/>
  </p:sldMasterIdLst>
  <p:notesMasterIdLst>
    <p:notesMasterId r:id="rId37"/>
  </p:notesMasterIdLst>
  <p:sldIdLst>
    <p:sldId id="256" r:id="rId2"/>
    <p:sldId id="257" r:id="rId3"/>
    <p:sldId id="264" r:id="rId4"/>
    <p:sldId id="265" r:id="rId5"/>
    <p:sldId id="266" r:id="rId6"/>
    <p:sldId id="267" r:id="rId7"/>
    <p:sldId id="268" r:id="rId8"/>
    <p:sldId id="269" r:id="rId9"/>
    <p:sldId id="270" r:id="rId10"/>
    <p:sldId id="271" r:id="rId11"/>
    <p:sldId id="272" r:id="rId12"/>
    <p:sldId id="273" r:id="rId13"/>
    <p:sldId id="274" r:id="rId14"/>
    <p:sldId id="261" r:id="rId15"/>
    <p:sldId id="262" r:id="rId16"/>
    <p:sldId id="263"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75" r:id="rId36"/>
  </p:sldIdLst>
  <p:sldSz cx="9144000" cy="5143500" type="screen16x9"/>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A0459-0F91-4615-A562-BB4519A0DCEA}">
          <p14:sldIdLst>
            <p14:sldId id="256"/>
            <p14:sldId id="257"/>
            <p14:sldId id="264"/>
            <p14:sldId id="265"/>
            <p14:sldId id="266"/>
            <p14:sldId id="267"/>
            <p14:sldId id="268"/>
            <p14:sldId id="269"/>
            <p14:sldId id="270"/>
            <p14:sldId id="271"/>
            <p14:sldId id="272"/>
            <p14:sldId id="273"/>
            <p14:sldId id="274"/>
          </p14:sldIdLst>
        </p14:section>
        <p14:section name="Windows gebruikers en groepen" id="{B76E3EAA-7BAE-4B3F-8694-502531C3BBA2}">
          <p14:sldIdLst>
            <p14:sldId id="261"/>
            <p14:sldId id="262"/>
            <p14:sldId id="263"/>
            <p14:sldId id="276"/>
            <p14:sldId id="277"/>
            <p14:sldId id="278"/>
            <p14:sldId id="279"/>
          </p14:sldIdLst>
        </p14:section>
        <p14:section name="Command line/scripting tools voor Windows gebruikersbeheer" id="{C1D82909-4FFE-49C0-932F-82919839CBA6}">
          <p14:sldIdLst>
            <p14:sldId id="280"/>
            <p14:sldId id="281"/>
            <p14:sldId id="282"/>
            <p14:sldId id="283"/>
            <p14:sldId id="284"/>
            <p14:sldId id="285"/>
            <p14:sldId id="286"/>
          </p14:sldIdLst>
        </p14:section>
        <p14:section name="Gebruikersprofielen" id="{2CDF0578-B0BD-4A90-B57C-492B2CD84256}">
          <p14:sldIdLst>
            <p14:sldId id="287"/>
            <p14:sldId id="288"/>
          </p14:sldIdLst>
        </p14:section>
        <p14:section name="Objecten in Active Directory" id="{55B6D398-EC0E-40B5-B5AE-3574A451F0CF}">
          <p14:sldIdLst>
            <p14:sldId id="289"/>
            <p14:sldId id="290"/>
            <p14:sldId id="291"/>
            <p14:sldId id="292"/>
            <p14:sldId id="293"/>
          </p14:sldIdLst>
        </p14:section>
        <p14:section name="Afsluiting" id="{EAB71A77-DF4B-4C87-A7F1-3E55E4DD0B14}">
          <p14:sldIdLst>
            <p14:sldId id="275"/>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6">
          <p15:clr>
            <a:srgbClr val="A4A3A4"/>
          </p15:clr>
        </p15:guide>
        <p15:guide id="4"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9309" autoAdjust="0"/>
  </p:normalViewPr>
  <p:slideViewPr>
    <p:cSldViewPr snapToGrid="0" snapToObjects="1" showGuides="1">
      <p:cViewPr varScale="1">
        <p:scale>
          <a:sx n="123" d="100"/>
          <a:sy n="123" d="100"/>
        </p:scale>
        <p:origin x="102" y="126"/>
      </p:cViewPr>
      <p:guideLst>
        <p:guide orient="horz" pos="2160"/>
        <p:guide pos="2880"/>
        <p:guide orient="horz" pos="1626"/>
        <p:guide pos="2881"/>
      </p:guideLst>
    </p:cSldViewPr>
  </p:slideViewPr>
  <p:outlineViewPr>
    <p:cViewPr>
      <p:scale>
        <a:sx n="33" d="100"/>
        <a:sy n="33" d="100"/>
      </p:scale>
      <p:origin x="0" y="0"/>
    </p:cViewPr>
  </p:outlineViewPr>
  <p:notesTextViewPr>
    <p:cViewPr>
      <p:scale>
        <a:sx n="1" d="1"/>
        <a:sy n="1" d="1"/>
      </p:scale>
      <p:origin x="0" y="-1032"/>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 van den Boogaard" userId="22347987-6598-45a0-9cef-8489ec81de00" providerId="ADAL" clId="{91CA5447-EF6D-4E0C-8B4A-DBF90438455F}"/>
    <pc:docChg chg="addSld delSld modSld addSection modSection">
      <pc:chgData name="Marco van den Boogaard" userId="22347987-6598-45a0-9cef-8489ec81de00" providerId="ADAL" clId="{91CA5447-EF6D-4E0C-8B4A-DBF90438455F}" dt="2024-12-20T16:39:06.840" v="111" actId="6549"/>
      <pc:docMkLst>
        <pc:docMk/>
      </pc:docMkLst>
      <pc:sldChg chg="modSp mod">
        <pc:chgData name="Marco van den Boogaard" userId="22347987-6598-45a0-9cef-8489ec81de00" providerId="ADAL" clId="{91CA5447-EF6D-4E0C-8B4A-DBF90438455F}" dt="2024-12-20T16:39:06.840" v="111" actId="6549"/>
        <pc:sldMkLst>
          <pc:docMk/>
          <pc:sldMk cId="559557716" sldId="257"/>
        </pc:sldMkLst>
      </pc:sldChg>
      <pc:sldChg chg="del">
        <pc:chgData name="Marco van den Boogaard" userId="22347987-6598-45a0-9cef-8489ec81de00" providerId="ADAL" clId="{91CA5447-EF6D-4E0C-8B4A-DBF90438455F}" dt="2024-12-18T17:00:22.658" v="61" actId="2696"/>
        <pc:sldMkLst>
          <pc:docMk/>
          <pc:sldMk cId="2027298146" sldId="259"/>
        </pc:sldMkLst>
      </pc:sldChg>
      <pc:sldChg chg="del">
        <pc:chgData name="Marco van den Boogaard" userId="22347987-6598-45a0-9cef-8489ec81de00" providerId="ADAL" clId="{91CA5447-EF6D-4E0C-8B4A-DBF90438455F}" dt="2024-12-18T17:00:22.658" v="61" actId="2696"/>
        <pc:sldMkLst>
          <pc:docMk/>
          <pc:sldMk cId="1291170917" sldId="260"/>
        </pc:sldMkLst>
      </pc:sldChg>
      <pc:sldChg chg="del">
        <pc:chgData name="Marco van den Boogaard" userId="22347987-6598-45a0-9cef-8489ec81de00" providerId="ADAL" clId="{91CA5447-EF6D-4E0C-8B4A-DBF90438455F}" dt="2024-12-18T17:00:22.658" v="61" actId="2696"/>
        <pc:sldMkLst>
          <pc:docMk/>
          <pc:sldMk cId="1729859454" sldId="261"/>
        </pc:sldMkLst>
      </pc:sldChg>
      <pc:sldChg chg="add">
        <pc:chgData name="Marco van den Boogaard" userId="22347987-6598-45a0-9cef-8489ec81de00" providerId="ADAL" clId="{91CA5447-EF6D-4E0C-8B4A-DBF90438455F}" dt="2024-12-18T17:01:21.282" v="62"/>
        <pc:sldMkLst>
          <pc:docMk/>
          <pc:sldMk cId="4074150446" sldId="261"/>
        </pc:sldMkLst>
      </pc:sldChg>
      <pc:sldChg chg="add mod modShow">
        <pc:chgData name="Marco van den Boogaard" userId="22347987-6598-45a0-9cef-8489ec81de00" providerId="ADAL" clId="{91CA5447-EF6D-4E0C-8B4A-DBF90438455F}" dt="2024-12-18T17:21:38.315" v="66" actId="729"/>
        <pc:sldMkLst>
          <pc:docMk/>
          <pc:sldMk cId="434104800" sldId="262"/>
        </pc:sldMkLst>
      </pc:sldChg>
      <pc:sldChg chg="add mod modShow">
        <pc:chgData name="Marco van den Boogaard" userId="22347987-6598-45a0-9cef-8489ec81de00" providerId="ADAL" clId="{91CA5447-EF6D-4E0C-8B4A-DBF90438455F}" dt="2024-12-18T17:21:32.559" v="65" actId="729"/>
        <pc:sldMkLst>
          <pc:docMk/>
          <pc:sldMk cId="790711362" sldId="263"/>
        </pc:sldMkLst>
      </pc:sldChg>
      <pc:sldChg chg="del">
        <pc:chgData name="Marco van den Boogaard" userId="22347987-6598-45a0-9cef-8489ec81de00" providerId="ADAL" clId="{91CA5447-EF6D-4E0C-8B4A-DBF90438455F}" dt="2024-12-18T17:00:22.658" v="61" actId="2696"/>
        <pc:sldMkLst>
          <pc:docMk/>
          <pc:sldMk cId="1937438379" sldId="263"/>
        </pc:sldMkLst>
      </pc:sldChg>
      <pc:sldChg chg="modNotesTx">
        <pc:chgData name="Marco van den Boogaard" userId="22347987-6598-45a0-9cef-8489ec81de00" providerId="ADAL" clId="{91CA5447-EF6D-4E0C-8B4A-DBF90438455F}" dt="2024-12-18T17:24:34.246" v="108" actId="20577"/>
        <pc:sldMkLst>
          <pc:docMk/>
          <pc:sldMk cId="876314781" sldId="275"/>
        </pc:sldMkLst>
      </pc:sldChg>
      <pc:sldChg chg="del">
        <pc:chgData name="Marco van den Boogaard" userId="22347987-6598-45a0-9cef-8489ec81de00" providerId="ADAL" clId="{91CA5447-EF6D-4E0C-8B4A-DBF90438455F}" dt="2024-12-18T17:00:22.658" v="61" actId="2696"/>
        <pc:sldMkLst>
          <pc:docMk/>
          <pc:sldMk cId="2205092966" sldId="276"/>
        </pc:sldMkLst>
      </pc:sldChg>
      <pc:sldChg chg="add">
        <pc:chgData name="Marco van den Boogaard" userId="22347987-6598-45a0-9cef-8489ec81de00" providerId="ADAL" clId="{91CA5447-EF6D-4E0C-8B4A-DBF90438455F}" dt="2024-12-18T17:01:21.282" v="62"/>
        <pc:sldMkLst>
          <pc:docMk/>
          <pc:sldMk cId="3440720183" sldId="276"/>
        </pc:sldMkLst>
      </pc:sldChg>
      <pc:sldChg chg="del">
        <pc:chgData name="Marco van den Boogaard" userId="22347987-6598-45a0-9cef-8489ec81de00" providerId="ADAL" clId="{91CA5447-EF6D-4E0C-8B4A-DBF90438455F}" dt="2024-12-18T17:00:22.658" v="61" actId="2696"/>
        <pc:sldMkLst>
          <pc:docMk/>
          <pc:sldMk cId="2290884898" sldId="277"/>
        </pc:sldMkLst>
      </pc:sldChg>
      <pc:sldChg chg="add">
        <pc:chgData name="Marco van den Boogaard" userId="22347987-6598-45a0-9cef-8489ec81de00" providerId="ADAL" clId="{91CA5447-EF6D-4E0C-8B4A-DBF90438455F}" dt="2024-12-18T17:01:21.282" v="62"/>
        <pc:sldMkLst>
          <pc:docMk/>
          <pc:sldMk cId="3067909345" sldId="277"/>
        </pc:sldMkLst>
      </pc:sldChg>
      <pc:sldChg chg="del">
        <pc:chgData name="Marco van den Boogaard" userId="22347987-6598-45a0-9cef-8489ec81de00" providerId="ADAL" clId="{91CA5447-EF6D-4E0C-8B4A-DBF90438455F}" dt="2024-12-18T17:00:22.658" v="61" actId="2696"/>
        <pc:sldMkLst>
          <pc:docMk/>
          <pc:sldMk cId="2538457343" sldId="278"/>
        </pc:sldMkLst>
      </pc:sldChg>
      <pc:sldChg chg="add">
        <pc:chgData name="Marco van den Boogaard" userId="22347987-6598-45a0-9cef-8489ec81de00" providerId="ADAL" clId="{91CA5447-EF6D-4E0C-8B4A-DBF90438455F}" dt="2024-12-18T17:01:21.282" v="62"/>
        <pc:sldMkLst>
          <pc:docMk/>
          <pc:sldMk cId="3441156932" sldId="278"/>
        </pc:sldMkLst>
      </pc:sldChg>
      <pc:sldChg chg="add">
        <pc:chgData name="Marco van den Boogaard" userId="22347987-6598-45a0-9cef-8489ec81de00" providerId="ADAL" clId="{91CA5447-EF6D-4E0C-8B4A-DBF90438455F}" dt="2024-12-18T17:01:21.282" v="62"/>
        <pc:sldMkLst>
          <pc:docMk/>
          <pc:sldMk cId="2800896270" sldId="279"/>
        </pc:sldMkLst>
      </pc:sldChg>
      <pc:sldChg chg="add mod modShow">
        <pc:chgData name="Marco van den Boogaard" userId="22347987-6598-45a0-9cef-8489ec81de00" providerId="ADAL" clId="{91CA5447-EF6D-4E0C-8B4A-DBF90438455F}" dt="2024-12-18T17:22:12.982" v="67" actId="729"/>
        <pc:sldMkLst>
          <pc:docMk/>
          <pc:sldMk cId="3827617624" sldId="280"/>
        </pc:sldMkLst>
      </pc:sldChg>
      <pc:sldChg chg="add mod modShow">
        <pc:chgData name="Marco van den Boogaard" userId="22347987-6598-45a0-9cef-8489ec81de00" providerId="ADAL" clId="{91CA5447-EF6D-4E0C-8B4A-DBF90438455F}" dt="2024-12-18T17:22:12.982" v="67" actId="729"/>
        <pc:sldMkLst>
          <pc:docMk/>
          <pc:sldMk cId="1216084801" sldId="281"/>
        </pc:sldMkLst>
      </pc:sldChg>
      <pc:sldChg chg="add mod modShow">
        <pc:chgData name="Marco van den Boogaard" userId="22347987-6598-45a0-9cef-8489ec81de00" providerId="ADAL" clId="{91CA5447-EF6D-4E0C-8B4A-DBF90438455F}" dt="2024-12-18T17:22:12.982" v="67" actId="729"/>
        <pc:sldMkLst>
          <pc:docMk/>
          <pc:sldMk cId="3303447928" sldId="282"/>
        </pc:sldMkLst>
      </pc:sldChg>
      <pc:sldChg chg="add mod modShow">
        <pc:chgData name="Marco van den Boogaard" userId="22347987-6598-45a0-9cef-8489ec81de00" providerId="ADAL" clId="{91CA5447-EF6D-4E0C-8B4A-DBF90438455F}" dt="2024-12-18T17:22:12.982" v="67" actId="729"/>
        <pc:sldMkLst>
          <pc:docMk/>
          <pc:sldMk cId="3768005859" sldId="283"/>
        </pc:sldMkLst>
      </pc:sldChg>
      <pc:sldChg chg="add mod modShow">
        <pc:chgData name="Marco van den Boogaard" userId="22347987-6598-45a0-9cef-8489ec81de00" providerId="ADAL" clId="{91CA5447-EF6D-4E0C-8B4A-DBF90438455F}" dt="2024-12-18T17:22:12.982" v="67" actId="729"/>
        <pc:sldMkLst>
          <pc:docMk/>
          <pc:sldMk cId="37688334" sldId="284"/>
        </pc:sldMkLst>
      </pc:sldChg>
      <pc:sldChg chg="add mod modShow">
        <pc:chgData name="Marco van den Boogaard" userId="22347987-6598-45a0-9cef-8489ec81de00" providerId="ADAL" clId="{91CA5447-EF6D-4E0C-8B4A-DBF90438455F}" dt="2024-12-18T17:22:12.982" v="67" actId="729"/>
        <pc:sldMkLst>
          <pc:docMk/>
          <pc:sldMk cId="1007231427" sldId="285"/>
        </pc:sldMkLst>
      </pc:sldChg>
      <pc:sldChg chg="add">
        <pc:chgData name="Marco van den Boogaard" userId="22347987-6598-45a0-9cef-8489ec81de00" providerId="ADAL" clId="{91CA5447-EF6D-4E0C-8B4A-DBF90438455F}" dt="2024-12-18T17:01:21.282" v="62"/>
        <pc:sldMkLst>
          <pc:docMk/>
          <pc:sldMk cId="2623427548" sldId="286"/>
        </pc:sldMkLst>
      </pc:sldChg>
      <pc:sldChg chg="add">
        <pc:chgData name="Marco van den Boogaard" userId="22347987-6598-45a0-9cef-8489ec81de00" providerId="ADAL" clId="{91CA5447-EF6D-4E0C-8B4A-DBF90438455F}" dt="2024-12-18T17:01:21.282" v="62"/>
        <pc:sldMkLst>
          <pc:docMk/>
          <pc:sldMk cId="64577493" sldId="287"/>
        </pc:sldMkLst>
      </pc:sldChg>
      <pc:sldChg chg="add">
        <pc:chgData name="Marco van den Boogaard" userId="22347987-6598-45a0-9cef-8489ec81de00" providerId="ADAL" clId="{91CA5447-EF6D-4E0C-8B4A-DBF90438455F}" dt="2024-12-18T17:01:21.282" v="62"/>
        <pc:sldMkLst>
          <pc:docMk/>
          <pc:sldMk cId="798623711" sldId="288"/>
        </pc:sldMkLst>
      </pc:sldChg>
      <pc:sldChg chg="add">
        <pc:chgData name="Marco van den Boogaard" userId="22347987-6598-45a0-9cef-8489ec81de00" providerId="ADAL" clId="{91CA5447-EF6D-4E0C-8B4A-DBF90438455F}" dt="2024-12-18T17:01:21.282" v="62"/>
        <pc:sldMkLst>
          <pc:docMk/>
          <pc:sldMk cId="2776407177" sldId="289"/>
        </pc:sldMkLst>
      </pc:sldChg>
      <pc:sldChg chg="add">
        <pc:chgData name="Marco van den Boogaard" userId="22347987-6598-45a0-9cef-8489ec81de00" providerId="ADAL" clId="{91CA5447-EF6D-4E0C-8B4A-DBF90438455F}" dt="2024-12-18T17:01:21.282" v="62"/>
        <pc:sldMkLst>
          <pc:docMk/>
          <pc:sldMk cId="2210942723" sldId="290"/>
        </pc:sldMkLst>
      </pc:sldChg>
      <pc:sldChg chg="add">
        <pc:chgData name="Marco van den Boogaard" userId="22347987-6598-45a0-9cef-8489ec81de00" providerId="ADAL" clId="{91CA5447-EF6D-4E0C-8B4A-DBF90438455F}" dt="2024-12-18T17:01:21.282" v="62"/>
        <pc:sldMkLst>
          <pc:docMk/>
          <pc:sldMk cId="653571822" sldId="291"/>
        </pc:sldMkLst>
      </pc:sldChg>
      <pc:sldChg chg="add">
        <pc:chgData name="Marco van den Boogaard" userId="22347987-6598-45a0-9cef-8489ec81de00" providerId="ADAL" clId="{91CA5447-EF6D-4E0C-8B4A-DBF90438455F}" dt="2024-12-18T17:01:21.282" v="62"/>
        <pc:sldMkLst>
          <pc:docMk/>
          <pc:sldMk cId="3382617921" sldId="292"/>
        </pc:sldMkLst>
      </pc:sldChg>
      <pc:sldChg chg="add">
        <pc:chgData name="Marco van den Boogaard" userId="22347987-6598-45a0-9cef-8489ec81de00" providerId="ADAL" clId="{91CA5447-EF6D-4E0C-8B4A-DBF90438455F}" dt="2024-12-18T17:01:21.282" v="62"/>
        <pc:sldMkLst>
          <pc:docMk/>
          <pc:sldMk cId="4030161399" sldId="293"/>
        </pc:sldMkLst>
      </pc:sldChg>
    </pc:docChg>
  </pc:docChgLst>
  <pc:docChgLst>
    <pc:chgData name="Marco van den Boogaard" userId="22347987-6598-45a0-9cef-8489ec81de00" providerId="ADAL" clId="{9D95BDDF-F833-493C-B45D-EDB941A032B0}"/>
    <pc:docChg chg="modSld">
      <pc:chgData name="Marco van den Boogaard" userId="22347987-6598-45a0-9cef-8489ec81de00" providerId="ADAL" clId="{9D95BDDF-F833-493C-B45D-EDB941A032B0}" dt="2023-09-01T10:03:42.799" v="0" actId="14826"/>
      <pc:docMkLst>
        <pc:docMk/>
      </pc:docMkLst>
      <pc:sldChg chg="modSp">
        <pc:chgData name="Marco van den Boogaard" userId="22347987-6598-45a0-9cef-8489ec81de00" providerId="ADAL" clId="{9D95BDDF-F833-493C-B45D-EDB941A032B0}" dt="2023-09-01T10:03:42.799" v="0" actId="14826"/>
        <pc:sldMkLst>
          <pc:docMk/>
          <pc:sldMk cId="2205092966" sldId="276"/>
        </pc:sldMkLst>
      </pc:sldChg>
    </pc:docChg>
  </pc:docChgLst>
  <pc:docChgLst>
    <pc:chgData name="Marco van den Boogaard" userId="22347987-6598-45a0-9cef-8489ec81de00" providerId="ADAL" clId="{A46E5218-7A4C-40A9-9948-079AB11089B7}"/>
    <pc:docChg chg="undo custSel modSld">
      <pc:chgData name="Marco van den Boogaard" userId="22347987-6598-45a0-9cef-8489ec81de00" providerId="ADAL" clId="{A46E5218-7A4C-40A9-9948-079AB11089B7}" dt="2025-09-05T13:54:39.277" v="47" actId="20577"/>
      <pc:docMkLst>
        <pc:docMk/>
      </pc:docMkLst>
      <pc:sldChg chg="modNotesTx">
        <pc:chgData name="Marco van den Boogaard" userId="22347987-6598-45a0-9cef-8489ec81de00" providerId="ADAL" clId="{A46E5218-7A4C-40A9-9948-079AB11089B7}" dt="2025-09-05T13:54:39.277" v="47" actId="20577"/>
        <pc:sldMkLst>
          <pc:docMk/>
          <pc:sldMk cId="2475554021" sldId="269"/>
        </pc:sldMkLst>
      </pc:sldChg>
    </pc:docChg>
  </pc:docChgLst>
  <pc:docChgLst>
    <pc:chgData name="Marco van den Boogaard" userId="22347987-6598-45a0-9cef-8489ec81de00" providerId="ADAL" clId="{45F66F43-DABB-469A-9BA8-1D505FF95028}"/>
    <pc:docChg chg="addSld delSld modSld">
      <pc:chgData name="Marco van den Boogaard" userId="22347987-6598-45a0-9cef-8489ec81de00" providerId="ADAL" clId="{45F66F43-DABB-469A-9BA8-1D505FF95028}" dt="2023-09-01T09:58:48.409" v="1" actId="47"/>
      <pc:docMkLst>
        <pc:docMk/>
      </pc:docMkLst>
      <pc:sldChg chg="del">
        <pc:chgData name="Marco van den Boogaard" userId="22347987-6598-45a0-9cef-8489ec81de00" providerId="ADAL" clId="{45F66F43-DABB-469A-9BA8-1D505FF95028}" dt="2023-09-01T09:58:48.409" v="1" actId="47"/>
        <pc:sldMkLst>
          <pc:docMk/>
          <pc:sldMk cId="320569246" sldId="262"/>
        </pc:sldMkLst>
      </pc:sldChg>
      <pc:sldChg chg="add">
        <pc:chgData name="Marco van den Boogaard" userId="22347987-6598-45a0-9cef-8489ec81de00" providerId="ADAL" clId="{45F66F43-DABB-469A-9BA8-1D505FF95028}" dt="2023-09-01T09:58:46.024" v="0"/>
        <pc:sldMkLst>
          <pc:docMk/>
          <pc:sldMk cId="2290884898" sldId="277"/>
        </pc:sldMkLst>
      </pc:sldChg>
    </pc:docChg>
  </pc:docChgLst>
  <pc:docChgLst>
    <pc:chgData name="Marco van den Boogaard" userId="22347987-6598-45a0-9cef-8489ec81de00" providerId="ADAL" clId="{067C0729-875F-4EA3-9DD0-76BC14C9C5AE}"/>
    <pc:docChg chg="custSel addSld modSld">
      <pc:chgData name="Marco van den Boogaard" userId="22347987-6598-45a0-9cef-8489ec81de00" providerId="ADAL" clId="{067C0729-875F-4EA3-9DD0-76BC14C9C5AE}" dt="2024-03-25T12:19:51.279" v="603" actId="14826"/>
      <pc:docMkLst>
        <pc:docMk/>
      </pc:docMkLst>
      <pc:sldChg chg="modSp mod">
        <pc:chgData name="Marco van den Boogaard" userId="22347987-6598-45a0-9cef-8489ec81de00" providerId="ADAL" clId="{067C0729-875F-4EA3-9DD0-76BC14C9C5AE}" dt="2024-03-25T12:19:51.279" v="603" actId="14826"/>
        <pc:sldMkLst>
          <pc:docMk/>
          <pc:sldMk cId="2205092966" sldId="276"/>
        </pc:sldMkLst>
      </pc:sldChg>
      <pc:sldChg chg="modSp new mod">
        <pc:chgData name="Marco van den Boogaard" userId="22347987-6598-45a0-9cef-8489ec81de00" providerId="ADAL" clId="{067C0729-875F-4EA3-9DD0-76BC14C9C5AE}" dt="2024-03-25T12:12:21.714" v="601" actId="404"/>
        <pc:sldMkLst>
          <pc:docMk/>
          <pc:sldMk cId="2538457343"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605D3-16DF-DF43-AE35-A9E379D47CEE}" type="datetimeFigureOut">
              <a:rPr lang="nl-NL" smtClean="0"/>
              <a:t>5-9-2025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FEC66-6BFA-9A4F-8C14-93D2FB19A680}" type="slidenum">
              <a:rPr lang="nl-NL" smtClean="0"/>
              <a:t>‹#›</a:t>
            </a:fld>
            <a:endParaRPr lang="nl-NL"/>
          </a:p>
        </p:txBody>
      </p:sp>
    </p:spTree>
    <p:extLst>
      <p:ext uri="{BB962C8B-B14F-4D97-AF65-F5344CB8AC3E}">
        <p14:creationId xmlns:p14="http://schemas.microsoft.com/office/powerpoint/2010/main" val="1690198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technet2.microsoft.com/windowsserver/en/library/c9bfc4c3-7aaf-4ca0-b818-db0de3a6fc871033.mspx?mfr=tru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upport.microsoft.com/kb/263991"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LDAP: Lightweight</a:t>
            </a:r>
            <a:r>
              <a:rPr lang="en-GB" baseline="0" dirty="0"/>
              <a:t> Directory Access Protocol. </a:t>
            </a:r>
            <a:r>
              <a:rPr lang="en-GB" baseline="0" dirty="0" err="1"/>
              <a:t>Doordat</a:t>
            </a:r>
            <a:r>
              <a:rPr lang="en-GB" baseline="0" dirty="0"/>
              <a:t> </a:t>
            </a:r>
            <a:r>
              <a:rPr lang="en-GB" baseline="0" dirty="0" err="1"/>
              <a:t>dit</a:t>
            </a:r>
            <a:r>
              <a:rPr lang="en-GB" baseline="0" dirty="0"/>
              <a:t> de basis </a:t>
            </a:r>
            <a:r>
              <a:rPr lang="en-GB" baseline="0" dirty="0" err="1"/>
              <a:t>vormt</a:t>
            </a:r>
            <a:r>
              <a:rPr lang="en-GB" baseline="0" dirty="0"/>
              <a:t> van AD </a:t>
            </a:r>
            <a:r>
              <a:rPr lang="en-GB" baseline="0" dirty="0" err="1"/>
              <a:t>worden</a:t>
            </a:r>
            <a:r>
              <a:rPr lang="en-GB" baseline="0" dirty="0"/>
              <a:t> </a:t>
            </a:r>
            <a:r>
              <a:rPr lang="en-GB" baseline="0" dirty="0" err="1"/>
              <a:t>binnen</a:t>
            </a:r>
            <a:r>
              <a:rPr lang="en-GB" baseline="0" dirty="0"/>
              <a:t> AD </a:t>
            </a:r>
            <a:r>
              <a:rPr lang="en-GB" i="1" baseline="0" dirty="0"/>
              <a:t>schema</a:t>
            </a:r>
            <a:r>
              <a:rPr lang="en-GB" baseline="0" dirty="0"/>
              <a:t> (de </a:t>
            </a:r>
            <a:r>
              <a:rPr lang="en-GB" baseline="0" dirty="0" err="1"/>
              <a:t>beschrijving</a:t>
            </a:r>
            <a:r>
              <a:rPr lang="en-GB" baseline="0" dirty="0"/>
              <a:t> van de </a:t>
            </a:r>
            <a:r>
              <a:rPr lang="en-GB" baseline="0" dirty="0" err="1"/>
              <a:t>structuur</a:t>
            </a:r>
            <a:r>
              <a:rPr lang="en-GB" baseline="0" dirty="0"/>
              <a:t> van de data die in de directory </a:t>
            </a:r>
            <a:r>
              <a:rPr lang="en-GB" baseline="0" dirty="0" err="1"/>
              <a:t>kan</a:t>
            </a:r>
            <a:r>
              <a:rPr lang="en-GB" baseline="0" dirty="0"/>
              <a:t> </a:t>
            </a:r>
            <a:r>
              <a:rPr lang="en-GB" baseline="0" dirty="0" err="1"/>
              <a:t>worden</a:t>
            </a:r>
            <a:r>
              <a:rPr lang="en-GB" baseline="0" dirty="0"/>
              <a:t> </a:t>
            </a:r>
            <a:r>
              <a:rPr lang="en-GB" baseline="0" dirty="0" err="1"/>
              <a:t>opgeslagen</a:t>
            </a:r>
            <a:r>
              <a:rPr lang="en-GB" baseline="0" dirty="0"/>
              <a:t>) en </a:t>
            </a:r>
            <a:r>
              <a:rPr lang="en-GB" i="1" baseline="0" dirty="0"/>
              <a:t>objects</a:t>
            </a:r>
            <a:r>
              <a:rPr lang="en-GB" baseline="0" dirty="0"/>
              <a:t> (</a:t>
            </a:r>
            <a:r>
              <a:rPr lang="en-GB" baseline="0" dirty="0" err="1"/>
              <a:t>alles</a:t>
            </a:r>
            <a:r>
              <a:rPr lang="en-GB" baseline="0" dirty="0"/>
              <a:t> wat in de directory </a:t>
            </a:r>
            <a:r>
              <a:rPr lang="en-GB" baseline="0" dirty="0" err="1"/>
              <a:t>wordt</a:t>
            </a:r>
            <a:r>
              <a:rPr lang="en-GB" baseline="0" dirty="0"/>
              <a:t> </a:t>
            </a:r>
            <a:r>
              <a:rPr lang="en-GB" baseline="0" dirty="0" err="1"/>
              <a:t>opgeslagen</a:t>
            </a:r>
            <a:r>
              <a:rPr lang="en-GB" baseline="0" dirty="0"/>
              <a:t>, de </a:t>
            </a:r>
            <a:r>
              <a:rPr lang="en-GB" baseline="0" dirty="0" err="1"/>
              <a:t>daadwerkelijke</a:t>
            </a:r>
            <a:r>
              <a:rPr lang="en-GB" baseline="0" dirty="0"/>
              <a:t> data zit in </a:t>
            </a:r>
            <a:r>
              <a:rPr lang="en-GB" i="1" baseline="0" dirty="0"/>
              <a:t>attributes</a:t>
            </a:r>
            <a:r>
              <a:rPr lang="en-GB" i="0" baseline="0" dirty="0"/>
              <a:t> van de </a:t>
            </a:r>
            <a:r>
              <a:rPr lang="en-GB" i="0" baseline="0" dirty="0" err="1"/>
              <a:t>objecten</a:t>
            </a:r>
            <a:r>
              <a:rPr lang="en-GB" baseline="0" dirty="0"/>
              <a:t>) </a:t>
            </a:r>
            <a:r>
              <a:rPr lang="en-GB" baseline="0" dirty="0" err="1"/>
              <a:t>onderscheiden</a:t>
            </a:r>
            <a:r>
              <a:rPr lang="en-GB" baseline="0" dirty="0"/>
              <a:t>.</a:t>
            </a:r>
          </a:p>
          <a:p>
            <a:endParaRPr lang="en-GB" baseline="0" dirty="0"/>
          </a:p>
          <a:p>
            <a:r>
              <a:rPr lang="en-GB" baseline="0" dirty="0" err="1"/>
              <a:t>Bronvermelding</a:t>
            </a:r>
            <a:r>
              <a:rPr lang="en-GB" baseline="0" dirty="0"/>
              <a:t> </a:t>
            </a:r>
            <a:r>
              <a:rPr lang="en-GB" baseline="0" dirty="0" err="1"/>
              <a:t>illustraties</a:t>
            </a:r>
            <a:r>
              <a:rPr lang="en-GB" baseline="0" dirty="0"/>
              <a:t>: </a:t>
            </a:r>
            <a:r>
              <a:rPr lang="en-GB" baseline="0" dirty="0" err="1"/>
              <a:t>bovenaan</a:t>
            </a:r>
            <a:r>
              <a:rPr lang="en-GB" baseline="0" dirty="0"/>
              <a:t>, </a:t>
            </a:r>
            <a:r>
              <a:rPr lang="en-GB" baseline="0" dirty="0" err="1"/>
              <a:t>eigen</a:t>
            </a:r>
            <a:r>
              <a:rPr lang="en-GB" baseline="0" dirty="0"/>
              <a:t> </a:t>
            </a:r>
            <a:r>
              <a:rPr lang="en-GB" baseline="0" dirty="0" err="1"/>
              <a:t>werk</a:t>
            </a:r>
            <a:r>
              <a:rPr lang="en-GB" baseline="0" dirty="0"/>
              <a:t>; </a:t>
            </a:r>
            <a:r>
              <a:rPr lang="en-GB" baseline="0" dirty="0" err="1"/>
              <a:t>midden</a:t>
            </a:r>
            <a:r>
              <a:rPr lang="en-GB" baseline="0" dirty="0"/>
              <a:t> links, </a:t>
            </a:r>
            <a:r>
              <a:rPr lang="en-GB" baseline="0" dirty="0" err="1"/>
              <a:t>overgenomen</a:t>
            </a:r>
            <a:r>
              <a:rPr lang="en-GB" baseline="0" dirty="0"/>
              <a:t> van https://www.clipartmax.com/middle/m2H7K9A0b1b1H7Z5_directory-service-icon-windows-active-directory-icon/ </a:t>
            </a:r>
            <a:r>
              <a:rPr lang="en-GB" baseline="0" dirty="0" err="1"/>
              <a:t>binnen</a:t>
            </a:r>
            <a:r>
              <a:rPr lang="en-GB" baseline="0" dirty="0"/>
              <a:t> fair use; </a:t>
            </a:r>
            <a:r>
              <a:rPr lang="en-GB" baseline="0" dirty="0" err="1"/>
              <a:t>midden</a:t>
            </a:r>
            <a:r>
              <a:rPr lang="en-GB" baseline="0" dirty="0"/>
              <a:t> </a:t>
            </a:r>
            <a:r>
              <a:rPr lang="en-GB" baseline="0" dirty="0" err="1"/>
              <a:t>rechts</a:t>
            </a:r>
            <a:r>
              <a:rPr lang="en-GB" baseline="0" dirty="0"/>
              <a:t>, </a:t>
            </a:r>
            <a:r>
              <a:rPr lang="en-GB" baseline="0" dirty="0" err="1"/>
              <a:t>overgenomen</a:t>
            </a:r>
            <a:r>
              <a:rPr lang="en-GB" baseline="0" dirty="0"/>
              <a:t> van http://www.bostonsolux.com/?project=active-directory-design-implementations </a:t>
            </a:r>
            <a:r>
              <a:rPr lang="en-GB" baseline="0" dirty="0" err="1"/>
              <a:t>binnen</a:t>
            </a:r>
            <a:r>
              <a:rPr lang="en-GB" baseline="0" dirty="0"/>
              <a:t> fair use; </a:t>
            </a:r>
            <a:r>
              <a:rPr lang="en-GB" baseline="0" dirty="0" err="1"/>
              <a:t>onderaan</a:t>
            </a:r>
            <a:r>
              <a:rPr lang="en-GB" baseline="0" dirty="0"/>
              <a:t>, </a:t>
            </a:r>
            <a:r>
              <a:rPr lang="en-GB" baseline="0" dirty="0" err="1"/>
              <a:t>overgemoen</a:t>
            </a:r>
            <a:r>
              <a:rPr lang="en-GB" baseline="0" dirty="0"/>
              <a:t> van https://www.manageengine.com/products/ad-manager/case-study-active-directory-delegate-rights-reporting-tool-for-eby.html </a:t>
            </a:r>
            <a:r>
              <a:rPr lang="en-GB" baseline="0" dirty="0" err="1"/>
              <a:t>binnen</a:t>
            </a:r>
            <a:r>
              <a:rPr lang="en-GB" baseline="0" dirty="0"/>
              <a:t> fair use </a:t>
            </a:r>
            <a:endParaRPr lang="en-GB"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3</a:t>
            </a:fld>
            <a:endParaRPr lang="en-US" altLang="nl-NL"/>
          </a:p>
        </p:txBody>
      </p:sp>
    </p:spTree>
    <p:extLst>
      <p:ext uri="{BB962C8B-B14F-4D97-AF65-F5344CB8AC3E}">
        <p14:creationId xmlns:p14="http://schemas.microsoft.com/office/powerpoint/2010/main" val="793960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err="1"/>
              <a:t>Werkgroep</a:t>
            </a:r>
            <a:r>
              <a:rPr lang="en-GB" dirty="0"/>
              <a:t> vs </a:t>
            </a:r>
            <a:r>
              <a:rPr lang="en-GB" dirty="0" err="1"/>
              <a:t>domein</a:t>
            </a:r>
            <a:r>
              <a:rPr lang="en-GB" dirty="0"/>
              <a:t>: </a:t>
            </a:r>
            <a:r>
              <a:rPr lang="nl-NL" sz="1200" kern="1200" dirty="0">
                <a:solidFill>
                  <a:schemeClr val="tx1"/>
                </a:solidFill>
                <a:effectLst/>
                <a:latin typeface="Arial" charset="0"/>
                <a:ea typeface="MS PGothic" panose="020B0600070205080204" pitchFamily="34" charset="-128"/>
                <a:cs typeface="+mn-cs"/>
              </a:rPr>
              <a:t>Een werkgroep heeft geen centrale, managementserver zoals een domein een DC heeft. Er is geen hiërarchische rolverdeling. Alle systemen in een werkgroep hebben dezelfde mogelijkheden en/of beperkingen (</a:t>
            </a:r>
            <a:r>
              <a:rPr lang="nl-NL" sz="1200" i="1" kern="1200" dirty="0">
                <a:solidFill>
                  <a:schemeClr val="tx1"/>
                </a:solidFill>
                <a:effectLst/>
                <a:latin typeface="Arial" charset="0"/>
                <a:ea typeface="MS PGothic" panose="020B0600070205080204" pitchFamily="34" charset="-128"/>
                <a:cs typeface="+mn-cs"/>
              </a:rPr>
              <a:t>peer </a:t>
            </a:r>
            <a:r>
              <a:rPr lang="nl-NL" sz="1200" i="1" kern="1200" dirty="0" err="1">
                <a:solidFill>
                  <a:schemeClr val="tx1"/>
                </a:solidFill>
                <a:effectLst/>
                <a:latin typeface="Arial" charset="0"/>
                <a:ea typeface="MS PGothic" panose="020B0600070205080204" pitchFamily="34" charset="-128"/>
                <a:cs typeface="+mn-cs"/>
              </a:rPr>
              <a:t>to</a:t>
            </a:r>
            <a:r>
              <a:rPr lang="nl-NL" sz="1200" i="1" kern="1200" dirty="0">
                <a:solidFill>
                  <a:schemeClr val="tx1"/>
                </a:solidFill>
                <a:effectLst/>
                <a:latin typeface="Arial" charset="0"/>
                <a:ea typeface="MS PGothic" panose="020B0600070205080204" pitchFamily="34" charset="-128"/>
                <a:cs typeface="+mn-cs"/>
              </a:rPr>
              <a:t> peer</a:t>
            </a:r>
            <a:r>
              <a:rPr lang="nl-NL" sz="1200" kern="1200" dirty="0">
                <a:solidFill>
                  <a:schemeClr val="tx1"/>
                </a:solidFill>
                <a:effectLst/>
                <a:latin typeface="Arial" charset="0"/>
                <a:ea typeface="MS PGothic" panose="020B0600070205080204" pitchFamily="34" charset="-128"/>
                <a:cs typeface="+mn-cs"/>
              </a:rPr>
              <a:t>). Als je een gebruikerswachtwoord op 1 van de </a:t>
            </a:r>
            <a:r>
              <a:rPr lang="nl-NL" sz="1200" kern="1200" dirty="0" err="1">
                <a:solidFill>
                  <a:schemeClr val="tx1"/>
                </a:solidFill>
                <a:effectLst/>
                <a:latin typeface="Arial" charset="0"/>
                <a:ea typeface="MS PGothic" panose="020B0600070205080204" pitchFamily="34" charset="-128"/>
                <a:cs typeface="+mn-cs"/>
              </a:rPr>
              <a:t>PC’s</a:t>
            </a:r>
            <a:r>
              <a:rPr lang="nl-NL" sz="1200" kern="1200" dirty="0">
                <a:solidFill>
                  <a:schemeClr val="tx1"/>
                </a:solidFill>
                <a:effectLst/>
                <a:latin typeface="Arial" charset="0"/>
                <a:ea typeface="MS PGothic" panose="020B0600070205080204" pitchFamily="34" charset="-128"/>
                <a:cs typeface="+mn-cs"/>
              </a:rPr>
              <a:t> wijzigt, dan wordt dat niet op andere </a:t>
            </a:r>
            <a:r>
              <a:rPr lang="nl-NL" sz="1200" kern="1200" dirty="0" err="1">
                <a:solidFill>
                  <a:schemeClr val="tx1"/>
                </a:solidFill>
                <a:effectLst/>
                <a:latin typeface="Arial" charset="0"/>
                <a:ea typeface="MS PGothic" panose="020B0600070205080204" pitchFamily="34" charset="-128"/>
                <a:cs typeface="+mn-cs"/>
              </a:rPr>
              <a:t>PC’s</a:t>
            </a:r>
            <a:r>
              <a:rPr lang="nl-NL" sz="1200" kern="1200" dirty="0">
                <a:solidFill>
                  <a:schemeClr val="tx1"/>
                </a:solidFill>
                <a:effectLst/>
                <a:latin typeface="Arial" charset="0"/>
                <a:ea typeface="MS PGothic" panose="020B0600070205080204" pitchFamily="34" charset="-128"/>
                <a:cs typeface="+mn-cs"/>
              </a:rPr>
              <a:t> in een werkgroep aangepast.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S PGothic" panose="020B0600070205080204" pitchFamily="34" charset="-128"/>
                <a:cs typeface="+mn-cs"/>
              </a:rPr>
              <a:t>ADDS: de AD LDAP database met </a:t>
            </a:r>
            <a:r>
              <a:rPr lang="en-US" sz="1200" kern="1200" dirty="0" err="1">
                <a:solidFill>
                  <a:schemeClr val="tx1"/>
                </a:solidFill>
                <a:effectLst/>
                <a:latin typeface="Arial" charset="0"/>
                <a:ea typeface="MS PGothic" panose="020B0600070205080204" pitchFamily="34" charset="-128"/>
                <a:cs typeface="+mn-cs"/>
              </a:rPr>
              <a:t>daaromheen</a:t>
            </a:r>
            <a:r>
              <a:rPr lang="en-US" sz="1200" kern="1200" baseline="0" dirty="0">
                <a:solidFill>
                  <a:schemeClr val="tx1"/>
                </a:solidFill>
                <a:effectLst/>
                <a:latin typeface="Arial" charset="0"/>
                <a:ea typeface="MS PGothic" panose="020B0600070205080204" pitchFamily="34" charset="-128"/>
                <a:cs typeface="+mn-cs"/>
              </a:rPr>
              <a:t> tooling om </a:t>
            </a:r>
            <a:r>
              <a:rPr lang="en-US" sz="1200" kern="1200" baseline="0" dirty="0" err="1">
                <a:solidFill>
                  <a:schemeClr val="tx1"/>
                </a:solidFill>
                <a:effectLst/>
                <a:latin typeface="Arial" charset="0"/>
                <a:ea typeface="MS PGothic" panose="020B0600070205080204" pitchFamily="34" charset="-128"/>
                <a:cs typeface="+mn-cs"/>
              </a:rPr>
              <a:t>deze</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te</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beheren</a:t>
            </a:r>
            <a:r>
              <a:rPr lang="en-US" sz="1200" kern="1200" baseline="0" dirty="0">
                <a:solidFill>
                  <a:schemeClr val="tx1"/>
                </a:solidFill>
                <a:effectLst/>
                <a:latin typeface="Arial" charset="0"/>
                <a:ea typeface="MS PGothic" panose="020B0600070205080204" pitchFamily="34" charset="-128"/>
                <a:cs typeface="+mn-cs"/>
              </a:rPr>
              <a:t> en </a:t>
            </a:r>
            <a:r>
              <a:rPr lang="en-US" sz="1200" kern="1200" baseline="0" dirty="0" err="1">
                <a:solidFill>
                  <a:schemeClr val="tx1"/>
                </a:solidFill>
                <a:effectLst/>
                <a:latin typeface="Arial" charset="0"/>
                <a:ea typeface="MS PGothic" panose="020B0600070205080204" pitchFamily="34" charset="-128"/>
                <a:cs typeface="+mn-cs"/>
              </a:rPr>
              <a:t>gebruiken</a:t>
            </a:r>
            <a:endParaRPr lang="en-US" sz="1200" kern="1200" baseline="0" dirty="0">
              <a:solidFill>
                <a:schemeClr val="tx1"/>
              </a:solidFill>
              <a:effectLst/>
              <a:latin typeface="Arial" charset="0"/>
              <a:ea typeface="MS PGothic" panose="020B0600070205080204" pitchFamily="34" charset="-128"/>
              <a:cs typeface="+mn-cs"/>
            </a:endParaRPr>
          </a:p>
          <a:p>
            <a:r>
              <a:rPr lang="en-US" sz="1200" kern="1200" baseline="0" dirty="0">
                <a:solidFill>
                  <a:schemeClr val="tx1"/>
                </a:solidFill>
                <a:effectLst/>
                <a:latin typeface="Arial" charset="0"/>
                <a:ea typeface="MS PGothic" panose="020B0600070205080204" pitchFamily="34" charset="-128"/>
                <a:cs typeface="+mn-cs"/>
              </a:rPr>
              <a:t>Tree vs Forest: </a:t>
            </a:r>
            <a:r>
              <a:rPr lang="nl-NL" sz="1200" kern="1200" dirty="0">
                <a:solidFill>
                  <a:schemeClr val="tx1"/>
                </a:solidFill>
                <a:effectLst/>
                <a:latin typeface="Arial" charset="0"/>
                <a:ea typeface="MS PGothic" panose="020B0600070205080204" pitchFamily="34" charset="-128"/>
                <a:cs typeface="+mn-cs"/>
              </a:rPr>
              <a:t>Een </a:t>
            </a:r>
            <a:r>
              <a:rPr lang="nl-NL" sz="1200" kern="1200" dirty="0" err="1">
                <a:solidFill>
                  <a:schemeClr val="tx1"/>
                </a:solidFill>
                <a:effectLst/>
                <a:latin typeface="Arial" charset="0"/>
                <a:ea typeface="MS PGothic" panose="020B0600070205080204" pitchFamily="34" charset="-128"/>
                <a:cs typeface="+mn-cs"/>
              </a:rPr>
              <a:t>forest</a:t>
            </a:r>
            <a:r>
              <a:rPr lang="nl-NL" sz="1200" kern="1200" dirty="0">
                <a:solidFill>
                  <a:schemeClr val="tx1"/>
                </a:solidFill>
                <a:effectLst/>
                <a:latin typeface="Arial" charset="0"/>
                <a:ea typeface="MS PGothic" panose="020B0600070205080204" pitchFamily="34" charset="-128"/>
                <a:cs typeface="+mn-cs"/>
              </a:rPr>
              <a:t> is een ‘single </a:t>
            </a:r>
            <a:r>
              <a:rPr lang="nl-NL" sz="1200" kern="1200" dirty="0" err="1">
                <a:solidFill>
                  <a:schemeClr val="tx1"/>
                </a:solidFill>
                <a:effectLst/>
                <a:latin typeface="Arial" charset="0"/>
                <a:ea typeface="MS PGothic" panose="020B0600070205080204" pitchFamily="34" charset="-128"/>
                <a:cs typeface="+mn-cs"/>
              </a:rPr>
              <a:t>instance</a:t>
            </a:r>
            <a:r>
              <a:rPr lang="nl-NL" sz="1200" kern="1200" dirty="0">
                <a:solidFill>
                  <a:schemeClr val="tx1"/>
                </a:solidFill>
                <a:effectLst/>
                <a:latin typeface="Arial" charset="0"/>
                <a:ea typeface="MS PGothic" panose="020B0600070205080204" pitchFamily="34" charset="-128"/>
                <a:cs typeface="+mn-cs"/>
              </a:rPr>
              <a:t>’ van AD. Het </a:t>
            </a:r>
            <a:r>
              <a:rPr lang="nl-NL" sz="1200" kern="1200" dirty="0" err="1">
                <a:solidFill>
                  <a:schemeClr val="tx1"/>
                </a:solidFill>
                <a:effectLst/>
                <a:latin typeface="Arial" charset="0"/>
                <a:ea typeface="MS PGothic" panose="020B0600070205080204" pitchFamily="34" charset="-128"/>
                <a:cs typeface="+mn-cs"/>
              </a:rPr>
              <a:t>forest</a:t>
            </a:r>
            <a:r>
              <a:rPr lang="nl-NL" sz="1200" kern="1200" dirty="0">
                <a:solidFill>
                  <a:schemeClr val="tx1"/>
                </a:solidFill>
                <a:effectLst/>
                <a:latin typeface="Arial" charset="0"/>
                <a:ea typeface="MS PGothic" panose="020B0600070205080204" pitchFamily="34" charset="-128"/>
                <a:cs typeface="+mn-cs"/>
              </a:rPr>
              <a:t> kan uit 1 of meerdere domeinen bestaan. Een </a:t>
            </a:r>
            <a:r>
              <a:rPr lang="nl-NL" sz="1200" kern="1200" dirty="0" err="1">
                <a:solidFill>
                  <a:schemeClr val="tx1"/>
                </a:solidFill>
                <a:effectLst/>
                <a:latin typeface="Arial" charset="0"/>
                <a:ea typeface="MS PGothic" panose="020B0600070205080204" pitchFamily="34" charset="-128"/>
                <a:cs typeface="+mn-cs"/>
              </a:rPr>
              <a:t>forest</a:t>
            </a:r>
            <a:r>
              <a:rPr lang="nl-NL" sz="1200" kern="1200" dirty="0">
                <a:solidFill>
                  <a:schemeClr val="tx1"/>
                </a:solidFill>
                <a:effectLst/>
                <a:latin typeface="Arial" charset="0"/>
                <a:ea typeface="MS PGothic" panose="020B0600070205080204" pitchFamily="34" charset="-128"/>
                <a:cs typeface="+mn-cs"/>
              </a:rPr>
              <a:t> is een ‘security </a:t>
            </a:r>
            <a:r>
              <a:rPr lang="nl-NL" sz="1200" kern="1200" dirty="0" err="1">
                <a:solidFill>
                  <a:schemeClr val="tx1"/>
                </a:solidFill>
                <a:effectLst/>
                <a:latin typeface="Arial" charset="0"/>
                <a:ea typeface="MS PGothic" panose="020B0600070205080204" pitchFamily="34" charset="-128"/>
                <a:cs typeface="+mn-cs"/>
              </a:rPr>
              <a:t>boundary</a:t>
            </a:r>
            <a:r>
              <a:rPr lang="nl-NL" sz="1200" kern="1200" dirty="0">
                <a:solidFill>
                  <a:schemeClr val="tx1"/>
                </a:solidFill>
                <a:effectLst/>
                <a:latin typeface="Arial" charset="0"/>
                <a:ea typeface="MS PGothic" panose="020B0600070205080204" pitchFamily="34" charset="-128"/>
                <a:cs typeface="+mn-cs"/>
              </a:rPr>
              <a:t>’ voor gebruikers, groepen, objecten en computers. Een (domein)tree heeft een hoofddomein (</a:t>
            </a:r>
            <a:r>
              <a:rPr lang="nl-NL" sz="1200" kern="1200" dirty="0" err="1">
                <a:solidFill>
                  <a:schemeClr val="tx1"/>
                </a:solidFill>
                <a:effectLst/>
                <a:latin typeface="Arial" charset="0"/>
                <a:ea typeface="MS PGothic" panose="020B0600070205080204" pitchFamily="34" charset="-128"/>
                <a:cs typeface="+mn-cs"/>
              </a:rPr>
              <a:t>contiguous</a:t>
            </a:r>
            <a:r>
              <a:rPr lang="nl-NL" sz="1200" kern="1200" dirty="0">
                <a:solidFill>
                  <a:schemeClr val="tx1"/>
                </a:solidFill>
                <a:effectLst/>
                <a:latin typeface="Arial" charset="0"/>
                <a:ea typeface="MS PGothic" panose="020B0600070205080204" pitchFamily="34" charset="-128"/>
                <a:cs typeface="+mn-cs"/>
              </a:rPr>
              <a:t> </a:t>
            </a:r>
            <a:r>
              <a:rPr lang="nl-NL" sz="1200" kern="1200" dirty="0" err="1">
                <a:solidFill>
                  <a:schemeClr val="tx1"/>
                </a:solidFill>
                <a:effectLst/>
                <a:latin typeface="Arial" charset="0"/>
                <a:ea typeface="MS PGothic" panose="020B0600070205080204" pitchFamily="34" charset="-128"/>
                <a:cs typeface="+mn-cs"/>
              </a:rPr>
              <a:t>namespace</a:t>
            </a:r>
            <a:r>
              <a:rPr lang="nl-NL" sz="1200" kern="1200" dirty="0">
                <a:solidFill>
                  <a:schemeClr val="tx1"/>
                </a:solidFill>
                <a:effectLst/>
                <a:latin typeface="Arial" charset="0"/>
                <a:ea typeface="MS PGothic" panose="020B0600070205080204" pitchFamily="34" charset="-128"/>
                <a:cs typeface="+mn-cs"/>
              </a:rPr>
              <a:t>) en een gezamenlijk schema. Elke ‘boom’ kan meerdere takken (</a:t>
            </a:r>
            <a:r>
              <a:rPr lang="nl-NL" sz="1200" kern="1200" dirty="0" err="1">
                <a:solidFill>
                  <a:schemeClr val="tx1"/>
                </a:solidFill>
                <a:effectLst/>
                <a:latin typeface="Arial" charset="0"/>
                <a:ea typeface="MS PGothic" panose="020B0600070205080204" pitchFamily="34" charset="-128"/>
                <a:cs typeface="+mn-cs"/>
              </a:rPr>
              <a:t>subdomeinen</a:t>
            </a:r>
            <a:r>
              <a:rPr lang="nl-NL" sz="1200" kern="1200" dirty="0">
                <a:solidFill>
                  <a:schemeClr val="tx1"/>
                </a:solidFill>
                <a:effectLst/>
                <a:latin typeface="Arial" charset="0"/>
                <a:ea typeface="MS PGothic" panose="020B0600070205080204" pitchFamily="34" charset="-128"/>
                <a:cs typeface="+mn-cs"/>
              </a:rPr>
              <a:t>) hebben, elke tak heeft een eigen </a:t>
            </a:r>
            <a:r>
              <a:rPr lang="nl-NL" sz="1200" kern="1200" dirty="0" err="1">
                <a:solidFill>
                  <a:schemeClr val="tx1"/>
                </a:solidFill>
                <a:effectLst/>
                <a:latin typeface="Arial" charset="0"/>
                <a:ea typeface="MS PGothic" panose="020B0600070205080204" pitchFamily="34" charset="-128"/>
                <a:cs typeface="+mn-cs"/>
              </a:rPr>
              <a:t>subdomein</a:t>
            </a:r>
            <a:r>
              <a:rPr lang="nl-NL" sz="1200" kern="1200" dirty="0">
                <a:solidFill>
                  <a:schemeClr val="tx1"/>
                </a:solidFill>
                <a:effectLst/>
                <a:latin typeface="Arial" charset="0"/>
                <a:ea typeface="MS PGothic" panose="020B0600070205080204" pitchFamily="34" charset="-128"/>
                <a:cs typeface="+mn-cs"/>
              </a:rPr>
              <a:t> welke is afgeleid van het hoofddomein.</a:t>
            </a:r>
            <a:endParaRPr lang="en-US" sz="1200" kern="1200" baseline="0" dirty="0">
              <a:solidFill>
                <a:schemeClr val="tx1"/>
              </a:solidFill>
              <a:effectLst/>
              <a:latin typeface="Arial" charset="0"/>
              <a:ea typeface="MS PGothic" panose="020B0600070205080204" pitchFamily="34"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effectLst/>
                <a:latin typeface="Arial" charset="0"/>
                <a:ea typeface="MS PGothic" panose="020B0600070205080204" pitchFamily="34" charset="-128"/>
                <a:cs typeface="+mn-cs"/>
              </a:rPr>
              <a:t>Site: </a:t>
            </a:r>
            <a:r>
              <a:rPr lang="nl-NL" sz="1200" kern="1200" dirty="0">
                <a:solidFill>
                  <a:schemeClr val="tx1"/>
                </a:solidFill>
                <a:effectLst/>
                <a:latin typeface="Arial" charset="0"/>
                <a:ea typeface="MS PGothic" panose="020B0600070205080204" pitchFamily="34" charset="-128"/>
                <a:cs typeface="+mn-cs"/>
              </a:rPr>
              <a:t>een collectie van ‘well-</a:t>
            </a:r>
            <a:r>
              <a:rPr lang="nl-NL" sz="1200" kern="1200" dirty="0" err="1">
                <a:solidFill>
                  <a:schemeClr val="tx1"/>
                </a:solidFill>
                <a:effectLst/>
                <a:latin typeface="Arial" charset="0"/>
                <a:ea typeface="MS PGothic" panose="020B0600070205080204" pitchFamily="34" charset="-128"/>
                <a:cs typeface="+mn-cs"/>
              </a:rPr>
              <a:t>connected</a:t>
            </a:r>
            <a:r>
              <a:rPr lang="nl-NL" sz="1200" kern="1200" dirty="0">
                <a:solidFill>
                  <a:schemeClr val="tx1"/>
                </a:solidFill>
                <a:effectLst/>
                <a:latin typeface="Arial" charset="0"/>
                <a:ea typeface="MS PGothic" panose="020B0600070205080204" pitchFamily="34" charset="-128"/>
                <a:cs typeface="+mn-cs"/>
              </a:rPr>
              <a:t>’ subnets.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S PGothic" panose="020B0600070205080204" pitchFamily="34" charset="-128"/>
                <a:cs typeface="+mn-cs"/>
              </a:rPr>
              <a:t>Replication: </a:t>
            </a:r>
            <a:r>
              <a:rPr lang="nl-NL" sz="1200" kern="1200" dirty="0">
                <a:solidFill>
                  <a:schemeClr val="tx1"/>
                </a:solidFill>
                <a:effectLst/>
                <a:latin typeface="Arial" charset="0"/>
                <a:ea typeface="MS PGothic" panose="020B0600070205080204" pitchFamily="34" charset="-128"/>
                <a:cs typeface="+mn-cs"/>
              </a:rPr>
              <a:t>heeft in de context van een domein te maken met het repliceren van AD-objecten (gebruikers, wachtwoorden, printers,</a:t>
            </a:r>
            <a:r>
              <a:rPr lang="nl-NL" sz="1200" kern="1200" baseline="0" dirty="0">
                <a:solidFill>
                  <a:schemeClr val="tx1"/>
                </a:solidFill>
                <a:effectLst/>
                <a:latin typeface="Arial" charset="0"/>
                <a:ea typeface="MS PGothic" panose="020B0600070205080204" pitchFamily="34" charset="-128"/>
                <a:cs typeface="+mn-cs"/>
              </a:rPr>
              <a:t> </a:t>
            </a:r>
            <a:r>
              <a:rPr lang="nl-NL" sz="1200" kern="1200" dirty="0">
                <a:solidFill>
                  <a:schemeClr val="tx1"/>
                </a:solidFill>
                <a:effectLst/>
                <a:latin typeface="Arial" charset="0"/>
                <a:ea typeface="MS PGothic" panose="020B0600070205080204" pitchFamily="34" charset="-128"/>
                <a:cs typeface="+mn-cs"/>
              </a:rPr>
              <a:t>etc.) tussen meerdere </a:t>
            </a:r>
            <a:r>
              <a:rPr lang="nl-NL" sz="1200" kern="1200" dirty="0" err="1">
                <a:solidFill>
                  <a:schemeClr val="tx1"/>
                </a:solidFill>
                <a:effectLst/>
                <a:latin typeface="Arial" charset="0"/>
                <a:ea typeface="MS PGothic" panose="020B0600070205080204" pitchFamily="34" charset="-128"/>
                <a:cs typeface="+mn-cs"/>
              </a:rPr>
              <a:t>DC’s</a:t>
            </a:r>
            <a:endParaRPr lang="nl-NL" sz="1200" kern="1200" dirty="0">
              <a:solidFill>
                <a:schemeClr val="tx1"/>
              </a:solidFill>
              <a:effectLst/>
              <a:latin typeface="Arial" charset="0"/>
              <a:ea typeface="MS PGothic" panose="020B0600070205080204" pitchFamily="34"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S PGothic" panose="020B0600070205080204" pitchFamily="34" charset="-128"/>
                <a:cs typeface="+mn-cs"/>
              </a:rPr>
              <a:t>Global</a:t>
            </a:r>
            <a:r>
              <a:rPr lang="en-US" sz="1200" kern="1200" baseline="0" dirty="0">
                <a:solidFill>
                  <a:schemeClr val="tx1"/>
                </a:solidFill>
                <a:effectLst/>
                <a:latin typeface="Arial" charset="0"/>
                <a:ea typeface="MS PGothic" panose="020B0600070205080204" pitchFamily="34" charset="-128"/>
                <a:cs typeface="+mn-cs"/>
              </a:rPr>
              <a:t> Catalog (GC): </a:t>
            </a:r>
            <a:r>
              <a:rPr lang="nl-NL" sz="1200" kern="1200" dirty="0">
                <a:solidFill>
                  <a:schemeClr val="tx1"/>
                </a:solidFill>
                <a:effectLst/>
                <a:latin typeface="Arial" charset="0"/>
                <a:ea typeface="MS PGothic" panose="020B0600070205080204" pitchFamily="34" charset="-128"/>
                <a:cs typeface="+mn-cs"/>
              </a:rPr>
              <a:t>Een GC heeft een samenvatting van alle objecten in een domein en heeft beperkte informatie van objecten in een </a:t>
            </a:r>
            <a:r>
              <a:rPr lang="nl-NL" sz="1200" kern="1200" dirty="0" err="1">
                <a:solidFill>
                  <a:schemeClr val="tx1"/>
                </a:solidFill>
                <a:effectLst/>
                <a:latin typeface="Arial" charset="0"/>
                <a:ea typeface="MS PGothic" panose="020B0600070205080204" pitchFamily="34" charset="-128"/>
                <a:cs typeface="+mn-cs"/>
              </a:rPr>
              <a:t>forest</a:t>
            </a:r>
            <a:r>
              <a:rPr lang="nl-NL" sz="1200" kern="1200" dirty="0">
                <a:solidFill>
                  <a:schemeClr val="tx1"/>
                </a:solidFill>
                <a:effectLst/>
                <a:latin typeface="Arial" charset="0"/>
                <a:ea typeface="MS PGothic" panose="020B0600070205080204" pitchFamily="34" charset="-128"/>
                <a:cs typeface="+mn-cs"/>
              </a:rPr>
              <a:t>. Het doel van de GC is het verhogen van de prestaties.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S PGothic" panose="020B0600070205080204" pitchFamily="34" charset="-128"/>
                <a:cs typeface="+mn-cs"/>
              </a:rPr>
              <a:t>Trusts: </a:t>
            </a:r>
            <a:r>
              <a:rPr lang="en-US" sz="1200" kern="1200" dirty="0" err="1">
                <a:solidFill>
                  <a:schemeClr val="tx1"/>
                </a:solidFill>
                <a:effectLst/>
                <a:latin typeface="Arial" charset="0"/>
                <a:ea typeface="MS PGothic" panose="020B0600070205080204" pitchFamily="34" charset="-128"/>
                <a:cs typeface="+mn-cs"/>
              </a:rPr>
              <a:t>vertrouwensrelatie</a:t>
            </a:r>
            <a:r>
              <a:rPr lang="en-US" sz="1200" kern="1200" dirty="0">
                <a:solidFill>
                  <a:schemeClr val="tx1"/>
                </a:solidFill>
                <a:effectLst/>
                <a:latin typeface="Arial" charset="0"/>
                <a:ea typeface="MS PGothic" panose="020B0600070205080204" pitchFamily="34" charset="-128"/>
                <a:cs typeface="+mn-cs"/>
              </a:rPr>
              <a:t> </a:t>
            </a:r>
            <a:r>
              <a:rPr lang="en-US" sz="1200" kern="1200" dirty="0" err="1">
                <a:solidFill>
                  <a:schemeClr val="tx1"/>
                </a:solidFill>
                <a:effectLst/>
                <a:latin typeface="Arial" charset="0"/>
                <a:ea typeface="MS PGothic" panose="020B0600070205080204" pitchFamily="34" charset="-128"/>
                <a:cs typeface="+mn-cs"/>
              </a:rPr>
              <a:t>tussen</a:t>
            </a:r>
            <a:r>
              <a:rPr lang="en-US" sz="1200" kern="1200" dirty="0">
                <a:solidFill>
                  <a:schemeClr val="tx1"/>
                </a:solidFill>
                <a:effectLst/>
                <a:latin typeface="Arial" charset="0"/>
                <a:ea typeface="MS PGothic" panose="020B0600070205080204" pitchFamily="34" charset="-128"/>
                <a:cs typeface="+mn-cs"/>
              </a:rPr>
              <a:t> </a:t>
            </a:r>
            <a:r>
              <a:rPr lang="en-US" sz="1200" kern="1200" dirty="0" err="1">
                <a:solidFill>
                  <a:schemeClr val="tx1"/>
                </a:solidFill>
                <a:effectLst/>
                <a:latin typeface="Arial" charset="0"/>
                <a:ea typeface="MS PGothic" panose="020B0600070205080204" pitchFamily="34" charset="-128"/>
                <a:cs typeface="+mn-cs"/>
              </a:rPr>
              <a:t>verschillende</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domeinen</a:t>
            </a:r>
            <a:r>
              <a:rPr lang="en-US" sz="1200" kern="1200" baseline="0" dirty="0">
                <a:solidFill>
                  <a:schemeClr val="tx1"/>
                </a:solidFill>
                <a:effectLst/>
                <a:latin typeface="Arial" charset="0"/>
                <a:ea typeface="MS PGothic" panose="020B0600070205080204" pitchFamily="34" charset="-128"/>
                <a:cs typeface="+mn-cs"/>
              </a:rPr>
              <a:t>. De </a:t>
            </a:r>
            <a:r>
              <a:rPr lang="en-US" sz="1200" kern="1200" baseline="0" dirty="0" err="1">
                <a:solidFill>
                  <a:schemeClr val="tx1"/>
                </a:solidFill>
                <a:effectLst/>
                <a:latin typeface="Arial" charset="0"/>
                <a:ea typeface="MS PGothic" panose="020B0600070205080204" pitchFamily="34" charset="-128"/>
                <a:cs typeface="+mn-cs"/>
              </a:rPr>
              <a:t>relatie</a:t>
            </a:r>
            <a:r>
              <a:rPr lang="en-US" sz="1200" kern="1200" baseline="0" dirty="0">
                <a:solidFill>
                  <a:schemeClr val="tx1"/>
                </a:solidFill>
                <a:effectLst/>
                <a:latin typeface="Arial" charset="0"/>
                <a:ea typeface="MS PGothic" panose="020B0600070205080204" pitchFamily="34" charset="-128"/>
                <a:cs typeface="+mn-cs"/>
              </a:rPr>
              <a:t> is ‘</a:t>
            </a:r>
            <a:r>
              <a:rPr lang="en-US" sz="1200" kern="1200" baseline="0" dirty="0" err="1">
                <a:solidFill>
                  <a:schemeClr val="tx1"/>
                </a:solidFill>
                <a:effectLst/>
                <a:latin typeface="Arial" charset="0"/>
                <a:ea typeface="MS PGothic" panose="020B0600070205080204" pitchFamily="34" charset="-128"/>
                <a:cs typeface="+mn-cs"/>
              </a:rPr>
              <a:t>transitief</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dat</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wil</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zeggen</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als</a:t>
            </a:r>
            <a:r>
              <a:rPr lang="en-US" sz="1200" kern="1200" baseline="0" dirty="0">
                <a:solidFill>
                  <a:schemeClr val="tx1"/>
                </a:solidFill>
                <a:effectLst/>
                <a:latin typeface="Arial" charset="0"/>
                <a:ea typeface="MS PGothic" panose="020B0600070205080204" pitchFamily="34" charset="-128"/>
                <a:cs typeface="+mn-cs"/>
              </a:rPr>
              <a:t> A </a:t>
            </a:r>
            <a:r>
              <a:rPr lang="en-US" sz="1200" kern="1200" baseline="0" dirty="0" err="1">
                <a:solidFill>
                  <a:schemeClr val="tx1"/>
                </a:solidFill>
                <a:effectLst/>
                <a:latin typeface="Arial" charset="0"/>
                <a:ea typeface="MS PGothic" panose="020B0600070205080204" pitchFamily="34" charset="-128"/>
                <a:cs typeface="+mn-cs"/>
              </a:rPr>
              <a:t>een</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vertrouwensrelatie</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heeft</a:t>
            </a:r>
            <a:r>
              <a:rPr lang="en-US" sz="1200" kern="1200" baseline="0" dirty="0">
                <a:solidFill>
                  <a:schemeClr val="tx1"/>
                </a:solidFill>
                <a:effectLst/>
                <a:latin typeface="Arial" charset="0"/>
                <a:ea typeface="MS PGothic" panose="020B0600070205080204" pitchFamily="34" charset="-128"/>
                <a:cs typeface="+mn-cs"/>
              </a:rPr>
              <a:t> met B en B </a:t>
            </a:r>
            <a:r>
              <a:rPr lang="en-US" sz="1200" kern="1200" baseline="0" dirty="0" err="1">
                <a:solidFill>
                  <a:schemeClr val="tx1"/>
                </a:solidFill>
                <a:effectLst/>
                <a:latin typeface="Arial" charset="0"/>
                <a:ea typeface="MS PGothic" panose="020B0600070205080204" pitchFamily="34" charset="-128"/>
                <a:cs typeface="+mn-cs"/>
              </a:rPr>
              <a:t>een</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vertrouwensrelatie</a:t>
            </a:r>
            <a:r>
              <a:rPr lang="en-US" sz="1200" kern="1200" baseline="0" dirty="0">
                <a:solidFill>
                  <a:schemeClr val="tx1"/>
                </a:solidFill>
                <a:effectLst/>
                <a:latin typeface="Arial" charset="0"/>
                <a:ea typeface="MS PGothic" panose="020B0600070205080204" pitchFamily="34" charset="-128"/>
                <a:cs typeface="+mn-cs"/>
              </a:rPr>
              <a:t> met C, </a:t>
            </a:r>
            <a:r>
              <a:rPr lang="en-US" sz="1200" kern="1200" baseline="0" dirty="0" err="1">
                <a:solidFill>
                  <a:schemeClr val="tx1"/>
                </a:solidFill>
                <a:effectLst/>
                <a:latin typeface="Arial" charset="0"/>
                <a:ea typeface="MS PGothic" panose="020B0600070205080204" pitchFamily="34" charset="-128"/>
                <a:cs typeface="+mn-cs"/>
              </a:rPr>
              <a:t>dan</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hebben</a:t>
            </a:r>
            <a:r>
              <a:rPr lang="en-US" sz="1200" kern="1200" baseline="0" dirty="0">
                <a:solidFill>
                  <a:schemeClr val="tx1"/>
                </a:solidFill>
                <a:effectLst/>
                <a:latin typeface="Arial" charset="0"/>
                <a:ea typeface="MS PGothic" panose="020B0600070205080204" pitchFamily="34" charset="-128"/>
                <a:cs typeface="+mn-cs"/>
              </a:rPr>
              <a:t> A en C </a:t>
            </a:r>
            <a:r>
              <a:rPr lang="en-US" sz="1200" kern="1200" baseline="0" dirty="0" err="1">
                <a:solidFill>
                  <a:schemeClr val="tx1"/>
                </a:solidFill>
                <a:effectLst/>
                <a:latin typeface="Arial" charset="0"/>
                <a:ea typeface="MS PGothic" panose="020B0600070205080204" pitchFamily="34" charset="-128"/>
                <a:cs typeface="+mn-cs"/>
              </a:rPr>
              <a:t>ook</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een</a:t>
            </a:r>
            <a:r>
              <a:rPr lang="en-US" sz="1200" kern="1200" baseline="0" dirty="0">
                <a:solidFill>
                  <a:schemeClr val="tx1"/>
                </a:solidFill>
                <a:effectLst/>
                <a:latin typeface="Arial" charset="0"/>
                <a:ea typeface="MS PGothic" panose="020B0600070205080204" pitchFamily="34" charset="-128"/>
                <a:cs typeface="+mn-cs"/>
              </a:rPr>
              <a:t> </a:t>
            </a:r>
            <a:r>
              <a:rPr lang="en-US" sz="1200" kern="1200" baseline="0" dirty="0" err="1">
                <a:solidFill>
                  <a:schemeClr val="tx1"/>
                </a:solidFill>
                <a:effectLst/>
                <a:latin typeface="Arial" charset="0"/>
                <a:ea typeface="MS PGothic" panose="020B0600070205080204" pitchFamily="34" charset="-128"/>
                <a:cs typeface="+mn-cs"/>
              </a:rPr>
              <a:t>vertrouwensrelatie</a:t>
            </a:r>
            <a:r>
              <a:rPr lang="en-US" sz="1200" kern="1200" baseline="0" dirty="0">
                <a:solidFill>
                  <a:schemeClr val="tx1"/>
                </a:solidFill>
                <a:effectLst/>
                <a:latin typeface="Arial" charset="0"/>
                <a:ea typeface="MS PGothic" panose="020B0600070205080204" pitchFamily="34" charset="-128"/>
                <a:cs typeface="+mn-cs"/>
              </a:rPr>
              <a:t>.</a:t>
            </a:r>
            <a:endParaRPr lang="nl-NL" sz="1200" kern="1200" dirty="0">
              <a:solidFill>
                <a:schemeClr val="tx1"/>
              </a:solidFill>
              <a:effectLst/>
              <a:latin typeface="Arial" charset="0"/>
              <a:ea typeface="MS PGothic" panose="020B0600070205080204" pitchFamily="34"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Arial" charset="0"/>
              <a:ea typeface="MS PGothic" panose="020B0600070205080204" pitchFamily="34"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baseline="0" dirty="0" err="1"/>
              <a:t>Bronvermelding</a:t>
            </a:r>
            <a:r>
              <a:rPr lang="en-GB" baseline="0" dirty="0"/>
              <a:t> </a:t>
            </a:r>
            <a:r>
              <a:rPr lang="en-GB" baseline="0" dirty="0" err="1"/>
              <a:t>illustraties</a:t>
            </a:r>
            <a:r>
              <a:rPr lang="en-GB" baseline="0" dirty="0"/>
              <a:t>: </a:t>
            </a:r>
            <a:r>
              <a:rPr lang="en-GB" baseline="0" dirty="0" err="1"/>
              <a:t>linksboven</a:t>
            </a:r>
            <a:r>
              <a:rPr lang="en-GB" baseline="0" dirty="0"/>
              <a:t>, </a:t>
            </a:r>
            <a:r>
              <a:rPr lang="en-GB" baseline="0" dirty="0" err="1"/>
              <a:t>overgenomen</a:t>
            </a:r>
            <a:r>
              <a:rPr lang="en-GB" baseline="0" dirty="0"/>
              <a:t> van https://nl.depositphotos.com/12349746/stockafbeelding-3d-vergadering-van-de-werkgroep.html </a:t>
            </a:r>
            <a:r>
              <a:rPr lang="en-GB" baseline="0" dirty="0" err="1"/>
              <a:t>binnen</a:t>
            </a:r>
            <a:r>
              <a:rPr lang="en-GB" baseline="0" dirty="0"/>
              <a:t> fair use; </a:t>
            </a:r>
            <a:r>
              <a:rPr lang="en-GB" baseline="0" dirty="0" err="1"/>
              <a:t>daaronder</a:t>
            </a:r>
            <a:r>
              <a:rPr lang="en-GB" baseline="0" dirty="0"/>
              <a:t>, </a:t>
            </a:r>
            <a:r>
              <a:rPr lang="en-GB" baseline="0" dirty="0" err="1"/>
              <a:t>overgenomen</a:t>
            </a:r>
            <a:r>
              <a:rPr lang="en-GB" baseline="0" dirty="0"/>
              <a:t> van https://www.microsoft.com/en-us/p/group-policy-search/9nblggh08wvs </a:t>
            </a:r>
            <a:r>
              <a:rPr lang="en-GB" baseline="0" dirty="0" err="1"/>
              <a:t>binnen</a:t>
            </a:r>
            <a:r>
              <a:rPr lang="en-GB" baseline="0" dirty="0"/>
              <a:t> fair use; </a:t>
            </a:r>
            <a:r>
              <a:rPr lang="en-GB" baseline="0" dirty="0" err="1"/>
              <a:t>rechtsboven</a:t>
            </a:r>
            <a:r>
              <a:rPr lang="en-GB" baseline="0" dirty="0"/>
              <a:t>, </a:t>
            </a:r>
            <a:r>
              <a:rPr lang="en-GB" baseline="0" dirty="0" err="1"/>
              <a:t>overgenomen</a:t>
            </a:r>
            <a:r>
              <a:rPr lang="en-GB" baseline="0" dirty="0"/>
              <a:t> van https://www.usetheweb.ch/windows-server-2012-at-a-glance-part-1/ </a:t>
            </a:r>
            <a:r>
              <a:rPr lang="en-GB" baseline="0" dirty="0" err="1"/>
              <a:t>onder</a:t>
            </a:r>
            <a:r>
              <a:rPr lang="en-GB" baseline="0" dirty="0"/>
              <a:t> fair use; </a:t>
            </a:r>
            <a:r>
              <a:rPr lang="en-GB" baseline="0" dirty="0" err="1"/>
              <a:t>midden</a:t>
            </a:r>
            <a:r>
              <a:rPr lang="en-GB" baseline="0" dirty="0"/>
              <a:t>, </a:t>
            </a:r>
            <a:r>
              <a:rPr lang="en-GB" baseline="0" dirty="0" err="1"/>
              <a:t>bron</a:t>
            </a:r>
            <a:r>
              <a:rPr lang="en-GB" baseline="0" dirty="0"/>
              <a:t> </a:t>
            </a:r>
            <a:r>
              <a:rPr lang="en-GB" baseline="0" dirty="0" err="1"/>
              <a:t>onbekend</a:t>
            </a:r>
            <a:r>
              <a:rPr lang="en-GB" baseline="0" dirty="0"/>
              <a:t>; </a:t>
            </a:r>
            <a:r>
              <a:rPr lang="en-GB" baseline="0" dirty="0" err="1"/>
              <a:t>onder</a:t>
            </a:r>
            <a:r>
              <a:rPr lang="en-GB" baseline="0" dirty="0"/>
              <a:t>, </a:t>
            </a:r>
            <a:r>
              <a:rPr lang="en-GB" baseline="0" dirty="0" err="1"/>
              <a:t>overgenomen</a:t>
            </a:r>
            <a:r>
              <a:rPr lang="en-GB" baseline="0" dirty="0"/>
              <a:t> van https://www.conceptdraw.com/How-To-Guide/active-directory-diagram </a:t>
            </a:r>
            <a:r>
              <a:rPr lang="en-GB" baseline="0" dirty="0" err="1"/>
              <a:t>onder</a:t>
            </a:r>
            <a:r>
              <a:rPr lang="en-GB" baseline="0" dirty="0"/>
              <a:t> fair use;</a:t>
            </a:r>
            <a:endParaRPr lang="nl-NL" sz="1200" kern="1200" dirty="0">
              <a:solidFill>
                <a:schemeClr val="tx1"/>
              </a:solidFill>
              <a:effectLst/>
              <a:latin typeface="Arial" charset="0"/>
              <a:ea typeface="MS PGothic" panose="020B0600070205080204" pitchFamily="34" charset="-128"/>
              <a:cs typeface="+mn-cs"/>
            </a:endParaRPr>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4</a:t>
            </a:fld>
            <a:endParaRPr lang="en-US" altLang="nl-NL"/>
          </a:p>
        </p:txBody>
      </p:sp>
    </p:spTree>
    <p:extLst>
      <p:ext uri="{BB962C8B-B14F-4D97-AF65-F5344CB8AC3E}">
        <p14:creationId xmlns:p14="http://schemas.microsoft.com/office/powerpoint/2010/main" val="231878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Bronvermelding</a:t>
            </a:r>
            <a:r>
              <a:rPr lang="en-GB" baseline="0" dirty="0"/>
              <a:t> </a:t>
            </a:r>
            <a:r>
              <a:rPr lang="en-GB" baseline="0" dirty="0" err="1"/>
              <a:t>illustraties</a:t>
            </a:r>
            <a:r>
              <a:rPr lang="en-GB" baseline="0" dirty="0"/>
              <a:t>: </a:t>
            </a:r>
            <a:r>
              <a:rPr lang="en-GB" baseline="0" dirty="0" err="1"/>
              <a:t>eigen</a:t>
            </a:r>
            <a:r>
              <a:rPr lang="en-GB" baseline="0" dirty="0"/>
              <a:t> </a:t>
            </a:r>
            <a:r>
              <a:rPr lang="en-GB" baseline="0" dirty="0" err="1"/>
              <a:t>werk</a:t>
            </a:r>
            <a:r>
              <a:rPr lang="en-GB" baseline="0" dirty="0"/>
              <a:t> (screenshots)</a:t>
            </a:r>
          </a:p>
          <a:p>
            <a:endParaRPr lang="en-GB" baseline="0" dirty="0"/>
          </a:p>
          <a:p>
            <a:r>
              <a:rPr lang="en-GB" baseline="0" dirty="0"/>
              <a:t>DSRM: Directory Services Restore Mode, </a:t>
            </a:r>
            <a:r>
              <a:rPr lang="en-GB" baseline="0" dirty="0" err="1"/>
              <a:t>een</a:t>
            </a:r>
            <a:r>
              <a:rPr lang="en-GB" baseline="0" dirty="0"/>
              <a:t> </a:t>
            </a:r>
            <a:r>
              <a:rPr lang="en-GB" baseline="0" dirty="0" err="1"/>
              <a:t>speciale</a:t>
            </a:r>
            <a:r>
              <a:rPr lang="en-GB" baseline="0" dirty="0"/>
              <a:t> modus </a:t>
            </a:r>
            <a:r>
              <a:rPr lang="en-GB" baseline="0" dirty="0" err="1"/>
              <a:t>waarin</a:t>
            </a:r>
            <a:r>
              <a:rPr lang="en-GB" baseline="0" dirty="0"/>
              <a:t> </a:t>
            </a:r>
            <a:r>
              <a:rPr lang="en-GB" baseline="0" dirty="0" err="1"/>
              <a:t>een</a:t>
            </a:r>
            <a:r>
              <a:rPr lang="en-GB" baseline="0" dirty="0"/>
              <a:t> DC </a:t>
            </a:r>
            <a:r>
              <a:rPr lang="en-GB" baseline="0" dirty="0" err="1"/>
              <a:t>gestart</a:t>
            </a:r>
            <a:r>
              <a:rPr lang="en-GB" baseline="0" dirty="0"/>
              <a:t> </a:t>
            </a:r>
            <a:r>
              <a:rPr lang="en-GB" baseline="0" dirty="0" err="1"/>
              <a:t>kan</a:t>
            </a:r>
            <a:r>
              <a:rPr lang="en-GB" baseline="0" dirty="0"/>
              <a:t> </a:t>
            </a:r>
            <a:r>
              <a:rPr lang="en-GB" baseline="0" dirty="0" err="1"/>
              <a:t>worden</a:t>
            </a:r>
            <a:r>
              <a:rPr lang="en-GB" baseline="0" dirty="0"/>
              <a:t> om AD data </a:t>
            </a:r>
            <a:r>
              <a:rPr lang="en-GB" baseline="0" dirty="0" err="1"/>
              <a:t>te</a:t>
            </a:r>
            <a:r>
              <a:rPr lang="en-GB" baseline="0" dirty="0"/>
              <a:t> </a:t>
            </a:r>
            <a:r>
              <a:rPr lang="en-GB" baseline="0" dirty="0" err="1"/>
              <a:t>restoren</a:t>
            </a:r>
            <a:r>
              <a:rPr lang="en-GB" baseline="0" dirty="0"/>
              <a:t>.</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5</a:t>
            </a:fld>
            <a:endParaRPr lang="en-US" altLang="nl-NL"/>
          </a:p>
        </p:txBody>
      </p:sp>
    </p:spTree>
    <p:extLst>
      <p:ext uri="{BB962C8B-B14F-4D97-AF65-F5344CB8AC3E}">
        <p14:creationId xmlns:p14="http://schemas.microsoft.com/office/powerpoint/2010/main" val="301710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Disaster recovery: het </a:t>
            </a:r>
            <a:r>
              <a:rPr lang="en-GB" baseline="0" dirty="0" err="1"/>
              <a:t>uit</a:t>
            </a:r>
            <a:r>
              <a:rPr lang="en-GB" baseline="0" dirty="0"/>
              <a:t> AD </a:t>
            </a:r>
            <a:r>
              <a:rPr lang="en-GB" baseline="0" dirty="0" err="1"/>
              <a:t>terug</a:t>
            </a:r>
            <a:r>
              <a:rPr lang="en-GB" baseline="0" dirty="0"/>
              <a:t> </a:t>
            </a:r>
            <a:r>
              <a:rPr lang="en-GB" baseline="0" dirty="0" err="1"/>
              <a:t>proberen</a:t>
            </a:r>
            <a:r>
              <a:rPr lang="en-GB" baseline="0" dirty="0"/>
              <a:t> </a:t>
            </a:r>
            <a:r>
              <a:rPr lang="en-GB" baseline="0" dirty="0" err="1"/>
              <a:t>te</a:t>
            </a:r>
            <a:r>
              <a:rPr lang="en-GB" baseline="0" dirty="0"/>
              <a:t> </a:t>
            </a:r>
            <a:r>
              <a:rPr lang="en-GB" baseline="0" dirty="0" err="1"/>
              <a:t>krijgen</a:t>
            </a:r>
            <a:r>
              <a:rPr lang="en-GB" baseline="0" dirty="0"/>
              <a:t> van </a:t>
            </a:r>
            <a:r>
              <a:rPr lang="en-GB" baseline="0" dirty="0" err="1"/>
              <a:t>gegevens</a:t>
            </a:r>
            <a:r>
              <a:rPr lang="en-GB" baseline="0" dirty="0"/>
              <a:t> </a:t>
            </a:r>
            <a:r>
              <a:rPr lang="en-GB" baseline="0" dirty="0" err="1"/>
              <a:t>nadat</a:t>
            </a:r>
            <a:r>
              <a:rPr lang="en-GB" baseline="0" dirty="0"/>
              <a:t> </a:t>
            </a:r>
            <a:r>
              <a:rPr lang="en-GB" baseline="0" dirty="0" err="1"/>
              <a:t>er</a:t>
            </a:r>
            <a:r>
              <a:rPr lang="en-GB" baseline="0" dirty="0"/>
              <a:t> </a:t>
            </a:r>
            <a:r>
              <a:rPr lang="en-GB" baseline="0" dirty="0" err="1"/>
              <a:t>iets</a:t>
            </a:r>
            <a:r>
              <a:rPr lang="en-GB" baseline="0" dirty="0"/>
              <a:t> </a:t>
            </a:r>
            <a:r>
              <a:rPr lang="en-GB" baseline="0" dirty="0" err="1"/>
              <a:t>serieus</a:t>
            </a:r>
            <a:r>
              <a:rPr lang="en-GB" baseline="0" dirty="0"/>
              <a:t> </a:t>
            </a:r>
            <a:r>
              <a:rPr lang="en-GB" baseline="0" dirty="0" err="1"/>
              <a:t>mis</a:t>
            </a:r>
            <a:r>
              <a:rPr lang="en-GB" baseline="0" dirty="0"/>
              <a:t> is </a:t>
            </a:r>
            <a:r>
              <a:rPr lang="en-GB" baseline="0" dirty="0" err="1"/>
              <a:t>gegaan</a:t>
            </a:r>
            <a:r>
              <a:rPr lang="en-GB" baseline="0" dirty="0"/>
              <a:t>. De </a:t>
            </a:r>
            <a:r>
              <a:rPr lang="en-GB" baseline="0" dirty="0" err="1"/>
              <a:t>kans</a:t>
            </a:r>
            <a:r>
              <a:rPr lang="en-GB" baseline="0" dirty="0"/>
              <a:t> </a:t>
            </a:r>
            <a:r>
              <a:rPr lang="en-GB" baseline="0" dirty="0" err="1"/>
              <a:t>dat</a:t>
            </a:r>
            <a:r>
              <a:rPr lang="en-GB" baseline="0" dirty="0"/>
              <a:t> </a:t>
            </a:r>
            <a:r>
              <a:rPr lang="en-GB" baseline="0" dirty="0" err="1"/>
              <a:t>dit</a:t>
            </a:r>
            <a:r>
              <a:rPr lang="en-GB" baseline="0" dirty="0"/>
              <a:t> </a:t>
            </a:r>
            <a:r>
              <a:rPr lang="en-GB" baseline="0" dirty="0" err="1"/>
              <a:t>lukt</a:t>
            </a:r>
            <a:r>
              <a:rPr lang="en-GB" baseline="0" dirty="0"/>
              <a:t> is met </a:t>
            </a:r>
            <a:r>
              <a:rPr lang="en-GB" baseline="0" dirty="0" err="1"/>
              <a:t>een</a:t>
            </a:r>
            <a:r>
              <a:rPr lang="en-GB" baseline="0" dirty="0"/>
              <a:t> </a:t>
            </a:r>
            <a:r>
              <a:rPr lang="en-GB" baseline="0" dirty="0" err="1"/>
              <a:t>domein</a:t>
            </a:r>
            <a:r>
              <a:rPr lang="en-GB" baseline="0" dirty="0"/>
              <a:t> </a:t>
            </a:r>
            <a:r>
              <a:rPr lang="en-GB" baseline="0" dirty="0" err="1"/>
              <a:t>veel</a:t>
            </a:r>
            <a:r>
              <a:rPr lang="en-GB" baseline="0" dirty="0"/>
              <a:t> </a:t>
            </a:r>
            <a:r>
              <a:rPr lang="en-GB" baseline="0" dirty="0" err="1"/>
              <a:t>groter</a:t>
            </a:r>
            <a:r>
              <a:rPr lang="en-GB" baseline="0" dirty="0"/>
              <a:t> </a:t>
            </a:r>
            <a:r>
              <a:rPr lang="en-GB" baseline="0" dirty="0" err="1"/>
              <a:t>dan</a:t>
            </a:r>
            <a:r>
              <a:rPr lang="en-GB" baseline="0" dirty="0"/>
              <a:t> met </a:t>
            </a:r>
            <a:r>
              <a:rPr lang="en-GB" baseline="0" dirty="0" err="1"/>
              <a:t>een</a:t>
            </a:r>
            <a:r>
              <a:rPr lang="en-GB" baseline="0" dirty="0"/>
              <a:t> workgroup.</a:t>
            </a:r>
          </a:p>
          <a:p>
            <a:endParaRPr lang="en-GB" baseline="0" dirty="0"/>
          </a:p>
          <a:p>
            <a:r>
              <a:rPr lang="en-GB" baseline="0" dirty="0" err="1"/>
              <a:t>Bronvermelding</a:t>
            </a:r>
            <a:r>
              <a:rPr lang="en-GB" baseline="0" dirty="0"/>
              <a:t> </a:t>
            </a:r>
            <a:r>
              <a:rPr lang="en-GB" baseline="0" dirty="0" err="1"/>
              <a:t>illustraties</a:t>
            </a:r>
            <a:r>
              <a:rPr lang="en-GB" baseline="0" dirty="0"/>
              <a:t>: Microsoft </a:t>
            </a:r>
            <a:r>
              <a:rPr lang="en-GB" baseline="0" dirty="0" err="1"/>
              <a:t>cursusmaterialen</a:t>
            </a:r>
            <a:r>
              <a:rPr lang="en-GB" baseline="0" dirty="0"/>
              <a:t> (HU </a:t>
            </a:r>
            <a:r>
              <a:rPr lang="en-GB" baseline="0" dirty="0" err="1"/>
              <a:t>medewerker</a:t>
            </a:r>
            <a:r>
              <a:rPr lang="en-GB" baseline="0" dirty="0"/>
              <a:t> met Instructor status)</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6</a:t>
            </a:fld>
            <a:endParaRPr lang="en-US" altLang="nl-NL"/>
          </a:p>
        </p:txBody>
      </p:sp>
    </p:spTree>
    <p:extLst>
      <p:ext uri="{BB962C8B-B14F-4D97-AF65-F5344CB8AC3E}">
        <p14:creationId xmlns:p14="http://schemas.microsoft.com/office/powerpoint/2010/main" val="3323910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MS PGothic" pitchFamily="34" charset="-128"/>
              </a:defRPr>
            </a:lvl1pPr>
            <a:lvl2pPr marL="742950" indent="-285750">
              <a:defRPr sz="1400">
                <a:solidFill>
                  <a:schemeClr val="tx1"/>
                </a:solidFill>
                <a:latin typeface="Arial" panose="020B0604020202020204" pitchFamily="34" charset="0"/>
                <a:ea typeface="MS PGothic" pitchFamily="34" charset="-128"/>
              </a:defRPr>
            </a:lvl2pPr>
            <a:lvl3pPr marL="1143000" indent="-228600">
              <a:defRPr sz="1400">
                <a:solidFill>
                  <a:schemeClr val="tx1"/>
                </a:solidFill>
                <a:latin typeface="Arial" panose="020B0604020202020204" pitchFamily="34" charset="0"/>
                <a:ea typeface="MS PGothic" pitchFamily="34" charset="-128"/>
              </a:defRPr>
            </a:lvl3pPr>
            <a:lvl4pPr marL="1600200" indent="-228600">
              <a:defRPr sz="1400">
                <a:solidFill>
                  <a:schemeClr val="tx1"/>
                </a:solidFill>
                <a:latin typeface="Arial" panose="020B0604020202020204" pitchFamily="34" charset="0"/>
                <a:ea typeface="MS PGothic" pitchFamily="34" charset="-128"/>
              </a:defRPr>
            </a:lvl4pPr>
            <a:lvl5pPr marL="2057400" indent="-228600">
              <a:defRPr sz="1400">
                <a:solidFill>
                  <a:schemeClr val="tx1"/>
                </a:solidFill>
                <a:latin typeface="Arial" panose="020B0604020202020204" pitchFamily="34" charset="0"/>
                <a:ea typeface="MS PGothic"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9pPr>
          </a:lstStyle>
          <a:p>
            <a:r>
              <a:rPr lang="en-US" altLang="en-US" sz="1200"/>
              <a:t>Module 2: Introduction to Active Directory® Domain Services</a:t>
            </a:r>
          </a:p>
        </p:txBody>
      </p:sp>
      <p:sp>
        <p:nvSpPr>
          <p:cNvPr id="1843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MS PGothic" pitchFamily="34" charset="-128"/>
              </a:defRPr>
            </a:lvl1pPr>
            <a:lvl2pPr marL="742950" indent="-285750">
              <a:defRPr sz="1400">
                <a:solidFill>
                  <a:schemeClr val="tx1"/>
                </a:solidFill>
                <a:latin typeface="Arial" panose="020B0604020202020204" pitchFamily="34" charset="0"/>
                <a:ea typeface="MS PGothic" pitchFamily="34" charset="-128"/>
              </a:defRPr>
            </a:lvl2pPr>
            <a:lvl3pPr marL="1143000" indent="-228600">
              <a:defRPr sz="1400">
                <a:solidFill>
                  <a:schemeClr val="tx1"/>
                </a:solidFill>
                <a:latin typeface="Arial" panose="020B0604020202020204" pitchFamily="34" charset="0"/>
                <a:ea typeface="MS PGothic" pitchFamily="34" charset="-128"/>
              </a:defRPr>
            </a:lvl3pPr>
            <a:lvl4pPr marL="1600200" indent="-228600">
              <a:defRPr sz="1400">
                <a:solidFill>
                  <a:schemeClr val="tx1"/>
                </a:solidFill>
                <a:latin typeface="Arial" panose="020B0604020202020204" pitchFamily="34" charset="0"/>
                <a:ea typeface="MS PGothic" pitchFamily="34" charset="-128"/>
              </a:defRPr>
            </a:lvl4pPr>
            <a:lvl5pPr marL="2057400" indent="-228600">
              <a:defRPr sz="1400">
                <a:solidFill>
                  <a:schemeClr val="tx1"/>
                </a:solidFill>
                <a:latin typeface="Arial" panose="020B0604020202020204" pitchFamily="34" charset="0"/>
                <a:ea typeface="MS PGothic"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9pPr>
          </a:lstStyle>
          <a:p>
            <a:r>
              <a:rPr lang="en-US" altLang="en-US" sz="1200"/>
              <a:t>Course 6424A</a:t>
            </a:r>
          </a:p>
        </p:txBody>
      </p:sp>
      <p:sp>
        <p:nvSpPr>
          <p:cNvPr id="1843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itchFamily="34" charset="-128"/>
              </a:defRPr>
            </a:lvl1pPr>
            <a:lvl2pPr marL="742950" indent="-285750">
              <a:spcBef>
                <a:spcPct val="30000"/>
              </a:spcBef>
              <a:defRPr sz="1200">
                <a:solidFill>
                  <a:schemeClr val="tx1"/>
                </a:solidFill>
                <a:latin typeface="Arial" panose="020B0604020202020204" pitchFamily="34" charset="0"/>
                <a:ea typeface="MS PGothic" pitchFamily="34" charset="-128"/>
              </a:defRPr>
            </a:lvl2pPr>
            <a:lvl3pPr marL="1143000" indent="-228600">
              <a:spcBef>
                <a:spcPct val="30000"/>
              </a:spcBef>
              <a:defRPr sz="1200">
                <a:solidFill>
                  <a:schemeClr val="tx1"/>
                </a:solidFill>
                <a:latin typeface="Arial" panose="020B0604020202020204" pitchFamily="34" charset="0"/>
                <a:ea typeface="MS PGothic" pitchFamily="34" charset="-128"/>
              </a:defRPr>
            </a:lvl3pPr>
            <a:lvl4pPr marL="1600200" indent="-228600">
              <a:spcBef>
                <a:spcPct val="30000"/>
              </a:spcBef>
              <a:defRPr sz="1200">
                <a:solidFill>
                  <a:schemeClr val="tx1"/>
                </a:solidFill>
                <a:latin typeface="Arial" panose="020B0604020202020204" pitchFamily="34" charset="0"/>
                <a:ea typeface="MS PGothic" pitchFamily="34" charset="-128"/>
              </a:defRPr>
            </a:lvl4pPr>
            <a:lvl5pPr marL="2057400" indent="-228600">
              <a:spcBef>
                <a:spcPct val="30000"/>
              </a:spcBef>
              <a:defRPr sz="1200">
                <a:solidFill>
                  <a:schemeClr val="tx1"/>
                </a:solidFill>
                <a:latin typeface="Arial" panose="020B0604020202020204" pitchFamily="34" charset="0"/>
                <a:ea typeface="MS PGothic"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9pPr>
          </a:lstStyle>
          <a:p>
            <a:pPr>
              <a:spcBef>
                <a:spcPct val="0"/>
              </a:spcBef>
            </a:pPr>
            <a:fld id="{90CCDCA7-131D-49CE-8F4F-E936ECDF2674}" type="slidenum">
              <a:rPr lang="en-US" altLang="en-US" smtClean="0">
                <a:latin typeface="Calibri" panose="020F0502020204030204" pitchFamily="34" charset="0"/>
                <a:cs typeface="Arial" panose="020B0604020202020204" pitchFamily="34" charset="0"/>
              </a:rPr>
              <a:pPr>
                <a:spcBef>
                  <a:spcPct val="0"/>
                </a:spcBef>
              </a:pPr>
              <a:t>7</a:t>
            </a:fld>
            <a:endParaRPr lang="en-US" altLang="en-US">
              <a:latin typeface="Calibri" panose="020F0502020204030204" pitchFamily="34" charset="0"/>
              <a:cs typeface="Arial" panose="020B0604020202020204" pitchFamily="34" charset="0"/>
            </a:endParaRPr>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xfrm>
            <a:off x="307975" y="2193925"/>
            <a:ext cx="6149975" cy="6686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a:latin typeface="Arial" panose="020B0604020202020204" pitchFamily="34" charset="0"/>
              </a:rPr>
              <a:t>Consider using a passport as an analogy for authentication. It is a means by which a user can verify they are who they say they are.</a:t>
            </a:r>
          </a:p>
          <a:p>
            <a:pPr eaLnBrk="1" hangingPunct="1">
              <a:spcBef>
                <a:spcPct val="0"/>
              </a:spcBef>
            </a:pPr>
            <a:r>
              <a:rPr lang="en-US" altLang="en-US" dirty="0">
                <a:latin typeface="Arial" panose="020B0604020202020204" pitchFamily="34" charset="0"/>
              </a:rPr>
              <a:t>The most common way for users to authenticate is by providing a user name and password. However, some computer systems also support authentication based on smart cards, one-time passwords, or biometric information, such as fingerprint scans.</a:t>
            </a:r>
            <a:endParaRPr lang="en-US" altLang="en-US" b="1" dirty="0">
              <a:latin typeface="Arial" panose="020B0604020202020204" pitchFamily="34" charset="0"/>
            </a:endParaRPr>
          </a:p>
          <a:p>
            <a:pPr eaLnBrk="1" hangingPunct="1">
              <a:spcBef>
                <a:spcPct val="0"/>
              </a:spcBef>
            </a:pPr>
            <a:endParaRPr lang="en-US" altLang="en-US" b="1" dirty="0">
              <a:latin typeface="Arial" panose="020B0604020202020204" pitchFamily="34" charset="0"/>
            </a:endParaRPr>
          </a:p>
          <a:p>
            <a:pPr eaLnBrk="1" hangingPunct="1">
              <a:spcBef>
                <a:spcPct val="0"/>
              </a:spcBef>
            </a:pPr>
            <a:r>
              <a:rPr lang="en-US" altLang="en-US" b="1" dirty="0">
                <a:latin typeface="Arial" panose="020B0604020202020204" pitchFamily="34" charset="0"/>
              </a:rPr>
              <a:t>References</a:t>
            </a:r>
            <a:endParaRPr lang="en-US" altLang="en-US" dirty="0">
              <a:latin typeface="Arial" panose="020B0604020202020204" pitchFamily="34" charset="0"/>
            </a:endParaRPr>
          </a:p>
          <a:p>
            <a:pPr eaLnBrk="1" hangingPunct="1">
              <a:spcBef>
                <a:spcPct val="0"/>
              </a:spcBef>
            </a:pPr>
            <a:endParaRPr lang="en-US" altLang="en-US" dirty="0">
              <a:latin typeface="Arial" panose="020B0604020202020204" pitchFamily="34" charset="0"/>
            </a:endParaRPr>
          </a:p>
          <a:p>
            <a:pPr eaLnBrk="1" hangingPunct="1">
              <a:spcBef>
                <a:spcPct val="0"/>
              </a:spcBef>
            </a:pPr>
            <a:r>
              <a:rPr lang="nl-NL" altLang="en-US" dirty="0">
                <a:latin typeface="Arial" panose="020B0604020202020204" pitchFamily="34" charset="0"/>
              </a:rPr>
              <a:t>Windows </a:t>
            </a:r>
            <a:r>
              <a:rPr lang="nl-NL" altLang="en-US" dirty="0" err="1">
                <a:latin typeface="Arial" panose="020B0604020202020204" pitchFamily="34" charset="0"/>
              </a:rPr>
              <a:t>Authentication</a:t>
            </a:r>
            <a:r>
              <a:rPr lang="nl-NL" altLang="en-US" dirty="0">
                <a:latin typeface="Arial" panose="020B0604020202020204" pitchFamily="34" charset="0"/>
              </a:rPr>
              <a:t>:</a:t>
            </a:r>
            <a:endParaRPr lang="en-US" altLang="en-US" dirty="0">
              <a:latin typeface="Arial" panose="020B0604020202020204" pitchFamily="34" charset="0"/>
            </a:endParaRPr>
          </a:p>
          <a:p>
            <a:pPr eaLnBrk="1" hangingPunct="1">
              <a:spcBef>
                <a:spcPct val="0"/>
              </a:spcBef>
            </a:pPr>
            <a:r>
              <a:rPr lang="nl-NL" altLang="en-US" dirty="0">
                <a:latin typeface="Arial" panose="020B0604020202020204" pitchFamily="34" charset="0"/>
              </a:rPr>
              <a:t>http://technet.microsoft.com/en-us/library/cc755284(WS.10).aspx</a:t>
            </a:r>
          </a:p>
          <a:p>
            <a:pPr eaLnBrk="1" hangingPunct="1">
              <a:spcBef>
                <a:spcPct val="0"/>
              </a:spcBef>
            </a:pPr>
            <a:endParaRPr lang="en-US" altLang="en-US" dirty="0">
              <a:latin typeface="Arial" panose="020B0604020202020204" pitchFamily="34" charset="0"/>
            </a:endParaRPr>
          </a:p>
          <a:p>
            <a:pPr eaLnBrk="1" hangingPunct="1">
              <a:spcBef>
                <a:spcPct val="0"/>
              </a:spcBef>
            </a:pPr>
            <a:r>
              <a:rPr lang="en-US" altLang="en-US" dirty="0">
                <a:latin typeface="Arial" panose="020B0604020202020204" pitchFamily="34" charset="0"/>
              </a:rPr>
              <a:t>What's New for Identity Management in Windows Server 2008:</a:t>
            </a:r>
          </a:p>
          <a:p>
            <a:pPr eaLnBrk="1" hangingPunct="1">
              <a:spcBef>
                <a:spcPct val="0"/>
              </a:spcBef>
            </a:pPr>
            <a:r>
              <a:rPr lang="en-US" altLang="en-US" dirty="0">
                <a:latin typeface="Arial" panose="020B0604020202020204" pitchFamily="34" charset="0"/>
              </a:rPr>
              <a:t>http://technet.microsoft.com/en-us/library/cc772438(WS.10).aspx</a:t>
            </a:r>
          </a:p>
          <a:p>
            <a:pPr eaLnBrk="1" hangingPunct="1">
              <a:spcBef>
                <a:spcPct val="0"/>
              </a:spcBef>
            </a:pPr>
            <a:endParaRPr lang="en-US" altLang="en-US" dirty="0">
              <a:latin typeface="Arial" panose="020B0604020202020204" pitchFamily="34" charset="0"/>
            </a:endParaRPr>
          </a:p>
          <a:p>
            <a:r>
              <a:rPr lang="en-GB" baseline="0" dirty="0" err="1"/>
              <a:t>Bronvermelding</a:t>
            </a:r>
            <a:r>
              <a:rPr lang="en-GB" baseline="0" dirty="0"/>
              <a:t> </a:t>
            </a:r>
            <a:r>
              <a:rPr lang="en-GB" baseline="0" dirty="0" err="1"/>
              <a:t>illustraties</a:t>
            </a:r>
            <a:r>
              <a:rPr lang="en-GB" baseline="0" dirty="0"/>
              <a:t>: Microsoft </a:t>
            </a:r>
            <a:r>
              <a:rPr lang="en-GB" baseline="0" dirty="0" err="1"/>
              <a:t>cursusmaterialen</a:t>
            </a:r>
            <a:r>
              <a:rPr lang="en-GB" baseline="0" dirty="0"/>
              <a:t> (HU </a:t>
            </a:r>
            <a:r>
              <a:rPr lang="en-GB" baseline="0" dirty="0" err="1"/>
              <a:t>medewerker</a:t>
            </a:r>
            <a:r>
              <a:rPr lang="en-GB" baseline="0" dirty="0"/>
              <a:t> met Instructor status)</a:t>
            </a:r>
            <a:endParaRPr lang="nl-NL" dirty="0"/>
          </a:p>
        </p:txBody>
      </p:sp>
    </p:spTree>
    <p:extLst>
      <p:ext uri="{BB962C8B-B14F-4D97-AF65-F5344CB8AC3E}">
        <p14:creationId xmlns:p14="http://schemas.microsoft.com/office/powerpoint/2010/main" val="4005990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MS PGothic" pitchFamily="34" charset="-128"/>
              </a:defRPr>
            </a:lvl1pPr>
            <a:lvl2pPr marL="742950" indent="-285750">
              <a:defRPr sz="1400">
                <a:solidFill>
                  <a:schemeClr val="tx1"/>
                </a:solidFill>
                <a:latin typeface="Arial" panose="020B0604020202020204" pitchFamily="34" charset="0"/>
                <a:ea typeface="MS PGothic" pitchFamily="34" charset="-128"/>
              </a:defRPr>
            </a:lvl2pPr>
            <a:lvl3pPr marL="1143000" indent="-228600">
              <a:defRPr sz="1400">
                <a:solidFill>
                  <a:schemeClr val="tx1"/>
                </a:solidFill>
                <a:latin typeface="Arial" panose="020B0604020202020204" pitchFamily="34" charset="0"/>
                <a:ea typeface="MS PGothic" pitchFamily="34" charset="-128"/>
              </a:defRPr>
            </a:lvl3pPr>
            <a:lvl4pPr marL="1600200" indent="-228600">
              <a:defRPr sz="1400">
                <a:solidFill>
                  <a:schemeClr val="tx1"/>
                </a:solidFill>
                <a:latin typeface="Arial" panose="020B0604020202020204" pitchFamily="34" charset="0"/>
                <a:ea typeface="MS PGothic" pitchFamily="34" charset="-128"/>
              </a:defRPr>
            </a:lvl4pPr>
            <a:lvl5pPr marL="2057400" indent="-228600">
              <a:defRPr sz="1400">
                <a:solidFill>
                  <a:schemeClr val="tx1"/>
                </a:solidFill>
                <a:latin typeface="Arial" panose="020B0604020202020204" pitchFamily="34" charset="0"/>
                <a:ea typeface="MS PGothic"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9pPr>
          </a:lstStyle>
          <a:p>
            <a:r>
              <a:rPr lang="en-US" altLang="en-US" sz="1200"/>
              <a:t>Module 2: Introduction to Active Directory® Domain Services</a:t>
            </a:r>
          </a:p>
        </p:txBody>
      </p:sp>
      <p:sp>
        <p:nvSpPr>
          <p:cNvPr id="204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MS PGothic" pitchFamily="34" charset="-128"/>
              </a:defRPr>
            </a:lvl1pPr>
            <a:lvl2pPr marL="742950" indent="-285750">
              <a:defRPr sz="1400">
                <a:solidFill>
                  <a:schemeClr val="tx1"/>
                </a:solidFill>
                <a:latin typeface="Arial" panose="020B0604020202020204" pitchFamily="34" charset="0"/>
                <a:ea typeface="MS PGothic" pitchFamily="34" charset="-128"/>
              </a:defRPr>
            </a:lvl2pPr>
            <a:lvl3pPr marL="1143000" indent="-228600">
              <a:defRPr sz="1400">
                <a:solidFill>
                  <a:schemeClr val="tx1"/>
                </a:solidFill>
                <a:latin typeface="Arial" panose="020B0604020202020204" pitchFamily="34" charset="0"/>
                <a:ea typeface="MS PGothic" pitchFamily="34" charset="-128"/>
              </a:defRPr>
            </a:lvl3pPr>
            <a:lvl4pPr marL="1600200" indent="-228600">
              <a:defRPr sz="1400">
                <a:solidFill>
                  <a:schemeClr val="tx1"/>
                </a:solidFill>
                <a:latin typeface="Arial" panose="020B0604020202020204" pitchFamily="34" charset="0"/>
                <a:ea typeface="MS PGothic" pitchFamily="34" charset="-128"/>
              </a:defRPr>
            </a:lvl4pPr>
            <a:lvl5pPr marL="2057400" indent="-228600">
              <a:defRPr sz="1400">
                <a:solidFill>
                  <a:schemeClr val="tx1"/>
                </a:solidFill>
                <a:latin typeface="Arial" panose="020B0604020202020204" pitchFamily="34" charset="0"/>
                <a:ea typeface="MS PGothic"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MS PGothic" pitchFamily="34" charset="-128"/>
              </a:defRPr>
            </a:lvl9pPr>
          </a:lstStyle>
          <a:p>
            <a:r>
              <a:rPr lang="en-US" altLang="en-US" sz="1200"/>
              <a:t>Course 6424A</a:t>
            </a:r>
          </a:p>
        </p:txBody>
      </p:sp>
      <p:sp>
        <p:nvSpPr>
          <p:cNvPr id="2048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itchFamily="34" charset="-128"/>
              </a:defRPr>
            </a:lvl1pPr>
            <a:lvl2pPr marL="742950" indent="-285750">
              <a:spcBef>
                <a:spcPct val="30000"/>
              </a:spcBef>
              <a:defRPr sz="1200">
                <a:solidFill>
                  <a:schemeClr val="tx1"/>
                </a:solidFill>
                <a:latin typeface="Arial" panose="020B0604020202020204" pitchFamily="34" charset="0"/>
                <a:ea typeface="MS PGothic" pitchFamily="34" charset="-128"/>
              </a:defRPr>
            </a:lvl2pPr>
            <a:lvl3pPr marL="1143000" indent="-228600">
              <a:spcBef>
                <a:spcPct val="30000"/>
              </a:spcBef>
              <a:defRPr sz="1200">
                <a:solidFill>
                  <a:schemeClr val="tx1"/>
                </a:solidFill>
                <a:latin typeface="Arial" panose="020B0604020202020204" pitchFamily="34" charset="0"/>
                <a:ea typeface="MS PGothic" pitchFamily="34" charset="-128"/>
              </a:defRPr>
            </a:lvl3pPr>
            <a:lvl4pPr marL="1600200" indent="-228600">
              <a:spcBef>
                <a:spcPct val="30000"/>
              </a:spcBef>
              <a:defRPr sz="1200">
                <a:solidFill>
                  <a:schemeClr val="tx1"/>
                </a:solidFill>
                <a:latin typeface="Arial" panose="020B0604020202020204" pitchFamily="34" charset="0"/>
                <a:ea typeface="MS PGothic" pitchFamily="34" charset="-128"/>
              </a:defRPr>
            </a:lvl4pPr>
            <a:lvl5pPr marL="2057400" indent="-228600">
              <a:spcBef>
                <a:spcPct val="30000"/>
              </a:spcBef>
              <a:defRPr sz="1200">
                <a:solidFill>
                  <a:schemeClr val="tx1"/>
                </a:solidFill>
                <a:latin typeface="Arial" panose="020B0604020202020204" pitchFamily="34" charset="0"/>
                <a:ea typeface="MS PGothic"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itchFamily="34" charset="-128"/>
              </a:defRPr>
            </a:lvl9pPr>
          </a:lstStyle>
          <a:p>
            <a:pPr>
              <a:spcBef>
                <a:spcPct val="0"/>
              </a:spcBef>
            </a:pPr>
            <a:fld id="{178412AF-B87B-4A7E-9EFD-848731CAF97A}" type="slidenum">
              <a:rPr lang="en-US" altLang="en-US" smtClean="0">
                <a:latin typeface="Calibri" panose="020F0502020204030204" pitchFamily="34" charset="0"/>
                <a:cs typeface="Arial" panose="020B0604020202020204" pitchFamily="34" charset="0"/>
              </a:rPr>
              <a:pPr>
                <a:spcBef>
                  <a:spcPct val="0"/>
                </a:spcBef>
              </a:pPr>
              <a:t>8</a:t>
            </a:fld>
            <a:endParaRPr lang="en-US" altLang="en-US">
              <a:latin typeface="Calibri" panose="020F0502020204030204" pitchFamily="34" charset="0"/>
              <a:cs typeface="Arial" panose="020B0604020202020204" pitchFamily="34" charset="0"/>
            </a:endParaRPr>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xfrm>
            <a:off x="363538" y="2084388"/>
            <a:ext cx="6149975" cy="6459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a:latin typeface="Arial" panose="020B0604020202020204" pitchFamily="34" charset="0"/>
              </a:rPr>
              <a:t>What is a security principal  and what types of network objects can be security principals.</a:t>
            </a:r>
          </a:p>
          <a:p>
            <a:pPr eaLnBrk="1" hangingPunct="1">
              <a:spcBef>
                <a:spcPct val="0"/>
              </a:spcBef>
            </a:pPr>
            <a:r>
              <a:rPr lang="en-US" altLang="en-US" dirty="0">
                <a:latin typeface="Arial" panose="020B0604020202020204" pitchFamily="34" charset="0"/>
              </a:rPr>
              <a:t>Mention the types of attributes that might be contained in the security token. For example, user group, ownership, and admin privileges.</a:t>
            </a:r>
          </a:p>
          <a:p>
            <a:pPr eaLnBrk="1" hangingPunct="1">
              <a:spcBef>
                <a:spcPct val="0"/>
              </a:spcBef>
            </a:pPr>
            <a:r>
              <a:rPr lang="en-US" altLang="en-US" dirty="0">
                <a:latin typeface="Arial" panose="020B0604020202020204" pitchFamily="34" charset="0"/>
              </a:rPr>
              <a:t>Mention that the security identifier (SID) attribute is unique for each user or security group, and is the primary means by which the security principal is identified when trying to access network resources. </a:t>
            </a:r>
          </a:p>
          <a:p>
            <a:pPr eaLnBrk="1" hangingPunct="1">
              <a:spcBef>
                <a:spcPct val="0"/>
              </a:spcBef>
            </a:pPr>
            <a:r>
              <a:rPr lang="en-US" altLang="en-US" dirty="0">
                <a:latin typeface="Arial" panose="020B0604020202020204" pitchFamily="34" charset="0"/>
              </a:rPr>
              <a:t>Mention that authorization happens frequently and unobtrusively whenever users request services, like opening their home folder, reading/writing files, or when requesting access to an AD DS aware application. The user only sees the result of the authorization--they are granted or denied access.</a:t>
            </a:r>
          </a:p>
          <a:p>
            <a:pPr eaLnBrk="1" hangingPunct="1">
              <a:spcBef>
                <a:spcPct val="0"/>
              </a:spcBef>
            </a:pPr>
            <a:r>
              <a:rPr lang="en-US" altLang="en-US" dirty="0">
                <a:latin typeface="Arial" panose="020B0604020202020204" pitchFamily="34" charset="0"/>
              </a:rPr>
              <a:t>Mention tools like Active Directory Users and Computers for managing security principals.</a:t>
            </a:r>
          </a:p>
          <a:p>
            <a:pPr eaLnBrk="1" hangingPunct="1">
              <a:spcBef>
                <a:spcPct val="0"/>
              </a:spcBef>
            </a:pPr>
            <a:endParaRPr lang="en-US" altLang="en-US" b="1" dirty="0">
              <a:latin typeface="Arial" panose="020B0604020202020204" pitchFamily="34" charset="0"/>
            </a:endParaRPr>
          </a:p>
          <a:p>
            <a:pPr eaLnBrk="1" hangingPunct="1">
              <a:spcBef>
                <a:spcPct val="0"/>
              </a:spcBef>
            </a:pPr>
            <a:r>
              <a:rPr lang="en-US" altLang="en-US" b="1" dirty="0">
                <a:latin typeface="Arial" panose="020B0604020202020204" pitchFamily="34" charset="0"/>
              </a:rPr>
              <a:t>References</a:t>
            </a:r>
            <a:endParaRPr lang="en-US" altLang="en-US" dirty="0">
              <a:latin typeface="Arial" panose="020B0604020202020204" pitchFamily="34" charset="0"/>
            </a:endParaRPr>
          </a:p>
          <a:p>
            <a:pPr eaLnBrk="1" hangingPunct="1">
              <a:spcBef>
                <a:spcPct val="0"/>
              </a:spcBef>
              <a:buFontTx/>
              <a:buChar char="•"/>
            </a:pPr>
            <a:r>
              <a:rPr lang="en-US" altLang="en-US" dirty="0">
                <a:latin typeface="Arial" panose="020B0604020202020204" pitchFamily="34" charset="0"/>
              </a:rPr>
              <a:t> Authorization and Access Control Technologies: https://learn.microsoft.com/en-us/previous-versions/windows/it-pro/windows-server-2003/cc782880(v=ws.10)</a:t>
            </a:r>
          </a:p>
          <a:p>
            <a:pPr eaLnBrk="1" hangingPunct="1">
              <a:spcBef>
                <a:spcPct val="0"/>
              </a:spcBef>
              <a:buFontTx/>
              <a:buChar char="•"/>
            </a:pPr>
            <a:r>
              <a:rPr lang="en-US" altLang="en-US" dirty="0">
                <a:latin typeface="Arial" panose="020B0604020202020204" pitchFamily="34" charset="0"/>
              </a:rPr>
              <a:t> Security Identifiers: https://learn.microsoft.com/en-us/windows-server/identity/ad-ds/manage/understand-security-identifiers</a:t>
            </a:r>
            <a:endParaRPr lang="en-US" altLang="en-US" dirty="0">
              <a:latin typeface="Arial" panose="020B0604020202020204" pitchFamily="34" charset="0"/>
              <a:hlinkClick r:id="rId3"/>
            </a:endParaRPr>
          </a:p>
          <a:p>
            <a:pPr eaLnBrk="1" hangingPunct="1">
              <a:spcBef>
                <a:spcPct val="0"/>
              </a:spcBef>
              <a:buFontTx/>
              <a:buChar char="•"/>
            </a:pPr>
            <a:r>
              <a:rPr lang="en-US" altLang="en-US" dirty="0">
                <a:latin typeface="Arial" panose="020B0604020202020204" pitchFamily="34" charset="0"/>
              </a:rPr>
              <a:t> Security Principals: https://learn.microsoft.com/en-us/windows-server/identity/ad-ds/manage/understand-security-principals</a:t>
            </a:r>
          </a:p>
          <a:p>
            <a:pPr eaLnBrk="1" hangingPunct="1">
              <a:spcBef>
                <a:spcPct val="0"/>
              </a:spcBef>
              <a:buFontTx/>
              <a:buNone/>
            </a:pPr>
            <a:endParaRPr lang="en-US" baseline="0" dirty="0">
              <a:latin typeface="Arial" panose="020B0604020202020204" pitchFamily="34" charset="0"/>
            </a:endParaRPr>
          </a:p>
          <a:p>
            <a:r>
              <a:rPr lang="en-GB" baseline="0" dirty="0" err="1"/>
              <a:t>Bronvermelding</a:t>
            </a:r>
            <a:r>
              <a:rPr lang="en-GB" baseline="0" dirty="0"/>
              <a:t> </a:t>
            </a:r>
            <a:r>
              <a:rPr lang="en-GB" baseline="0" dirty="0" err="1"/>
              <a:t>illustraties</a:t>
            </a:r>
            <a:r>
              <a:rPr lang="en-GB" baseline="0" dirty="0"/>
              <a:t>: Microsoft </a:t>
            </a:r>
            <a:r>
              <a:rPr lang="en-GB" baseline="0" dirty="0" err="1"/>
              <a:t>cursusmaterialen</a:t>
            </a:r>
            <a:r>
              <a:rPr lang="en-GB" baseline="0" dirty="0"/>
              <a:t> (HU </a:t>
            </a:r>
            <a:r>
              <a:rPr lang="en-GB" baseline="0" dirty="0" err="1"/>
              <a:t>medewerker</a:t>
            </a:r>
            <a:r>
              <a:rPr lang="en-GB" baseline="0" dirty="0"/>
              <a:t> met Instructor status)</a:t>
            </a:r>
            <a:endParaRPr lang="nl-NL" dirty="0"/>
          </a:p>
        </p:txBody>
      </p:sp>
    </p:spTree>
    <p:extLst>
      <p:ext uri="{BB962C8B-B14F-4D97-AF65-F5344CB8AC3E}">
        <p14:creationId xmlns:p14="http://schemas.microsoft.com/office/powerpoint/2010/main" val="2946454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Bronvermelding</a:t>
            </a:r>
            <a:r>
              <a:rPr lang="en-GB" baseline="0" dirty="0"/>
              <a:t> </a:t>
            </a:r>
            <a:r>
              <a:rPr lang="en-GB" baseline="0" dirty="0" err="1"/>
              <a:t>illustratie</a:t>
            </a:r>
            <a:r>
              <a:rPr lang="en-GB" baseline="0" dirty="0"/>
              <a:t>: </a:t>
            </a:r>
            <a:r>
              <a:rPr lang="en-GB" baseline="0" dirty="0" err="1"/>
              <a:t>eigen</a:t>
            </a:r>
            <a:r>
              <a:rPr lang="en-GB" baseline="0" dirty="0"/>
              <a:t> </a:t>
            </a:r>
            <a:r>
              <a:rPr lang="en-GB" baseline="0" dirty="0" err="1"/>
              <a:t>werk</a:t>
            </a:r>
            <a:r>
              <a:rPr lang="en-GB" baseline="0" dirty="0"/>
              <a:t> (screenshot)</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9</a:t>
            </a:fld>
            <a:endParaRPr lang="en-US" altLang="nl-NL"/>
          </a:p>
        </p:txBody>
      </p:sp>
    </p:spTree>
    <p:extLst>
      <p:ext uri="{BB962C8B-B14F-4D97-AF65-F5344CB8AC3E}">
        <p14:creationId xmlns:p14="http://schemas.microsoft.com/office/powerpoint/2010/main" val="2121602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Bronvermelding</a:t>
            </a:r>
            <a:r>
              <a:rPr lang="en-GB" baseline="0" dirty="0"/>
              <a:t> </a:t>
            </a:r>
            <a:r>
              <a:rPr lang="en-GB" baseline="0" dirty="0" err="1"/>
              <a:t>illustraties</a:t>
            </a:r>
            <a:r>
              <a:rPr lang="en-GB" baseline="0" dirty="0"/>
              <a:t>: </a:t>
            </a:r>
            <a:r>
              <a:rPr lang="en-GB" baseline="0" dirty="0" err="1"/>
              <a:t>eigen</a:t>
            </a:r>
            <a:r>
              <a:rPr lang="en-GB" baseline="0" dirty="0"/>
              <a:t> </a:t>
            </a:r>
            <a:r>
              <a:rPr lang="en-GB" baseline="0" dirty="0" err="1"/>
              <a:t>werk</a:t>
            </a:r>
            <a:r>
              <a:rPr lang="en-GB" baseline="0" dirty="0"/>
              <a:t> (screenshots)</a:t>
            </a:r>
          </a:p>
          <a:p>
            <a:endParaRPr lang="en-GB" baseline="0" dirty="0"/>
          </a:p>
          <a:p>
            <a:r>
              <a:rPr lang="en-GB" baseline="0" dirty="0"/>
              <a:t>offline domain join: de </a:t>
            </a:r>
            <a:r>
              <a:rPr lang="en-GB" baseline="0" dirty="0" err="1"/>
              <a:t>mogelijkheid</a:t>
            </a:r>
            <a:r>
              <a:rPr lang="en-GB" baseline="0" dirty="0"/>
              <a:t> om </a:t>
            </a:r>
            <a:r>
              <a:rPr lang="en-GB" baseline="0" dirty="0" err="1"/>
              <a:t>een</a:t>
            </a:r>
            <a:r>
              <a:rPr lang="en-GB" baseline="0" dirty="0"/>
              <a:t> net </a:t>
            </a:r>
            <a:r>
              <a:rPr lang="en-GB" baseline="0" dirty="0" err="1"/>
              <a:t>geautomatiseerde</a:t>
            </a:r>
            <a:r>
              <a:rPr lang="en-GB" baseline="0" dirty="0"/>
              <a:t> machine direct lid </a:t>
            </a:r>
            <a:r>
              <a:rPr lang="en-GB" baseline="0" dirty="0" err="1"/>
              <a:t>te</a:t>
            </a:r>
            <a:r>
              <a:rPr lang="en-GB" baseline="0" dirty="0"/>
              <a:t> </a:t>
            </a:r>
            <a:r>
              <a:rPr lang="en-GB" baseline="0" dirty="0" err="1"/>
              <a:t>maken</a:t>
            </a:r>
            <a:r>
              <a:rPr lang="en-GB" baseline="0" dirty="0"/>
              <a:t> van het </a:t>
            </a:r>
            <a:r>
              <a:rPr lang="en-GB" baseline="0" dirty="0" err="1"/>
              <a:t>domein</a:t>
            </a:r>
            <a:r>
              <a:rPr lang="en-GB" baseline="0" dirty="0"/>
              <a:t>, we </a:t>
            </a:r>
            <a:r>
              <a:rPr lang="en-GB" baseline="0" dirty="0" err="1"/>
              <a:t>zullen</a:t>
            </a:r>
            <a:r>
              <a:rPr lang="en-GB" baseline="0" dirty="0"/>
              <a:t> </a:t>
            </a:r>
            <a:r>
              <a:rPr lang="en-GB" baseline="0" dirty="0" err="1"/>
              <a:t>dit</a:t>
            </a:r>
            <a:r>
              <a:rPr lang="en-GB" baseline="0" dirty="0"/>
              <a:t> in </a:t>
            </a:r>
            <a:r>
              <a:rPr lang="en-GB" baseline="0" dirty="0" err="1"/>
              <a:t>deze</a:t>
            </a:r>
            <a:r>
              <a:rPr lang="en-GB" baseline="0" dirty="0"/>
              <a:t> cursus </a:t>
            </a:r>
            <a:r>
              <a:rPr lang="en-GB" baseline="0" dirty="0" err="1"/>
              <a:t>verder</a:t>
            </a:r>
            <a:r>
              <a:rPr lang="en-GB" baseline="0" dirty="0"/>
              <a:t> </a:t>
            </a:r>
            <a:r>
              <a:rPr lang="en-GB" baseline="0" dirty="0" err="1"/>
              <a:t>niet</a:t>
            </a:r>
            <a:r>
              <a:rPr lang="en-GB" baseline="0" dirty="0"/>
              <a:t> </a:t>
            </a:r>
            <a:r>
              <a:rPr lang="en-GB" baseline="0" dirty="0" err="1"/>
              <a:t>behandelen</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10</a:t>
            </a:fld>
            <a:endParaRPr lang="en-US" altLang="nl-NL"/>
          </a:p>
        </p:txBody>
      </p:sp>
    </p:spTree>
    <p:extLst>
      <p:ext uri="{BB962C8B-B14F-4D97-AF65-F5344CB8AC3E}">
        <p14:creationId xmlns:p14="http://schemas.microsoft.com/office/powerpoint/2010/main" val="4098950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DFL/FFL 2000 en 2003 </a:t>
            </a:r>
            <a:r>
              <a:rPr lang="en-US" dirty="0" err="1"/>
              <a:t>tussen</a:t>
            </a:r>
            <a:r>
              <a:rPr lang="en-US" dirty="0"/>
              <a:t> </a:t>
            </a:r>
            <a:r>
              <a:rPr lang="en-US" dirty="0" err="1"/>
              <a:t>haakjes</a:t>
            </a:r>
            <a:r>
              <a:rPr lang="en-US" dirty="0"/>
              <a:t> </a:t>
            </a:r>
            <a:r>
              <a:rPr lang="en-US" dirty="0" err="1"/>
              <a:t>omdat</a:t>
            </a:r>
            <a:r>
              <a:rPr lang="en-US" dirty="0"/>
              <a:t> </a:t>
            </a:r>
            <a:r>
              <a:rPr lang="en-US" dirty="0" err="1"/>
              <a:t>deze</a:t>
            </a:r>
            <a:r>
              <a:rPr lang="en-US" dirty="0"/>
              <a:t> </a:t>
            </a:r>
            <a:r>
              <a:rPr lang="en-US" dirty="0" err="1"/>
              <a:t>wel</a:t>
            </a:r>
            <a:r>
              <a:rPr lang="en-US" dirty="0"/>
              <a:t> </a:t>
            </a:r>
            <a:r>
              <a:rPr lang="en-US" dirty="0" err="1"/>
              <a:t>bestaan</a:t>
            </a:r>
            <a:r>
              <a:rPr lang="en-US" dirty="0"/>
              <a:t>, maar</a:t>
            </a:r>
            <a:r>
              <a:rPr lang="en-US" baseline="0" dirty="0"/>
              <a:t> </a:t>
            </a:r>
            <a:r>
              <a:rPr lang="en-US" baseline="0" dirty="0" err="1"/>
              <a:t>niet</a:t>
            </a:r>
            <a:r>
              <a:rPr lang="en-US" baseline="0" dirty="0"/>
              <a:t> </a:t>
            </a:r>
            <a:r>
              <a:rPr lang="en-US" baseline="0" dirty="0" err="1"/>
              <a:t>meer</a:t>
            </a:r>
            <a:r>
              <a:rPr lang="en-US" baseline="0" dirty="0"/>
              <a:t> </a:t>
            </a:r>
            <a:r>
              <a:rPr lang="en-US" baseline="0" dirty="0" err="1"/>
              <a:t>beschikbaar</a:t>
            </a:r>
            <a:r>
              <a:rPr lang="en-US" baseline="0" dirty="0"/>
              <a:t> </a:t>
            </a:r>
            <a:r>
              <a:rPr lang="en-US" baseline="0" dirty="0" err="1"/>
              <a:t>zijn</a:t>
            </a:r>
            <a:r>
              <a:rPr lang="en-US" baseline="0" dirty="0"/>
              <a:t> in Windows Server 2016</a:t>
            </a:r>
          </a:p>
          <a:p>
            <a:r>
              <a:rPr lang="en-US" baseline="0" dirty="0"/>
              <a:t>Meer details (</a:t>
            </a:r>
            <a:r>
              <a:rPr lang="en-US" baseline="0" dirty="0" err="1"/>
              <a:t>geen</a:t>
            </a:r>
            <a:r>
              <a:rPr lang="en-US" baseline="0" dirty="0"/>
              <a:t> </a:t>
            </a:r>
            <a:r>
              <a:rPr lang="en-US" baseline="0" dirty="0" err="1"/>
              <a:t>leerstof</a:t>
            </a:r>
            <a:r>
              <a:rPr lang="en-US" baseline="0" dirty="0"/>
              <a:t>) op https://docs.microsoft.com/en-us/windows-server/identity/ad-ds/active-directory-functional-levels#windows-server-2003</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11</a:t>
            </a:fld>
            <a:endParaRPr lang="en-US" altLang="nl-NL"/>
          </a:p>
        </p:txBody>
      </p:sp>
    </p:spTree>
    <p:extLst>
      <p:ext uri="{BB962C8B-B14F-4D97-AF65-F5344CB8AC3E}">
        <p14:creationId xmlns:p14="http://schemas.microsoft.com/office/powerpoint/2010/main" val="477090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Ook</a:t>
            </a:r>
            <a:r>
              <a:rPr lang="en-US" dirty="0"/>
              <a:t> in de</a:t>
            </a:r>
            <a:r>
              <a:rPr lang="en-US" baseline="0" dirty="0"/>
              <a:t> update van 9 </a:t>
            </a:r>
            <a:r>
              <a:rPr lang="en-US" baseline="0" dirty="0" err="1"/>
              <a:t>augustus</a:t>
            </a:r>
            <a:r>
              <a:rPr lang="en-US" baseline="0" dirty="0"/>
              <a:t> 2018 van https://docs.microsoft.com/en-us/windows-server/identity/ad-ds/deploy/what-s-new-in-active-directory-domain-services-installation-and-removal </a:t>
            </a:r>
            <a:r>
              <a:rPr lang="en-US" baseline="0" dirty="0" err="1"/>
              <a:t>geeft</a:t>
            </a:r>
            <a:r>
              <a:rPr lang="en-US" baseline="0" dirty="0"/>
              <a:t> MS </a:t>
            </a:r>
            <a:r>
              <a:rPr lang="en-US" baseline="0" dirty="0" err="1"/>
              <a:t>aan</a:t>
            </a:r>
            <a:r>
              <a:rPr lang="en-US" baseline="0" dirty="0"/>
              <a:t> </a:t>
            </a:r>
            <a:r>
              <a:rPr lang="en-US" baseline="0" dirty="0" err="1"/>
              <a:t>geen</a:t>
            </a:r>
            <a:r>
              <a:rPr lang="en-US" baseline="0" dirty="0"/>
              <a:t> AD op </a:t>
            </a:r>
            <a:r>
              <a:rPr lang="en-US" baseline="0" dirty="0" err="1"/>
              <a:t>ReFS</a:t>
            </a:r>
            <a:r>
              <a:rPr lang="en-US" baseline="0" dirty="0"/>
              <a:t> </a:t>
            </a:r>
            <a:r>
              <a:rPr lang="en-US" baseline="0" dirty="0" err="1"/>
              <a:t>te</a:t>
            </a:r>
            <a:r>
              <a:rPr lang="en-US" baseline="0" dirty="0"/>
              <a:t> </a:t>
            </a:r>
            <a:r>
              <a:rPr lang="en-US" baseline="0" dirty="0" err="1"/>
              <a:t>ondersteunen</a:t>
            </a:r>
            <a:r>
              <a:rPr lang="en-US" baseline="0" dirty="0"/>
              <a:t> </a:t>
            </a:r>
            <a:r>
              <a:rPr lang="en-US" baseline="0" dirty="0" err="1"/>
              <a:t>voor</a:t>
            </a:r>
            <a:r>
              <a:rPr lang="en-US" baseline="0" dirty="0"/>
              <a:t> </a:t>
            </a:r>
            <a:r>
              <a:rPr lang="nl-NL" dirty="0"/>
              <a:t>database, logfiles en SYSVOL.</a:t>
            </a:r>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12</a:t>
            </a:fld>
            <a:endParaRPr lang="en-US" altLang="nl-NL"/>
          </a:p>
        </p:txBody>
      </p:sp>
    </p:spTree>
    <p:extLst>
      <p:ext uri="{BB962C8B-B14F-4D97-AF65-F5344CB8AC3E}">
        <p14:creationId xmlns:p14="http://schemas.microsoft.com/office/powerpoint/2010/main" val="3815403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Bronvermelding</a:t>
            </a:r>
            <a:r>
              <a:rPr lang="en-GB" baseline="0" dirty="0"/>
              <a:t> </a:t>
            </a:r>
            <a:r>
              <a:rPr lang="en-GB" baseline="0" dirty="0" err="1"/>
              <a:t>illustratie</a:t>
            </a:r>
            <a:r>
              <a:rPr lang="en-GB" baseline="0" dirty="0"/>
              <a:t>: </a:t>
            </a:r>
            <a:r>
              <a:rPr lang="en-GB" baseline="0" dirty="0" err="1"/>
              <a:t>eigen</a:t>
            </a:r>
            <a:r>
              <a:rPr lang="en-GB" baseline="0" dirty="0"/>
              <a:t> </a:t>
            </a:r>
            <a:r>
              <a:rPr lang="en-GB" baseline="0" dirty="0" err="1"/>
              <a:t>werk</a:t>
            </a:r>
            <a:r>
              <a:rPr lang="en-GB" baseline="0" dirty="0"/>
              <a:t> (screenshot)</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13</a:t>
            </a:fld>
            <a:endParaRPr lang="en-US" altLang="nl-NL"/>
          </a:p>
        </p:txBody>
      </p:sp>
    </p:spTree>
    <p:extLst>
      <p:ext uri="{BB962C8B-B14F-4D97-AF65-F5344CB8AC3E}">
        <p14:creationId xmlns:p14="http://schemas.microsoft.com/office/powerpoint/2010/main" val="3896580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0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09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63CDD8CE-CAEC-4D84-BDA8-AF763E7F0355}" type="slidenum">
              <a:rPr lang="en-US" altLang="nl-NL" b="0" smtClean="0">
                <a:latin typeface="Arial" charset="0"/>
              </a:rPr>
              <a:pPr/>
              <a:t>14</a:t>
            </a:fld>
            <a:endParaRPr lang="en-US" altLang="nl-NL" b="0">
              <a:latin typeface="Arial" charset="0"/>
            </a:endParaRPr>
          </a:p>
        </p:txBody>
      </p:sp>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nl-NL" altLang="nl-NL" dirty="0"/>
              <a:t>DC: Alleen bij RODC? Ook </a:t>
            </a:r>
            <a:r>
              <a:rPr lang="nl-NL" altLang="nl-NL" dirty="0" err="1"/>
              <a:t>local</a:t>
            </a:r>
            <a:r>
              <a:rPr lang="nl-NL" altLang="nl-NL" dirty="0"/>
              <a:t> en als je boot </a:t>
            </a:r>
            <a:r>
              <a:rPr lang="nl-NL" altLang="nl-NL" dirty="0" err="1"/>
              <a:t>into</a:t>
            </a:r>
            <a:r>
              <a:rPr lang="nl-NL" altLang="nl-NL" dirty="0"/>
              <a:t> directory services </a:t>
            </a:r>
            <a:r>
              <a:rPr lang="nl-NL" altLang="nl-NL" dirty="0" err="1"/>
              <a:t>restore</a:t>
            </a:r>
            <a:r>
              <a:rPr lang="nl-NL" altLang="nl-NL" dirty="0"/>
              <a:t> mode or recovery console.</a:t>
            </a:r>
          </a:p>
        </p:txBody>
      </p:sp>
    </p:spTree>
    <p:extLst>
      <p:ext uri="{BB962C8B-B14F-4D97-AF65-F5344CB8AC3E}">
        <p14:creationId xmlns:p14="http://schemas.microsoft.com/office/powerpoint/2010/main" val="435750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jdelijke aanduiding voor dia-afbeelding 1"/>
          <p:cNvSpPr>
            <a:spLocks noGrp="1" noRot="1" noChangeAspect="1" noTextEdit="1"/>
          </p:cNvSpPr>
          <p:nvPr>
            <p:ph type="sldImg"/>
          </p:nvPr>
        </p:nvSpPr>
        <p:spPr>
          <a:ln/>
        </p:spPr>
      </p:sp>
      <p:sp>
        <p:nvSpPr>
          <p:cNvPr id="41987"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p>
        </p:txBody>
      </p:sp>
      <p:sp>
        <p:nvSpPr>
          <p:cNvPr id="41988"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1989"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1990"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439AECF1-85A8-4DCF-8B97-33E6142AF830}" type="slidenum">
              <a:rPr lang="en-US" altLang="nl-NL" b="0" smtClean="0">
                <a:latin typeface="Arial" charset="0"/>
              </a:rPr>
              <a:pPr/>
              <a:t>15</a:t>
            </a:fld>
            <a:endParaRPr lang="en-US" altLang="nl-NL" b="0">
              <a:latin typeface="Arial" charset="0"/>
            </a:endParaRPr>
          </a:p>
        </p:txBody>
      </p:sp>
    </p:spTree>
    <p:extLst>
      <p:ext uri="{BB962C8B-B14F-4D97-AF65-F5344CB8AC3E}">
        <p14:creationId xmlns:p14="http://schemas.microsoft.com/office/powerpoint/2010/main" val="2417381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nl-NL" dirty="0"/>
              <a:t> the discretionary access control list (DACL) </a:t>
            </a:r>
            <a:r>
              <a:rPr lang="en-NL" altLang="nl-NL" dirty="0"/>
              <a:t>–</a:t>
            </a:r>
            <a:r>
              <a:rPr lang="en-US" altLang="nl-NL" dirty="0"/>
              <a:t> </a:t>
            </a:r>
            <a:r>
              <a:rPr lang="en-US" altLang="nl-NL" dirty="0" err="1"/>
              <a:t>toegang</a:t>
            </a:r>
            <a:r>
              <a:rPr lang="en-US" altLang="nl-NL" dirty="0"/>
              <a:t> of </a:t>
            </a:r>
            <a:r>
              <a:rPr lang="en-US" altLang="nl-NL" dirty="0" err="1"/>
              <a:t>geen</a:t>
            </a:r>
            <a:r>
              <a:rPr lang="en-US" altLang="nl-NL" dirty="0"/>
              <a:t> </a:t>
            </a:r>
            <a:r>
              <a:rPr lang="en-US" altLang="nl-NL" dirty="0" err="1"/>
              <a:t>toegang</a:t>
            </a:r>
            <a:r>
              <a:rPr lang="en-US" altLang="nl-NL" dirty="0"/>
              <a:t> (</a:t>
            </a:r>
            <a:r>
              <a:rPr lang="en-US" altLang="nl-NL" dirty="0" err="1"/>
              <a:t>vergelijk</a:t>
            </a:r>
            <a:r>
              <a:rPr lang="en-US" altLang="nl-NL" dirty="0"/>
              <a:t> firewall rules)</a:t>
            </a:r>
          </a:p>
          <a:p>
            <a:r>
              <a:rPr lang="en-US" altLang="nl-NL" dirty="0"/>
              <a:t> the system access control list (SACL) </a:t>
            </a:r>
            <a:r>
              <a:rPr lang="en-NL" altLang="nl-NL" dirty="0"/>
              <a:t>–</a:t>
            </a:r>
            <a:r>
              <a:rPr lang="en-US" altLang="nl-NL" dirty="0"/>
              <a:t> regels met</a:t>
            </a:r>
            <a:r>
              <a:rPr lang="en-US" altLang="nl-NL" baseline="0" dirty="0"/>
              <a:t> </a:t>
            </a:r>
            <a:r>
              <a:rPr lang="en-US" altLang="nl-NL" baseline="0" dirty="0" err="1"/>
              <a:t>betrekking</a:t>
            </a:r>
            <a:r>
              <a:rPr lang="en-US" altLang="nl-NL" baseline="0" dirty="0"/>
              <a:t> tot logging/auditing, </a:t>
            </a:r>
            <a:r>
              <a:rPr lang="en-US" altLang="nl-NL" baseline="0" dirty="0" err="1"/>
              <a:t>andere</a:t>
            </a:r>
            <a:r>
              <a:rPr lang="en-US" altLang="nl-NL" baseline="0" dirty="0"/>
              <a:t> </a:t>
            </a:r>
            <a:r>
              <a:rPr lang="en-US" altLang="nl-NL" baseline="0" dirty="0" err="1"/>
              <a:t>dimensie</a:t>
            </a:r>
            <a:r>
              <a:rPr lang="en-US" altLang="nl-NL" baseline="0" dirty="0"/>
              <a:t> </a:t>
            </a:r>
            <a:r>
              <a:rPr lang="en-US" altLang="nl-NL" baseline="0" dirty="0" err="1"/>
              <a:t>dan</a:t>
            </a:r>
            <a:r>
              <a:rPr lang="en-US" altLang="nl-NL" baseline="0" dirty="0"/>
              <a:t> DACL</a:t>
            </a:r>
            <a:r>
              <a:rPr lang="en-US" altLang="nl-NL" dirty="0"/>
              <a:t> </a:t>
            </a:r>
          </a:p>
          <a:p>
            <a:endParaRPr lang="nl-NL" altLang="nl-NL" dirty="0"/>
          </a:p>
        </p:txBody>
      </p:sp>
      <p:sp>
        <p:nvSpPr>
          <p:cNvPr id="43012"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3013" name="Date Placeholder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3014"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A65F37CE-E7E5-4234-9F7E-6FFF0C876CDA}" type="slidenum">
              <a:rPr lang="en-US" altLang="nl-NL" b="0" smtClean="0">
                <a:latin typeface="Arial" charset="0"/>
              </a:rPr>
              <a:pPr/>
              <a:t>16</a:t>
            </a:fld>
            <a:endParaRPr lang="en-US" altLang="nl-NL" b="0">
              <a:latin typeface="Arial" charset="0"/>
            </a:endParaRPr>
          </a:p>
        </p:txBody>
      </p:sp>
    </p:spTree>
    <p:extLst>
      <p:ext uri="{BB962C8B-B14F-4D97-AF65-F5344CB8AC3E}">
        <p14:creationId xmlns:p14="http://schemas.microsoft.com/office/powerpoint/2010/main" val="2394686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40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403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690C08AE-F721-4175-866B-351EA94AC42F}" type="slidenum">
              <a:rPr lang="en-US" altLang="nl-NL" b="0" smtClean="0">
                <a:latin typeface="Arial" charset="0"/>
              </a:rPr>
              <a:pPr/>
              <a:t>17</a:t>
            </a:fld>
            <a:endParaRPr lang="en-US" altLang="nl-NL" b="0">
              <a:latin typeface="Arial" charset="0"/>
            </a:endParaRPr>
          </a:p>
        </p:txBody>
      </p:sp>
      <p:sp>
        <p:nvSpPr>
          <p:cNvPr id="44037" name="Rectangle 2"/>
          <p:cNvSpPr>
            <a:spLocks noGrp="1" noRot="1" noChangeAspect="1" noChangeArrowheads="1" noTextEdit="1"/>
          </p:cNvSpPr>
          <p:nvPr>
            <p:ph type="sldImg"/>
          </p:nvPr>
        </p:nvSpPr>
        <p:spPr>
          <a:ln/>
        </p:spPr>
      </p:sp>
      <p:sp>
        <p:nvSpPr>
          <p:cNvPr id="44038"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nl-NL" altLang="nl-NL" dirty="0"/>
              <a:t>Bij niet unieke </a:t>
            </a:r>
            <a:r>
              <a:rPr lang="nl-NL" altLang="nl-NL" dirty="0" err="1"/>
              <a:t>logon</a:t>
            </a:r>
            <a:r>
              <a:rPr lang="nl-NL" altLang="nl-NL" dirty="0"/>
              <a:t> name: foutmelding “is </a:t>
            </a:r>
            <a:r>
              <a:rPr lang="nl-NL" altLang="nl-NL" dirty="0" err="1"/>
              <a:t>already</a:t>
            </a:r>
            <a:r>
              <a:rPr lang="nl-NL" altLang="nl-NL" dirty="0"/>
              <a:t> in </a:t>
            </a:r>
            <a:r>
              <a:rPr lang="nl-NL" altLang="nl-NL" dirty="0" err="1"/>
              <a:t>use</a:t>
            </a:r>
            <a:r>
              <a:rPr lang="nl-NL" altLang="nl-NL" dirty="0"/>
              <a:t> in </a:t>
            </a:r>
            <a:r>
              <a:rPr lang="nl-NL" altLang="nl-NL" dirty="0" err="1"/>
              <a:t>this</a:t>
            </a:r>
            <a:r>
              <a:rPr lang="nl-NL" altLang="nl-NL" dirty="0"/>
              <a:t> </a:t>
            </a:r>
            <a:r>
              <a:rPr lang="nl-NL" altLang="nl-NL" dirty="0" err="1"/>
              <a:t>enterprise</a:t>
            </a:r>
            <a:r>
              <a:rPr lang="nl-NL" altLang="nl-NL" dirty="0"/>
              <a:t>”.</a:t>
            </a:r>
          </a:p>
          <a:p>
            <a:pPr eaLnBrk="1" hangingPunct="1"/>
            <a:r>
              <a:rPr lang="nl-NL" altLang="nl-NL" dirty="0" err="1"/>
              <a:t>Distinguished</a:t>
            </a:r>
            <a:r>
              <a:rPr lang="nl-NL" altLang="nl-NL" dirty="0"/>
              <a:t> name op tabblad “</a:t>
            </a:r>
            <a:r>
              <a:rPr lang="nl-NL" altLang="nl-NL" dirty="0" err="1"/>
              <a:t>Attribute</a:t>
            </a:r>
            <a:r>
              <a:rPr lang="nl-NL" altLang="nl-NL" dirty="0"/>
              <a:t> Editor” rest op tabblad “Account”</a:t>
            </a:r>
          </a:p>
          <a:p>
            <a:pPr eaLnBrk="1" hangingPunct="1"/>
            <a:endParaRPr lang="nl-NL" altLang="nl-NL" dirty="0"/>
          </a:p>
        </p:txBody>
      </p:sp>
    </p:spTree>
    <p:extLst>
      <p:ext uri="{BB962C8B-B14F-4D97-AF65-F5344CB8AC3E}">
        <p14:creationId xmlns:p14="http://schemas.microsoft.com/office/powerpoint/2010/main" val="1916490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5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50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E9224158-A8CD-4BA4-9FF2-B96E57E32D8F}" type="slidenum">
              <a:rPr lang="en-US" altLang="nl-NL" b="0" smtClean="0">
                <a:latin typeface="Arial" charset="0"/>
              </a:rPr>
              <a:pPr/>
              <a:t>18</a:t>
            </a:fld>
            <a:endParaRPr lang="en-US" altLang="nl-NL" b="0">
              <a:latin typeface="Arial" charset="0"/>
            </a:endParaRPr>
          </a:p>
        </p:txBody>
      </p:sp>
      <p:sp>
        <p:nvSpPr>
          <p:cNvPr id="45061" name="Rectangle 2"/>
          <p:cNvSpPr>
            <a:spLocks noGrp="1" noRot="1" noChangeAspect="1" noChangeArrowheads="1" noTextEdit="1"/>
          </p:cNvSpPr>
          <p:nvPr>
            <p:ph type="sldImg"/>
          </p:nvPr>
        </p:nvSpPr>
        <p:spPr>
          <a:ln/>
        </p:spPr>
      </p:sp>
      <p:sp>
        <p:nvSpPr>
          <p:cNvPr id="45062"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l-NL" altLang="nl-NL"/>
          </a:p>
        </p:txBody>
      </p:sp>
    </p:spTree>
    <p:extLst>
      <p:ext uri="{BB962C8B-B14F-4D97-AF65-F5344CB8AC3E}">
        <p14:creationId xmlns:p14="http://schemas.microsoft.com/office/powerpoint/2010/main" val="1282347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60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60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3CF7E248-74AC-4A35-A920-4C77151CAB93}" type="slidenum">
              <a:rPr lang="en-US" altLang="nl-NL" b="0" smtClean="0">
                <a:latin typeface="Arial" charset="0"/>
              </a:rPr>
              <a:pPr/>
              <a:t>19</a:t>
            </a:fld>
            <a:endParaRPr lang="en-US" altLang="nl-NL" b="0">
              <a:latin typeface="Arial" charset="0"/>
            </a:endParaRPr>
          </a:p>
        </p:txBody>
      </p:sp>
      <p:sp>
        <p:nvSpPr>
          <p:cNvPr id="46085"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l-NL" altLang="nl-NL"/>
          </a:p>
        </p:txBody>
      </p:sp>
    </p:spTree>
    <p:extLst>
      <p:ext uri="{BB962C8B-B14F-4D97-AF65-F5344CB8AC3E}">
        <p14:creationId xmlns:p14="http://schemas.microsoft.com/office/powerpoint/2010/main" val="2995344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71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71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0A74F355-BC31-4D66-9391-02F8CCE34A40}" type="slidenum">
              <a:rPr lang="en-US" altLang="nl-NL" b="0" smtClean="0">
                <a:latin typeface="Arial" charset="0"/>
              </a:rPr>
              <a:pPr/>
              <a:t>20</a:t>
            </a:fld>
            <a:endParaRPr lang="en-US" altLang="nl-NL" b="0">
              <a:latin typeface="Arial" charset="0"/>
            </a:endParaRPr>
          </a:p>
        </p:txBody>
      </p:sp>
      <p:sp>
        <p:nvSpPr>
          <p:cNvPr id="47109" name="Rectangle 2"/>
          <p:cNvSpPr>
            <a:spLocks noGrp="1" noRot="1" noChangeAspect="1" noChangeArrowheads="1" noTextEdit="1"/>
          </p:cNvSpPr>
          <p:nvPr>
            <p:ph type="sldImg"/>
          </p:nvPr>
        </p:nvSpPr>
        <p:spPr>
          <a:ln/>
        </p:spPr>
      </p:sp>
      <p:sp>
        <p:nvSpPr>
          <p:cNvPr id="47110"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l-NL" altLang="nl-NL"/>
          </a:p>
        </p:txBody>
      </p:sp>
    </p:spTree>
    <p:extLst>
      <p:ext uri="{BB962C8B-B14F-4D97-AF65-F5344CB8AC3E}">
        <p14:creationId xmlns:p14="http://schemas.microsoft.com/office/powerpoint/2010/main" val="4270371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jdelijke aanduiding voor dia-afbeelding 1"/>
          <p:cNvSpPr>
            <a:spLocks noGrp="1" noRot="1" noChangeAspect="1" noTextEdit="1"/>
          </p:cNvSpPr>
          <p:nvPr>
            <p:ph type="sldImg"/>
          </p:nvPr>
        </p:nvSpPr>
        <p:spPr>
          <a:ln/>
        </p:spPr>
      </p:sp>
      <p:sp>
        <p:nvSpPr>
          <p:cNvPr id="47107" name="Tijdelijke aanduiding voor notities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nl-NL" dirty="0"/>
              <a:t>Dus:</a:t>
            </a:r>
          </a:p>
          <a:p>
            <a:pPr marL="168244" indent="-168244">
              <a:buFontTx/>
              <a:buChar char="-"/>
              <a:defRPr/>
            </a:pPr>
            <a:r>
              <a:rPr lang="nl-NL" dirty="0"/>
              <a:t>Alleen add</a:t>
            </a:r>
          </a:p>
          <a:p>
            <a:pPr marL="168244" indent="-168244">
              <a:buFontTx/>
              <a:buChar char="-"/>
              <a:defRPr/>
            </a:pPr>
            <a:r>
              <a:rPr lang="nl-NL" dirty="0"/>
              <a:t>No passwords</a:t>
            </a:r>
          </a:p>
        </p:txBody>
      </p:sp>
      <p:sp>
        <p:nvSpPr>
          <p:cNvPr id="48132"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8133"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8134"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1B43C662-6F43-4639-BD50-E20DCFEC0EFE}" type="slidenum">
              <a:rPr lang="en-US" altLang="nl-NL" b="0" smtClean="0">
                <a:latin typeface="Arial" charset="0"/>
              </a:rPr>
              <a:pPr/>
              <a:t>21</a:t>
            </a:fld>
            <a:endParaRPr lang="en-US" altLang="nl-NL" b="0">
              <a:latin typeface="Arial" charset="0"/>
            </a:endParaRPr>
          </a:p>
        </p:txBody>
      </p:sp>
    </p:spTree>
    <p:extLst>
      <p:ext uri="{BB962C8B-B14F-4D97-AF65-F5344CB8AC3E}">
        <p14:creationId xmlns:p14="http://schemas.microsoft.com/office/powerpoint/2010/main" val="2588584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jdelijke aanduiding voor dia-afbeelding 1"/>
          <p:cNvSpPr>
            <a:spLocks noGrp="1" noRot="1" noChangeAspect="1" noTextEdit="1"/>
          </p:cNvSpPr>
          <p:nvPr>
            <p:ph type="sldImg"/>
          </p:nvPr>
        </p:nvSpPr>
        <p:spPr>
          <a:ln/>
        </p:spPr>
      </p:sp>
      <p:sp>
        <p:nvSpPr>
          <p:cNvPr id="48131" name="Tijdelijke aanduiding voor notities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68244" indent="-168244">
              <a:buFontTx/>
              <a:buChar char="-"/>
              <a:defRPr/>
            </a:pPr>
            <a:r>
              <a:rPr lang="nl-NL" dirty="0"/>
              <a:t>Modify / delete</a:t>
            </a:r>
          </a:p>
          <a:p>
            <a:pPr marL="168244" indent="-168244">
              <a:buFontTx/>
              <a:buChar char="-"/>
              <a:defRPr/>
            </a:pPr>
            <a:r>
              <a:rPr lang="nl-NL" dirty="0"/>
              <a:t>Standard</a:t>
            </a:r>
          </a:p>
          <a:p>
            <a:pPr marL="168244" indent="-168244">
              <a:buFontTx/>
              <a:buChar char="-"/>
              <a:defRPr/>
            </a:pPr>
            <a:r>
              <a:rPr lang="nl-NL" dirty="0"/>
              <a:t>Zelfs schema aanpassen.</a:t>
            </a:r>
          </a:p>
          <a:p>
            <a:pPr marL="168244" indent="-168244">
              <a:buFontTx/>
              <a:buChar char="-"/>
              <a:defRPr/>
            </a:pPr>
            <a:endParaRPr lang="nl-NL" dirty="0"/>
          </a:p>
          <a:p>
            <a:pPr marL="168244" indent="-168244">
              <a:buFontTx/>
              <a:buChar char="-"/>
              <a:defRPr/>
            </a:pPr>
            <a:r>
              <a:rPr lang="nl-NL" dirty="0"/>
              <a:t>Passwords kunnen wel, maar dan als replace en met ssl en als base64 encoded unicode string:</a:t>
            </a:r>
          </a:p>
          <a:p>
            <a:pPr>
              <a:defRPr/>
            </a:pPr>
            <a:r>
              <a:rPr lang="nl-NL" dirty="0"/>
              <a:t>dn: CN=Guy Thomas, OU=Birmingham, DC=cp,DC=com</a:t>
            </a:r>
            <a:br>
              <a:rPr lang="nl-NL" dirty="0"/>
            </a:br>
            <a:r>
              <a:rPr lang="nl-NL" dirty="0"/>
              <a:t>changetype: modify</a:t>
            </a:r>
            <a:br>
              <a:rPr lang="nl-NL" dirty="0"/>
            </a:br>
            <a:r>
              <a:rPr lang="nl-NL" dirty="0"/>
              <a:t>replace: unicodePwd</a:t>
            </a:r>
            <a:br>
              <a:rPr lang="nl-NL" dirty="0"/>
            </a:br>
            <a:r>
              <a:rPr lang="nl-NL" dirty="0"/>
              <a:t>unicodePwd::IgBZAG8AdQByAE4AZQB3AFAAdwBkACIA</a:t>
            </a:r>
          </a:p>
          <a:p>
            <a:pPr>
              <a:defRPr/>
            </a:pPr>
            <a:endParaRPr lang="nl-NL" dirty="0"/>
          </a:p>
          <a:p>
            <a:pPr>
              <a:defRPr/>
            </a:pPr>
            <a:r>
              <a:rPr lang="nl-NL" dirty="0">
                <a:hlinkClick r:id="rId3"/>
              </a:rPr>
              <a:t>http://support.microsoft.com/kb/263991</a:t>
            </a:r>
            <a:endParaRPr lang="nl-NL" dirty="0"/>
          </a:p>
          <a:p>
            <a:pPr>
              <a:defRPr/>
            </a:pPr>
            <a:endParaRPr lang="nl-NL" dirty="0"/>
          </a:p>
        </p:txBody>
      </p:sp>
      <p:sp>
        <p:nvSpPr>
          <p:cNvPr id="49156"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49157"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49158"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7705A8D7-BF26-434E-8F7F-CDD2F4511EEA}" type="slidenum">
              <a:rPr lang="en-US" altLang="nl-NL" b="0" smtClean="0">
                <a:latin typeface="Arial" charset="0"/>
              </a:rPr>
              <a:pPr/>
              <a:t>22</a:t>
            </a:fld>
            <a:endParaRPr lang="en-US" altLang="nl-NL" b="0">
              <a:latin typeface="Arial" charset="0"/>
            </a:endParaRPr>
          </a:p>
        </p:txBody>
      </p:sp>
    </p:spTree>
    <p:extLst>
      <p:ext uri="{BB962C8B-B14F-4D97-AF65-F5344CB8AC3E}">
        <p14:creationId xmlns:p14="http://schemas.microsoft.com/office/powerpoint/2010/main" val="2807649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jdelijke aanduiding voor dia-afbeelding 1"/>
          <p:cNvSpPr>
            <a:spLocks noGrp="1" noRot="1" noChangeAspect="1" noTextEdit="1"/>
          </p:cNvSpPr>
          <p:nvPr>
            <p:ph type="sldImg"/>
          </p:nvPr>
        </p:nvSpPr>
        <p:spPr>
          <a:ln/>
        </p:spPr>
      </p:sp>
      <p:sp>
        <p:nvSpPr>
          <p:cNvPr id="50179"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b="1"/>
              <a:t>-hmdir\users\Denise\home     OF     hmdir\users\$username$\home </a:t>
            </a:r>
          </a:p>
          <a:p>
            <a:endParaRPr lang="nl-NL" altLang="nl-NL"/>
          </a:p>
        </p:txBody>
      </p:sp>
      <p:sp>
        <p:nvSpPr>
          <p:cNvPr id="50180"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0181"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0182"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8AFC0A99-AFC2-4933-8A9C-180819C698E1}" type="slidenum">
              <a:rPr lang="en-US" altLang="nl-NL" b="0" smtClean="0">
                <a:latin typeface="Arial" charset="0"/>
              </a:rPr>
              <a:pPr/>
              <a:t>23</a:t>
            </a:fld>
            <a:endParaRPr lang="en-US" altLang="nl-NL" b="0">
              <a:latin typeface="Arial" charset="0"/>
            </a:endParaRPr>
          </a:p>
        </p:txBody>
      </p:sp>
    </p:spTree>
    <p:extLst>
      <p:ext uri="{BB962C8B-B14F-4D97-AF65-F5344CB8AC3E}">
        <p14:creationId xmlns:p14="http://schemas.microsoft.com/office/powerpoint/2010/main" val="2749507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jdelijke aanduiding voor dia-afbeelding 1"/>
          <p:cNvSpPr>
            <a:spLocks noGrp="1" noRot="1" noChangeAspect="1" noTextEdit="1"/>
          </p:cNvSpPr>
          <p:nvPr>
            <p:ph type="sldImg"/>
          </p:nvPr>
        </p:nvSpPr>
        <p:spPr>
          <a:ln/>
        </p:spPr>
      </p:sp>
      <p:sp>
        <p:nvSpPr>
          <p:cNvPr id="51203"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p>
        </p:txBody>
      </p:sp>
      <p:sp>
        <p:nvSpPr>
          <p:cNvPr id="51204"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1205"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1206"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02A820BE-06B8-4CC8-BB03-B8E65EE6091D}" type="slidenum">
              <a:rPr lang="en-US" altLang="nl-NL" b="0" smtClean="0">
                <a:latin typeface="Arial" charset="0"/>
              </a:rPr>
              <a:pPr/>
              <a:t>24</a:t>
            </a:fld>
            <a:endParaRPr lang="en-US" altLang="nl-NL" b="0">
              <a:latin typeface="Arial" charset="0"/>
            </a:endParaRPr>
          </a:p>
        </p:txBody>
      </p:sp>
    </p:spTree>
    <p:extLst>
      <p:ext uri="{BB962C8B-B14F-4D97-AF65-F5344CB8AC3E}">
        <p14:creationId xmlns:p14="http://schemas.microsoft.com/office/powerpoint/2010/main" val="36234717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jdelijke aanduiding voor dia-afbeelding 1"/>
          <p:cNvSpPr>
            <a:spLocks noGrp="1" noRot="1" noChangeAspect="1" noTextEdit="1"/>
          </p:cNvSpPr>
          <p:nvPr>
            <p:ph type="sldImg"/>
          </p:nvPr>
        </p:nvSpPr>
        <p:spPr>
          <a:ln/>
        </p:spPr>
      </p:sp>
      <p:sp>
        <p:nvSpPr>
          <p:cNvPr id="52227"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nl-NL" dirty="0"/>
              <a:t>Examples:</a:t>
            </a:r>
          </a:p>
          <a:p>
            <a:r>
              <a:rPr lang="en-US" altLang="nl-NL" dirty="0"/>
              <a:t>To find all computers that have been inactive for the last four weeks and</a:t>
            </a:r>
          </a:p>
          <a:p>
            <a:r>
              <a:rPr lang="en-US" altLang="nl-NL" dirty="0"/>
              <a:t>remove them from the directory:</a:t>
            </a:r>
          </a:p>
          <a:p>
            <a:endParaRPr lang="en-US" altLang="nl-NL" dirty="0"/>
          </a:p>
          <a:p>
            <a:r>
              <a:rPr lang="en-US" altLang="nl-NL" dirty="0"/>
              <a:t>        </a:t>
            </a:r>
            <a:r>
              <a:rPr lang="en-US" altLang="nl-NL" dirty="0" err="1"/>
              <a:t>dsquery</a:t>
            </a:r>
            <a:r>
              <a:rPr lang="en-US" altLang="nl-NL" dirty="0"/>
              <a:t> computer -inactive 4 | </a:t>
            </a:r>
            <a:r>
              <a:rPr lang="en-US" altLang="nl-NL" dirty="0" err="1"/>
              <a:t>dsrm</a:t>
            </a:r>
            <a:endParaRPr lang="en-US" altLang="nl-NL" dirty="0"/>
          </a:p>
          <a:p>
            <a:endParaRPr lang="en-US" altLang="nl-NL" dirty="0"/>
          </a:p>
          <a:p>
            <a:r>
              <a:rPr lang="en-US" altLang="nl-NL" dirty="0"/>
              <a:t>To find all users in the organizational unit</a:t>
            </a:r>
          </a:p>
          <a:p>
            <a:r>
              <a:rPr lang="en-US" altLang="nl-NL" dirty="0"/>
              <a:t>"</a:t>
            </a:r>
            <a:r>
              <a:rPr lang="en-US" altLang="nl-NL" dirty="0" err="1"/>
              <a:t>ou</a:t>
            </a:r>
            <a:r>
              <a:rPr lang="en-US" altLang="nl-NL" dirty="0"/>
              <a:t>=</a:t>
            </a:r>
            <a:r>
              <a:rPr lang="en-US" altLang="nl-NL" dirty="0" err="1"/>
              <a:t>Marketing,dc</a:t>
            </a:r>
            <a:r>
              <a:rPr lang="en-US" altLang="nl-NL" dirty="0"/>
              <a:t>=</a:t>
            </a:r>
            <a:r>
              <a:rPr lang="en-US" altLang="nl-NL" dirty="0" err="1"/>
              <a:t>microsoft,dc</a:t>
            </a:r>
            <a:r>
              <a:rPr lang="en-US" altLang="nl-NL" dirty="0"/>
              <a:t>=com" and add them to the Marketing Staff group:</a:t>
            </a:r>
          </a:p>
          <a:p>
            <a:endParaRPr lang="en-US" altLang="nl-NL" dirty="0"/>
          </a:p>
          <a:p>
            <a:r>
              <a:rPr lang="en-US" altLang="nl-NL" dirty="0"/>
              <a:t>        </a:t>
            </a:r>
            <a:r>
              <a:rPr lang="en-US" altLang="nl-NL" dirty="0" err="1"/>
              <a:t>dsquery</a:t>
            </a:r>
            <a:r>
              <a:rPr lang="en-US" altLang="nl-NL" dirty="0"/>
              <a:t> user </a:t>
            </a:r>
            <a:r>
              <a:rPr lang="en-US" altLang="nl-NL" dirty="0" err="1"/>
              <a:t>ou</a:t>
            </a:r>
            <a:r>
              <a:rPr lang="en-US" altLang="nl-NL" dirty="0"/>
              <a:t>=</a:t>
            </a:r>
            <a:r>
              <a:rPr lang="en-US" altLang="nl-NL" dirty="0" err="1"/>
              <a:t>Marketing,dc</a:t>
            </a:r>
            <a:r>
              <a:rPr lang="en-US" altLang="nl-NL" dirty="0"/>
              <a:t>=</a:t>
            </a:r>
            <a:r>
              <a:rPr lang="en-US" altLang="nl-NL" dirty="0" err="1"/>
              <a:t>microsoft,dc</a:t>
            </a:r>
            <a:r>
              <a:rPr lang="en-US" altLang="nl-NL" dirty="0"/>
              <a:t>=com | </a:t>
            </a:r>
            <a:r>
              <a:rPr lang="en-US" altLang="nl-NL" dirty="0" err="1"/>
              <a:t>dsmod</a:t>
            </a:r>
            <a:r>
              <a:rPr lang="en-US" altLang="nl-NL" dirty="0"/>
              <a:t> group</a:t>
            </a:r>
          </a:p>
          <a:p>
            <a:r>
              <a:rPr lang="en-US" altLang="nl-NL" dirty="0"/>
              <a:t>        "</a:t>
            </a:r>
            <a:r>
              <a:rPr lang="en-US" altLang="nl-NL" dirty="0" err="1"/>
              <a:t>cn</a:t>
            </a:r>
            <a:r>
              <a:rPr lang="en-US" altLang="nl-NL" dirty="0"/>
              <a:t>=Marketing </a:t>
            </a:r>
            <a:r>
              <a:rPr lang="en-US" altLang="nl-NL" dirty="0" err="1"/>
              <a:t>Staff,ou</a:t>
            </a:r>
            <a:r>
              <a:rPr lang="en-US" altLang="nl-NL" dirty="0"/>
              <a:t>=</a:t>
            </a:r>
            <a:r>
              <a:rPr lang="en-US" altLang="nl-NL" dirty="0" err="1"/>
              <a:t>Marketing,dc</a:t>
            </a:r>
            <a:r>
              <a:rPr lang="en-US" altLang="nl-NL" dirty="0"/>
              <a:t>=</a:t>
            </a:r>
            <a:r>
              <a:rPr lang="en-US" altLang="nl-NL" dirty="0" err="1"/>
              <a:t>microsoft,dc</a:t>
            </a:r>
            <a:r>
              <a:rPr lang="en-US" altLang="nl-NL" dirty="0"/>
              <a:t>=com" -</a:t>
            </a:r>
            <a:r>
              <a:rPr lang="en-US" altLang="nl-NL" dirty="0" err="1"/>
              <a:t>addmbr</a:t>
            </a:r>
            <a:endParaRPr lang="en-US" altLang="nl-NL" dirty="0"/>
          </a:p>
          <a:p>
            <a:endParaRPr lang="en-US" altLang="nl-NL" dirty="0"/>
          </a:p>
          <a:p>
            <a:r>
              <a:rPr lang="en-US" altLang="nl-NL" dirty="0"/>
              <a:t>To find all users with names starting with "John" and display his office</a:t>
            </a:r>
          </a:p>
          <a:p>
            <a:r>
              <a:rPr lang="en-US" altLang="nl-NL" dirty="0"/>
              <a:t>number:</a:t>
            </a:r>
          </a:p>
          <a:p>
            <a:endParaRPr lang="en-US" altLang="nl-NL" dirty="0"/>
          </a:p>
          <a:p>
            <a:r>
              <a:rPr lang="en-US" altLang="nl-NL" dirty="0"/>
              <a:t>        </a:t>
            </a:r>
            <a:r>
              <a:rPr lang="en-US" altLang="nl-NL" dirty="0" err="1"/>
              <a:t>dsquery</a:t>
            </a:r>
            <a:r>
              <a:rPr lang="en-US" altLang="nl-NL" dirty="0"/>
              <a:t> user -name John* | </a:t>
            </a:r>
            <a:r>
              <a:rPr lang="en-US" altLang="nl-NL" dirty="0" err="1"/>
              <a:t>dsget</a:t>
            </a:r>
            <a:r>
              <a:rPr lang="en-US" altLang="nl-NL" dirty="0"/>
              <a:t> user -office</a:t>
            </a:r>
          </a:p>
          <a:p>
            <a:endParaRPr lang="en-US" altLang="nl-NL" dirty="0"/>
          </a:p>
          <a:p>
            <a:r>
              <a:rPr lang="en-US" altLang="nl-NL" dirty="0"/>
              <a:t>To display an arbitrary set of attributes of any given object in the</a:t>
            </a:r>
          </a:p>
          <a:p>
            <a:r>
              <a:rPr lang="en-US" altLang="nl-NL" dirty="0"/>
              <a:t>directory use the </a:t>
            </a:r>
            <a:r>
              <a:rPr lang="en-US" altLang="nl-NL" dirty="0" err="1"/>
              <a:t>dsquery</a:t>
            </a:r>
            <a:r>
              <a:rPr lang="en-US" altLang="nl-NL" dirty="0"/>
              <a:t> * command. For example, to display the</a:t>
            </a:r>
          </a:p>
          <a:p>
            <a:r>
              <a:rPr lang="en-US" altLang="nl-NL" dirty="0" err="1"/>
              <a:t>sAMAccountName</a:t>
            </a:r>
            <a:r>
              <a:rPr lang="en-US" altLang="nl-NL" dirty="0"/>
              <a:t>, </a:t>
            </a:r>
            <a:r>
              <a:rPr lang="en-US" altLang="nl-NL" dirty="0" err="1"/>
              <a:t>userPrincipalName</a:t>
            </a:r>
            <a:r>
              <a:rPr lang="en-US" altLang="nl-NL" dirty="0"/>
              <a:t> and department attributes of the object</a:t>
            </a:r>
          </a:p>
          <a:p>
            <a:r>
              <a:rPr lang="en-US" altLang="nl-NL" dirty="0"/>
              <a:t>whose DN is </a:t>
            </a:r>
            <a:r>
              <a:rPr lang="en-US" altLang="nl-NL" dirty="0" err="1"/>
              <a:t>ou</a:t>
            </a:r>
            <a:r>
              <a:rPr lang="en-US" altLang="nl-NL" dirty="0"/>
              <a:t>=</a:t>
            </a:r>
            <a:r>
              <a:rPr lang="en-US" altLang="nl-NL" dirty="0" err="1"/>
              <a:t>Test,dc</a:t>
            </a:r>
            <a:r>
              <a:rPr lang="en-US" altLang="nl-NL" dirty="0"/>
              <a:t>=</a:t>
            </a:r>
            <a:r>
              <a:rPr lang="en-US" altLang="nl-NL" dirty="0" err="1"/>
              <a:t>microsoft,dc</a:t>
            </a:r>
            <a:r>
              <a:rPr lang="en-US" altLang="nl-NL" dirty="0"/>
              <a:t>=com:</a:t>
            </a:r>
          </a:p>
          <a:p>
            <a:endParaRPr lang="en-US" altLang="nl-NL" dirty="0"/>
          </a:p>
          <a:p>
            <a:r>
              <a:rPr lang="en-US" altLang="nl-NL" dirty="0"/>
              <a:t>        </a:t>
            </a:r>
            <a:r>
              <a:rPr lang="en-US" altLang="nl-NL" dirty="0" err="1"/>
              <a:t>dsquery</a:t>
            </a:r>
            <a:r>
              <a:rPr lang="en-US" altLang="nl-NL" dirty="0"/>
              <a:t> * </a:t>
            </a:r>
            <a:r>
              <a:rPr lang="en-US" altLang="nl-NL" dirty="0" err="1"/>
              <a:t>ou</a:t>
            </a:r>
            <a:r>
              <a:rPr lang="en-US" altLang="nl-NL" dirty="0"/>
              <a:t>=</a:t>
            </a:r>
            <a:r>
              <a:rPr lang="en-US" altLang="nl-NL" dirty="0" err="1"/>
              <a:t>Test,dc</a:t>
            </a:r>
            <a:r>
              <a:rPr lang="en-US" altLang="nl-NL" dirty="0"/>
              <a:t>=</a:t>
            </a:r>
            <a:r>
              <a:rPr lang="en-US" altLang="nl-NL" dirty="0" err="1"/>
              <a:t>microsoft,dc</a:t>
            </a:r>
            <a:r>
              <a:rPr lang="en-US" altLang="nl-NL" dirty="0"/>
              <a:t>=com -scope base</a:t>
            </a:r>
          </a:p>
          <a:p>
            <a:r>
              <a:rPr lang="en-US" altLang="nl-NL" dirty="0"/>
              <a:t>        -</a:t>
            </a:r>
            <a:r>
              <a:rPr lang="en-US" altLang="nl-NL" dirty="0" err="1"/>
              <a:t>attr</a:t>
            </a:r>
            <a:r>
              <a:rPr lang="en-US" altLang="nl-NL" dirty="0"/>
              <a:t> </a:t>
            </a:r>
            <a:r>
              <a:rPr lang="en-US" altLang="nl-NL" dirty="0" err="1"/>
              <a:t>sAMAccountName</a:t>
            </a:r>
            <a:r>
              <a:rPr lang="en-US" altLang="nl-NL" dirty="0"/>
              <a:t> </a:t>
            </a:r>
            <a:r>
              <a:rPr lang="en-US" altLang="nl-NL" dirty="0" err="1"/>
              <a:t>userPrincipalName</a:t>
            </a:r>
            <a:r>
              <a:rPr lang="en-US" altLang="nl-NL" dirty="0"/>
              <a:t> department</a:t>
            </a:r>
          </a:p>
          <a:p>
            <a:endParaRPr lang="en-US" altLang="nl-NL" dirty="0"/>
          </a:p>
          <a:p>
            <a:r>
              <a:rPr lang="en-US" altLang="nl-NL" dirty="0"/>
              <a:t>To read all attributes of the object whose DN is </a:t>
            </a:r>
            <a:r>
              <a:rPr lang="en-US" altLang="nl-NL" dirty="0" err="1"/>
              <a:t>ou</a:t>
            </a:r>
            <a:r>
              <a:rPr lang="en-US" altLang="nl-NL" dirty="0"/>
              <a:t>=</a:t>
            </a:r>
            <a:r>
              <a:rPr lang="en-US" altLang="nl-NL" dirty="0" err="1"/>
              <a:t>Test,dc</a:t>
            </a:r>
            <a:r>
              <a:rPr lang="en-US" altLang="nl-NL" dirty="0"/>
              <a:t>=</a:t>
            </a:r>
            <a:r>
              <a:rPr lang="en-US" altLang="nl-NL" dirty="0" err="1"/>
              <a:t>microsoft,dc</a:t>
            </a:r>
            <a:r>
              <a:rPr lang="en-US" altLang="nl-NL" dirty="0"/>
              <a:t>=com:</a:t>
            </a:r>
          </a:p>
          <a:p>
            <a:endParaRPr lang="en-US" altLang="nl-NL" dirty="0"/>
          </a:p>
          <a:p>
            <a:r>
              <a:rPr lang="en-US" altLang="nl-NL" dirty="0"/>
              <a:t>        </a:t>
            </a:r>
            <a:r>
              <a:rPr lang="en-US" altLang="nl-NL" dirty="0" err="1"/>
              <a:t>dsquery</a:t>
            </a:r>
            <a:r>
              <a:rPr lang="en-US" altLang="nl-NL" dirty="0"/>
              <a:t> * </a:t>
            </a:r>
            <a:r>
              <a:rPr lang="en-US" altLang="nl-NL" dirty="0" err="1"/>
              <a:t>ou</a:t>
            </a:r>
            <a:r>
              <a:rPr lang="en-US" altLang="nl-NL" dirty="0"/>
              <a:t>=</a:t>
            </a:r>
            <a:r>
              <a:rPr lang="en-US" altLang="nl-NL" dirty="0" err="1"/>
              <a:t>Test,dc</a:t>
            </a:r>
            <a:r>
              <a:rPr lang="en-US" altLang="nl-NL" dirty="0"/>
              <a:t>=</a:t>
            </a:r>
            <a:r>
              <a:rPr lang="en-US" altLang="nl-NL" dirty="0" err="1"/>
              <a:t>microsoft,dc</a:t>
            </a:r>
            <a:r>
              <a:rPr lang="en-US" altLang="nl-NL" dirty="0"/>
              <a:t>=com -scope base -</a:t>
            </a:r>
            <a:r>
              <a:rPr lang="en-US" altLang="nl-NL" dirty="0" err="1"/>
              <a:t>attr</a:t>
            </a:r>
            <a:r>
              <a:rPr lang="en-US" altLang="nl-NL" dirty="0"/>
              <a:t> *</a:t>
            </a:r>
          </a:p>
          <a:p>
            <a:endParaRPr lang="en-US" altLang="nl-NL" dirty="0"/>
          </a:p>
          <a:p>
            <a:r>
              <a:rPr lang="en-US" altLang="nl-NL" dirty="0"/>
              <a:t>Directory Service command-line tools help:</a:t>
            </a:r>
          </a:p>
          <a:p>
            <a:r>
              <a:rPr lang="en-US" altLang="nl-NL" dirty="0" err="1"/>
              <a:t>dsadd</a:t>
            </a:r>
            <a:r>
              <a:rPr lang="en-US" altLang="nl-NL" dirty="0"/>
              <a:t> /? - help for adding objects.</a:t>
            </a:r>
          </a:p>
          <a:p>
            <a:r>
              <a:rPr lang="en-US" altLang="nl-NL" dirty="0" err="1"/>
              <a:t>dsget</a:t>
            </a:r>
            <a:r>
              <a:rPr lang="en-US" altLang="nl-NL" dirty="0"/>
              <a:t> /? - help for displaying objects.</a:t>
            </a:r>
          </a:p>
          <a:p>
            <a:r>
              <a:rPr lang="en-US" altLang="nl-NL" dirty="0" err="1"/>
              <a:t>dsmod</a:t>
            </a:r>
            <a:r>
              <a:rPr lang="en-US" altLang="nl-NL" dirty="0"/>
              <a:t> /? - help for modifying objects.</a:t>
            </a:r>
          </a:p>
          <a:p>
            <a:r>
              <a:rPr lang="en-US" altLang="nl-NL" dirty="0" err="1"/>
              <a:t>dsmove</a:t>
            </a:r>
            <a:r>
              <a:rPr lang="en-US" altLang="nl-NL" dirty="0"/>
              <a:t> /? - help for moving objects.</a:t>
            </a:r>
          </a:p>
          <a:p>
            <a:r>
              <a:rPr lang="en-US" altLang="nl-NL" dirty="0" err="1"/>
              <a:t>dsquery</a:t>
            </a:r>
            <a:r>
              <a:rPr lang="en-US" altLang="nl-NL" dirty="0"/>
              <a:t> /? - help for finding objects matching search criteria.</a:t>
            </a:r>
          </a:p>
          <a:p>
            <a:r>
              <a:rPr lang="en-US" altLang="nl-NL" dirty="0" err="1"/>
              <a:t>dsrm</a:t>
            </a:r>
            <a:r>
              <a:rPr lang="en-US" altLang="nl-NL" dirty="0"/>
              <a:t> /? - help for deleting objects.</a:t>
            </a:r>
          </a:p>
          <a:p>
            <a:endParaRPr lang="en-US" altLang="nl-NL" dirty="0"/>
          </a:p>
          <a:p>
            <a:r>
              <a:rPr lang="en-US" altLang="nl-NL" dirty="0"/>
              <a:t>PS C:\Users\Administrator&gt; </a:t>
            </a:r>
            <a:r>
              <a:rPr lang="en-US" altLang="nl-NL" dirty="0" err="1"/>
              <a:t>dsquery</a:t>
            </a:r>
            <a:r>
              <a:rPr lang="en-US" altLang="nl-NL" dirty="0"/>
              <a:t> user "OU=</a:t>
            </a:r>
            <a:r>
              <a:rPr lang="en-US" altLang="nl-NL" dirty="0" err="1"/>
              <a:t>ouRienkTest,DC</a:t>
            </a:r>
            <a:r>
              <a:rPr lang="en-US" altLang="nl-NL" dirty="0"/>
              <a:t>=</a:t>
            </a:r>
            <a:r>
              <a:rPr lang="en-US" altLang="nl-NL" dirty="0" err="1"/>
              <a:t>school,DC</a:t>
            </a:r>
            <a:r>
              <a:rPr lang="en-US" altLang="nl-NL" dirty="0"/>
              <a:t>=test"</a:t>
            </a:r>
          </a:p>
          <a:p>
            <a:r>
              <a:rPr lang="en-US" altLang="nl-NL" dirty="0"/>
              <a:t>"CN=</a:t>
            </a:r>
            <a:r>
              <a:rPr lang="en-US" altLang="nl-NL" dirty="0" err="1"/>
              <a:t>henk</a:t>
            </a:r>
            <a:r>
              <a:rPr lang="en-US" altLang="nl-NL" dirty="0"/>
              <a:t> </a:t>
            </a:r>
            <a:r>
              <a:rPr lang="en-US" altLang="nl-NL" dirty="0" err="1"/>
              <a:t>henk,OU</a:t>
            </a:r>
            <a:r>
              <a:rPr lang="en-US" altLang="nl-NL" dirty="0"/>
              <a:t>=</a:t>
            </a:r>
            <a:r>
              <a:rPr lang="en-US" altLang="nl-NL" dirty="0" err="1"/>
              <a:t>ouRienkTest,DC</a:t>
            </a:r>
            <a:r>
              <a:rPr lang="en-US" altLang="nl-NL" dirty="0"/>
              <a:t>=</a:t>
            </a:r>
            <a:r>
              <a:rPr lang="en-US" altLang="nl-NL" dirty="0" err="1"/>
              <a:t>school,DC</a:t>
            </a:r>
            <a:r>
              <a:rPr lang="en-US" altLang="nl-NL" dirty="0"/>
              <a:t>=test"</a:t>
            </a:r>
          </a:p>
          <a:p>
            <a:r>
              <a:rPr lang="en-US" altLang="nl-NL" dirty="0"/>
              <a:t>"CN=</a:t>
            </a:r>
            <a:r>
              <a:rPr lang="en-US" altLang="nl-NL" dirty="0" err="1"/>
              <a:t>Kareltje</a:t>
            </a:r>
            <a:r>
              <a:rPr lang="en-US" altLang="nl-NL" dirty="0"/>
              <a:t> </a:t>
            </a:r>
            <a:r>
              <a:rPr lang="en-US" altLang="nl-NL" dirty="0" err="1"/>
              <a:t>Schaafsma,OU</a:t>
            </a:r>
            <a:r>
              <a:rPr lang="en-US" altLang="nl-NL" dirty="0"/>
              <a:t>=</a:t>
            </a:r>
            <a:r>
              <a:rPr lang="en-US" altLang="nl-NL" dirty="0" err="1"/>
              <a:t>ouRienkTest,DC</a:t>
            </a:r>
            <a:r>
              <a:rPr lang="en-US" altLang="nl-NL" dirty="0"/>
              <a:t>=</a:t>
            </a:r>
            <a:r>
              <a:rPr lang="en-US" altLang="nl-NL" dirty="0" err="1"/>
              <a:t>school,DC</a:t>
            </a:r>
            <a:r>
              <a:rPr lang="en-US" altLang="nl-NL" dirty="0"/>
              <a:t>=test“</a:t>
            </a:r>
          </a:p>
          <a:p>
            <a:endParaRPr lang="nl-NL" altLang="nl-NL" dirty="0"/>
          </a:p>
        </p:txBody>
      </p:sp>
      <p:sp>
        <p:nvSpPr>
          <p:cNvPr id="52228"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2229"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2230"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1ED9600B-F235-42C6-8B63-9909EAFC3CBF}" type="slidenum">
              <a:rPr lang="en-US" altLang="nl-NL" b="0" smtClean="0">
                <a:latin typeface="Arial" charset="0"/>
              </a:rPr>
              <a:pPr/>
              <a:t>25</a:t>
            </a:fld>
            <a:endParaRPr lang="en-US" altLang="nl-NL" b="0">
              <a:latin typeface="Arial" charset="0"/>
            </a:endParaRPr>
          </a:p>
        </p:txBody>
      </p:sp>
    </p:spTree>
    <p:extLst>
      <p:ext uri="{BB962C8B-B14F-4D97-AF65-F5344CB8AC3E}">
        <p14:creationId xmlns:p14="http://schemas.microsoft.com/office/powerpoint/2010/main" val="2002966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jdelijke aanduiding voor dia-afbeelding 1"/>
          <p:cNvSpPr>
            <a:spLocks noGrp="1" noRot="1" noChangeAspect="1" noTextEdit="1"/>
          </p:cNvSpPr>
          <p:nvPr>
            <p:ph type="sldImg"/>
          </p:nvPr>
        </p:nvSpPr>
        <p:spPr>
          <a:ln/>
        </p:spPr>
      </p:sp>
      <p:sp>
        <p:nvSpPr>
          <p:cNvPr id="53251"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p>
        </p:txBody>
      </p:sp>
      <p:sp>
        <p:nvSpPr>
          <p:cNvPr id="53252"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3253"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3254"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54C22042-7856-4335-9386-A596C6E08896}" type="slidenum">
              <a:rPr lang="en-US" altLang="nl-NL" b="0" smtClean="0">
                <a:latin typeface="Arial" charset="0"/>
              </a:rPr>
              <a:pPr/>
              <a:t>26</a:t>
            </a:fld>
            <a:endParaRPr lang="en-US" altLang="nl-NL" b="0">
              <a:latin typeface="Arial" charset="0"/>
            </a:endParaRPr>
          </a:p>
        </p:txBody>
      </p:sp>
    </p:spTree>
    <p:extLst>
      <p:ext uri="{BB962C8B-B14F-4D97-AF65-F5344CB8AC3E}">
        <p14:creationId xmlns:p14="http://schemas.microsoft.com/office/powerpoint/2010/main" val="215445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jdelijke aanduiding voor dia-afbeelding 1"/>
          <p:cNvSpPr>
            <a:spLocks noGrp="1" noRot="1" noChangeAspect="1" noTextEdit="1"/>
          </p:cNvSpPr>
          <p:nvPr>
            <p:ph type="sldImg"/>
          </p:nvPr>
        </p:nvSpPr>
        <p:spPr>
          <a:ln/>
        </p:spPr>
      </p:sp>
      <p:sp>
        <p:nvSpPr>
          <p:cNvPr id="54275"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t>PS C:\Users\Administrator\Desktop&gt; type .\wsh.vbs</a:t>
            </a:r>
          </a:p>
          <a:p>
            <a:r>
              <a:rPr lang="nl-NL" altLang="nl-NL"/>
              <a:t>Wscript.Echo "hoi"</a:t>
            </a:r>
          </a:p>
          <a:p>
            <a:endParaRPr lang="nl-NL" altLang="nl-NL"/>
          </a:p>
          <a:p>
            <a:r>
              <a:rPr lang="nl-NL" altLang="nl-NL"/>
              <a:t>PS C:\Users\Administrator\Desktop&gt; cscript.exe .\wsh.vbs</a:t>
            </a:r>
          </a:p>
          <a:p>
            <a:r>
              <a:rPr lang="nl-NL" altLang="nl-NL"/>
              <a:t>hoi</a:t>
            </a:r>
          </a:p>
          <a:p>
            <a:endParaRPr lang="nl-NL" altLang="nl-NL"/>
          </a:p>
          <a:p>
            <a:r>
              <a:rPr lang="nl-NL" altLang="nl-NL"/>
              <a:t>PS C:\Users\Administrator\Desktop&gt; wscript.exe .\wsh.vbs</a:t>
            </a:r>
          </a:p>
          <a:p>
            <a:r>
              <a:rPr lang="nl-NL" altLang="nl-NL"/>
              <a:t>&lt;window met hoi&gt;</a:t>
            </a:r>
          </a:p>
          <a:p>
            <a:endParaRPr lang="nl-NL" altLang="nl-NL"/>
          </a:p>
        </p:txBody>
      </p:sp>
      <p:sp>
        <p:nvSpPr>
          <p:cNvPr id="54276"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4277"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4278"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C301439B-11DC-4AD2-8955-E66BE06DA260}" type="slidenum">
              <a:rPr lang="en-US" altLang="nl-NL" b="0" smtClean="0">
                <a:latin typeface="Arial" charset="0"/>
              </a:rPr>
              <a:pPr/>
              <a:t>27</a:t>
            </a:fld>
            <a:endParaRPr lang="en-US" altLang="nl-NL" b="0">
              <a:latin typeface="Arial" charset="0"/>
            </a:endParaRPr>
          </a:p>
        </p:txBody>
      </p:sp>
    </p:spTree>
    <p:extLst>
      <p:ext uri="{BB962C8B-B14F-4D97-AF65-F5344CB8AC3E}">
        <p14:creationId xmlns:p14="http://schemas.microsoft.com/office/powerpoint/2010/main" val="1567311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jdelijke aanduiding voor dia-afbeelding 1"/>
          <p:cNvSpPr>
            <a:spLocks noGrp="1" noRot="1" noChangeAspect="1" noTextEdit="1"/>
          </p:cNvSpPr>
          <p:nvPr>
            <p:ph type="sldImg"/>
          </p:nvPr>
        </p:nvSpPr>
        <p:spPr>
          <a:ln/>
        </p:spPr>
      </p:sp>
      <p:sp>
        <p:nvSpPr>
          <p:cNvPr id="55299"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nl-NL"/>
              <a:t>Profile tab</a:t>
            </a:r>
          </a:p>
          <a:p>
            <a:endParaRPr lang="nl-NL" altLang="nl-NL"/>
          </a:p>
        </p:txBody>
      </p:sp>
      <p:sp>
        <p:nvSpPr>
          <p:cNvPr id="55300" name="Tijdelijke aanduiding voor koptekst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5301" name="Tijdelijke aanduiding voor datum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5302" name="Tijdelijke aanduiding voor dianumm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3B3FF94E-44CD-46EF-9223-22EDE5522D43}" type="slidenum">
              <a:rPr lang="en-US" altLang="nl-NL" b="0" smtClean="0">
                <a:latin typeface="Arial" charset="0"/>
              </a:rPr>
              <a:pPr/>
              <a:t>28</a:t>
            </a:fld>
            <a:endParaRPr lang="en-US" altLang="nl-NL" b="0">
              <a:latin typeface="Arial" charset="0"/>
            </a:endParaRPr>
          </a:p>
        </p:txBody>
      </p:sp>
    </p:spTree>
    <p:extLst>
      <p:ext uri="{BB962C8B-B14F-4D97-AF65-F5344CB8AC3E}">
        <p14:creationId xmlns:p14="http://schemas.microsoft.com/office/powerpoint/2010/main" val="1406471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nl-NL" dirty="0"/>
              <a:t>As a reminder, here's how the roaming profile works. The user logs on, the profile is retrieved from the server where it's stored, and then the profile is copied down to the local computer. When the user logs off, any changes to the profile are copied back up to the server where the roaming profile is stored.</a:t>
            </a:r>
          </a:p>
          <a:p>
            <a:r>
              <a:rPr lang="en-US" altLang="nl-NL" dirty="0"/>
              <a:t>Mandatory profile == roaming, maar </a:t>
            </a:r>
            <a:r>
              <a:rPr lang="en-US" altLang="nl-NL" dirty="0" err="1"/>
              <a:t>dan</a:t>
            </a:r>
            <a:r>
              <a:rPr lang="en-US" altLang="nl-NL" dirty="0"/>
              <a:t> </a:t>
            </a:r>
            <a:r>
              <a:rPr lang="en-US" altLang="nl-NL" dirty="0" err="1"/>
              <a:t>geconfigureerd</a:t>
            </a:r>
            <a:r>
              <a:rPr lang="en-US" altLang="nl-NL" dirty="0"/>
              <a:t> </a:t>
            </a:r>
            <a:r>
              <a:rPr lang="en-US" altLang="nl-NL" dirty="0" err="1"/>
              <a:t>als</a:t>
            </a:r>
            <a:r>
              <a:rPr lang="en-US" altLang="nl-NL" dirty="0"/>
              <a:t> read only.</a:t>
            </a:r>
          </a:p>
          <a:p>
            <a:endParaRPr lang="en-US" altLang="nl-NL" dirty="0"/>
          </a:p>
          <a:p>
            <a:r>
              <a:rPr lang="en-US" altLang="nl-NL" dirty="0"/>
              <a:t>Windows Vista and 7 will get their profile stored on the server with .V2 added (example: \\server\profiles\username.V2)</a:t>
            </a:r>
          </a:p>
          <a:p>
            <a:endParaRPr lang="nl-NL" altLang="nl-NL" dirty="0"/>
          </a:p>
          <a:p>
            <a:r>
              <a:rPr lang="en-US" altLang="nl-NL" dirty="0"/>
              <a:t>At first logon, a folder will typically be created under "Documents and Settings" (standard folder on English version of Windows 2000, XP and Windows Server 2003) matching the logon name of the user. Should a folder of that name already exist, the profile-creation process will create a new one, typically named </a:t>
            </a:r>
            <a:r>
              <a:rPr lang="en-US" altLang="nl-NL" dirty="0" err="1"/>
              <a:t>username.computername</a:t>
            </a:r>
            <a:r>
              <a:rPr lang="en-US" altLang="nl-NL" dirty="0"/>
              <a:t>, on workgroup computers, or </a:t>
            </a:r>
            <a:r>
              <a:rPr lang="en-US" altLang="nl-NL" dirty="0" err="1"/>
              <a:t>username.domainname</a:t>
            </a:r>
            <a:r>
              <a:rPr lang="en-US" altLang="nl-NL" dirty="0"/>
              <a:t> on Active Directory member computers.</a:t>
            </a:r>
          </a:p>
          <a:p>
            <a:endParaRPr lang="en-US" altLang="nl-NL" dirty="0"/>
          </a:p>
          <a:p>
            <a:r>
              <a:rPr lang="en-US" altLang="nl-NL" dirty="0"/>
              <a:t>The new profile is created by making a copy of a special profile named Default User. It is permissible to modify this Default User profile</a:t>
            </a:r>
          </a:p>
          <a:p>
            <a:endParaRPr lang="nl-NL" altLang="nl-NL" dirty="0"/>
          </a:p>
          <a:p>
            <a:r>
              <a:rPr lang="nl-NL" altLang="nl-NL" b="1" dirty="0"/>
              <a:t>Profile contents</a:t>
            </a:r>
          </a:p>
          <a:p>
            <a:r>
              <a:rPr lang="en-US" altLang="nl-NL" dirty="0"/>
              <a:t>"NTUSER.DAT" - Within the root of the profile</a:t>
            </a:r>
          </a:p>
          <a:p>
            <a:r>
              <a:rPr lang="en-US" altLang="nl-NL" dirty="0"/>
              <a:t>"My Documents" - This folder is intended to contain the user's work</a:t>
            </a:r>
          </a:p>
          <a:p>
            <a:r>
              <a:rPr lang="en-US" altLang="nl-NL" dirty="0"/>
              <a:t>Favorites</a:t>
            </a:r>
          </a:p>
          <a:p>
            <a:r>
              <a:rPr lang="en-US" altLang="nl-NL" dirty="0"/>
              <a:t>Start menu</a:t>
            </a:r>
          </a:p>
          <a:p>
            <a:r>
              <a:rPr lang="en-US" altLang="nl-NL" dirty="0"/>
              <a:t>Desktop</a:t>
            </a:r>
          </a:p>
          <a:p>
            <a:r>
              <a:rPr lang="en-US" altLang="nl-NL" dirty="0"/>
              <a:t>Background</a:t>
            </a:r>
          </a:p>
          <a:p>
            <a:r>
              <a:rPr lang="en-US" altLang="nl-NL" dirty="0"/>
              <a:t>Application data (</a:t>
            </a:r>
            <a:r>
              <a:rPr lang="en-US" altLang="nl-NL" dirty="0" err="1"/>
              <a:t>bv</a:t>
            </a:r>
            <a:r>
              <a:rPr lang="en-US" altLang="nl-NL" dirty="0"/>
              <a:t> recent files opened)</a:t>
            </a:r>
          </a:p>
          <a:p>
            <a:endParaRPr lang="en-US" altLang="nl-NL" dirty="0"/>
          </a:p>
          <a:p>
            <a:r>
              <a:rPr lang="en-US" altLang="nl-NL" dirty="0"/>
              <a:t>"All Users" - This profile is present mainly to answer an issue related to software installation. It provides a way for setup programs to create desktop or start-menu shortcuts. "All Users" acts purely as an information-store, it is never loaded as an active profile.</a:t>
            </a:r>
          </a:p>
          <a:p>
            <a:endParaRPr lang="nl-NL" altLang="nl-NL" dirty="0"/>
          </a:p>
        </p:txBody>
      </p:sp>
      <p:sp>
        <p:nvSpPr>
          <p:cNvPr id="5632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6325" name="Date Placeholder 4"/>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6326"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D5BEC21F-8018-4B40-995B-845E66649F19}" type="slidenum">
              <a:rPr lang="en-US" altLang="nl-NL" b="0" smtClean="0">
                <a:latin typeface="Arial" charset="0"/>
              </a:rPr>
              <a:pPr/>
              <a:t>29</a:t>
            </a:fld>
            <a:endParaRPr lang="en-US" altLang="nl-NL" b="0">
              <a:latin typeface="Arial" charset="0"/>
            </a:endParaRPr>
          </a:p>
        </p:txBody>
      </p:sp>
    </p:spTree>
    <p:extLst>
      <p:ext uri="{BB962C8B-B14F-4D97-AF65-F5344CB8AC3E}">
        <p14:creationId xmlns:p14="http://schemas.microsoft.com/office/powerpoint/2010/main" val="235408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73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73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7364A468-862B-4FC5-87F2-253A2087B30F}" type="slidenum">
              <a:rPr lang="en-US" altLang="nl-NL" b="0" smtClean="0">
                <a:latin typeface="Arial" charset="0"/>
              </a:rPr>
              <a:pPr/>
              <a:t>30</a:t>
            </a:fld>
            <a:endParaRPr lang="en-US" altLang="nl-NL" b="0">
              <a:latin typeface="Arial" charset="0"/>
            </a:endParaRPr>
          </a:p>
        </p:txBody>
      </p:sp>
      <p:sp>
        <p:nvSpPr>
          <p:cNvPr id="57349" name="Rectangle 2"/>
          <p:cNvSpPr>
            <a:spLocks noGrp="1" noRot="1" noChangeAspect="1" noChangeArrowheads="1" noTextEdit="1"/>
          </p:cNvSpPr>
          <p:nvPr>
            <p:ph type="sldImg"/>
          </p:nvPr>
        </p:nvSpPr>
        <p:spPr>
          <a:ln/>
        </p:spPr>
      </p:sp>
      <p:sp>
        <p:nvSpPr>
          <p:cNvPr id="57350"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l-NL" altLang="nl-NL"/>
          </a:p>
        </p:txBody>
      </p:sp>
    </p:spTree>
    <p:extLst>
      <p:ext uri="{BB962C8B-B14F-4D97-AF65-F5344CB8AC3E}">
        <p14:creationId xmlns:p14="http://schemas.microsoft.com/office/powerpoint/2010/main" val="5024479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solidFill>
                  <a:srgbClr val="336699"/>
                </a:solidFill>
                <a:latin typeface="Arial" charset="0"/>
              </a:rPr>
              <a:t>Module 7: Creating Active Directory® Domain Services User and Computer Objects</a:t>
            </a:r>
          </a:p>
        </p:txBody>
      </p:sp>
      <p:sp>
        <p:nvSpPr>
          <p:cNvPr id="583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83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CE7C737B-8394-480A-B155-9094E5173B4E}" type="slidenum">
              <a:rPr lang="en-US" altLang="nl-NL" b="0" smtClean="0">
                <a:latin typeface="Arial" charset="0"/>
              </a:rPr>
              <a:pPr/>
              <a:t>31</a:t>
            </a:fld>
            <a:endParaRPr lang="en-US" altLang="nl-NL" b="0">
              <a:latin typeface="Arial" charset="0"/>
            </a:endParaRPr>
          </a:p>
        </p:txBody>
      </p:sp>
      <p:sp>
        <p:nvSpPr>
          <p:cNvPr id="58373" name="Rectangle 2"/>
          <p:cNvSpPr>
            <a:spLocks noGrp="1" noRot="1" noChangeAspect="1" noChangeArrowheads="1" noTextEdit="1"/>
          </p:cNvSpPr>
          <p:nvPr>
            <p:ph type="sldImg"/>
          </p:nvPr>
        </p:nvSpPr>
        <p:spPr>
          <a:ln/>
        </p:spPr>
      </p:sp>
      <p:sp>
        <p:nvSpPr>
          <p:cNvPr id="58374" name="Rectangle 3"/>
          <p:cNvSpPr>
            <a:spLocks noGrp="1" noChangeArrowheads="1"/>
          </p:cNvSpPr>
          <p:nvPr>
            <p:ph type="body" idx="1"/>
          </p:nvPr>
        </p:nvSpPr>
        <p:spPr>
          <a:xfrm>
            <a:off x="307492" y="2023673"/>
            <a:ext cx="6149837" cy="68564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nl-NL" altLang="nl-NL"/>
              <a:t>Active directory users and computers: loopje...</a:t>
            </a:r>
          </a:p>
          <a:p>
            <a:pPr eaLnBrk="1" hangingPunct="1"/>
            <a:endParaRPr lang="nl-NL" altLang="nl-NL"/>
          </a:p>
          <a:p>
            <a:pPr eaLnBrk="1" hangingPunct="1"/>
            <a:r>
              <a:rPr lang="en-US" altLang="nl-NL"/>
              <a:t>To find all users with names starting with "John"</a:t>
            </a:r>
          </a:p>
          <a:p>
            <a:pPr eaLnBrk="1" hangingPunct="1"/>
            <a:r>
              <a:rPr lang="en-US" altLang="nl-NL"/>
              <a:t> dsquery user -name John*</a:t>
            </a:r>
          </a:p>
          <a:p>
            <a:pPr eaLnBrk="1" hangingPunct="1"/>
            <a:endParaRPr lang="en-US" altLang="nl-NL"/>
          </a:p>
          <a:p>
            <a:pPr eaLnBrk="1" hangingPunct="1"/>
            <a:r>
              <a:rPr lang="en-US" altLang="nl-NL"/>
              <a:t>To find all computers that have been inactive for the last four weeks </a:t>
            </a:r>
          </a:p>
          <a:p>
            <a:pPr eaLnBrk="1" hangingPunct="1"/>
            <a:r>
              <a:rPr lang="en-US" altLang="nl-NL"/>
              <a:t>  dsquery computer -inactive 4</a:t>
            </a:r>
          </a:p>
          <a:p>
            <a:pPr eaLnBrk="1" hangingPunct="1"/>
            <a:endParaRPr lang="en-US" altLang="nl-NL"/>
          </a:p>
          <a:p>
            <a:pPr eaLnBrk="1" hangingPunct="1"/>
            <a:endParaRPr lang="nl-NL" altLang="nl-NL"/>
          </a:p>
        </p:txBody>
      </p:sp>
    </p:spTree>
    <p:extLst>
      <p:ext uri="{BB962C8B-B14F-4D97-AF65-F5344CB8AC3E}">
        <p14:creationId xmlns:p14="http://schemas.microsoft.com/office/powerpoint/2010/main" val="7112195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dirty="0">
                <a:solidFill>
                  <a:srgbClr val="336699"/>
                </a:solidFill>
                <a:latin typeface="Arial" charset="0"/>
              </a:rPr>
              <a:t>Module 8: Creating Active Directory® Domain Services Groups and Organizational Units</a:t>
            </a:r>
          </a:p>
        </p:txBody>
      </p:sp>
      <p:sp>
        <p:nvSpPr>
          <p:cNvPr id="593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593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89602F6C-81A1-4146-BD85-1DA599B3F38E}" type="slidenum">
              <a:rPr lang="en-US" altLang="nl-NL" b="0" smtClean="0">
                <a:latin typeface="Arial" charset="0"/>
              </a:rPr>
              <a:pPr/>
              <a:t>32</a:t>
            </a:fld>
            <a:endParaRPr lang="en-US" altLang="nl-NL" b="0">
              <a:latin typeface="Arial" charset="0"/>
            </a:endParaRPr>
          </a:p>
        </p:txBody>
      </p:sp>
      <p:sp>
        <p:nvSpPr>
          <p:cNvPr id="59397"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l-NL" altLang="nl-NL"/>
          </a:p>
        </p:txBody>
      </p:sp>
    </p:spTree>
    <p:extLst>
      <p:ext uri="{BB962C8B-B14F-4D97-AF65-F5344CB8AC3E}">
        <p14:creationId xmlns:p14="http://schemas.microsoft.com/office/powerpoint/2010/main" val="30907633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dirty="0">
                <a:solidFill>
                  <a:srgbClr val="336699"/>
                </a:solidFill>
                <a:latin typeface="Arial" charset="0"/>
              </a:rPr>
              <a:t>Module 8: Creating Active Directory® Domain Services Groups and Organizational Units</a:t>
            </a:r>
          </a:p>
        </p:txBody>
      </p:sp>
      <p:sp>
        <p:nvSpPr>
          <p:cNvPr id="604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604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5FC9C96E-B3E0-45F9-9F6B-539A69CC907F}" type="slidenum">
              <a:rPr lang="en-US" altLang="nl-NL" b="0" smtClean="0">
                <a:latin typeface="Arial" charset="0"/>
              </a:rPr>
              <a:pPr/>
              <a:t>33</a:t>
            </a:fld>
            <a:endParaRPr lang="en-US" altLang="nl-NL" b="0">
              <a:latin typeface="Arial" charset="0"/>
            </a:endParaRPr>
          </a:p>
        </p:txBody>
      </p:sp>
      <p:sp>
        <p:nvSpPr>
          <p:cNvPr id="60421" name="Rectangle 2"/>
          <p:cNvSpPr>
            <a:spLocks noGrp="1" noRot="1" noChangeAspect="1" noChangeArrowheads="1" noTextEdit="1"/>
          </p:cNvSpPr>
          <p:nvPr>
            <p:ph type="sldImg"/>
          </p:nvPr>
        </p:nvSpPr>
        <p:spPr>
          <a:ln/>
        </p:spPr>
      </p:sp>
      <p:sp>
        <p:nvSpPr>
          <p:cNvPr id="60422"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86938" indent="-186938" eaLnBrk="1" hangingPunct="1"/>
            <a:endParaRPr lang="nl-NL" altLang="nl-NL"/>
          </a:p>
        </p:txBody>
      </p:sp>
    </p:spTree>
    <p:extLst>
      <p:ext uri="{BB962C8B-B14F-4D97-AF65-F5344CB8AC3E}">
        <p14:creationId xmlns:p14="http://schemas.microsoft.com/office/powerpoint/2010/main" val="592955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dirty="0">
                <a:solidFill>
                  <a:srgbClr val="336699"/>
                </a:solidFill>
                <a:latin typeface="Arial" charset="0"/>
              </a:rPr>
              <a:t>Module 8: Creating Active Directory® Domain Services Groups and Organizational Units</a:t>
            </a:r>
          </a:p>
        </p:txBody>
      </p:sp>
      <p:sp>
        <p:nvSpPr>
          <p:cNvPr id="614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r>
              <a:rPr lang="en-US" altLang="nl-NL">
                <a:latin typeface="Arial" charset="0"/>
              </a:rPr>
              <a:t>Course 6424A</a:t>
            </a:r>
          </a:p>
        </p:txBody>
      </p:sp>
      <p:sp>
        <p:nvSpPr>
          <p:cNvPr id="614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146E38DB-1B02-4210-891D-71EC4DD87887}" type="slidenum">
              <a:rPr lang="en-US" altLang="nl-NL" b="0" smtClean="0">
                <a:latin typeface="Arial" charset="0"/>
              </a:rPr>
              <a:pPr/>
              <a:t>34</a:t>
            </a:fld>
            <a:endParaRPr lang="en-US" altLang="nl-NL" b="0">
              <a:latin typeface="Arial" charset="0"/>
            </a:endParaRPr>
          </a:p>
        </p:txBody>
      </p:sp>
      <p:sp>
        <p:nvSpPr>
          <p:cNvPr id="61445" name="Rectangle 2"/>
          <p:cNvSpPr>
            <a:spLocks noGrp="1" noRot="1" noChangeAspect="1" noChangeArrowheads="1" noTextEdit="1"/>
          </p:cNvSpPr>
          <p:nvPr>
            <p:ph type="sldImg"/>
          </p:nvPr>
        </p:nvSpPr>
        <p:spPr>
          <a:ln/>
        </p:spPr>
      </p:sp>
      <p:sp>
        <p:nvSpPr>
          <p:cNvPr id="61446" name="Rectangle 3"/>
          <p:cNvSpPr>
            <a:spLocks noGrp="1" noChangeArrowheads="1"/>
          </p:cNvSpPr>
          <p:nvPr>
            <p:ph type="body" idx="1"/>
          </p:nvPr>
        </p:nvSpPr>
        <p:spPr>
          <a:xfrm>
            <a:off x="307492" y="2193874"/>
            <a:ext cx="6149837" cy="66862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nl-NL" altLang="nl-NL" dirty="0"/>
              <a:t>Resource </a:t>
            </a:r>
            <a:r>
              <a:rPr lang="nl-NL" altLang="nl-NL" dirty="0" err="1"/>
              <a:t>OUs</a:t>
            </a:r>
            <a:r>
              <a:rPr lang="nl-NL" altLang="nl-NL" dirty="0"/>
              <a:t>: </a:t>
            </a:r>
            <a:r>
              <a:rPr lang="nl-NL" altLang="nl-NL" dirty="0" err="1"/>
              <a:t>will</a:t>
            </a:r>
            <a:r>
              <a:rPr lang="nl-NL" altLang="nl-NL" dirty="0"/>
              <a:t> host resources </a:t>
            </a:r>
            <a:r>
              <a:rPr lang="nl-NL" altLang="nl-NL" dirty="0" err="1"/>
              <a:t>that</a:t>
            </a:r>
            <a:r>
              <a:rPr lang="nl-NL" altLang="nl-NL" dirty="0"/>
              <a:t> users </a:t>
            </a:r>
            <a:r>
              <a:rPr lang="nl-NL" altLang="nl-NL" dirty="0" err="1"/>
              <a:t>will</a:t>
            </a:r>
            <a:r>
              <a:rPr lang="nl-NL" altLang="nl-NL" dirty="0"/>
              <a:t> </a:t>
            </a:r>
            <a:r>
              <a:rPr lang="nl-NL" altLang="nl-NL" dirty="0" err="1"/>
              <a:t>need</a:t>
            </a:r>
            <a:r>
              <a:rPr lang="nl-NL" altLang="nl-NL" dirty="0"/>
              <a:t> </a:t>
            </a:r>
            <a:r>
              <a:rPr lang="nl-NL" altLang="nl-NL" dirty="0" err="1"/>
              <a:t>to</a:t>
            </a:r>
            <a:r>
              <a:rPr lang="nl-NL" altLang="nl-NL" dirty="0"/>
              <a:t> access domain, bv computer accounts, file shares, </a:t>
            </a:r>
            <a:r>
              <a:rPr lang="nl-NL" altLang="nl-NL" dirty="0" err="1"/>
              <a:t>contacts</a:t>
            </a:r>
            <a:r>
              <a:rPr lang="nl-NL" altLang="nl-NL" dirty="0"/>
              <a:t>.</a:t>
            </a:r>
          </a:p>
          <a:p>
            <a:pPr eaLnBrk="1" hangingPunct="1"/>
            <a:endParaRPr lang="nl-NL" altLang="nl-NL" dirty="0"/>
          </a:p>
        </p:txBody>
      </p:sp>
    </p:spTree>
    <p:extLst>
      <p:ext uri="{BB962C8B-B14F-4D97-AF65-F5344CB8AC3E}">
        <p14:creationId xmlns:p14="http://schemas.microsoft.com/office/powerpoint/2010/main" val="42412916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Bronvermelding</a:t>
            </a:r>
            <a:r>
              <a:rPr lang="en-GB" baseline="0" dirty="0"/>
              <a:t> </a:t>
            </a:r>
            <a:r>
              <a:rPr lang="en-GB" baseline="0" dirty="0" err="1"/>
              <a:t>illustratie</a:t>
            </a:r>
            <a:r>
              <a:rPr lang="en-GB" baseline="0" dirty="0"/>
              <a:t>: </a:t>
            </a:r>
            <a:r>
              <a:rPr lang="en-GB" baseline="0" dirty="0" err="1"/>
              <a:t>zelf</a:t>
            </a:r>
            <a:r>
              <a:rPr lang="en-GB" baseline="0" dirty="0"/>
              <a:t> </a:t>
            </a:r>
            <a:r>
              <a:rPr lang="en-GB" baseline="0" dirty="0" err="1"/>
              <a:t>gemaakte</a:t>
            </a:r>
            <a:r>
              <a:rPr lang="en-GB" baseline="0" dirty="0"/>
              <a:t> </a:t>
            </a:r>
            <a:r>
              <a:rPr lang="en-GB" i="1" baseline="0" dirty="0"/>
              <a:t>WordArt</a:t>
            </a:r>
            <a:endParaRPr lang="nl-NL" dirty="0"/>
          </a:p>
        </p:txBody>
      </p:sp>
      <p:sp>
        <p:nvSpPr>
          <p:cNvPr id="4" name="Header Placeholder 3"/>
          <p:cNvSpPr>
            <a:spLocks noGrp="1"/>
          </p:cNvSpPr>
          <p:nvPr>
            <p:ph type="hdr" sz="quarter" idx="10"/>
          </p:nvPr>
        </p:nvSpPr>
        <p:spPr/>
        <p:txBody>
          <a:bodyPr/>
          <a:lstStyle/>
          <a:p>
            <a:pPr>
              <a:defRPr/>
            </a:pPr>
            <a:r>
              <a:rPr lang="en-US"/>
              <a:t>xxxxxxxxxxxxxxx</a:t>
            </a:r>
          </a:p>
        </p:txBody>
      </p:sp>
      <p:sp>
        <p:nvSpPr>
          <p:cNvPr id="5" name="Date Placeholder 4"/>
          <p:cNvSpPr>
            <a:spLocks noGrp="1"/>
          </p:cNvSpPr>
          <p:nvPr>
            <p:ph type="dt" idx="11"/>
          </p:nvPr>
        </p:nvSpPr>
        <p:spPr/>
        <p:txBody>
          <a:bodyPr/>
          <a:lstStyle/>
          <a:p>
            <a:pPr>
              <a:defRPr/>
            </a:pPr>
            <a:fld id="{728163F8-51A8-4FD0-9CA6-6D9CCF3B2605}" type="datetime1">
              <a:rPr lang="en-US" altLang="nl-NL" smtClean="0"/>
              <a:pPr>
                <a:defRPr/>
              </a:pPr>
              <a:t>9/5/2025</a:t>
            </a:fld>
            <a:endParaRPr lang="en-US" altLang="nl-NL"/>
          </a:p>
        </p:txBody>
      </p:sp>
      <p:sp>
        <p:nvSpPr>
          <p:cNvPr id="6" name="Footer Placeholder 5"/>
          <p:cNvSpPr>
            <a:spLocks noGrp="1"/>
          </p:cNvSpPr>
          <p:nvPr>
            <p:ph type="ftr" sz="quarter" idx="12"/>
          </p:nvPr>
        </p:nvSpPr>
        <p:spPr/>
        <p:txBody>
          <a:bodyPr/>
          <a:lstStyle/>
          <a:p>
            <a:pPr>
              <a:defRPr/>
            </a:pPr>
            <a:r>
              <a:rPr lang="en-US"/>
              <a:t>xxxxxxxxxxxxx</a:t>
            </a:r>
          </a:p>
        </p:txBody>
      </p:sp>
      <p:sp>
        <p:nvSpPr>
          <p:cNvPr id="7" name="Slide Number Placeholder 6"/>
          <p:cNvSpPr>
            <a:spLocks noGrp="1"/>
          </p:cNvSpPr>
          <p:nvPr>
            <p:ph type="sldNum" sz="quarter" idx="13"/>
          </p:nvPr>
        </p:nvSpPr>
        <p:spPr/>
        <p:txBody>
          <a:bodyPr/>
          <a:lstStyle/>
          <a:p>
            <a:pPr>
              <a:defRPr/>
            </a:pPr>
            <a:fld id="{54A441A5-E6A1-4D9D-B19F-A39EC39EAFE4}" type="slidenum">
              <a:rPr lang="en-US" altLang="nl-NL" smtClean="0"/>
              <a:pPr>
                <a:defRPr/>
              </a:pPr>
              <a:t>35</a:t>
            </a:fld>
            <a:endParaRPr lang="en-US" altLang="nl-NL"/>
          </a:p>
        </p:txBody>
      </p:sp>
    </p:spTree>
    <p:extLst>
      <p:ext uri="{BB962C8B-B14F-4D97-AF65-F5344CB8AC3E}">
        <p14:creationId xmlns:p14="http://schemas.microsoft.com/office/powerpoint/2010/main" val="25044794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Voorblad">
    <p:spTree>
      <p:nvGrpSpPr>
        <p:cNvPr id="1" name=""/>
        <p:cNvGrpSpPr/>
        <p:nvPr/>
      </p:nvGrpSpPr>
      <p:grpSpPr>
        <a:xfrm>
          <a:off x="0" y="0"/>
          <a:ext cx="0" cy="0"/>
          <a:chOff x="0" y="0"/>
          <a:chExt cx="0" cy="0"/>
        </a:xfrm>
      </p:grpSpPr>
      <p:sp>
        <p:nvSpPr>
          <p:cNvPr id="4" name="Rechthoek 3"/>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2" name="Afbeelding 11" descr="hu voluit.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5414" y="300471"/>
            <a:ext cx="4042858" cy="987270"/>
          </a:xfrm>
          <a:prstGeom prst="rect">
            <a:avLst/>
          </a:prstGeom>
        </p:spPr>
      </p:pic>
      <p:sp>
        <p:nvSpPr>
          <p:cNvPr id="2" name="Titel 1">
            <a:extLst>
              <a:ext uri="{FF2B5EF4-FFF2-40B4-BE49-F238E27FC236}">
                <a16:creationId xmlns:a16="http://schemas.microsoft.com/office/drawing/2014/main" id="{5F04569C-3339-4FC6-A2F1-3F6AE65A4CBD}"/>
              </a:ext>
            </a:extLst>
          </p:cNvPr>
          <p:cNvSpPr>
            <a:spLocks noGrp="1"/>
          </p:cNvSpPr>
          <p:nvPr>
            <p:ph type="title"/>
          </p:nvPr>
        </p:nvSpPr>
        <p:spPr>
          <a:xfrm>
            <a:off x="538895" y="1865461"/>
            <a:ext cx="7637778" cy="915576"/>
          </a:xfrm>
        </p:spPr>
        <p:txBody>
          <a:bodyPr/>
          <a:lstStyle>
            <a:lvl1pPr>
              <a:defRPr sz="4000">
                <a:solidFill>
                  <a:schemeClr val="bg1">
                    <a:lumMod val="95000"/>
                  </a:schemeClr>
                </a:solidFill>
              </a:defRPr>
            </a:lvl1pPr>
          </a:lstStyle>
          <a:p>
            <a:r>
              <a:rPr lang="en-US"/>
              <a:t>Click to edit Master title style</a:t>
            </a:r>
            <a:endParaRPr lang="nl-NL" dirty="0"/>
          </a:p>
        </p:txBody>
      </p:sp>
      <p:sp>
        <p:nvSpPr>
          <p:cNvPr id="7" name="Tijdelijke aanduiding voor tekst 6">
            <a:extLst>
              <a:ext uri="{FF2B5EF4-FFF2-40B4-BE49-F238E27FC236}">
                <a16:creationId xmlns:a16="http://schemas.microsoft.com/office/drawing/2014/main" id="{A979049C-CE6F-48A0-B893-A9BB2310A750}"/>
              </a:ext>
            </a:extLst>
          </p:cNvPr>
          <p:cNvSpPr>
            <a:spLocks noGrp="1"/>
          </p:cNvSpPr>
          <p:nvPr>
            <p:ph type="body" sz="quarter" idx="10" hasCustomPrompt="1"/>
          </p:nvPr>
        </p:nvSpPr>
        <p:spPr>
          <a:xfrm>
            <a:off x="538163" y="2951163"/>
            <a:ext cx="7639050" cy="530225"/>
          </a:xfrm>
        </p:spPr>
        <p:txBody>
          <a:bodyPr/>
          <a:lstStyle>
            <a:lvl1pPr marL="0" indent="0">
              <a:buNone/>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1471704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dia">
    <p:spTree>
      <p:nvGrpSpPr>
        <p:cNvPr id="1" name=""/>
        <p:cNvGrpSpPr/>
        <p:nvPr/>
      </p:nvGrpSpPr>
      <p:grpSpPr>
        <a:xfrm>
          <a:off x="0" y="0"/>
          <a:ext cx="0" cy="0"/>
          <a:chOff x="0" y="0"/>
          <a:chExt cx="0" cy="0"/>
        </a:xfrm>
      </p:grpSpPr>
      <p:sp>
        <p:nvSpPr>
          <p:cNvPr id="18" name="Rechthoek 17"/>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5" name="Afbeelding 14" descr="HU logo payoff wit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0" name="Rechthoek 9"/>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Tekstvak 7"/>
          <p:cNvSpPr txBox="1"/>
          <p:nvPr/>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7" name="Rechthoek 6"/>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lumMod val="95000"/>
                </a:schemeClr>
              </a:solidFill>
            </a:endParaRPr>
          </a:p>
        </p:txBody>
      </p:sp>
      <p:pic>
        <p:nvPicPr>
          <p:cNvPr id="9" name="Afbeelding 8"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Rechthoek 10"/>
          <p:cNvSpPr/>
          <p:nvPr userDrawn="1"/>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Tekstvak 11"/>
          <p:cNvSpPr txBox="1"/>
          <p:nvPr userDrawn="1"/>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2" name="Titel 1">
            <a:extLst>
              <a:ext uri="{FF2B5EF4-FFF2-40B4-BE49-F238E27FC236}">
                <a16:creationId xmlns:a16="http://schemas.microsoft.com/office/drawing/2014/main" id="{70028473-4BE8-43EC-93F5-C09C596FD5B2}"/>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
        <p:nvSpPr>
          <p:cNvPr id="4" name="Tijdelijke aanduiding voor tekst 3">
            <a:extLst>
              <a:ext uri="{FF2B5EF4-FFF2-40B4-BE49-F238E27FC236}">
                <a16:creationId xmlns:a16="http://schemas.microsoft.com/office/drawing/2014/main" id="{07800962-39D7-4A2F-877C-C0B248DA24E8}"/>
              </a:ext>
            </a:extLst>
          </p:cNvPr>
          <p:cNvSpPr>
            <a:spLocks noGrp="1"/>
          </p:cNvSpPr>
          <p:nvPr>
            <p:ph type="body" sz="quarter" idx="10" hasCustomPrompt="1"/>
          </p:nvPr>
        </p:nvSpPr>
        <p:spPr>
          <a:xfrm>
            <a:off x="750888" y="1166813"/>
            <a:ext cx="7150100" cy="458787"/>
          </a:xfrm>
        </p:spPr>
        <p:txBody>
          <a:bodyPr/>
          <a:lstStyle>
            <a:lvl1pPr>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227877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eldia">
    <p:spTree>
      <p:nvGrpSpPr>
        <p:cNvPr id="1" name=""/>
        <p:cNvGrpSpPr/>
        <p:nvPr/>
      </p:nvGrpSpPr>
      <p:grpSpPr>
        <a:xfrm>
          <a:off x="0" y="0"/>
          <a:ext cx="0" cy="0"/>
          <a:chOff x="0" y="0"/>
          <a:chExt cx="0" cy="0"/>
        </a:xfrm>
      </p:grpSpPr>
      <p:sp>
        <p:nvSpPr>
          <p:cNvPr id="18" name="Rechthoek 17"/>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15" name="Afbeelding 14" descr="HU logo payoff wit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0" name="Rechthoek 9"/>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8" name="Tekstvak 7"/>
          <p:cNvSpPr txBox="1"/>
          <p:nvPr/>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7" name="Rechthoek 6"/>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solidFill>
                <a:schemeClr val="bg1">
                  <a:lumMod val="95000"/>
                </a:schemeClr>
              </a:solidFill>
            </a:endParaRPr>
          </a:p>
        </p:txBody>
      </p:sp>
      <p:pic>
        <p:nvPicPr>
          <p:cNvPr id="9" name="Afbeelding 8" descr="HU logo payoff wit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39113" y="281357"/>
            <a:ext cx="657225" cy="996341"/>
          </a:xfrm>
          <a:prstGeom prst="rect">
            <a:avLst/>
          </a:prstGeom>
        </p:spPr>
      </p:pic>
      <p:sp>
        <p:nvSpPr>
          <p:cNvPr id="11" name="Rechthoek 10"/>
          <p:cNvSpPr/>
          <p:nvPr userDrawn="1"/>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Tekstvak 11"/>
          <p:cNvSpPr txBox="1"/>
          <p:nvPr userDrawn="1"/>
        </p:nvSpPr>
        <p:spPr>
          <a:xfrm>
            <a:off x="720000" y="594001"/>
            <a:ext cx="7551298" cy="484748"/>
          </a:xfrm>
          <a:prstGeom prst="rect">
            <a:avLst/>
          </a:prstGeom>
          <a:noFill/>
        </p:spPr>
        <p:txBody>
          <a:bodyPr wrap="none" lIns="0" tIns="0" rIns="0" bIns="0" rtlCol="0">
            <a:noAutofit/>
          </a:bodyPr>
          <a:lstStyle/>
          <a:p>
            <a:endParaRPr lang="nl-NL" sz="4200" b="1" dirty="0">
              <a:solidFill>
                <a:schemeClr val="bg1"/>
              </a:solidFill>
            </a:endParaRPr>
          </a:p>
        </p:txBody>
      </p:sp>
      <p:sp>
        <p:nvSpPr>
          <p:cNvPr id="2" name="Titel 1">
            <a:extLst>
              <a:ext uri="{FF2B5EF4-FFF2-40B4-BE49-F238E27FC236}">
                <a16:creationId xmlns:a16="http://schemas.microsoft.com/office/drawing/2014/main" id="{70028473-4BE8-43EC-93F5-C09C596FD5B2}"/>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
        <p:nvSpPr>
          <p:cNvPr id="4" name="Tijdelijke aanduiding voor inhoud 3">
            <a:extLst>
              <a:ext uri="{FF2B5EF4-FFF2-40B4-BE49-F238E27FC236}">
                <a16:creationId xmlns:a16="http://schemas.microsoft.com/office/drawing/2014/main" id="{D6827B49-8514-4B4D-93BE-DF1EBC133081}"/>
              </a:ext>
            </a:extLst>
          </p:cNvPr>
          <p:cNvSpPr>
            <a:spLocks noGrp="1"/>
          </p:cNvSpPr>
          <p:nvPr>
            <p:ph sz="quarter" idx="10"/>
          </p:nvPr>
        </p:nvSpPr>
        <p:spPr>
          <a:xfrm>
            <a:off x="0" y="1729589"/>
            <a:ext cx="9144000" cy="3413911"/>
          </a:xfrm>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14" name="Tijdelijke aanduiding voor tekst 3">
            <a:extLst>
              <a:ext uri="{FF2B5EF4-FFF2-40B4-BE49-F238E27FC236}">
                <a16:creationId xmlns:a16="http://schemas.microsoft.com/office/drawing/2014/main" id="{142AF5AF-6D65-499C-A5ED-F3C429D05A5A}"/>
              </a:ext>
            </a:extLst>
          </p:cNvPr>
          <p:cNvSpPr>
            <a:spLocks noGrp="1"/>
          </p:cNvSpPr>
          <p:nvPr>
            <p:ph type="body" sz="quarter" idx="11" hasCustomPrompt="1"/>
          </p:nvPr>
        </p:nvSpPr>
        <p:spPr>
          <a:xfrm>
            <a:off x="750888" y="1166813"/>
            <a:ext cx="7150100" cy="458787"/>
          </a:xfrm>
        </p:spPr>
        <p:txBody>
          <a:bodyPr/>
          <a:lstStyle>
            <a:lvl1pPr>
              <a:defRPr>
                <a:solidFill>
                  <a:schemeClr val="bg1">
                    <a:lumMod val="95000"/>
                  </a:schemeClr>
                </a:solidFill>
              </a:defRPr>
            </a:lvl1pPr>
          </a:lstStyle>
          <a:p>
            <a:pPr lvl="0"/>
            <a:r>
              <a:rPr lang="nl-NL" dirty="0"/>
              <a:t>Subtitel</a:t>
            </a:r>
          </a:p>
        </p:txBody>
      </p:sp>
    </p:spTree>
    <p:extLst>
      <p:ext uri="{BB962C8B-B14F-4D97-AF65-F5344CB8AC3E}">
        <p14:creationId xmlns:p14="http://schemas.microsoft.com/office/powerpoint/2010/main" val="2757719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Inhoud">
    <p:spTree>
      <p:nvGrpSpPr>
        <p:cNvPr id="1" name=""/>
        <p:cNvGrpSpPr/>
        <p:nvPr/>
      </p:nvGrpSpPr>
      <p:grpSpPr>
        <a:xfrm>
          <a:off x="0" y="0"/>
          <a:ext cx="0" cy="0"/>
          <a:chOff x="0" y="0"/>
          <a:chExt cx="0" cy="0"/>
        </a:xfrm>
      </p:grpSpPr>
      <p:sp>
        <p:nvSpPr>
          <p:cNvPr id="5" name="Rechthoek 4"/>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hasCustomPrompt="1"/>
          </p:nvPr>
        </p:nvSpPr>
        <p:spPr>
          <a:xfrm>
            <a:off x="718219" y="1196341"/>
            <a:ext cx="7553716" cy="3292316"/>
          </a:xfrm>
        </p:spPr>
        <p:txBody>
          <a:bodyPr/>
          <a:lstStyle>
            <a:lvl1pPr marL="342900" indent="-342900">
              <a:buFont typeface="Arial" charset="0"/>
              <a:buChar char="•"/>
              <a:defRPr/>
            </a:lvl1pPr>
            <a:lvl2pPr marL="457200" indent="0">
              <a:buNone/>
              <a:defRPr/>
            </a:lvl2pPr>
          </a:lstStyle>
          <a:p>
            <a:pPr lvl="0"/>
            <a:r>
              <a:rPr lang="en-US" dirty="0"/>
              <a:t>Click to edit Master text styles</a:t>
            </a:r>
          </a:p>
        </p:txBody>
      </p:sp>
      <p:sp>
        <p:nvSpPr>
          <p:cNvPr id="6" name="Rechthoek 5"/>
          <p:cNvSpPr/>
          <p:nvPr userDrawn="1"/>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C1EBDFD1-BFB9-4F68-8644-C8B5CAF6A04B}"/>
              </a:ext>
            </a:extLst>
          </p:cNvPr>
          <p:cNvSpPr>
            <a:spLocks noGrp="1"/>
          </p:cNvSpPr>
          <p:nvPr>
            <p:ph type="title"/>
          </p:nvPr>
        </p:nvSpPr>
        <p:spPr>
          <a:xfrm>
            <a:off x="750571" y="581675"/>
            <a:ext cx="7521363"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494338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Artikel_vervolg">
    <p:spTree>
      <p:nvGrpSpPr>
        <p:cNvPr id="1" name=""/>
        <p:cNvGrpSpPr/>
        <p:nvPr/>
      </p:nvGrpSpPr>
      <p:grpSpPr>
        <a:xfrm>
          <a:off x="0" y="0"/>
          <a:ext cx="0" cy="0"/>
          <a:chOff x="0" y="0"/>
          <a:chExt cx="0" cy="0"/>
        </a:xfrm>
      </p:grpSpPr>
      <p:sp>
        <p:nvSpPr>
          <p:cNvPr id="7" name="Tijdelijke aanduiding voor tekst 6"/>
          <p:cNvSpPr>
            <a:spLocks noGrp="1"/>
          </p:cNvSpPr>
          <p:nvPr>
            <p:ph type="body" sz="quarter" idx="13" hasCustomPrompt="1"/>
          </p:nvPr>
        </p:nvSpPr>
        <p:spPr>
          <a:xfrm>
            <a:off x="718218" y="594516"/>
            <a:ext cx="7670132" cy="3894143"/>
          </a:xfrm>
          <a:prstGeom prst="rect">
            <a:avLst/>
          </a:prstGeom>
        </p:spPr>
        <p:txBody>
          <a:bodyPr vert="horz" wrap="square">
            <a:noAutofit/>
          </a:bodyPr>
          <a:lstStyle>
            <a:lvl1pPr marL="0" indent="0">
              <a:buFont typeface="Arial"/>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nl-NL" dirty="0"/>
              <a:t>Vervolg</a:t>
            </a:r>
          </a:p>
        </p:txBody>
      </p:sp>
    </p:spTree>
    <p:extLst>
      <p:ext uri="{BB962C8B-B14F-4D97-AF65-F5344CB8AC3E}">
        <p14:creationId xmlns:p14="http://schemas.microsoft.com/office/powerpoint/2010/main" val="1980861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rtikel_foto">
    <p:spTree>
      <p:nvGrpSpPr>
        <p:cNvPr id="1" name=""/>
        <p:cNvGrpSpPr/>
        <p:nvPr/>
      </p:nvGrpSpPr>
      <p:grpSpPr>
        <a:xfrm>
          <a:off x="0" y="0"/>
          <a:ext cx="0" cy="0"/>
          <a:chOff x="0" y="0"/>
          <a:chExt cx="0" cy="0"/>
        </a:xfrm>
      </p:grpSpPr>
      <p:sp>
        <p:nvSpPr>
          <p:cNvPr id="12" name="Tijdelijke aanduiding voor afbeelding 5"/>
          <p:cNvSpPr>
            <a:spLocks noGrp="1"/>
          </p:cNvSpPr>
          <p:nvPr>
            <p:ph type="pic" sz="quarter" idx="13"/>
          </p:nvPr>
        </p:nvSpPr>
        <p:spPr>
          <a:xfrm>
            <a:off x="5"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3" name="Tijdelijke aanduiding voor afbeelding 5"/>
          <p:cNvSpPr>
            <a:spLocks noGrp="1"/>
          </p:cNvSpPr>
          <p:nvPr>
            <p:ph type="pic" sz="quarter" idx="15"/>
          </p:nvPr>
        </p:nvSpPr>
        <p:spPr>
          <a:xfrm>
            <a:off x="4570488" y="-1512"/>
            <a:ext cx="4570483"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a:p>
        </p:txBody>
      </p:sp>
      <p:sp>
        <p:nvSpPr>
          <p:cNvPr id="9" name="Tekstvak 8"/>
          <p:cNvSpPr txBox="1"/>
          <p:nvPr/>
        </p:nvSpPr>
        <p:spPr>
          <a:xfrm>
            <a:off x="453006" y="4811317"/>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3" name="Rechthoek 22"/>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4" name="Tekstvak 23"/>
          <p:cNvSpPr txBox="1"/>
          <p:nvPr/>
        </p:nvSpPr>
        <p:spPr>
          <a:xfrm>
            <a:off x="453006" y="7028737"/>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sp>
        <p:nvSpPr>
          <p:cNvPr id="28" name="Tijdelijke aanduiding voor tekst 10"/>
          <p:cNvSpPr>
            <a:spLocks noGrp="1"/>
          </p:cNvSpPr>
          <p:nvPr>
            <p:ph type="body" sz="quarter" idx="17"/>
          </p:nvPr>
        </p:nvSpPr>
        <p:spPr>
          <a:xfrm flipH="1">
            <a:off x="718284" y="3414474"/>
            <a:ext cx="7670066" cy="1074185"/>
          </a:xfrm>
        </p:spPr>
        <p:txBody>
          <a:bodyPr wrap="square">
            <a:noAutofit/>
          </a:bodyPr>
          <a:lstStyle>
            <a:lvl1pPr>
              <a:defRPr/>
            </a:lvl1pPr>
          </a:lstStyle>
          <a:p>
            <a:pPr lvl="0"/>
            <a:r>
              <a:rPr lang="en-US"/>
              <a:t>Edit Master text styles</a:t>
            </a:r>
          </a:p>
        </p:txBody>
      </p:sp>
      <p:sp>
        <p:nvSpPr>
          <p:cNvPr id="2" name="Titel 1">
            <a:extLst>
              <a:ext uri="{FF2B5EF4-FFF2-40B4-BE49-F238E27FC236}">
                <a16:creationId xmlns:a16="http://schemas.microsoft.com/office/drawing/2014/main" id="{5DBE96C8-0802-4DEF-9B61-78DAF4830893}"/>
              </a:ext>
            </a:extLst>
          </p:cNvPr>
          <p:cNvSpPr>
            <a:spLocks noGrp="1"/>
          </p:cNvSpPr>
          <p:nvPr>
            <p:ph type="title"/>
          </p:nvPr>
        </p:nvSpPr>
        <p:spPr>
          <a:xfrm>
            <a:off x="718283" y="2905077"/>
            <a:ext cx="7725727"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2049112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Artikel_foto">
    <p:spTree>
      <p:nvGrpSpPr>
        <p:cNvPr id="1" name=""/>
        <p:cNvGrpSpPr/>
        <p:nvPr/>
      </p:nvGrpSpPr>
      <p:grpSpPr>
        <a:xfrm>
          <a:off x="0" y="0"/>
          <a:ext cx="0" cy="0"/>
          <a:chOff x="0" y="0"/>
          <a:chExt cx="0" cy="0"/>
        </a:xfrm>
      </p:grpSpPr>
      <p:sp>
        <p:nvSpPr>
          <p:cNvPr id="9" name="Tijdelijke aanduiding voor afbeelding 5"/>
          <p:cNvSpPr>
            <a:spLocks noGrp="1"/>
          </p:cNvSpPr>
          <p:nvPr>
            <p:ph type="pic" sz="quarter" idx="15"/>
          </p:nvPr>
        </p:nvSpPr>
        <p:spPr>
          <a:xfrm>
            <a:off x="6084002" y="2576512"/>
            <a:ext cx="3059999"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pic>
        <p:nvPicPr>
          <p:cNvPr id="31" name="Afbeelding 30"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8" name="Tijdelijke aanduiding voor afbeelding 5"/>
          <p:cNvSpPr>
            <a:spLocks noGrp="1"/>
          </p:cNvSpPr>
          <p:nvPr>
            <p:ph type="pic" sz="quarter" idx="13"/>
          </p:nvPr>
        </p:nvSpPr>
        <p:spPr>
          <a:xfrm>
            <a:off x="5" y="2576512"/>
            <a:ext cx="3059999"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sp>
        <p:nvSpPr>
          <p:cNvPr id="10" name="Tijdelijke aanduiding voor afbeelding 5"/>
          <p:cNvSpPr>
            <a:spLocks noGrp="1"/>
          </p:cNvSpPr>
          <p:nvPr>
            <p:ph type="pic" sz="quarter" idx="16"/>
          </p:nvPr>
        </p:nvSpPr>
        <p:spPr>
          <a:xfrm>
            <a:off x="3063645" y="2576512"/>
            <a:ext cx="3023998" cy="2566988"/>
          </a:xfrm>
          <a:prstGeom prst="rect">
            <a:avLst/>
          </a:prstGeom>
          <a:solidFill>
            <a:schemeClr val="bg1">
              <a:lumMod val="75000"/>
            </a:schemeClr>
          </a:solidFill>
        </p:spPr>
        <p:txBody>
          <a:bodyPr vert="horz"/>
          <a:lstStyle>
            <a:lvl1pPr marL="0" indent="0">
              <a:buNone/>
              <a:defRPr sz="2000"/>
            </a:lvl1pPr>
          </a:lstStyle>
          <a:p>
            <a:r>
              <a:rPr lang="en-US"/>
              <a:t>Click icon to add picture</a:t>
            </a:r>
            <a:endParaRPr lang="nl-NL" dirty="0"/>
          </a:p>
        </p:txBody>
      </p:sp>
      <p:sp>
        <p:nvSpPr>
          <p:cNvPr id="16" name="Rechthoek 15"/>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p:nvPr>
        </p:nvSpPr>
        <p:spPr>
          <a:xfrm flipH="1">
            <a:off x="718284" y="1196341"/>
            <a:ext cx="7670066" cy="1104300"/>
          </a:xfrm>
        </p:spPr>
        <p:txBody>
          <a:bodyPr wrap="square">
            <a:noAutofit/>
          </a:bodyPr>
          <a:lstStyle>
            <a:lvl1pPr>
              <a:defRPr/>
            </a:lvl1pPr>
          </a:lstStyle>
          <a:p>
            <a:pPr lvl="0"/>
            <a:r>
              <a:rPr lang="en-US"/>
              <a:t>Edit Master text styles</a:t>
            </a:r>
          </a:p>
        </p:txBody>
      </p:sp>
      <p:sp>
        <p:nvSpPr>
          <p:cNvPr id="14" name="Tekstvak 13"/>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12" name="Afbeelding 11"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5" name="Tekstvak 14"/>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3889D279-AE2A-4F81-B9FC-573B4F8950FF}"/>
              </a:ext>
            </a:extLst>
          </p:cNvPr>
          <p:cNvSpPr>
            <a:spLocks noGrp="1"/>
          </p:cNvSpPr>
          <p:nvPr>
            <p:ph type="title"/>
          </p:nvPr>
        </p:nvSpPr>
        <p:spPr>
          <a:xfrm>
            <a:off x="718284" y="581675"/>
            <a:ext cx="7670066"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244927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Artikel_foto">
    <p:spTree>
      <p:nvGrpSpPr>
        <p:cNvPr id="1" name=""/>
        <p:cNvGrpSpPr/>
        <p:nvPr/>
      </p:nvGrpSpPr>
      <p:grpSpPr>
        <a:xfrm>
          <a:off x="0" y="0"/>
          <a:ext cx="0" cy="0"/>
          <a:chOff x="0" y="0"/>
          <a:chExt cx="0" cy="0"/>
        </a:xfrm>
      </p:grpSpPr>
      <p:sp>
        <p:nvSpPr>
          <p:cNvPr id="8" name="Tijdelijke aanduiding voor afbeelding 5"/>
          <p:cNvSpPr>
            <a:spLocks noGrp="1"/>
          </p:cNvSpPr>
          <p:nvPr>
            <p:ph type="pic" sz="quarter" idx="13"/>
          </p:nvPr>
        </p:nvSpPr>
        <p:spPr>
          <a:xfrm>
            <a:off x="5" y="1408"/>
            <a:ext cx="3059999"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9" name="Tijdelijke aanduiding voor afbeelding 5"/>
          <p:cNvSpPr>
            <a:spLocks noGrp="1"/>
          </p:cNvSpPr>
          <p:nvPr>
            <p:ph type="pic" sz="quarter" idx="15"/>
          </p:nvPr>
        </p:nvSpPr>
        <p:spPr>
          <a:xfrm>
            <a:off x="6084002" y="1408"/>
            <a:ext cx="3059999"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0" name="Tijdelijke aanduiding voor afbeelding 5"/>
          <p:cNvSpPr>
            <a:spLocks noGrp="1"/>
          </p:cNvSpPr>
          <p:nvPr>
            <p:ph type="pic" sz="quarter" idx="16"/>
          </p:nvPr>
        </p:nvSpPr>
        <p:spPr>
          <a:xfrm>
            <a:off x="3063645" y="1408"/>
            <a:ext cx="3023998" cy="2566988"/>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26" name="Rechthoek 25"/>
          <p:cNvSpPr/>
          <p:nvPr/>
        </p:nvSpPr>
        <p:spPr>
          <a:xfrm>
            <a:off x="531064" y="290226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8" name="Tijdelijke aanduiding voor tekst 10"/>
          <p:cNvSpPr>
            <a:spLocks noGrp="1"/>
          </p:cNvSpPr>
          <p:nvPr>
            <p:ph type="body" sz="quarter" idx="18"/>
          </p:nvPr>
        </p:nvSpPr>
        <p:spPr>
          <a:xfrm flipH="1">
            <a:off x="718284" y="3414474"/>
            <a:ext cx="7670066" cy="1074185"/>
          </a:xfrm>
        </p:spPr>
        <p:txBody>
          <a:bodyPr wrap="square">
            <a:noAutofit/>
          </a:bodyPr>
          <a:lstStyle>
            <a:lvl1pPr>
              <a:defRPr/>
            </a:lvl1pPr>
          </a:lstStyle>
          <a:p>
            <a:pPr lvl="0"/>
            <a:r>
              <a:rPr lang="en-US"/>
              <a:t>Edit Master text styles</a:t>
            </a:r>
          </a:p>
        </p:txBody>
      </p:sp>
      <p:sp>
        <p:nvSpPr>
          <p:cNvPr id="2" name="Titel 1">
            <a:extLst>
              <a:ext uri="{FF2B5EF4-FFF2-40B4-BE49-F238E27FC236}">
                <a16:creationId xmlns:a16="http://schemas.microsoft.com/office/drawing/2014/main" id="{C5CD6AF1-FC9F-4D85-84FA-79A0AD542E46}"/>
              </a:ext>
            </a:extLst>
          </p:cNvPr>
          <p:cNvSpPr>
            <a:spLocks noGrp="1"/>
          </p:cNvSpPr>
          <p:nvPr>
            <p:ph type="title"/>
          </p:nvPr>
        </p:nvSpPr>
        <p:spPr>
          <a:xfrm>
            <a:off x="718284" y="2762106"/>
            <a:ext cx="7670066"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91313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Artikel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5"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1" name="Rechthoek 10"/>
          <p:cNvSpPr/>
          <p:nvPr/>
        </p:nvSpPr>
        <p:spPr>
          <a:xfrm>
            <a:off x="5104925"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3" name="Tijdelijke aanduiding voor tekst 10"/>
          <p:cNvSpPr>
            <a:spLocks noGrp="1"/>
          </p:cNvSpPr>
          <p:nvPr>
            <p:ph type="body" sz="quarter" idx="11"/>
          </p:nvPr>
        </p:nvSpPr>
        <p:spPr>
          <a:xfrm flipH="1">
            <a:off x="5292148" y="1196341"/>
            <a:ext cx="3568072" cy="3292316"/>
          </a:xfrm>
        </p:spPr>
        <p:txBody>
          <a:bodyPr wrap="square">
            <a:noAutofit/>
          </a:bodyPr>
          <a:lstStyle>
            <a:lvl1pPr>
              <a:defRPr/>
            </a:lvl1pPr>
          </a:lstStyle>
          <a:p>
            <a:pPr lvl="0"/>
            <a:r>
              <a:rPr lang="en-US"/>
              <a:t>Edit Master text styles</a:t>
            </a:r>
          </a:p>
        </p:txBody>
      </p:sp>
      <p:sp>
        <p:nvSpPr>
          <p:cNvPr id="7" name="Tekstvak 6"/>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8" name="Tekstvak 7"/>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7A9F7ADF-4FD4-440E-B278-2B96AD709AE9}"/>
              </a:ext>
            </a:extLst>
          </p:cNvPr>
          <p:cNvSpPr>
            <a:spLocks noGrp="1"/>
          </p:cNvSpPr>
          <p:nvPr>
            <p:ph type="title"/>
          </p:nvPr>
        </p:nvSpPr>
        <p:spPr>
          <a:xfrm>
            <a:off x="5292148" y="581675"/>
            <a:ext cx="3568072"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946462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Artikel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4573522" y="0"/>
            <a:ext cx="4570483"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11" name="Rechthoek 10"/>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Tijdelijke aanduiding voor tekst 10"/>
          <p:cNvSpPr>
            <a:spLocks noGrp="1"/>
          </p:cNvSpPr>
          <p:nvPr>
            <p:ph type="body" sz="quarter" idx="11"/>
          </p:nvPr>
        </p:nvSpPr>
        <p:spPr>
          <a:xfrm flipH="1">
            <a:off x="718284" y="1196341"/>
            <a:ext cx="3493676" cy="3292316"/>
          </a:xfrm>
        </p:spPr>
        <p:txBody>
          <a:bodyPr wrap="square">
            <a:noAutofit/>
          </a:bodyPr>
          <a:lstStyle>
            <a:lvl1pPr>
              <a:defRPr/>
            </a:lvl1pPr>
          </a:lstStyle>
          <a:p>
            <a:pPr lvl="0"/>
            <a:r>
              <a:rPr lang="en-US"/>
              <a:t>Edit Master text styles</a:t>
            </a:r>
          </a:p>
        </p:txBody>
      </p:sp>
      <p:pic>
        <p:nvPicPr>
          <p:cNvPr id="7" name="Afbeelding 6"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pic>
        <p:nvPicPr>
          <p:cNvPr id="8" name="Afbeelding 7"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2" name="Titel 1">
            <a:extLst>
              <a:ext uri="{FF2B5EF4-FFF2-40B4-BE49-F238E27FC236}">
                <a16:creationId xmlns:a16="http://schemas.microsoft.com/office/drawing/2014/main" id="{15EA1F60-581A-4678-83E6-545DB57C332C}"/>
              </a:ext>
            </a:extLst>
          </p:cNvPr>
          <p:cNvSpPr>
            <a:spLocks noGrp="1"/>
          </p:cNvSpPr>
          <p:nvPr>
            <p:ph type="title"/>
          </p:nvPr>
        </p:nvSpPr>
        <p:spPr>
          <a:xfrm>
            <a:off x="750572" y="581675"/>
            <a:ext cx="3461388" cy="461665"/>
          </a:xfrm>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1584926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Quote">
    <p:spTree>
      <p:nvGrpSpPr>
        <p:cNvPr id="1" name=""/>
        <p:cNvGrpSpPr/>
        <p:nvPr/>
      </p:nvGrpSpPr>
      <p:grpSpPr>
        <a:xfrm>
          <a:off x="0" y="0"/>
          <a:ext cx="0" cy="0"/>
          <a:chOff x="0" y="0"/>
          <a:chExt cx="0" cy="0"/>
        </a:xfrm>
      </p:grpSpPr>
      <p:sp>
        <p:nvSpPr>
          <p:cNvPr id="10" name="Rechthoek 9"/>
          <p:cNvSpPr/>
          <p:nvPr/>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4" name="Rechthoek 13"/>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1" name="Rechthoek 10"/>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2" name="Rechthoek 11"/>
          <p:cNvSpPr/>
          <p:nvPr/>
        </p:nvSpPr>
        <p:spPr>
          <a:xfrm>
            <a:off x="529142" y="686249"/>
            <a:ext cx="108000" cy="732714"/>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pic>
        <p:nvPicPr>
          <p:cNvPr id="9" name="Afbeelding 8"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5" name="Tekstvak 14"/>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13" name="Afbeelding 12"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16" name="Tekstvak 15"/>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2" name="Titel 1">
            <a:extLst>
              <a:ext uri="{FF2B5EF4-FFF2-40B4-BE49-F238E27FC236}">
                <a16:creationId xmlns:a16="http://schemas.microsoft.com/office/drawing/2014/main" id="{B7A25B72-A285-45B6-B8DA-EA310278836E}"/>
              </a:ext>
            </a:extLst>
          </p:cNvPr>
          <p:cNvSpPr>
            <a:spLocks noGrp="1"/>
          </p:cNvSpPr>
          <p:nvPr>
            <p:ph type="title"/>
          </p:nvPr>
        </p:nvSpPr>
        <p:spPr>
          <a:xfrm>
            <a:off x="750571" y="581675"/>
            <a:ext cx="7207861" cy="461665"/>
          </a:xfrm>
        </p:spPr>
        <p:txBody>
          <a:bodyPr/>
          <a:lstStyle>
            <a:lvl1pPr>
              <a:defRPr>
                <a:solidFill>
                  <a:schemeClr val="bg1">
                    <a:lumMod val="95000"/>
                  </a:schemeClr>
                </a:solidFill>
              </a:defRPr>
            </a:lvl1pPr>
          </a:lstStyle>
          <a:p>
            <a:r>
              <a:rPr lang="en-US"/>
              <a:t>Click to edit Master title style</a:t>
            </a:r>
            <a:endParaRPr lang="nl-NL" dirty="0"/>
          </a:p>
        </p:txBody>
      </p:sp>
    </p:spTree>
    <p:extLst>
      <p:ext uri="{BB962C8B-B14F-4D97-AF65-F5344CB8AC3E}">
        <p14:creationId xmlns:p14="http://schemas.microsoft.com/office/powerpoint/2010/main" val="479519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Tabel">
    <p:spTree>
      <p:nvGrpSpPr>
        <p:cNvPr id="1" name=""/>
        <p:cNvGrpSpPr/>
        <p:nvPr/>
      </p:nvGrpSpPr>
      <p:grpSpPr>
        <a:xfrm>
          <a:off x="0" y="0"/>
          <a:ext cx="0" cy="0"/>
          <a:chOff x="0" y="0"/>
          <a:chExt cx="0" cy="0"/>
        </a:xfrm>
      </p:grpSpPr>
      <p:sp>
        <p:nvSpPr>
          <p:cNvPr id="10" name="Rechthoek 9"/>
          <p:cNvSpPr/>
          <p:nvPr/>
        </p:nvSpPr>
        <p:spPr>
          <a:xfrm>
            <a:off x="0" y="2"/>
            <a:ext cx="9144000" cy="18323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9" name="Rechthoek 8"/>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353DB5DD-F031-4348-AE63-F011E5030580}"/>
              </a:ext>
            </a:extLst>
          </p:cNvPr>
          <p:cNvSpPr>
            <a:spLocks noGrp="1"/>
          </p:cNvSpPr>
          <p:nvPr>
            <p:ph type="title"/>
          </p:nvPr>
        </p:nvSpPr>
        <p:spPr/>
        <p:txBody>
          <a:bodyPr/>
          <a:lstStyle>
            <a:lvl1pPr>
              <a:defRPr sz="2200">
                <a:solidFill>
                  <a:schemeClr val="bg1">
                    <a:lumMod val="95000"/>
                  </a:schemeClr>
                </a:solidFill>
              </a:defRPr>
            </a:lvl1pPr>
          </a:lstStyle>
          <a:p>
            <a:r>
              <a:rPr lang="en-US"/>
              <a:t>Click to edit Master title style</a:t>
            </a:r>
            <a:endParaRPr lang="nl-NL" dirty="0"/>
          </a:p>
        </p:txBody>
      </p:sp>
    </p:spTree>
    <p:extLst>
      <p:ext uri="{BB962C8B-B14F-4D97-AF65-F5344CB8AC3E}">
        <p14:creationId xmlns:p14="http://schemas.microsoft.com/office/powerpoint/2010/main" val="1931038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abel">
    <p:spTree>
      <p:nvGrpSpPr>
        <p:cNvPr id="1" name=""/>
        <p:cNvGrpSpPr/>
        <p:nvPr/>
      </p:nvGrpSpPr>
      <p:grpSpPr>
        <a:xfrm>
          <a:off x="0" y="0"/>
          <a:ext cx="0" cy="0"/>
          <a:chOff x="0" y="0"/>
          <a:chExt cx="0" cy="0"/>
        </a:xfrm>
      </p:grpSpPr>
      <p:sp>
        <p:nvSpPr>
          <p:cNvPr id="9" name="Rechthoek 8"/>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95BDEEBC-F862-428A-BC14-C55F21938EE0}"/>
              </a:ext>
            </a:extLst>
          </p:cNvPr>
          <p:cNvSpPr>
            <a:spLocks noGrp="1"/>
          </p:cNvSpPr>
          <p:nvPr>
            <p:ph type="title"/>
          </p:nvPr>
        </p:nvSpPr>
        <p:spPr/>
        <p:txBody>
          <a:bodyPr/>
          <a:lstStyle>
            <a:lvl1pPr>
              <a:defRPr sz="2200"/>
            </a:lvl1pPr>
          </a:lstStyle>
          <a:p>
            <a:r>
              <a:rPr lang="en-US"/>
              <a:t>Click to edit Master title style</a:t>
            </a:r>
            <a:endParaRPr lang="nl-NL" dirty="0"/>
          </a:p>
        </p:txBody>
      </p:sp>
    </p:spTree>
    <p:extLst>
      <p:ext uri="{BB962C8B-B14F-4D97-AF65-F5344CB8AC3E}">
        <p14:creationId xmlns:p14="http://schemas.microsoft.com/office/powerpoint/2010/main" val="42435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abel">
    <p:spTree>
      <p:nvGrpSpPr>
        <p:cNvPr id="1" name=""/>
        <p:cNvGrpSpPr/>
        <p:nvPr/>
      </p:nvGrpSpPr>
      <p:grpSpPr>
        <a:xfrm>
          <a:off x="0" y="0"/>
          <a:ext cx="0" cy="0"/>
          <a:chOff x="0" y="0"/>
          <a:chExt cx="0" cy="0"/>
        </a:xfrm>
      </p:grpSpPr>
      <p:sp>
        <p:nvSpPr>
          <p:cNvPr id="21" name="Rechthoek 20"/>
          <p:cNvSpPr/>
          <p:nvPr/>
        </p:nvSpPr>
        <p:spPr>
          <a:xfrm>
            <a:off x="0" y="0"/>
            <a:ext cx="4572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8" name="Rechthoek 17"/>
          <p:cNvSpPr/>
          <p:nvPr/>
        </p:nvSpPr>
        <p:spPr>
          <a:xfrm>
            <a:off x="531064" y="684841"/>
            <a:ext cx="108000" cy="45738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a:p>
        </p:txBody>
      </p:sp>
      <p:sp>
        <p:nvSpPr>
          <p:cNvPr id="19" name="Tijdelijke aanduiding voor tekst 10"/>
          <p:cNvSpPr>
            <a:spLocks noGrp="1"/>
          </p:cNvSpPr>
          <p:nvPr>
            <p:ph type="body" sz="quarter" idx="10" hasCustomPrompt="1"/>
          </p:nvPr>
        </p:nvSpPr>
        <p:spPr>
          <a:xfrm>
            <a:off x="718224" y="623650"/>
            <a:ext cx="3493741" cy="312906"/>
          </a:xfrm>
        </p:spPr>
        <p:txBody>
          <a:bodyPr wrap="square">
            <a:spAutoFit/>
          </a:bodyPr>
          <a:lstStyle>
            <a:lvl1pPr>
              <a:defRPr sz="2200" b="1">
                <a:solidFill>
                  <a:schemeClr val="bg1"/>
                </a:solidFill>
              </a:defRPr>
            </a:lvl1pPr>
          </a:lstStyle>
          <a:p>
            <a:pPr lvl="0"/>
            <a:r>
              <a:rPr lang="nl-NL" dirty="0"/>
              <a:t>Tabelkop</a:t>
            </a:r>
          </a:p>
        </p:txBody>
      </p:sp>
      <p:sp>
        <p:nvSpPr>
          <p:cNvPr id="20" name="Tijdelijke aanduiding voor tekst 10"/>
          <p:cNvSpPr>
            <a:spLocks noGrp="1"/>
          </p:cNvSpPr>
          <p:nvPr>
            <p:ph type="body" sz="quarter" idx="11"/>
          </p:nvPr>
        </p:nvSpPr>
        <p:spPr>
          <a:xfrm flipH="1">
            <a:off x="718284" y="1196341"/>
            <a:ext cx="3493676" cy="3292316"/>
          </a:xfrm>
        </p:spPr>
        <p:txBody>
          <a:bodyPr wrap="square">
            <a:noAutofit/>
          </a:bodyPr>
          <a:lstStyle>
            <a:lvl1pPr>
              <a:defRPr/>
            </a:lvl1pPr>
          </a:lstStyle>
          <a:p>
            <a:pPr lvl="0"/>
            <a:r>
              <a:rPr lang="en-US"/>
              <a:t>Edit Master text styles</a:t>
            </a:r>
          </a:p>
        </p:txBody>
      </p:sp>
      <p:sp>
        <p:nvSpPr>
          <p:cNvPr id="16" name="Tekstvak 15"/>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7" name="Tekstvak 6"/>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
        <p:nvSpPr>
          <p:cNvPr id="3" name="Tijdelijke aanduiding voor inhoud 2">
            <a:extLst>
              <a:ext uri="{FF2B5EF4-FFF2-40B4-BE49-F238E27FC236}">
                <a16:creationId xmlns:a16="http://schemas.microsoft.com/office/drawing/2014/main" id="{9D387718-F286-4F2E-8A56-4A663086FBB2}"/>
              </a:ext>
            </a:extLst>
          </p:cNvPr>
          <p:cNvSpPr>
            <a:spLocks noGrp="1"/>
          </p:cNvSpPr>
          <p:nvPr>
            <p:ph sz="quarter" idx="12"/>
          </p:nvPr>
        </p:nvSpPr>
        <p:spPr>
          <a:xfrm>
            <a:off x="4572000" y="0"/>
            <a:ext cx="4572000" cy="5143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4143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_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0" y="0"/>
            <a:ext cx="9144000" cy="5143500"/>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pic>
        <p:nvPicPr>
          <p:cNvPr id="5" name="Afbeelding 4" descr="hu roo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9" name="Tekstvak 8"/>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pic>
        <p:nvPicPr>
          <p:cNvPr id="7" name="Afbeelding 6" descr="hu roo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5218" y="4608939"/>
            <a:ext cx="432000" cy="370027"/>
          </a:xfrm>
          <a:prstGeom prst="rect">
            <a:avLst/>
          </a:prstGeom>
        </p:spPr>
      </p:pic>
      <p:sp>
        <p:nvSpPr>
          <p:cNvPr id="8" name="Tekstvak 7"/>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solidFill>
                  <a:schemeClr val="bg1"/>
                </a:solidFill>
              </a:rPr>
              <a:t>‹#›</a:t>
            </a:fld>
            <a:endParaRPr lang="nl-NL" sz="800" dirty="0">
              <a:solidFill>
                <a:schemeClr val="bg1"/>
              </a:solidFill>
            </a:endParaRPr>
          </a:p>
        </p:txBody>
      </p:sp>
    </p:spTree>
    <p:extLst>
      <p:ext uri="{BB962C8B-B14F-4D97-AF65-F5344CB8AC3E}">
        <p14:creationId xmlns:p14="http://schemas.microsoft.com/office/powerpoint/2010/main" val="1154292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3_Foto">
    <p:spTree>
      <p:nvGrpSpPr>
        <p:cNvPr id="1" name=""/>
        <p:cNvGrpSpPr/>
        <p:nvPr/>
      </p:nvGrpSpPr>
      <p:grpSpPr>
        <a:xfrm>
          <a:off x="0" y="0"/>
          <a:ext cx="0" cy="0"/>
          <a:chOff x="0" y="0"/>
          <a:chExt cx="0" cy="0"/>
        </a:xfrm>
      </p:grpSpPr>
      <p:sp>
        <p:nvSpPr>
          <p:cNvPr id="7" name="Tijdelijke aanduiding voor afbeelding 14"/>
          <p:cNvSpPr>
            <a:spLocks noGrp="1"/>
          </p:cNvSpPr>
          <p:nvPr>
            <p:ph type="pic" sz="quarter" idx="13"/>
          </p:nvPr>
        </p:nvSpPr>
        <p:spPr>
          <a:xfrm>
            <a:off x="0" y="6362"/>
            <a:ext cx="9144000" cy="3323034"/>
          </a:xfrm>
          <a:prstGeom prst="rect">
            <a:avLst/>
          </a:prstGeom>
          <a:solidFill>
            <a:schemeClr val="bg1">
              <a:lumMod val="75000"/>
            </a:schemeClr>
          </a:solidFill>
        </p:spPr>
        <p:txBody>
          <a:bodyPr vert="horz" anchor="ctr" anchorCtr="0"/>
          <a:lstStyle>
            <a:lvl1pPr marL="0" indent="0" algn="ctr">
              <a:buNone/>
              <a:defRPr sz="2000"/>
            </a:lvl1pPr>
          </a:lstStyle>
          <a:p>
            <a:r>
              <a:rPr lang="en-US"/>
              <a:t>Click icon to add picture</a:t>
            </a:r>
            <a:endParaRPr lang="nl-NL" dirty="0"/>
          </a:p>
        </p:txBody>
      </p:sp>
      <p:sp>
        <p:nvSpPr>
          <p:cNvPr id="9" name="Tijdelijke aanduiding voor tekst 6"/>
          <p:cNvSpPr>
            <a:spLocks noGrp="1"/>
          </p:cNvSpPr>
          <p:nvPr>
            <p:ph type="body" sz="quarter" idx="12" hasCustomPrompt="1"/>
          </p:nvPr>
        </p:nvSpPr>
        <p:spPr>
          <a:xfrm>
            <a:off x="531064" y="3695965"/>
            <a:ext cx="7857286" cy="792692"/>
          </a:xfrm>
          <a:prstGeom prst="rect">
            <a:avLst/>
          </a:prstGeom>
        </p:spPr>
        <p:txBody>
          <a:bodyPr vert="horz" wrap="square">
            <a:noAutofit/>
          </a:bodyPr>
          <a:lstStyle>
            <a:lvl1pPr marL="0" indent="0">
              <a:buNone/>
              <a:defRPr sz="2000" b="0"/>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err="1"/>
              <a:t>Bijschrift</a:t>
            </a:r>
            <a:endParaRPr lang="nl-NL" dirty="0"/>
          </a:p>
        </p:txBody>
      </p:sp>
    </p:spTree>
    <p:extLst>
      <p:ext uri="{BB962C8B-B14F-4D97-AF65-F5344CB8AC3E}">
        <p14:creationId xmlns:p14="http://schemas.microsoft.com/office/powerpoint/2010/main" val="1968919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8"/>
          <p:cNvSpPr>
            <a:spLocks noGrp="1" noChangeArrowheads="1"/>
          </p:cNvSpPr>
          <p:nvPr>
            <p:ph type="dt" sz="half" idx="10"/>
          </p:nvPr>
        </p:nvSpPr>
        <p:spPr>
          <a:ln/>
        </p:spPr>
        <p:txBody>
          <a:bodyPr/>
          <a:lstStyle>
            <a:lvl1pPr>
              <a:defRPr/>
            </a:lvl1pPr>
          </a:lstStyle>
          <a:p>
            <a:pPr>
              <a:defRPr/>
            </a:pPr>
            <a:fld id="{A43C820C-E757-4C96-A853-DDF2AE5452AC}" type="datetime1">
              <a:rPr lang="en-US" altLang="nl-NL"/>
              <a:pPr>
                <a:defRPr/>
              </a:pPr>
              <a:t>9/5/2025</a:t>
            </a:fld>
            <a:endParaRPr lang="en-US" altLang="nl-NL" sz="1050">
              <a:solidFill>
                <a:schemeClr val="tx1"/>
              </a:solidFill>
            </a:endParaRPr>
          </a:p>
        </p:txBody>
      </p:sp>
      <p:sp>
        <p:nvSpPr>
          <p:cNvPr id="5" name="Rectangle 49"/>
          <p:cNvSpPr>
            <a:spLocks noGrp="1" noChangeArrowheads="1"/>
          </p:cNvSpPr>
          <p:nvPr>
            <p:ph type="sldNum" sz="quarter" idx="11"/>
          </p:nvPr>
        </p:nvSpPr>
        <p:spPr>
          <a:ln/>
        </p:spPr>
        <p:txBody>
          <a:bodyPr/>
          <a:lstStyle>
            <a:lvl1pPr>
              <a:defRPr/>
            </a:lvl1pPr>
          </a:lstStyle>
          <a:p>
            <a:pPr>
              <a:defRPr/>
            </a:pPr>
            <a:fld id="{B9AC356C-3939-45AA-B610-890BB8B6E5C9}" type="slidenum">
              <a:rPr lang="en-US" altLang="nl-NL"/>
              <a:pPr>
                <a:defRPr/>
              </a:pPr>
              <a:t>‹#›</a:t>
            </a:fld>
            <a:endParaRPr lang="en-US" altLang="nl-NL"/>
          </a:p>
        </p:txBody>
      </p:sp>
      <p:sp>
        <p:nvSpPr>
          <p:cNvPr id="6" name="Rectangle 50"/>
          <p:cNvSpPr>
            <a:spLocks noGrp="1" noChangeArrowheads="1"/>
          </p:cNvSpPr>
          <p:nvPr>
            <p:ph type="ftr" sz="quarter" idx="12"/>
          </p:nvPr>
        </p:nvSpPr>
        <p:spPr>
          <a:ln/>
        </p:spPr>
        <p:txBody>
          <a:bodyPr/>
          <a:lstStyle>
            <a:lvl1pPr>
              <a:defRPr/>
            </a:lvl1pPr>
          </a:lstStyle>
          <a:p>
            <a:pPr>
              <a:defRPr/>
            </a:pPr>
            <a:r>
              <a:rPr lang="en-US"/>
              <a:t>HU powerpoint template</a:t>
            </a:r>
            <a:endParaRPr lang="en-US" sz="1050"/>
          </a:p>
        </p:txBody>
      </p:sp>
    </p:spTree>
    <p:extLst>
      <p:ext uri="{BB962C8B-B14F-4D97-AF65-F5344CB8AC3E}">
        <p14:creationId xmlns:p14="http://schemas.microsoft.com/office/powerpoint/2010/main" val="2487263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jdelijke aanduiding voor tekst 3"/>
          <p:cNvSpPr>
            <a:spLocks noGrp="1"/>
          </p:cNvSpPr>
          <p:nvPr>
            <p:ph type="body" idx="1"/>
          </p:nvPr>
        </p:nvSpPr>
        <p:spPr>
          <a:xfrm>
            <a:off x="750570" y="1369219"/>
            <a:ext cx="7637780" cy="1202252"/>
          </a:xfrm>
          <a:prstGeom prst="rect">
            <a:avLst/>
          </a:prstGeom>
        </p:spPr>
        <p:txBody>
          <a:bodyPr vert="horz" wrap="square" lIns="0" tIns="0" rIns="0" bIns="0" rtlCol="0" anchor="t" anchorCtr="0">
            <a:noAutofit/>
          </a:bodyPr>
          <a:lstStyle/>
          <a:p>
            <a:pPr lvl="0"/>
            <a:r>
              <a:rPr lang="nl-NL" dirty="0"/>
              <a:t>Niveau 1</a:t>
            </a:r>
          </a:p>
          <a:p>
            <a:pPr lvl="1"/>
            <a:r>
              <a:rPr lang="nl-NL" dirty="0"/>
              <a:t>Niveau 2</a:t>
            </a:r>
          </a:p>
          <a:p>
            <a:pPr lvl="2"/>
            <a:r>
              <a:rPr lang="nl-NL" dirty="0"/>
              <a:t>Niveau 3</a:t>
            </a:r>
          </a:p>
        </p:txBody>
      </p:sp>
      <p:sp>
        <p:nvSpPr>
          <p:cNvPr id="5" name="Tijdelijke aanduiding voor titel 4"/>
          <p:cNvSpPr>
            <a:spLocks noGrp="1"/>
          </p:cNvSpPr>
          <p:nvPr>
            <p:ph type="title"/>
          </p:nvPr>
        </p:nvSpPr>
        <p:spPr>
          <a:xfrm>
            <a:off x="750572" y="581675"/>
            <a:ext cx="7637778" cy="461665"/>
          </a:xfrm>
          <a:prstGeom prst="rect">
            <a:avLst/>
          </a:prstGeom>
        </p:spPr>
        <p:txBody>
          <a:bodyPr vert="horz" wrap="square" lIns="0" tIns="0" rIns="0" bIns="0" rtlCol="0" anchor="t" anchorCtr="0">
            <a:noAutofit/>
          </a:bodyPr>
          <a:lstStyle/>
          <a:p>
            <a:r>
              <a:rPr lang="nl-NL" dirty="0"/>
              <a:t>Titelstijl van model bewerken</a:t>
            </a:r>
          </a:p>
        </p:txBody>
      </p:sp>
      <p:pic>
        <p:nvPicPr>
          <p:cNvPr id="13" name="Afbeelding 12" descr="hu logo.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14" name="Tekstvak 13"/>
          <p:cNvSpPr txBox="1"/>
          <p:nvPr/>
        </p:nvSpPr>
        <p:spPr>
          <a:xfrm>
            <a:off x="453001" y="4751389"/>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pic>
        <p:nvPicPr>
          <p:cNvPr id="6" name="Afbeelding 5" descr="hu logo.png"/>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8435218" y="4608939"/>
            <a:ext cx="432000" cy="369461"/>
          </a:xfrm>
          <a:prstGeom prst="rect">
            <a:avLst/>
          </a:prstGeom>
        </p:spPr>
      </p:pic>
      <p:sp>
        <p:nvSpPr>
          <p:cNvPr id="7" name="Tekstvak 6"/>
          <p:cNvSpPr txBox="1"/>
          <p:nvPr userDrawn="1"/>
        </p:nvSpPr>
        <p:spPr>
          <a:xfrm>
            <a:off x="453001" y="4751389"/>
            <a:ext cx="3672565" cy="215444"/>
          </a:xfrm>
          <a:prstGeom prst="rect">
            <a:avLst/>
          </a:prstGeom>
          <a:noFill/>
        </p:spPr>
        <p:txBody>
          <a:bodyPr wrap="square" rtlCol="0">
            <a:spAutoFit/>
          </a:bodyPr>
          <a:lstStyle/>
          <a:p>
            <a:fld id="{314644ED-88FD-4C4D-9D4F-18215A7BD5D3}" type="slidenum">
              <a:rPr lang="nl-NL" sz="800" smtClean="0"/>
              <a:t>‹#›</a:t>
            </a:fld>
            <a:endParaRPr lang="nl-NL" sz="800" dirty="0"/>
          </a:p>
        </p:txBody>
      </p:sp>
    </p:spTree>
    <p:extLst>
      <p:ext uri="{BB962C8B-B14F-4D97-AF65-F5344CB8AC3E}">
        <p14:creationId xmlns:p14="http://schemas.microsoft.com/office/powerpoint/2010/main" val="93525938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710" r:id="rId3"/>
    <p:sldLayoutId id="2147483695"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1" r:id="rId17"/>
  </p:sldLayoutIdLst>
  <p:hf hdr="0" ftr="0" dt="0"/>
  <p:txStyles>
    <p:titleStyle>
      <a:lvl1pPr algn="l" defTabSz="457200" rtl="0" eaLnBrk="1" latinLnBrk="0" hangingPunct="1">
        <a:spcBef>
          <a:spcPct val="0"/>
        </a:spcBef>
        <a:buNone/>
        <a:defRPr sz="2200" b="1" kern="1200">
          <a:solidFill>
            <a:schemeClr val="accent1"/>
          </a:solidFill>
          <a:latin typeface="+mj-lt"/>
          <a:ea typeface="+mj-ea"/>
          <a:cs typeface="+mj-cs"/>
        </a:defRPr>
      </a:lvl1pPr>
    </p:titleStyle>
    <p:bodyStyle>
      <a:lvl1pPr marL="342900" indent="-342900" algn="l" defTabSz="457200" rtl="0" eaLnBrk="1" latinLnBrk="0" hangingPunct="1">
        <a:lnSpc>
          <a:spcPts val="2400"/>
        </a:lnSpc>
        <a:spcBef>
          <a:spcPts val="0"/>
        </a:spcBef>
        <a:buClr>
          <a:schemeClr val="accent1"/>
        </a:buClr>
        <a:buFont typeface="Arial" panose="020B0604020202020204" pitchFamily="34" charset="0"/>
        <a:buChar char="•"/>
        <a:defRPr sz="2000" b="0" kern="1200">
          <a:solidFill>
            <a:schemeClr val="tx1"/>
          </a:solidFill>
          <a:latin typeface="+mn-lt"/>
          <a:ea typeface="+mn-ea"/>
          <a:cs typeface="+mn-cs"/>
        </a:defRPr>
      </a:lvl1pPr>
      <a:lvl2pPr marL="800100" indent="-342900" algn="l" defTabSz="457200" rtl="0" eaLnBrk="1" latinLnBrk="0" hangingPunct="1">
        <a:lnSpc>
          <a:spcPts val="2400"/>
        </a:lnSpc>
        <a:spcBef>
          <a:spcPts val="0"/>
        </a:spcBef>
        <a:buClr>
          <a:schemeClr val="accent1"/>
        </a:buClr>
        <a:buFont typeface="Courier New" panose="02070309020205020404" pitchFamily="49" charset="0"/>
        <a:buChar char="o"/>
        <a:defRPr sz="2000" b="0" kern="1200">
          <a:solidFill>
            <a:schemeClr val="tx1"/>
          </a:solidFill>
          <a:latin typeface="+mn-lt"/>
          <a:ea typeface="+mn-ea"/>
          <a:cs typeface="+mn-cs"/>
        </a:defRPr>
      </a:lvl2pPr>
      <a:lvl3pPr marL="1257300" indent="-342900" algn="l" defTabSz="457200" rtl="0" eaLnBrk="1" latinLnBrk="0" hangingPunct="1">
        <a:lnSpc>
          <a:spcPts val="2400"/>
        </a:lnSpc>
        <a:spcBef>
          <a:spcPts val="0"/>
        </a:spcBef>
        <a:buClr>
          <a:schemeClr val="accent1"/>
        </a:buClr>
        <a:buFont typeface="Wingdings" panose="05000000000000000000" pitchFamily="2" charset="2"/>
        <a:buChar char="§"/>
        <a:defRPr sz="2000" b="0" kern="1200">
          <a:solidFill>
            <a:schemeClr val="tx1"/>
          </a:solidFill>
          <a:latin typeface="+mn-lt"/>
          <a:ea typeface="+mn-ea"/>
          <a:cs typeface="+mn-cs"/>
        </a:defRPr>
      </a:lvl3pPr>
      <a:lvl4pPr marL="13716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4pPr>
      <a:lvl5pPr marL="1828800" indent="0" algn="l" defTabSz="457200" rtl="0" eaLnBrk="1" latinLnBrk="0" hangingPunct="1">
        <a:lnSpc>
          <a:spcPts val="2400"/>
        </a:lnSpc>
        <a:spcBef>
          <a:spcPts val="0"/>
        </a:spcBef>
        <a:buClr>
          <a:schemeClr val="accent1"/>
        </a:buClr>
        <a:buFont typeface="Arial"/>
        <a:buNone/>
        <a:defRPr sz="2000" b="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5284">
          <p15:clr>
            <a:srgbClr val="F26B43"/>
          </p15:clr>
        </p15:guide>
        <p15:guide id="4" orient="horz" pos="377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mailto:Gregory@WoodgroveBank.com"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44.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5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docs.microsoft.com/en-us/windows-server/storage/folder-redirection/deploy-roaming-user-profiles" TargetMode="External"/><Relationship Id="rId5" Type="http://schemas.openxmlformats.org/officeDocument/2006/relationships/image" Target="../media/image52.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61.png"/><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64.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88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Platformen</a:t>
            </a:r>
            <a:endParaRPr lang="nl-NL" dirty="0"/>
          </a:p>
        </p:txBody>
      </p:sp>
      <p:sp>
        <p:nvSpPr>
          <p:cNvPr id="3" name="Text Placeholder 2"/>
          <p:cNvSpPr>
            <a:spLocks noGrp="1"/>
          </p:cNvSpPr>
          <p:nvPr>
            <p:ph type="body" sz="quarter" idx="10"/>
          </p:nvPr>
        </p:nvSpPr>
        <p:spPr/>
        <p:txBody>
          <a:bodyPr/>
          <a:lstStyle/>
          <a:p>
            <a:pPr marL="0" indent="0">
              <a:buNone/>
              <a:defRPr/>
            </a:pPr>
            <a:r>
              <a:rPr lang="en-US" dirty="0">
                <a:solidFill>
                  <a:schemeClr val="bg1"/>
                </a:solidFill>
              </a:rPr>
              <a:t>Windows Active Directory Domain</a:t>
            </a:r>
          </a:p>
          <a:p>
            <a:pPr marL="0" indent="0">
              <a:buNone/>
              <a:defRPr/>
            </a:pPr>
            <a:r>
              <a:rPr lang="en-US" dirty="0">
                <a:solidFill>
                  <a:schemeClr val="bg1"/>
                </a:solidFill>
              </a:rPr>
              <a:t>en Windows </a:t>
            </a:r>
            <a:r>
              <a:rPr lang="en-US" dirty="0" err="1">
                <a:solidFill>
                  <a:schemeClr val="bg1"/>
                </a:solidFill>
              </a:rPr>
              <a:t>gebruikers</a:t>
            </a:r>
            <a:r>
              <a:rPr lang="en-US" dirty="0">
                <a:solidFill>
                  <a:schemeClr val="bg1"/>
                </a:solidFill>
              </a:rPr>
              <a:t> en </a:t>
            </a:r>
            <a:r>
              <a:rPr lang="en-US" dirty="0" err="1">
                <a:solidFill>
                  <a:schemeClr val="bg1"/>
                </a:solidFill>
              </a:rPr>
              <a:t>groepen</a:t>
            </a:r>
            <a:endParaRPr lang="en-US" dirty="0">
              <a:solidFill>
                <a:schemeClr val="bg1"/>
              </a:solidFill>
            </a:endParaRPr>
          </a:p>
        </p:txBody>
      </p:sp>
    </p:spTree>
    <p:extLst>
      <p:ext uri="{BB962C8B-B14F-4D97-AF65-F5344CB8AC3E}">
        <p14:creationId xmlns:p14="http://schemas.microsoft.com/office/powerpoint/2010/main" val="559557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pPr>
              <a:lnSpc>
                <a:spcPct val="150000"/>
              </a:lnSpc>
            </a:pPr>
            <a:r>
              <a:rPr lang="nl-NL" altLang="en-US" dirty="0"/>
              <a:t>Central LDAP database;</a:t>
            </a:r>
          </a:p>
          <a:p>
            <a:pPr>
              <a:lnSpc>
                <a:spcPct val="150000"/>
              </a:lnSpc>
            </a:pPr>
            <a:r>
              <a:rPr lang="nl-NL" altLang="en-US" dirty="0"/>
              <a:t>Gebruikers, groepen, computers;</a:t>
            </a:r>
          </a:p>
          <a:p>
            <a:pPr>
              <a:lnSpc>
                <a:spcPct val="150000"/>
              </a:lnSpc>
            </a:pPr>
            <a:r>
              <a:rPr lang="nl-NL" altLang="en-US" dirty="0"/>
              <a:t>DNS;</a:t>
            </a:r>
          </a:p>
          <a:p>
            <a:pPr>
              <a:lnSpc>
                <a:spcPct val="150000"/>
              </a:lnSpc>
            </a:pPr>
            <a:r>
              <a:rPr lang="nl-NL" altLang="en-US" dirty="0"/>
              <a:t>Beheer / controle.</a:t>
            </a:r>
          </a:p>
          <a:p>
            <a:pPr>
              <a:lnSpc>
                <a:spcPct val="150000"/>
              </a:lnSpc>
            </a:pPr>
            <a:endParaRPr lang="nl-NL" dirty="0"/>
          </a:p>
        </p:txBody>
      </p:sp>
      <p:sp>
        <p:nvSpPr>
          <p:cNvPr id="13314" name="Titel 1"/>
          <p:cNvSpPr>
            <a:spLocks noGrp="1"/>
          </p:cNvSpPr>
          <p:nvPr>
            <p:ph type="title"/>
          </p:nvPr>
        </p:nvSpPr>
        <p:spPr/>
        <p:txBody>
          <a:bodyPr/>
          <a:lstStyle/>
          <a:p>
            <a:r>
              <a:rPr lang="nl-NL" altLang="en-US"/>
              <a:t>Active Directory</a:t>
            </a:r>
          </a:p>
        </p:txBody>
      </p:sp>
      <p:sp>
        <p:nvSpPr>
          <p:cNvPr id="13316" name="AutoShape 7" descr="Afbeeldingsresultaat voor Active directory"/>
          <p:cNvSpPr>
            <a:spLocks noChangeAspect="1" noChangeArrowheads="1"/>
          </p:cNvSpPr>
          <p:nvPr/>
        </p:nvSpPr>
        <p:spPr bwMode="auto">
          <a:xfrm>
            <a:off x="1248966" y="-108347"/>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D0010"/>
              </a:buClr>
              <a:buSzPct val="60000"/>
              <a:buFont typeface="Zapf Dingbats" pitchFamily="-84" charset="2"/>
              <a:buChar char="n"/>
              <a:defRPr sz="2800">
                <a:solidFill>
                  <a:srgbClr val="000000"/>
                </a:solidFill>
                <a:latin typeface="Arial" panose="020B0604020202020204" pitchFamily="34" charset="0"/>
                <a:ea typeface="MS PGothic" pitchFamily="34" charset="-128"/>
              </a:defRPr>
            </a:lvl1pPr>
            <a:lvl2pPr marL="742950" indent="-285750">
              <a:spcBef>
                <a:spcPct val="20000"/>
              </a:spcBef>
              <a:buClr>
                <a:schemeClr val="accent1"/>
              </a:buClr>
              <a:buSzPct val="60000"/>
              <a:buFont typeface="Zapf Dingbats" pitchFamily="-84" charset="2"/>
              <a:buChar char="n"/>
              <a:defRPr sz="2600">
                <a:solidFill>
                  <a:srgbClr val="000000"/>
                </a:solidFill>
                <a:latin typeface="Arial" panose="020B0604020202020204" pitchFamily="34" charset="0"/>
                <a:ea typeface="MS PGothic" pitchFamily="34" charset="-128"/>
              </a:defRPr>
            </a:lvl2pPr>
            <a:lvl3pPr marL="1143000" indent="-228600">
              <a:spcBef>
                <a:spcPct val="20000"/>
              </a:spcBef>
              <a:buClr>
                <a:schemeClr val="accent1"/>
              </a:buClr>
              <a:buSzPct val="60000"/>
              <a:buFont typeface="Zapf Dingbats" pitchFamily="-84" charset="2"/>
              <a:buChar char="n"/>
              <a:defRPr sz="2400">
                <a:solidFill>
                  <a:srgbClr val="000000"/>
                </a:solidFill>
                <a:latin typeface="Arial" panose="020B0604020202020204" pitchFamily="34" charset="0"/>
                <a:ea typeface="MS PGothic" pitchFamily="34" charset="-128"/>
              </a:defRPr>
            </a:lvl3pPr>
            <a:lvl4pPr marL="1600200" indent="-228600">
              <a:spcBef>
                <a:spcPct val="20000"/>
              </a:spcBef>
              <a:buClr>
                <a:schemeClr val="accent1"/>
              </a:buClr>
              <a:buSzPct val="60000"/>
              <a:buFont typeface="Zapf Dingbats" pitchFamily="-84" charset="2"/>
              <a:buChar char="n"/>
              <a:defRPr sz="2200">
                <a:solidFill>
                  <a:srgbClr val="000000"/>
                </a:solidFill>
                <a:latin typeface="Arial" panose="020B0604020202020204" pitchFamily="34" charset="0"/>
                <a:ea typeface="MS PGothic" pitchFamily="34" charset="-128"/>
              </a:defRPr>
            </a:lvl4pPr>
            <a:lvl5pPr marL="2057400" indent="-228600">
              <a:spcBef>
                <a:spcPct val="20000"/>
              </a:spcBef>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5pPr>
            <a:lvl6pPr marL="25146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6pPr>
            <a:lvl7pPr marL="29718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7pPr>
            <a:lvl8pPr marL="34290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8pPr>
            <a:lvl9pPr marL="38862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9pPr>
          </a:lstStyle>
          <a:p>
            <a:pPr>
              <a:spcBef>
                <a:spcPct val="0"/>
              </a:spcBef>
              <a:buClrTx/>
              <a:buSzTx/>
              <a:buFontTx/>
              <a:buNone/>
            </a:pPr>
            <a:endParaRPr lang="en-US" altLang="en-US" sz="1050">
              <a:solidFill>
                <a:schemeClr val="tx1"/>
              </a:solidFill>
            </a:endParaRPr>
          </a:p>
        </p:txBody>
      </p:sp>
      <p:pic>
        <p:nvPicPr>
          <p:cNvPr id="13317" name="Picture 3"/>
          <p:cNvPicPr>
            <a:picLocks noChangeAspect="1"/>
          </p:cNvPicPr>
          <p:nvPr/>
        </p:nvPicPr>
        <p:blipFill rotWithShape="1">
          <a:blip r:embed="rId3">
            <a:extLst>
              <a:ext uri="{28A0092B-C50C-407E-A947-70E740481C1C}">
                <a14:useLocalDpi xmlns:a14="http://schemas.microsoft.com/office/drawing/2010/main" val="0"/>
              </a:ext>
            </a:extLst>
          </a:blip>
          <a:srcRect l="1123" t="892"/>
          <a:stretch/>
        </p:blipFill>
        <p:spPr bwMode="auto">
          <a:xfrm>
            <a:off x="6972773" y="2024861"/>
            <a:ext cx="1684837" cy="1214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AutoShape 9" descr="Afbeeldingsresultaat voor Active directory"/>
          <p:cNvSpPr>
            <a:spLocks noChangeAspect="1" noChangeArrowheads="1"/>
          </p:cNvSpPr>
          <p:nvPr/>
        </p:nvSpPr>
        <p:spPr bwMode="auto">
          <a:xfrm>
            <a:off x="1363266" y="5954"/>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D0010"/>
              </a:buClr>
              <a:buSzPct val="60000"/>
              <a:buFont typeface="Zapf Dingbats" pitchFamily="-84" charset="2"/>
              <a:buChar char="n"/>
              <a:defRPr sz="2800">
                <a:solidFill>
                  <a:srgbClr val="000000"/>
                </a:solidFill>
                <a:latin typeface="Arial" panose="020B0604020202020204" pitchFamily="34" charset="0"/>
                <a:ea typeface="MS PGothic" pitchFamily="34" charset="-128"/>
              </a:defRPr>
            </a:lvl1pPr>
            <a:lvl2pPr marL="742950" indent="-285750">
              <a:spcBef>
                <a:spcPct val="20000"/>
              </a:spcBef>
              <a:buClr>
                <a:schemeClr val="accent1"/>
              </a:buClr>
              <a:buSzPct val="60000"/>
              <a:buFont typeface="Zapf Dingbats" pitchFamily="-84" charset="2"/>
              <a:buChar char="n"/>
              <a:defRPr sz="2600">
                <a:solidFill>
                  <a:srgbClr val="000000"/>
                </a:solidFill>
                <a:latin typeface="Arial" panose="020B0604020202020204" pitchFamily="34" charset="0"/>
                <a:ea typeface="MS PGothic" pitchFamily="34" charset="-128"/>
              </a:defRPr>
            </a:lvl2pPr>
            <a:lvl3pPr marL="1143000" indent="-228600">
              <a:spcBef>
                <a:spcPct val="20000"/>
              </a:spcBef>
              <a:buClr>
                <a:schemeClr val="accent1"/>
              </a:buClr>
              <a:buSzPct val="60000"/>
              <a:buFont typeface="Zapf Dingbats" pitchFamily="-84" charset="2"/>
              <a:buChar char="n"/>
              <a:defRPr sz="2400">
                <a:solidFill>
                  <a:srgbClr val="000000"/>
                </a:solidFill>
                <a:latin typeface="Arial" panose="020B0604020202020204" pitchFamily="34" charset="0"/>
                <a:ea typeface="MS PGothic" pitchFamily="34" charset="-128"/>
              </a:defRPr>
            </a:lvl3pPr>
            <a:lvl4pPr marL="1600200" indent="-228600">
              <a:spcBef>
                <a:spcPct val="20000"/>
              </a:spcBef>
              <a:buClr>
                <a:schemeClr val="accent1"/>
              </a:buClr>
              <a:buSzPct val="60000"/>
              <a:buFont typeface="Zapf Dingbats" pitchFamily="-84" charset="2"/>
              <a:buChar char="n"/>
              <a:defRPr sz="2200">
                <a:solidFill>
                  <a:srgbClr val="000000"/>
                </a:solidFill>
                <a:latin typeface="Arial" panose="020B0604020202020204" pitchFamily="34" charset="0"/>
                <a:ea typeface="MS PGothic" pitchFamily="34" charset="-128"/>
              </a:defRPr>
            </a:lvl4pPr>
            <a:lvl5pPr marL="2057400" indent="-228600">
              <a:spcBef>
                <a:spcPct val="20000"/>
              </a:spcBef>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5pPr>
            <a:lvl6pPr marL="25146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6pPr>
            <a:lvl7pPr marL="29718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7pPr>
            <a:lvl8pPr marL="34290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8pPr>
            <a:lvl9pPr marL="38862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9pPr>
          </a:lstStyle>
          <a:p>
            <a:pPr>
              <a:spcBef>
                <a:spcPct val="0"/>
              </a:spcBef>
              <a:buClrTx/>
              <a:buSzTx/>
              <a:buFontTx/>
              <a:buNone/>
            </a:pPr>
            <a:endParaRPr lang="en-US" altLang="en-US" sz="1050">
              <a:solidFill>
                <a:schemeClr val="tx1"/>
              </a:solidFill>
            </a:endParaRPr>
          </a:p>
        </p:txBody>
      </p:sp>
      <p:pic>
        <p:nvPicPr>
          <p:cNvPr id="13320"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24961" y="3308313"/>
            <a:ext cx="2610676" cy="1448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22579" y="393582"/>
            <a:ext cx="3057869" cy="1605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22579" y="1831433"/>
            <a:ext cx="1476880" cy="1476880"/>
          </a:xfrm>
          <a:prstGeom prst="rect">
            <a:avLst/>
          </a:prstGeom>
        </p:spPr>
      </p:pic>
    </p:spTree>
    <p:extLst>
      <p:ext uri="{BB962C8B-B14F-4D97-AF65-F5344CB8AC3E}">
        <p14:creationId xmlns:p14="http://schemas.microsoft.com/office/powerpoint/2010/main" val="158560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18219" y="1196341"/>
            <a:ext cx="4407950" cy="3292316"/>
          </a:xfrm>
        </p:spPr>
        <p:txBody>
          <a:bodyPr/>
          <a:lstStyle/>
          <a:p>
            <a:r>
              <a:rPr lang="nl-NL" altLang="en-US" dirty="0"/>
              <a:t>Workgroup / Client-server</a:t>
            </a:r>
          </a:p>
          <a:p>
            <a:r>
              <a:rPr lang="nl-NL" altLang="en-US" dirty="0"/>
              <a:t>Domain &amp; Active Directory Domain services</a:t>
            </a:r>
          </a:p>
          <a:p>
            <a:r>
              <a:rPr lang="nl-NL" altLang="en-US" dirty="0"/>
              <a:t>Tree &amp; </a:t>
            </a:r>
            <a:r>
              <a:rPr lang="nl-NL" altLang="en-US" dirty="0" err="1"/>
              <a:t>Forest</a:t>
            </a:r>
            <a:endParaRPr lang="nl-NL" altLang="en-US" dirty="0"/>
          </a:p>
          <a:p>
            <a:r>
              <a:rPr lang="nl-NL" altLang="en-US" dirty="0"/>
              <a:t>Site, Replication &amp; Schema</a:t>
            </a:r>
          </a:p>
          <a:p>
            <a:r>
              <a:rPr lang="nl-NL" altLang="en-US" dirty="0"/>
              <a:t>Global </a:t>
            </a:r>
            <a:r>
              <a:rPr lang="nl-NL" altLang="en-US" dirty="0" err="1"/>
              <a:t>Catalog</a:t>
            </a:r>
            <a:endParaRPr lang="nl-NL" altLang="en-US" dirty="0"/>
          </a:p>
          <a:p>
            <a:r>
              <a:rPr lang="nl-NL" altLang="en-US" dirty="0" err="1"/>
              <a:t>Objects</a:t>
            </a:r>
            <a:r>
              <a:rPr lang="nl-NL" altLang="en-US" dirty="0"/>
              <a:t> &amp; Trusts</a:t>
            </a:r>
          </a:p>
          <a:p>
            <a:r>
              <a:rPr lang="nl-NL" altLang="en-US" dirty="0"/>
              <a:t>Group policy</a:t>
            </a:r>
          </a:p>
          <a:p>
            <a:r>
              <a:rPr lang="nl-NL" altLang="en-US" dirty="0" err="1"/>
              <a:t>Organizational</a:t>
            </a:r>
            <a:r>
              <a:rPr lang="nl-NL" altLang="en-US" dirty="0"/>
              <a:t> Units</a:t>
            </a:r>
            <a:endParaRPr lang="en-US" altLang="en-US" dirty="0"/>
          </a:p>
        </p:txBody>
      </p:sp>
      <p:sp>
        <p:nvSpPr>
          <p:cNvPr id="14338" name="Title 1"/>
          <p:cNvSpPr>
            <a:spLocks noGrp="1"/>
          </p:cNvSpPr>
          <p:nvPr>
            <p:ph type="title"/>
          </p:nvPr>
        </p:nvSpPr>
        <p:spPr/>
        <p:txBody>
          <a:bodyPr/>
          <a:lstStyle/>
          <a:p>
            <a:r>
              <a:rPr lang="nl-NL" altLang="en-US"/>
              <a:t>AD Basics</a:t>
            </a:r>
            <a:endParaRPr lang="en-US" altLang="en-US"/>
          </a:p>
        </p:txBody>
      </p:sp>
      <p:pic>
        <p:nvPicPr>
          <p:cNvPr id="1434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9222" y="170833"/>
            <a:ext cx="1321922" cy="1283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2" descr="https://i-technet.sec.s-msft.com/dynimg/IC197060.gif"/>
          <p:cNvPicPr>
            <a:picLocks noChangeAspect="1" noChangeArrowheads="1"/>
          </p:cNvPicPr>
          <p:nvPr/>
        </p:nvPicPr>
        <p:blipFill rotWithShape="1">
          <a:blip r:embed="rId4">
            <a:extLst>
              <a:ext uri="{28A0092B-C50C-407E-A947-70E740481C1C}">
                <a14:useLocalDpi xmlns:a14="http://schemas.microsoft.com/office/drawing/2010/main" val="0"/>
              </a:ext>
            </a:extLst>
          </a:blip>
          <a:srcRect t="3032" b="14870"/>
          <a:stretch/>
        </p:blipFill>
        <p:spPr bwMode="auto">
          <a:xfrm>
            <a:off x="6970421" y="269710"/>
            <a:ext cx="1740810" cy="1931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60404" y="3329252"/>
            <a:ext cx="2280067" cy="163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6" descr="https://encrypted-tbn0.gstatic.com/images?q=tbn:ANd9GcQz_ExjOfbrNR9hYfHJTaHpVawTfhO24_KKK_Gwhnny9TE1oORnr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8787" y="1364078"/>
            <a:ext cx="9159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image001"/>
          <p:cNvPicPr>
            <a:picLocks noChangeAspect="1" noChangeArrowheads="1"/>
          </p:cNvPicPr>
          <p:nvPr/>
        </p:nvPicPr>
        <p:blipFill rotWithShape="1">
          <a:blip r:embed="rId7">
            <a:extLst>
              <a:ext uri="{28A0092B-C50C-407E-A947-70E740481C1C}">
                <a14:useLocalDpi xmlns:a14="http://schemas.microsoft.com/office/drawing/2010/main" val="0"/>
              </a:ext>
            </a:extLst>
          </a:blip>
          <a:srcRect l="4713" t="21716" r="2576" b="8548"/>
          <a:stretch/>
        </p:blipFill>
        <p:spPr bwMode="auto">
          <a:xfrm>
            <a:off x="6067908" y="2188120"/>
            <a:ext cx="1872863" cy="1153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7554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pPr>
              <a:lnSpc>
                <a:spcPct val="100000"/>
              </a:lnSpc>
              <a:spcBef>
                <a:spcPts val="1200"/>
              </a:spcBef>
            </a:pPr>
            <a:r>
              <a:rPr lang="nl-NL" altLang="en-US" dirty="0"/>
              <a:t>Installation ADDS</a:t>
            </a:r>
          </a:p>
          <a:p>
            <a:pPr>
              <a:lnSpc>
                <a:spcPct val="100000"/>
              </a:lnSpc>
              <a:spcBef>
                <a:spcPts val="1200"/>
              </a:spcBef>
            </a:pPr>
            <a:r>
              <a:rPr lang="nl-NL" altLang="en-US" dirty="0" err="1"/>
              <a:t>Promote</a:t>
            </a:r>
            <a:r>
              <a:rPr lang="nl-NL" altLang="en-US" dirty="0"/>
              <a:t> Server</a:t>
            </a:r>
          </a:p>
          <a:p>
            <a:pPr>
              <a:lnSpc>
                <a:spcPct val="100000"/>
              </a:lnSpc>
              <a:spcBef>
                <a:spcPts val="1200"/>
              </a:spcBef>
            </a:pPr>
            <a:r>
              <a:rPr lang="nl-NL" altLang="en-US" dirty="0"/>
              <a:t>New / </a:t>
            </a:r>
            <a:r>
              <a:rPr lang="nl-NL" altLang="en-US" dirty="0" err="1"/>
              <a:t>existing</a:t>
            </a:r>
            <a:r>
              <a:rPr lang="nl-NL" altLang="en-US" dirty="0"/>
              <a:t> </a:t>
            </a:r>
            <a:r>
              <a:rPr lang="nl-NL" altLang="en-US" dirty="0" err="1"/>
              <a:t>Forest</a:t>
            </a:r>
            <a:r>
              <a:rPr lang="nl-NL" altLang="en-US" dirty="0"/>
              <a:t> </a:t>
            </a:r>
          </a:p>
          <a:p>
            <a:pPr>
              <a:lnSpc>
                <a:spcPct val="100000"/>
              </a:lnSpc>
              <a:spcBef>
                <a:spcPts val="1200"/>
              </a:spcBef>
            </a:pPr>
            <a:r>
              <a:rPr lang="nl-NL" altLang="en-US" dirty="0"/>
              <a:t>DFL, DNS &amp; GC</a:t>
            </a:r>
          </a:p>
          <a:p>
            <a:pPr>
              <a:lnSpc>
                <a:spcPct val="100000"/>
              </a:lnSpc>
              <a:spcBef>
                <a:spcPts val="1200"/>
              </a:spcBef>
            </a:pPr>
            <a:r>
              <a:rPr lang="nl-NL" altLang="en-US" dirty="0" err="1"/>
              <a:t>NetBIOS</a:t>
            </a:r>
            <a:r>
              <a:rPr lang="nl-NL" altLang="en-US" dirty="0"/>
              <a:t> name</a:t>
            </a:r>
          </a:p>
          <a:p>
            <a:pPr>
              <a:lnSpc>
                <a:spcPct val="100000"/>
              </a:lnSpc>
              <a:spcBef>
                <a:spcPts val="1200"/>
              </a:spcBef>
            </a:pPr>
            <a:r>
              <a:rPr lang="nl-NL" altLang="en-US" dirty="0"/>
              <a:t>Database </a:t>
            </a:r>
            <a:r>
              <a:rPr lang="nl-NL" altLang="en-US" dirty="0" err="1"/>
              <a:t>Path</a:t>
            </a:r>
            <a:endParaRPr lang="nl-NL" altLang="en-US" dirty="0"/>
          </a:p>
          <a:p>
            <a:pPr>
              <a:lnSpc>
                <a:spcPct val="100000"/>
              </a:lnSpc>
              <a:spcBef>
                <a:spcPts val="1200"/>
              </a:spcBef>
            </a:pPr>
            <a:r>
              <a:rPr lang="nl-NL" altLang="en-US" dirty="0"/>
              <a:t>DSRM Password</a:t>
            </a:r>
          </a:p>
          <a:p>
            <a:pPr>
              <a:lnSpc>
                <a:spcPct val="100000"/>
              </a:lnSpc>
              <a:spcBef>
                <a:spcPts val="1200"/>
              </a:spcBef>
            </a:pPr>
            <a:r>
              <a:rPr lang="nl-NL" altLang="en-US" dirty="0"/>
              <a:t>Powershell &amp; Reboot</a:t>
            </a:r>
            <a:endParaRPr lang="en-US" altLang="en-US" dirty="0"/>
          </a:p>
          <a:p>
            <a:pPr marL="0" indent="0">
              <a:lnSpc>
                <a:spcPct val="100000"/>
              </a:lnSpc>
              <a:spcBef>
                <a:spcPts val="1200"/>
              </a:spcBef>
              <a:buNone/>
            </a:pPr>
            <a:endParaRPr lang="nl-NL" dirty="0"/>
          </a:p>
        </p:txBody>
      </p:sp>
      <p:sp>
        <p:nvSpPr>
          <p:cNvPr id="15362" name="Title 1"/>
          <p:cNvSpPr>
            <a:spLocks noGrp="1"/>
          </p:cNvSpPr>
          <p:nvPr>
            <p:ph type="title"/>
          </p:nvPr>
        </p:nvSpPr>
        <p:spPr/>
        <p:txBody>
          <a:bodyPr/>
          <a:lstStyle/>
          <a:p>
            <a:r>
              <a:rPr lang="nl-NL" altLang="en-US"/>
              <a:t>Creating AD</a:t>
            </a:r>
            <a:endParaRPr lang="en-US" altLang="en-US"/>
          </a:p>
        </p:txBody>
      </p:sp>
      <p:pic>
        <p:nvPicPr>
          <p:cNvPr id="15363" name="Picture 3"/>
          <p:cNvPicPr>
            <a:picLocks noChangeAspect="1"/>
          </p:cNvPicPr>
          <p:nvPr/>
        </p:nvPicPr>
        <p:blipFill rotWithShape="1">
          <a:blip r:embed="rId3">
            <a:extLst>
              <a:ext uri="{28A0092B-C50C-407E-A947-70E740481C1C}">
                <a14:useLocalDpi xmlns:a14="http://schemas.microsoft.com/office/drawing/2010/main" val="0"/>
              </a:ext>
            </a:extLst>
          </a:blip>
          <a:srcRect r="16970" b="-6354"/>
          <a:stretch/>
        </p:blipFill>
        <p:spPr bwMode="auto">
          <a:xfrm>
            <a:off x="4883159" y="832960"/>
            <a:ext cx="3506985" cy="320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4"/>
          <p:cNvPicPr>
            <a:picLocks noChangeAspect="1"/>
          </p:cNvPicPr>
          <p:nvPr/>
        </p:nvPicPr>
        <p:blipFill rotWithShape="1">
          <a:blip r:embed="rId4">
            <a:extLst>
              <a:ext uri="{28A0092B-C50C-407E-A947-70E740481C1C}">
                <a14:useLocalDpi xmlns:a14="http://schemas.microsoft.com/office/drawing/2010/main" val="0"/>
              </a:ext>
            </a:extLst>
          </a:blip>
          <a:srcRect r="33629" b="28308"/>
          <a:stretch/>
        </p:blipFill>
        <p:spPr bwMode="auto">
          <a:xfrm>
            <a:off x="4883158" y="2747724"/>
            <a:ext cx="3506985" cy="278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0772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nl-NL" altLang="en-US" dirty="0"/>
              <a:t>Central Management / Control;</a:t>
            </a:r>
          </a:p>
          <a:p>
            <a:pPr marL="800100" lvl="1" indent="-342900">
              <a:buFont typeface="Arial" panose="020B0604020202020204" pitchFamily="34" charset="0"/>
              <a:buChar char="•"/>
            </a:pPr>
            <a:r>
              <a:rPr lang="nl-NL" altLang="en-US" dirty="0" err="1"/>
              <a:t>Authentication</a:t>
            </a:r>
            <a:r>
              <a:rPr lang="nl-NL" altLang="en-US" dirty="0"/>
              <a:t>;</a:t>
            </a:r>
          </a:p>
          <a:p>
            <a:pPr marL="800100" lvl="1" indent="-342900">
              <a:buFont typeface="Arial" panose="020B0604020202020204" pitchFamily="34" charset="0"/>
              <a:buChar char="•"/>
            </a:pPr>
            <a:r>
              <a:rPr lang="nl-NL" altLang="en-US" dirty="0" err="1"/>
              <a:t>Authorization</a:t>
            </a:r>
            <a:r>
              <a:rPr lang="nl-NL" altLang="en-US" dirty="0"/>
              <a:t>;</a:t>
            </a:r>
          </a:p>
          <a:p>
            <a:pPr marL="800100" lvl="1" indent="-342900">
              <a:buFont typeface="Arial" panose="020B0604020202020204" pitchFamily="34" charset="0"/>
              <a:buChar char="•"/>
            </a:pPr>
            <a:r>
              <a:rPr lang="nl-NL" altLang="en-US" dirty="0"/>
              <a:t>User &amp; computer;</a:t>
            </a:r>
          </a:p>
          <a:p>
            <a:pPr marL="800100" lvl="1" indent="-342900">
              <a:buFont typeface="Arial" panose="020B0604020202020204" pitchFamily="34" charset="0"/>
              <a:buChar char="•"/>
            </a:pPr>
            <a:r>
              <a:rPr lang="nl-NL" altLang="en-US" dirty="0"/>
              <a:t>AD applicaties (eg. Exchange);</a:t>
            </a:r>
          </a:p>
          <a:p>
            <a:pPr marL="800100" lvl="1" indent="-342900">
              <a:buFont typeface="Arial" panose="020B0604020202020204" pitchFamily="34" charset="0"/>
              <a:buChar char="•"/>
            </a:pPr>
            <a:r>
              <a:rPr lang="nl-NL" altLang="en-US" dirty="0"/>
              <a:t>Resources;</a:t>
            </a:r>
          </a:p>
          <a:p>
            <a:pPr marL="800100" lvl="1" indent="-342900">
              <a:buFont typeface="Arial" panose="020B0604020202020204" pitchFamily="34" charset="0"/>
              <a:buChar char="•"/>
            </a:pPr>
            <a:r>
              <a:rPr lang="nl-NL" altLang="en-US" dirty="0"/>
              <a:t>Security</a:t>
            </a:r>
          </a:p>
          <a:p>
            <a:r>
              <a:rPr lang="nl-NL" altLang="en-US" dirty="0"/>
              <a:t>Disaster recovery</a:t>
            </a:r>
          </a:p>
          <a:p>
            <a:r>
              <a:rPr lang="nl-NL" altLang="en-US" dirty="0" err="1"/>
              <a:t>Cost</a:t>
            </a:r>
            <a:endParaRPr lang="en-US" altLang="en-US" dirty="0"/>
          </a:p>
          <a:p>
            <a:pPr marL="0" indent="0">
              <a:buNone/>
            </a:pPr>
            <a:endParaRPr lang="nl-NL" dirty="0"/>
          </a:p>
        </p:txBody>
      </p:sp>
      <p:sp>
        <p:nvSpPr>
          <p:cNvPr id="16386" name="Title 1"/>
          <p:cNvSpPr>
            <a:spLocks noGrp="1"/>
          </p:cNvSpPr>
          <p:nvPr>
            <p:ph type="title"/>
          </p:nvPr>
        </p:nvSpPr>
        <p:spPr/>
        <p:txBody>
          <a:bodyPr/>
          <a:lstStyle/>
          <a:p>
            <a:r>
              <a:rPr lang="nl-NL" altLang="en-US"/>
              <a:t>Benefits (single) AD domain</a:t>
            </a:r>
            <a:endParaRPr lang="en-US" altLang="en-US"/>
          </a:p>
        </p:txBody>
      </p:sp>
      <p:pic>
        <p:nvPicPr>
          <p:cNvPr id="1638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3439" y="529776"/>
            <a:ext cx="1982699" cy="2217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82090" y="2636861"/>
            <a:ext cx="1982699" cy="222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390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a:t>What is Authentication?</a:t>
            </a:r>
          </a:p>
        </p:txBody>
      </p:sp>
      <p:sp>
        <p:nvSpPr>
          <p:cNvPr id="17411" name="Rounded Rectangle 812098"/>
          <p:cNvSpPr>
            <a:spLocks noGrp="1" noChangeArrowheads="1"/>
          </p:cNvSpPr>
          <p:nvPr>
            <p:ph type="body" sz="quarter" idx="4294967295"/>
          </p:nvPr>
        </p:nvSpPr>
        <p:spPr>
          <a:xfrm>
            <a:off x="1236133" y="1594844"/>
            <a:ext cx="6595534" cy="3292475"/>
          </a:xfrm>
          <a:prstGeom prst="roundRect">
            <a:avLst>
              <a:gd name="adj" fmla="val 4167"/>
            </a:avLst>
          </a:prstGeom>
          <a:solidFill>
            <a:schemeClr val="accent3">
              <a:lumMod val="40000"/>
              <a:lumOff val="60000"/>
            </a:schemeClr>
          </a:solidFill>
          <a:ln cap="flat" algn="ctr">
            <a:solidFill>
              <a:srgbClr val="333333"/>
            </a:solidFill>
            <a:round/>
            <a:headEnd type="none" w="med" len="med"/>
            <a:tailEnd type="none" w="med" len="med"/>
          </a:ln>
        </p:spPr>
        <p:txBody>
          <a:bodyPr/>
          <a:lstStyle/>
          <a:p>
            <a:pPr marL="0" indent="0">
              <a:spcBef>
                <a:spcPct val="0"/>
              </a:spcBef>
              <a:buNone/>
            </a:pPr>
            <a:r>
              <a:rPr lang="en-US" altLang="en-US" b="1" dirty="0"/>
              <a:t>Authentication includes two components:</a:t>
            </a:r>
          </a:p>
        </p:txBody>
      </p:sp>
      <p:sp>
        <p:nvSpPr>
          <p:cNvPr id="17412" name="Rounded Rectangle 844806"/>
          <p:cNvSpPr>
            <a:spLocks noChangeArrowheads="1"/>
          </p:cNvSpPr>
          <p:nvPr/>
        </p:nvSpPr>
        <p:spPr bwMode="auto">
          <a:xfrm>
            <a:off x="1496143" y="2176463"/>
            <a:ext cx="2880000" cy="2331244"/>
          </a:xfrm>
          <a:prstGeom prst="roundRect">
            <a:avLst>
              <a:gd name="adj" fmla="val 4167"/>
            </a:avLst>
          </a:prstGeom>
          <a:solidFill>
            <a:srgbClr val="FFFFFF"/>
          </a:solidFill>
          <a:ln w="9525" algn="ctr">
            <a:solidFill>
              <a:srgbClr val="333333"/>
            </a:solidFill>
            <a:round/>
            <a:headEnd/>
            <a:tailEnd/>
          </a:ln>
        </p:spPr>
        <p:txBody>
          <a:bodyPr/>
          <a:lstStyle>
            <a:lvl1pPr marL="228600" indent="-228600">
              <a:spcBef>
                <a:spcPct val="20000"/>
              </a:spcBef>
              <a:buClr>
                <a:srgbClr val="ED0010"/>
              </a:buClr>
              <a:buSzPct val="60000"/>
              <a:buFont typeface="Zapf Dingbats" pitchFamily="-84" charset="2"/>
              <a:buChar char="n"/>
              <a:defRPr sz="2800">
                <a:solidFill>
                  <a:srgbClr val="000000"/>
                </a:solidFill>
                <a:latin typeface="Arial" panose="020B0604020202020204" pitchFamily="34" charset="0"/>
                <a:ea typeface="MS PGothic" pitchFamily="34" charset="-128"/>
              </a:defRPr>
            </a:lvl1pPr>
            <a:lvl2pPr marL="742950" indent="-285750">
              <a:spcBef>
                <a:spcPct val="20000"/>
              </a:spcBef>
              <a:buClr>
                <a:schemeClr val="accent1"/>
              </a:buClr>
              <a:buSzPct val="60000"/>
              <a:buFont typeface="Zapf Dingbats" pitchFamily="-84" charset="2"/>
              <a:buChar char="n"/>
              <a:defRPr sz="2600">
                <a:solidFill>
                  <a:srgbClr val="000000"/>
                </a:solidFill>
                <a:latin typeface="Arial" panose="020B0604020202020204" pitchFamily="34" charset="0"/>
                <a:ea typeface="MS PGothic" pitchFamily="34" charset="-128"/>
              </a:defRPr>
            </a:lvl2pPr>
            <a:lvl3pPr marL="1143000" indent="-228600">
              <a:spcBef>
                <a:spcPct val="20000"/>
              </a:spcBef>
              <a:buClr>
                <a:schemeClr val="accent1"/>
              </a:buClr>
              <a:buSzPct val="60000"/>
              <a:buFont typeface="Zapf Dingbats" pitchFamily="-84" charset="2"/>
              <a:buChar char="n"/>
              <a:defRPr sz="2400">
                <a:solidFill>
                  <a:srgbClr val="000000"/>
                </a:solidFill>
                <a:latin typeface="Arial" panose="020B0604020202020204" pitchFamily="34" charset="0"/>
                <a:ea typeface="MS PGothic" pitchFamily="34" charset="-128"/>
              </a:defRPr>
            </a:lvl3pPr>
            <a:lvl4pPr marL="1600200" indent="-228600">
              <a:spcBef>
                <a:spcPct val="20000"/>
              </a:spcBef>
              <a:buClr>
                <a:schemeClr val="accent1"/>
              </a:buClr>
              <a:buSzPct val="60000"/>
              <a:buFont typeface="Zapf Dingbats" pitchFamily="-84" charset="2"/>
              <a:buChar char="n"/>
              <a:defRPr sz="2200">
                <a:solidFill>
                  <a:srgbClr val="000000"/>
                </a:solidFill>
                <a:latin typeface="Arial" panose="020B0604020202020204" pitchFamily="34" charset="0"/>
                <a:ea typeface="MS PGothic" pitchFamily="34" charset="-128"/>
              </a:defRPr>
            </a:lvl4pPr>
            <a:lvl5pPr marL="2057400" indent="-228600">
              <a:spcBef>
                <a:spcPct val="20000"/>
              </a:spcBef>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5pPr>
            <a:lvl6pPr marL="25146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6pPr>
            <a:lvl7pPr marL="29718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7pPr>
            <a:lvl8pPr marL="34290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8pPr>
            <a:lvl9pPr marL="38862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9pPr>
          </a:lstStyle>
          <a:p>
            <a:pPr eaLnBrk="1" hangingPunct="1">
              <a:lnSpc>
                <a:spcPct val="90000"/>
              </a:lnSpc>
              <a:spcBef>
                <a:spcPct val="40000"/>
              </a:spcBef>
              <a:buClr>
                <a:srgbClr val="006699"/>
              </a:buClr>
              <a:buSzTx/>
              <a:buFontTx/>
              <a:buChar char="•"/>
            </a:pPr>
            <a:r>
              <a:rPr lang="en-US" altLang="en-US" sz="1500" dirty="0">
                <a:solidFill>
                  <a:schemeClr val="tx1"/>
                </a:solidFill>
                <a:latin typeface="Georgia" panose="02040502050405020303" pitchFamily="18" charset="0"/>
                <a:cs typeface="Arial" panose="020B0604020202020204" pitchFamily="34" charset="0"/>
              </a:rPr>
              <a:t>Interactive logon – </a:t>
            </a:r>
            <a:br>
              <a:rPr lang="en-US" altLang="en-US" sz="1500" dirty="0">
                <a:solidFill>
                  <a:schemeClr val="tx1"/>
                </a:solidFill>
                <a:latin typeface="Georgia" panose="02040502050405020303" pitchFamily="18" charset="0"/>
                <a:cs typeface="Arial" panose="020B0604020202020204" pitchFamily="34" charset="0"/>
              </a:rPr>
            </a:br>
            <a:r>
              <a:rPr lang="en-US" altLang="en-US" sz="1500" dirty="0">
                <a:solidFill>
                  <a:schemeClr val="tx1"/>
                </a:solidFill>
                <a:latin typeface="Georgia" panose="02040502050405020303" pitchFamily="18" charset="0"/>
                <a:cs typeface="Arial" panose="020B0604020202020204" pitchFamily="34" charset="0"/>
              </a:rPr>
              <a:t>grants access to the local computer</a:t>
            </a:r>
          </a:p>
        </p:txBody>
      </p:sp>
      <p:sp>
        <p:nvSpPr>
          <p:cNvPr id="17413" name="Rounded Rectangle 844808"/>
          <p:cNvSpPr>
            <a:spLocks noChangeArrowheads="1"/>
          </p:cNvSpPr>
          <p:nvPr/>
        </p:nvSpPr>
        <p:spPr bwMode="auto">
          <a:xfrm>
            <a:off x="4691063" y="2177654"/>
            <a:ext cx="2880122" cy="2332434"/>
          </a:xfrm>
          <a:prstGeom prst="roundRect">
            <a:avLst>
              <a:gd name="adj" fmla="val 4167"/>
            </a:avLst>
          </a:prstGeom>
          <a:solidFill>
            <a:srgbClr val="F2E7CE"/>
          </a:solidFill>
          <a:ln w="9525" algn="ctr">
            <a:solidFill>
              <a:srgbClr val="333333"/>
            </a:solidFill>
            <a:round/>
            <a:headEnd/>
            <a:tailEnd/>
          </a:ln>
        </p:spPr>
        <p:txBody>
          <a:bodyPr/>
          <a:lstStyle>
            <a:lvl1pPr marL="228600" indent="-228600">
              <a:spcBef>
                <a:spcPct val="20000"/>
              </a:spcBef>
              <a:buClr>
                <a:srgbClr val="ED0010"/>
              </a:buClr>
              <a:buSzPct val="60000"/>
              <a:buFont typeface="Zapf Dingbats" pitchFamily="-84" charset="2"/>
              <a:buChar char="n"/>
              <a:defRPr sz="2800">
                <a:solidFill>
                  <a:srgbClr val="000000"/>
                </a:solidFill>
                <a:latin typeface="Arial" panose="020B0604020202020204" pitchFamily="34" charset="0"/>
                <a:ea typeface="MS PGothic" pitchFamily="34" charset="-128"/>
              </a:defRPr>
            </a:lvl1pPr>
            <a:lvl2pPr marL="742950" indent="-285750">
              <a:spcBef>
                <a:spcPct val="20000"/>
              </a:spcBef>
              <a:buClr>
                <a:schemeClr val="accent1"/>
              </a:buClr>
              <a:buSzPct val="60000"/>
              <a:buFont typeface="Zapf Dingbats" pitchFamily="-84" charset="2"/>
              <a:buChar char="n"/>
              <a:defRPr sz="2600">
                <a:solidFill>
                  <a:srgbClr val="000000"/>
                </a:solidFill>
                <a:latin typeface="Arial" panose="020B0604020202020204" pitchFamily="34" charset="0"/>
                <a:ea typeface="MS PGothic" pitchFamily="34" charset="-128"/>
              </a:defRPr>
            </a:lvl2pPr>
            <a:lvl3pPr marL="1143000" indent="-228600">
              <a:spcBef>
                <a:spcPct val="20000"/>
              </a:spcBef>
              <a:buClr>
                <a:schemeClr val="accent1"/>
              </a:buClr>
              <a:buSzPct val="60000"/>
              <a:buFont typeface="Zapf Dingbats" pitchFamily="-84" charset="2"/>
              <a:buChar char="n"/>
              <a:defRPr sz="2400">
                <a:solidFill>
                  <a:srgbClr val="000000"/>
                </a:solidFill>
                <a:latin typeface="Arial" panose="020B0604020202020204" pitchFamily="34" charset="0"/>
                <a:ea typeface="MS PGothic" pitchFamily="34" charset="-128"/>
              </a:defRPr>
            </a:lvl3pPr>
            <a:lvl4pPr marL="1600200" indent="-228600">
              <a:spcBef>
                <a:spcPct val="20000"/>
              </a:spcBef>
              <a:buClr>
                <a:schemeClr val="accent1"/>
              </a:buClr>
              <a:buSzPct val="60000"/>
              <a:buFont typeface="Zapf Dingbats" pitchFamily="-84" charset="2"/>
              <a:buChar char="n"/>
              <a:defRPr sz="2200">
                <a:solidFill>
                  <a:srgbClr val="000000"/>
                </a:solidFill>
                <a:latin typeface="Arial" panose="020B0604020202020204" pitchFamily="34" charset="0"/>
                <a:ea typeface="MS PGothic" pitchFamily="34" charset="-128"/>
              </a:defRPr>
            </a:lvl4pPr>
            <a:lvl5pPr marL="2057400" indent="-228600">
              <a:spcBef>
                <a:spcPct val="20000"/>
              </a:spcBef>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5pPr>
            <a:lvl6pPr marL="25146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6pPr>
            <a:lvl7pPr marL="29718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7pPr>
            <a:lvl8pPr marL="34290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8pPr>
            <a:lvl9pPr marL="38862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9pPr>
          </a:lstStyle>
          <a:p>
            <a:pPr eaLnBrk="1" hangingPunct="1">
              <a:lnSpc>
                <a:spcPct val="90000"/>
              </a:lnSpc>
              <a:spcBef>
                <a:spcPct val="40000"/>
              </a:spcBef>
              <a:buClr>
                <a:srgbClr val="006699"/>
              </a:buClr>
              <a:buSzTx/>
              <a:buFontTx/>
              <a:buChar char="•"/>
            </a:pPr>
            <a:r>
              <a:rPr lang="en-US" altLang="en-US" sz="1500" dirty="0">
                <a:solidFill>
                  <a:schemeClr val="tx1"/>
                </a:solidFill>
                <a:latin typeface="Georgia" panose="02040502050405020303" pitchFamily="18" charset="0"/>
                <a:cs typeface="Arial" panose="020B0604020202020204" pitchFamily="34" charset="0"/>
              </a:rPr>
              <a:t>Network authentication –grants access to network resources</a:t>
            </a:r>
          </a:p>
        </p:txBody>
      </p:sp>
      <p:sp>
        <p:nvSpPr>
          <p:cNvPr id="927752" name="AutoShape 8"/>
          <p:cNvSpPr>
            <a:spLocks noChangeArrowheads="1"/>
          </p:cNvSpPr>
          <p:nvPr/>
        </p:nvSpPr>
        <p:spPr bwMode="auto">
          <a:xfrm>
            <a:off x="1394817" y="1096567"/>
            <a:ext cx="6278166" cy="360759"/>
          </a:xfrm>
          <a:prstGeom prst="roundRect">
            <a:avLst>
              <a:gd name="adj" fmla="val 14815"/>
            </a:avLst>
          </a:prstGeom>
          <a:solidFill>
            <a:srgbClr val="0070C0"/>
          </a:solidFill>
          <a:ln w="9525" algn="ctr">
            <a:solidFill>
              <a:srgbClr val="808080"/>
            </a:solidFill>
            <a:round/>
            <a:headEnd/>
            <a:tailEnd/>
          </a:ln>
          <a:effectLst>
            <a:outerShdw dist="35921" dir="2700000" algn="ctr" rotWithShape="0">
              <a:srgbClr val="C0C0C0"/>
            </a:outerShdw>
          </a:effectLst>
        </p:spPr>
        <p:txBody>
          <a:bodyPr anchor="ctr"/>
          <a:lstStyle/>
          <a:p>
            <a:pPr>
              <a:lnSpc>
                <a:spcPct val="90000"/>
              </a:lnSpc>
              <a:spcBef>
                <a:spcPct val="40000"/>
              </a:spcBef>
              <a:defRPr/>
            </a:pPr>
            <a:r>
              <a:rPr lang="en-US" sz="1500" dirty="0">
                <a:solidFill>
                  <a:srgbClr val="FFFFFF"/>
                </a:solidFill>
              </a:rPr>
              <a:t>Authentication is the process of verifying a user’s identity on a network</a:t>
            </a:r>
          </a:p>
        </p:txBody>
      </p:sp>
      <p:pic>
        <p:nvPicPr>
          <p:cNvPr id="1741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4594" y="3163491"/>
            <a:ext cx="921544" cy="1123950"/>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416"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2757" y="3014662"/>
            <a:ext cx="498872" cy="987029"/>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417"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2082" y="3084910"/>
            <a:ext cx="841772" cy="981075"/>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418"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9256" y="3482579"/>
            <a:ext cx="1238250" cy="901303"/>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41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2941" y="3030141"/>
            <a:ext cx="529828" cy="1047750"/>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94243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839" name="Oval 47"/>
          <p:cNvSpPr>
            <a:spLocks noChangeArrowheads="1"/>
          </p:cNvSpPr>
          <p:nvPr/>
        </p:nvSpPr>
        <p:spPr bwMode="auto">
          <a:xfrm>
            <a:off x="1320801" y="1472803"/>
            <a:ext cx="6570132" cy="3138488"/>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pPr>
              <a:defRPr/>
            </a:pPr>
            <a:endParaRPr lang="en-US" sz="1350"/>
          </a:p>
        </p:txBody>
      </p:sp>
      <p:sp>
        <p:nvSpPr>
          <p:cNvPr id="19459" name="Rectangle 3"/>
          <p:cNvSpPr>
            <a:spLocks noGrp="1" noChangeArrowheads="1"/>
          </p:cNvSpPr>
          <p:nvPr>
            <p:ph type="title"/>
          </p:nvPr>
        </p:nvSpPr>
        <p:spPr/>
        <p:txBody>
          <a:bodyPr/>
          <a:lstStyle/>
          <a:p>
            <a:pPr eaLnBrk="1" hangingPunct="1"/>
            <a:r>
              <a:rPr lang="en-US" altLang="en-US"/>
              <a:t>What is Authorization?</a:t>
            </a:r>
          </a:p>
        </p:txBody>
      </p:sp>
      <p:grpSp>
        <p:nvGrpSpPr>
          <p:cNvPr id="19460" name="Group 29"/>
          <p:cNvGrpSpPr>
            <a:grpSpLocks/>
          </p:cNvGrpSpPr>
          <p:nvPr/>
        </p:nvGrpSpPr>
        <p:grpSpPr bwMode="auto">
          <a:xfrm>
            <a:off x="1775223" y="1477566"/>
            <a:ext cx="2728913" cy="1560909"/>
            <a:chOff x="694523" y="1970088"/>
            <a:chExt cx="3639089" cy="2081212"/>
          </a:xfrm>
        </p:grpSpPr>
        <p:sp>
          <p:nvSpPr>
            <p:cNvPr id="929796" name="AutoShape 4"/>
            <p:cNvSpPr>
              <a:spLocks noChangeArrowheads="1"/>
            </p:cNvSpPr>
            <p:nvPr/>
          </p:nvSpPr>
          <p:spPr bwMode="auto">
            <a:xfrm>
              <a:off x="694523" y="1970088"/>
              <a:ext cx="3639089" cy="2039937"/>
            </a:xfrm>
            <a:prstGeom prst="roundRect">
              <a:avLst>
                <a:gd name="adj" fmla="val 4167"/>
              </a:avLst>
            </a:prstGeom>
            <a:gradFill rotWithShape="1">
              <a:gsLst>
                <a:gs pos="0">
                  <a:srgbClr val="B395D8"/>
                </a:gs>
                <a:gs pos="100000">
                  <a:srgbClr val="DFD2EE"/>
                </a:gs>
              </a:gsLst>
              <a:lin ang="2700000" scaled="1"/>
            </a:gradFill>
            <a:ln w="9525" algn="ctr">
              <a:solidFill>
                <a:srgbClr val="333333"/>
              </a:solidFill>
              <a:round/>
              <a:headEnd/>
              <a:tailEnd/>
            </a:ln>
            <a:effectLst>
              <a:outerShdw dist="35921" dir="2700000" algn="ctr" rotWithShape="0">
                <a:schemeClr val="bg2"/>
              </a:outerShdw>
            </a:effectLst>
          </p:spPr>
          <p:txBody>
            <a:bodyPr/>
            <a:lstStyle/>
            <a:p>
              <a:pPr marL="125016" indent="-125016">
                <a:lnSpc>
                  <a:spcPct val="90000"/>
                </a:lnSpc>
                <a:spcBef>
                  <a:spcPct val="40000"/>
                </a:spcBef>
                <a:buSzPct val="80000"/>
                <a:buBlip>
                  <a:blip r:embed="rId3"/>
                </a:buBlip>
                <a:defRPr/>
              </a:pPr>
              <a:r>
                <a:rPr lang="en-US" sz="1350" dirty="0"/>
                <a:t>Security principals are issued security identifiers (</a:t>
              </a:r>
              <a:r>
                <a:rPr lang="en-US" sz="1350" dirty="0" err="1"/>
                <a:t>SIDs</a:t>
              </a:r>
              <a:r>
                <a:rPr lang="en-US" sz="1350" dirty="0"/>
                <a:t>) when the account is created</a:t>
              </a:r>
            </a:p>
            <a:p>
              <a:pPr marL="125016" indent="-125016">
                <a:lnSpc>
                  <a:spcPct val="90000"/>
                </a:lnSpc>
                <a:spcBef>
                  <a:spcPct val="40000"/>
                </a:spcBef>
                <a:buSzPct val="80000"/>
                <a:defRPr/>
              </a:pPr>
              <a:endParaRPr lang="en-US" sz="1500" dirty="0"/>
            </a:p>
          </p:txBody>
        </p:sp>
        <p:grpSp>
          <p:nvGrpSpPr>
            <p:cNvPr id="19490" name="Group 43"/>
            <p:cNvGrpSpPr>
              <a:grpSpLocks/>
            </p:cNvGrpSpPr>
            <p:nvPr/>
          </p:nvGrpSpPr>
          <p:grpSpPr bwMode="auto">
            <a:xfrm>
              <a:off x="2930525" y="3116263"/>
              <a:ext cx="998538" cy="935037"/>
              <a:chOff x="1936" y="1703"/>
              <a:chExt cx="629" cy="589"/>
            </a:xfrm>
          </p:grpSpPr>
          <p:pic>
            <p:nvPicPr>
              <p:cNvPr id="19491"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6" y="1703"/>
                <a:ext cx="591" cy="568"/>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9492"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5" y="1987"/>
                <a:ext cx="190" cy="305"/>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grpSp>
        <p:nvGrpSpPr>
          <p:cNvPr id="4" name="Group 30"/>
          <p:cNvGrpSpPr>
            <a:grpSpLocks/>
          </p:cNvGrpSpPr>
          <p:nvPr/>
        </p:nvGrpSpPr>
        <p:grpSpPr bwMode="auto">
          <a:xfrm>
            <a:off x="4807504" y="1476375"/>
            <a:ext cx="2734866" cy="1635919"/>
            <a:chOff x="4600913" y="1968740"/>
            <a:chExt cx="3645940" cy="2180476"/>
          </a:xfrm>
        </p:grpSpPr>
        <p:sp>
          <p:nvSpPr>
            <p:cNvPr id="929798" name="AutoShape 6"/>
            <p:cNvSpPr>
              <a:spLocks noChangeArrowheads="1"/>
            </p:cNvSpPr>
            <p:nvPr/>
          </p:nvSpPr>
          <p:spPr bwMode="auto">
            <a:xfrm>
              <a:off x="4600913" y="1968740"/>
              <a:ext cx="3645940" cy="2017020"/>
            </a:xfrm>
            <a:prstGeom prst="roundRect">
              <a:avLst>
                <a:gd name="adj" fmla="val 4167"/>
              </a:avLst>
            </a:prstGeom>
            <a:gradFill rotWithShape="1">
              <a:gsLst>
                <a:gs pos="0">
                  <a:srgbClr val="97DFC1"/>
                </a:gs>
                <a:gs pos="100000">
                  <a:srgbClr val="DAF4E9"/>
                </a:gs>
              </a:gsLst>
              <a:lin ang="2700000" scaled="1"/>
            </a:gradFill>
            <a:ln w="9525" algn="ctr">
              <a:solidFill>
                <a:srgbClr val="333333"/>
              </a:solidFill>
              <a:round/>
              <a:headEnd/>
              <a:tailEnd/>
            </a:ln>
            <a:effectLst>
              <a:outerShdw dist="35921" dir="2700000" algn="ctr" rotWithShape="0">
                <a:schemeClr val="bg2"/>
              </a:outerShdw>
            </a:effectLst>
          </p:spPr>
          <p:txBody>
            <a:bodyPr/>
            <a:lstStyle/>
            <a:p>
              <a:pPr marL="125016" indent="-125016">
                <a:lnSpc>
                  <a:spcPct val="90000"/>
                </a:lnSpc>
                <a:spcBef>
                  <a:spcPct val="40000"/>
                </a:spcBef>
                <a:buSzPct val="80000"/>
                <a:buBlip>
                  <a:blip r:embed="rId3"/>
                </a:buBlip>
                <a:defRPr/>
              </a:pPr>
              <a:r>
                <a:rPr lang="en-US" sz="1350" dirty="0"/>
                <a:t>User accounts are issued security tokens during authentication that include the user’s SID and all related group </a:t>
              </a:r>
              <a:r>
                <a:rPr lang="en-US" sz="1350" dirty="0" err="1"/>
                <a:t>SIDs</a:t>
              </a:r>
              <a:endParaRPr lang="en-US" sz="1350" dirty="0"/>
            </a:p>
          </p:txBody>
        </p:sp>
        <p:grpSp>
          <p:nvGrpSpPr>
            <p:cNvPr id="19486" name="Group 45"/>
            <p:cNvGrpSpPr>
              <a:grpSpLocks/>
            </p:cNvGrpSpPr>
            <p:nvPr/>
          </p:nvGrpSpPr>
          <p:grpSpPr bwMode="auto">
            <a:xfrm>
              <a:off x="6555126" y="3369753"/>
              <a:ext cx="1039812" cy="779463"/>
              <a:chOff x="1785" y="3470"/>
              <a:chExt cx="655" cy="491"/>
            </a:xfrm>
          </p:grpSpPr>
          <p:pic>
            <p:nvPicPr>
              <p:cNvPr id="19487" name="Picture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 y="3470"/>
                <a:ext cx="655" cy="491"/>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9488"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2" y="3561"/>
                <a:ext cx="177" cy="28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grpSp>
        <p:nvGrpSpPr>
          <p:cNvPr id="6" name="Group 38"/>
          <p:cNvGrpSpPr>
            <a:grpSpLocks/>
          </p:cNvGrpSpPr>
          <p:nvPr/>
        </p:nvGrpSpPr>
        <p:grpSpPr bwMode="auto">
          <a:xfrm>
            <a:off x="1764507" y="3118248"/>
            <a:ext cx="2722960" cy="1578769"/>
            <a:chOff x="829049" y="4157476"/>
            <a:chExt cx="3630613" cy="2105025"/>
          </a:xfrm>
        </p:grpSpPr>
        <p:sp>
          <p:nvSpPr>
            <p:cNvPr id="929797" name="AutoShape 5"/>
            <p:cNvSpPr>
              <a:spLocks noChangeArrowheads="1"/>
            </p:cNvSpPr>
            <p:nvPr/>
          </p:nvSpPr>
          <p:spPr bwMode="auto">
            <a:xfrm>
              <a:off x="829049" y="4157476"/>
              <a:ext cx="3630613" cy="2039937"/>
            </a:xfrm>
            <a:prstGeom prst="roundRect">
              <a:avLst>
                <a:gd name="adj" fmla="val 4167"/>
              </a:avLst>
            </a:prstGeom>
            <a:gradFill rotWithShape="1">
              <a:gsLst>
                <a:gs pos="0">
                  <a:srgbClr val="8DACD0"/>
                </a:gs>
                <a:gs pos="100000">
                  <a:srgbClr val="DEE7F1"/>
                </a:gs>
              </a:gsLst>
              <a:lin ang="2700000" scaled="1"/>
            </a:gradFill>
            <a:ln w="9525">
              <a:solidFill>
                <a:srgbClr val="333333"/>
              </a:solidFill>
              <a:round/>
              <a:headEnd/>
              <a:tailEnd/>
            </a:ln>
            <a:effectLst>
              <a:outerShdw dist="35921" dir="2700000" algn="ctr" rotWithShape="0">
                <a:srgbClr val="AFAFAF"/>
              </a:outerShdw>
            </a:effectLst>
          </p:spPr>
          <p:txBody>
            <a:bodyPr/>
            <a:lstStyle/>
            <a:p>
              <a:pPr marL="125016" indent="-125016">
                <a:lnSpc>
                  <a:spcPct val="90000"/>
                </a:lnSpc>
                <a:spcBef>
                  <a:spcPct val="40000"/>
                </a:spcBef>
                <a:buSzPct val="80000"/>
                <a:buBlip>
                  <a:blip r:embed="rId3"/>
                </a:buBlip>
                <a:defRPr/>
              </a:pPr>
              <a:r>
                <a:rPr lang="en-US" sz="1350" dirty="0"/>
                <a:t>Shared resources on a network include access control lists (ACL) that define who can access the resource</a:t>
              </a:r>
            </a:p>
          </p:txBody>
        </p:sp>
        <p:grpSp>
          <p:nvGrpSpPr>
            <p:cNvPr id="19482" name="Group 44"/>
            <p:cNvGrpSpPr>
              <a:grpSpLocks/>
            </p:cNvGrpSpPr>
            <p:nvPr/>
          </p:nvGrpSpPr>
          <p:grpSpPr bwMode="auto">
            <a:xfrm>
              <a:off x="3089649" y="5306826"/>
              <a:ext cx="658813" cy="955675"/>
              <a:chOff x="4158" y="1785"/>
              <a:chExt cx="415" cy="602"/>
            </a:xfrm>
          </p:grpSpPr>
          <p:pic>
            <p:nvPicPr>
              <p:cNvPr id="19483" name="Picture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4" y="1785"/>
                <a:ext cx="369" cy="602"/>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9484"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8" y="1886"/>
                <a:ext cx="190" cy="305"/>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sp>
        <p:nvSpPr>
          <p:cNvPr id="929838" name="AutoShape 46"/>
          <p:cNvSpPr>
            <a:spLocks noChangeArrowheads="1"/>
          </p:cNvSpPr>
          <p:nvPr/>
        </p:nvSpPr>
        <p:spPr bwMode="auto">
          <a:xfrm>
            <a:off x="1459707" y="897565"/>
            <a:ext cx="6298406" cy="498872"/>
          </a:xfrm>
          <a:prstGeom prst="roundRect">
            <a:avLst>
              <a:gd name="adj" fmla="val 14815"/>
            </a:avLst>
          </a:prstGeom>
          <a:solidFill>
            <a:srgbClr val="0070C0"/>
          </a:solidFill>
          <a:ln w="9525" algn="ctr">
            <a:solidFill>
              <a:srgbClr val="808080"/>
            </a:solidFill>
            <a:round/>
            <a:headEnd/>
            <a:tailEnd/>
          </a:ln>
          <a:effectLst>
            <a:outerShdw dist="35921" dir="2700000" algn="ctr" rotWithShape="0">
              <a:srgbClr val="C0C0C0"/>
            </a:outerShdw>
          </a:effectLst>
        </p:spPr>
        <p:txBody>
          <a:bodyPr anchor="ctr"/>
          <a:lstStyle/>
          <a:p>
            <a:pPr>
              <a:lnSpc>
                <a:spcPct val="90000"/>
              </a:lnSpc>
              <a:spcBef>
                <a:spcPct val="40000"/>
              </a:spcBef>
              <a:defRPr/>
            </a:pPr>
            <a:r>
              <a:rPr lang="en-US" sz="1500" dirty="0">
                <a:solidFill>
                  <a:srgbClr val="FFFFFF"/>
                </a:solidFill>
              </a:rPr>
              <a:t>Authorization is a process of verifying that an authenticated user has permission to perform an action</a:t>
            </a:r>
          </a:p>
        </p:txBody>
      </p:sp>
      <p:grpSp>
        <p:nvGrpSpPr>
          <p:cNvPr id="8" name="Group 39"/>
          <p:cNvGrpSpPr>
            <a:grpSpLocks/>
          </p:cNvGrpSpPr>
          <p:nvPr/>
        </p:nvGrpSpPr>
        <p:grpSpPr bwMode="auto">
          <a:xfrm>
            <a:off x="4819410" y="3118248"/>
            <a:ext cx="2722960" cy="1635918"/>
            <a:chOff x="4901880" y="4157664"/>
            <a:chExt cx="3630613" cy="2181224"/>
          </a:xfrm>
        </p:grpSpPr>
        <p:sp>
          <p:nvSpPr>
            <p:cNvPr id="929799" name="AutoShape 7"/>
            <p:cNvSpPr>
              <a:spLocks noChangeArrowheads="1"/>
            </p:cNvSpPr>
            <p:nvPr/>
          </p:nvSpPr>
          <p:spPr bwMode="auto">
            <a:xfrm>
              <a:off x="4901880" y="4157664"/>
              <a:ext cx="3630613" cy="2028825"/>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lstStyle/>
            <a:p>
              <a:pPr marL="125016" indent="-125016">
                <a:lnSpc>
                  <a:spcPct val="90000"/>
                </a:lnSpc>
                <a:spcBef>
                  <a:spcPct val="40000"/>
                </a:spcBef>
                <a:buSzPct val="80000"/>
                <a:buBlip>
                  <a:blip r:embed="rId3"/>
                </a:buBlip>
                <a:defRPr/>
              </a:pPr>
              <a:r>
                <a:rPr lang="en-US" sz="1350" dirty="0"/>
                <a:t>The security token is compared against the DACL on the resource and access is granted or denied</a:t>
              </a:r>
            </a:p>
          </p:txBody>
        </p:sp>
        <p:grpSp>
          <p:nvGrpSpPr>
            <p:cNvPr id="19474" name="Group 42"/>
            <p:cNvGrpSpPr>
              <a:grpSpLocks/>
            </p:cNvGrpSpPr>
            <p:nvPr/>
          </p:nvGrpSpPr>
          <p:grpSpPr bwMode="auto">
            <a:xfrm>
              <a:off x="6992938" y="5532438"/>
              <a:ext cx="566737" cy="806450"/>
              <a:chOff x="4275" y="3295"/>
              <a:chExt cx="357" cy="508"/>
            </a:xfrm>
          </p:grpSpPr>
          <p:pic>
            <p:nvPicPr>
              <p:cNvPr id="19479" name="Picture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21" y="3295"/>
                <a:ext cx="311" cy="508"/>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9480" name="Picture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5" y="3396"/>
                <a:ext cx="183" cy="29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19475" name="Group 41"/>
            <p:cNvGrpSpPr>
              <a:grpSpLocks/>
            </p:cNvGrpSpPr>
            <p:nvPr/>
          </p:nvGrpSpPr>
          <p:grpSpPr bwMode="auto">
            <a:xfrm>
              <a:off x="5129213" y="5602288"/>
              <a:ext cx="930275" cy="696912"/>
              <a:chOff x="2991" y="3409"/>
              <a:chExt cx="586" cy="439"/>
            </a:xfrm>
          </p:grpSpPr>
          <p:pic>
            <p:nvPicPr>
              <p:cNvPr id="19477" name="Picture 3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91" y="3409"/>
                <a:ext cx="586" cy="439"/>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9478"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9" y="3451"/>
                <a:ext cx="183" cy="29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cxnSp>
          <p:nvCxnSpPr>
            <p:cNvPr id="19476" name="Straight Arrow Connector 32"/>
            <p:cNvCxnSpPr>
              <a:cxnSpLocks noChangeShapeType="1"/>
            </p:cNvCxnSpPr>
            <p:nvPr/>
          </p:nvCxnSpPr>
          <p:spPr bwMode="auto">
            <a:xfrm>
              <a:off x="6176512" y="5934974"/>
              <a:ext cx="741872" cy="1"/>
            </a:xfrm>
            <a:prstGeom prst="straightConnector1">
              <a:avLst/>
            </a:prstGeom>
            <a:noFill/>
            <a:ln w="50800" algn="ctr">
              <a:solidFill>
                <a:srgbClr val="C00000"/>
              </a:solidFill>
              <a:round/>
              <a:headEnd type="triangle" w="med" len="med"/>
              <a:tailEnd type="triangle" w="med" len="med"/>
            </a:ln>
            <a:extLst>
              <a:ext uri="{909E8E84-426E-40DD-AFC4-6F175D3DCCD1}">
                <a14:hiddenFill xmlns:a14="http://schemas.microsoft.com/office/drawing/2010/main">
                  <a:noFill/>
                </a14:hiddenFill>
              </a:ext>
            </a:extLst>
          </p:spPr>
        </p:cxnSp>
      </p:grpSp>
      <p:grpSp>
        <p:nvGrpSpPr>
          <p:cNvPr id="19465" name="Group 29"/>
          <p:cNvGrpSpPr>
            <a:grpSpLocks/>
          </p:cNvGrpSpPr>
          <p:nvPr/>
        </p:nvGrpSpPr>
        <p:grpSpPr bwMode="auto">
          <a:xfrm>
            <a:off x="1600200" y="4462462"/>
            <a:ext cx="685800" cy="319088"/>
            <a:chOff x="384" y="3024"/>
            <a:chExt cx="720" cy="336"/>
          </a:xfrm>
        </p:grpSpPr>
        <p:sp>
          <p:nvSpPr>
            <p:cNvPr id="42" name="Oval 3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sz="1350"/>
            </a:p>
          </p:txBody>
        </p:sp>
        <p:grpSp>
          <p:nvGrpSpPr>
            <p:cNvPr id="19470" name="Group 31"/>
            <p:cNvGrpSpPr>
              <a:grpSpLocks/>
            </p:cNvGrpSpPr>
            <p:nvPr/>
          </p:nvGrpSpPr>
          <p:grpSpPr bwMode="auto">
            <a:xfrm>
              <a:off x="480" y="3096"/>
              <a:ext cx="240" cy="192"/>
              <a:chOff x="480" y="3096"/>
              <a:chExt cx="240" cy="192"/>
            </a:xfrm>
          </p:grpSpPr>
          <p:sp>
            <p:nvSpPr>
              <p:cNvPr id="19471" name="Oval 3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rgbClr val="ED0010"/>
                  </a:buClr>
                  <a:buSzPct val="60000"/>
                  <a:buFont typeface="Zapf Dingbats" pitchFamily="-84" charset="2"/>
                  <a:buChar char="n"/>
                  <a:defRPr sz="2800">
                    <a:solidFill>
                      <a:srgbClr val="000000"/>
                    </a:solidFill>
                    <a:latin typeface="Arial" panose="020B0604020202020204" pitchFamily="34" charset="0"/>
                    <a:ea typeface="MS PGothic" pitchFamily="34" charset="-128"/>
                  </a:defRPr>
                </a:lvl1pPr>
                <a:lvl2pPr marL="742950" indent="-285750">
                  <a:spcBef>
                    <a:spcPct val="20000"/>
                  </a:spcBef>
                  <a:buClr>
                    <a:schemeClr val="accent1"/>
                  </a:buClr>
                  <a:buSzPct val="60000"/>
                  <a:buFont typeface="Zapf Dingbats" pitchFamily="-84" charset="2"/>
                  <a:buChar char="n"/>
                  <a:defRPr sz="2600">
                    <a:solidFill>
                      <a:srgbClr val="000000"/>
                    </a:solidFill>
                    <a:latin typeface="Arial" panose="020B0604020202020204" pitchFamily="34" charset="0"/>
                    <a:ea typeface="MS PGothic" pitchFamily="34" charset="-128"/>
                  </a:defRPr>
                </a:lvl2pPr>
                <a:lvl3pPr marL="1143000" indent="-228600">
                  <a:spcBef>
                    <a:spcPct val="20000"/>
                  </a:spcBef>
                  <a:buClr>
                    <a:schemeClr val="accent1"/>
                  </a:buClr>
                  <a:buSzPct val="60000"/>
                  <a:buFont typeface="Zapf Dingbats" pitchFamily="-84" charset="2"/>
                  <a:buChar char="n"/>
                  <a:defRPr sz="2400">
                    <a:solidFill>
                      <a:srgbClr val="000000"/>
                    </a:solidFill>
                    <a:latin typeface="Arial" panose="020B0604020202020204" pitchFamily="34" charset="0"/>
                    <a:ea typeface="MS PGothic" pitchFamily="34" charset="-128"/>
                  </a:defRPr>
                </a:lvl3pPr>
                <a:lvl4pPr marL="1600200" indent="-228600">
                  <a:spcBef>
                    <a:spcPct val="20000"/>
                  </a:spcBef>
                  <a:buClr>
                    <a:schemeClr val="accent1"/>
                  </a:buClr>
                  <a:buSzPct val="60000"/>
                  <a:buFont typeface="Zapf Dingbats" pitchFamily="-84" charset="2"/>
                  <a:buChar char="n"/>
                  <a:defRPr sz="2200">
                    <a:solidFill>
                      <a:srgbClr val="000000"/>
                    </a:solidFill>
                    <a:latin typeface="Arial" panose="020B0604020202020204" pitchFamily="34" charset="0"/>
                    <a:ea typeface="MS PGothic" pitchFamily="34" charset="-128"/>
                  </a:defRPr>
                </a:lvl4pPr>
                <a:lvl5pPr marL="2057400" indent="-228600">
                  <a:spcBef>
                    <a:spcPct val="20000"/>
                  </a:spcBef>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5pPr>
                <a:lvl6pPr marL="25146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6pPr>
                <a:lvl7pPr marL="29718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7pPr>
                <a:lvl8pPr marL="34290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8pPr>
                <a:lvl9pPr marL="38862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9pPr>
              </a:lstStyle>
              <a:p>
                <a:pPr eaLnBrk="1" hangingPunct="1">
                  <a:spcBef>
                    <a:spcPct val="0"/>
                  </a:spcBef>
                  <a:buClrTx/>
                  <a:buSzTx/>
                  <a:buFontTx/>
                  <a:buNone/>
                </a:pPr>
                <a:endParaRPr lang="en-US" altLang="en-US" sz="1050">
                  <a:solidFill>
                    <a:schemeClr val="tx1"/>
                  </a:solidFill>
                  <a:latin typeface="Georgia" panose="02040502050405020303" pitchFamily="18" charset="0"/>
                  <a:cs typeface="Arial" panose="020B0604020202020204" pitchFamily="34" charset="0"/>
                </a:endParaRPr>
              </a:p>
            </p:txBody>
          </p:sp>
          <p:sp>
            <p:nvSpPr>
              <p:cNvPr id="45" name="Freeform 33"/>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sz="1350"/>
              </a:p>
            </p:txBody>
          </p:sp>
        </p:grpSp>
      </p:grpSp>
      <p:grpSp>
        <p:nvGrpSpPr>
          <p:cNvPr id="13" name="Group 34"/>
          <p:cNvGrpSpPr>
            <a:grpSpLocks/>
          </p:cNvGrpSpPr>
          <p:nvPr/>
        </p:nvGrpSpPr>
        <p:grpSpPr bwMode="auto">
          <a:xfrm>
            <a:off x="1965722" y="4530329"/>
            <a:ext cx="228600" cy="183356"/>
            <a:chOff x="768" y="3096"/>
            <a:chExt cx="240" cy="192"/>
          </a:xfrm>
        </p:grpSpPr>
        <p:sp>
          <p:nvSpPr>
            <p:cNvPr id="19467" name="Oval 3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rgbClr val="ED0010"/>
                </a:buClr>
                <a:buSzPct val="60000"/>
                <a:buFont typeface="Zapf Dingbats" pitchFamily="-84" charset="2"/>
                <a:buChar char="n"/>
                <a:defRPr sz="2800">
                  <a:solidFill>
                    <a:srgbClr val="000000"/>
                  </a:solidFill>
                  <a:latin typeface="Arial" panose="020B0604020202020204" pitchFamily="34" charset="0"/>
                  <a:ea typeface="MS PGothic" pitchFamily="34" charset="-128"/>
                </a:defRPr>
              </a:lvl1pPr>
              <a:lvl2pPr marL="742950" indent="-285750">
                <a:spcBef>
                  <a:spcPct val="20000"/>
                </a:spcBef>
                <a:buClr>
                  <a:schemeClr val="accent1"/>
                </a:buClr>
                <a:buSzPct val="60000"/>
                <a:buFont typeface="Zapf Dingbats" pitchFamily="-84" charset="2"/>
                <a:buChar char="n"/>
                <a:defRPr sz="2600">
                  <a:solidFill>
                    <a:srgbClr val="000000"/>
                  </a:solidFill>
                  <a:latin typeface="Arial" panose="020B0604020202020204" pitchFamily="34" charset="0"/>
                  <a:ea typeface="MS PGothic" pitchFamily="34" charset="-128"/>
                </a:defRPr>
              </a:lvl2pPr>
              <a:lvl3pPr marL="1143000" indent="-228600">
                <a:spcBef>
                  <a:spcPct val="20000"/>
                </a:spcBef>
                <a:buClr>
                  <a:schemeClr val="accent1"/>
                </a:buClr>
                <a:buSzPct val="60000"/>
                <a:buFont typeface="Zapf Dingbats" pitchFamily="-84" charset="2"/>
                <a:buChar char="n"/>
                <a:defRPr sz="2400">
                  <a:solidFill>
                    <a:srgbClr val="000000"/>
                  </a:solidFill>
                  <a:latin typeface="Arial" panose="020B0604020202020204" pitchFamily="34" charset="0"/>
                  <a:ea typeface="MS PGothic" pitchFamily="34" charset="-128"/>
                </a:defRPr>
              </a:lvl3pPr>
              <a:lvl4pPr marL="1600200" indent="-228600">
                <a:spcBef>
                  <a:spcPct val="20000"/>
                </a:spcBef>
                <a:buClr>
                  <a:schemeClr val="accent1"/>
                </a:buClr>
                <a:buSzPct val="60000"/>
                <a:buFont typeface="Zapf Dingbats" pitchFamily="-84" charset="2"/>
                <a:buChar char="n"/>
                <a:defRPr sz="2200">
                  <a:solidFill>
                    <a:srgbClr val="000000"/>
                  </a:solidFill>
                  <a:latin typeface="Arial" panose="020B0604020202020204" pitchFamily="34" charset="0"/>
                  <a:ea typeface="MS PGothic" pitchFamily="34" charset="-128"/>
                </a:defRPr>
              </a:lvl4pPr>
              <a:lvl5pPr marL="2057400" indent="-228600">
                <a:spcBef>
                  <a:spcPct val="20000"/>
                </a:spcBef>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5pPr>
              <a:lvl6pPr marL="25146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6pPr>
              <a:lvl7pPr marL="29718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7pPr>
              <a:lvl8pPr marL="34290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8pPr>
              <a:lvl9pPr marL="3886200" indent="-228600" eaLnBrk="0" fontAlgn="base" hangingPunct="0">
                <a:spcBef>
                  <a:spcPct val="20000"/>
                </a:spcBef>
                <a:spcAft>
                  <a:spcPct val="0"/>
                </a:spcAft>
                <a:buClr>
                  <a:schemeClr val="accent1"/>
                </a:buClr>
                <a:buSzPct val="60000"/>
                <a:buFont typeface="Zapf Dingbats" pitchFamily="-84" charset="2"/>
                <a:buChar char="n"/>
                <a:defRPr sz="2000">
                  <a:solidFill>
                    <a:srgbClr val="000000"/>
                  </a:solidFill>
                  <a:latin typeface="Arial" panose="020B0604020202020204" pitchFamily="34" charset="0"/>
                  <a:ea typeface="MS PGothic" pitchFamily="34" charset="-128"/>
                </a:defRPr>
              </a:lvl9pPr>
            </a:lstStyle>
            <a:p>
              <a:pPr eaLnBrk="1" hangingPunct="1">
                <a:spcBef>
                  <a:spcPct val="0"/>
                </a:spcBef>
                <a:buClrTx/>
                <a:buSzTx/>
                <a:buFontTx/>
                <a:buNone/>
              </a:pPr>
              <a:endParaRPr lang="en-US" altLang="en-US" sz="1050">
                <a:solidFill>
                  <a:schemeClr val="tx1"/>
                </a:solidFill>
                <a:latin typeface="Georgia" panose="02040502050405020303" pitchFamily="18" charset="0"/>
                <a:cs typeface="Arial" panose="020B0604020202020204" pitchFamily="34" charset="0"/>
              </a:endParaRPr>
            </a:p>
          </p:txBody>
        </p:sp>
        <p:sp>
          <p:nvSpPr>
            <p:cNvPr id="48" name="Rectangle 36"/>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sz="1350"/>
            </a:p>
          </p:txBody>
        </p:sp>
      </p:grpSp>
    </p:spTree>
    <p:extLst>
      <p:ext uri="{BB962C8B-B14F-4D97-AF65-F5344CB8AC3E}">
        <p14:creationId xmlns:p14="http://schemas.microsoft.com/office/powerpoint/2010/main" val="24755540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altLang="en-US" dirty="0" err="1"/>
              <a:t>Geen</a:t>
            </a:r>
            <a:r>
              <a:rPr lang="en-US" altLang="en-US" dirty="0"/>
              <a:t> DNS = </a:t>
            </a:r>
            <a:r>
              <a:rPr lang="en-US" altLang="en-US" dirty="0" err="1"/>
              <a:t>Geen</a:t>
            </a:r>
            <a:r>
              <a:rPr lang="en-US" altLang="en-US" dirty="0"/>
              <a:t> Active Directory!</a:t>
            </a:r>
          </a:p>
        </p:txBody>
      </p:sp>
      <p:sp>
        <p:nvSpPr>
          <p:cNvPr id="23554" name="Title 1"/>
          <p:cNvSpPr>
            <a:spLocks noGrp="1"/>
          </p:cNvSpPr>
          <p:nvPr>
            <p:ph type="title"/>
          </p:nvPr>
        </p:nvSpPr>
        <p:spPr/>
        <p:txBody>
          <a:bodyPr/>
          <a:lstStyle/>
          <a:p>
            <a:r>
              <a:rPr lang="nl-NL" altLang="en-US"/>
              <a:t>AD &amp; DNS</a:t>
            </a:r>
            <a:endParaRPr lang="en-US" altLang="en-US"/>
          </a:p>
        </p:txBody>
      </p:sp>
      <p:pic>
        <p:nvPicPr>
          <p:cNvPr id="2" name="Picture 1"/>
          <p:cNvPicPr>
            <a:picLocks noChangeAspect="1"/>
          </p:cNvPicPr>
          <p:nvPr/>
        </p:nvPicPr>
        <p:blipFill>
          <a:blip r:embed="rId3"/>
          <a:stretch>
            <a:fillRect/>
          </a:stretch>
        </p:blipFill>
        <p:spPr>
          <a:xfrm>
            <a:off x="1074434" y="1520536"/>
            <a:ext cx="6867299" cy="3622964"/>
          </a:xfrm>
          <a:prstGeom prst="rect">
            <a:avLst/>
          </a:prstGeom>
        </p:spPr>
      </p:pic>
    </p:spTree>
    <p:extLst>
      <p:ext uri="{BB962C8B-B14F-4D97-AF65-F5344CB8AC3E}">
        <p14:creationId xmlns:p14="http://schemas.microsoft.com/office/powerpoint/2010/main" val="263942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18218" y="1196341"/>
            <a:ext cx="6212933" cy="3292316"/>
          </a:xfrm>
        </p:spPr>
        <p:txBody>
          <a:bodyPr/>
          <a:lstStyle/>
          <a:p>
            <a:r>
              <a:rPr lang="en-US" altLang="en-US" dirty="0"/>
              <a:t>IP &amp; DNS </a:t>
            </a:r>
            <a:r>
              <a:rPr lang="en-US" altLang="en-US" dirty="0" err="1"/>
              <a:t>moeten</a:t>
            </a:r>
            <a:r>
              <a:rPr lang="en-US" altLang="en-US" dirty="0"/>
              <a:t> correct </a:t>
            </a:r>
            <a:r>
              <a:rPr lang="en-US" altLang="en-US" dirty="0" err="1"/>
              <a:t>ingesteld</a:t>
            </a:r>
            <a:r>
              <a:rPr lang="en-US" altLang="en-US" dirty="0"/>
              <a:t> </a:t>
            </a:r>
            <a:r>
              <a:rPr lang="en-US" altLang="en-US" dirty="0" err="1"/>
              <a:t>staan</a:t>
            </a:r>
            <a:endParaRPr lang="en-US" altLang="en-US" dirty="0"/>
          </a:p>
          <a:p>
            <a:r>
              <a:rPr lang="en-US" altLang="en-US" dirty="0">
                <a:latin typeface="Consolas" panose="020B0609020204030204" pitchFamily="49" charset="0"/>
              </a:rPr>
              <a:t>NETDOM join Server1 /</a:t>
            </a:r>
            <a:r>
              <a:rPr lang="en-US" altLang="en-US" dirty="0" err="1">
                <a:latin typeface="Consolas" panose="020B0609020204030204" pitchFamily="49" charset="0"/>
              </a:rPr>
              <a:t>d:bmc.local</a:t>
            </a:r>
            <a:r>
              <a:rPr lang="en-US" altLang="en-US" dirty="0">
                <a:latin typeface="Consolas" panose="020B0609020204030204" pitchFamily="49" charset="0"/>
              </a:rPr>
              <a:t> /reboot</a:t>
            </a:r>
          </a:p>
          <a:p>
            <a:r>
              <a:rPr lang="en-US" altLang="en-US" dirty="0" err="1"/>
              <a:t>Powershell</a:t>
            </a:r>
            <a:endParaRPr lang="en-US" altLang="en-US" dirty="0"/>
          </a:p>
          <a:p>
            <a:r>
              <a:rPr lang="en-US" altLang="en-US" dirty="0"/>
              <a:t>Offline Domain Join</a:t>
            </a:r>
          </a:p>
          <a:p>
            <a:r>
              <a:rPr lang="en-US" altLang="en-US" dirty="0" err="1"/>
              <a:t>Vanaf</a:t>
            </a:r>
            <a:r>
              <a:rPr lang="en-US" altLang="en-US" dirty="0"/>
              <a:t> PC</a:t>
            </a:r>
          </a:p>
          <a:p>
            <a:endParaRPr lang="en-US" altLang="en-US" dirty="0"/>
          </a:p>
          <a:p>
            <a:endParaRPr lang="nl-NL" dirty="0"/>
          </a:p>
        </p:txBody>
      </p:sp>
      <p:sp>
        <p:nvSpPr>
          <p:cNvPr id="24578" name="Title 1"/>
          <p:cNvSpPr>
            <a:spLocks noGrp="1"/>
          </p:cNvSpPr>
          <p:nvPr>
            <p:ph type="title"/>
          </p:nvPr>
        </p:nvSpPr>
        <p:spPr/>
        <p:txBody>
          <a:bodyPr/>
          <a:lstStyle/>
          <a:p>
            <a:r>
              <a:rPr lang="nl-NL" altLang="en-US"/>
              <a:t>Domain Join</a:t>
            </a:r>
            <a:endParaRPr lang="en-US" alt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1952" y="1799553"/>
            <a:ext cx="2539982" cy="3074716"/>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0310" y="2136987"/>
            <a:ext cx="2157690" cy="2737282"/>
          </a:xfrm>
          <a:prstGeom prst="rect">
            <a:avLst/>
          </a:prstGeom>
        </p:spPr>
      </p:pic>
      <p:sp>
        <p:nvSpPr>
          <p:cNvPr id="5" name="TextBox 4"/>
          <p:cNvSpPr txBox="1"/>
          <p:nvPr/>
        </p:nvSpPr>
        <p:spPr>
          <a:xfrm>
            <a:off x="279426" y="2951630"/>
            <a:ext cx="3199650" cy="1107996"/>
          </a:xfrm>
          <a:prstGeom prst="rect">
            <a:avLst/>
          </a:prstGeom>
          <a:noFill/>
        </p:spPr>
        <p:txBody>
          <a:bodyPr wrap="square" rtlCol="0">
            <a:spAutoFit/>
          </a:bodyPr>
          <a:lstStyle/>
          <a:p>
            <a:r>
              <a:rPr lang="nl-NL" sz="1100" dirty="0" err="1">
                <a:latin typeface="Consolas" panose="020B0609020204030204" pitchFamily="49" charset="0"/>
              </a:rPr>
              <a:t>Add</a:t>
            </a:r>
            <a:r>
              <a:rPr lang="nl-NL" sz="1100" dirty="0">
                <a:latin typeface="Consolas" panose="020B0609020204030204" pitchFamily="49" charset="0"/>
              </a:rPr>
              <a:t>-Computer -</a:t>
            </a:r>
            <a:r>
              <a:rPr lang="nl-NL" sz="1100" dirty="0" err="1">
                <a:latin typeface="Consolas" panose="020B0609020204030204" pitchFamily="49" charset="0"/>
              </a:rPr>
              <a:t>ComputerName</a:t>
            </a:r>
            <a:r>
              <a:rPr lang="nl-NL" sz="1100" dirty="0">
                <a:latin typeface="Consolas" panose="020B0609020204030204" pitchFamily="49" charset="0"/>
              </a:rPr>
              <a:t> Server01</a:t>
            </a:r>
            <a:br>
              <a:rPr lang="nl-NL" sz="1100" dirty="0">
                <a:latin typeface="Consolas" panose="020B0609020204030204" pitchFamily="49" charset="0"/>
              </a:rPr>
            </a:br>
            <a:r>
              <a:rPr lang="nl-NL" sz="1100" dirty="0">
                <a:latin typeface="Consolas" panose="020B0609020204030204" pitchFamily="49" charset="0"/>
              </a:rPr>
              <a:t>-</a:t>
            </a:r>
            <a:r>
              <a:rPr lang="nl-NL" sz="1100" dirty="0" err="1">
                <a:latin typeface="Consolas" panose="020B0609020204030204" pitchFamily="49" charset="0"/>
              </a:rPr>
              <a:t>LocalCredential</a:t>
            </a:r>
            <a:r>
              <a:rPr lang="nl-NL" sz="1100" dirty="0">
                <a:latin typeface="Consolas" panose="020B0609020204030204" pitchFamily="49" charset="0"/>
              </a:rPr>
              <a:t> Server01\Administrator</a:t>
            </a:r>
            <a:br>
              <a:rPr lang="nl-NL" sz="1100" dirty="0">
                <a:latin typeface="Consolas" panose="020B0609020204030204" pitchFamily="49" charset="0"/>
              </a:rPr>
            </a:br>
            <a:r>
              <a:rPr lang="en-US" sz="1100" dirty="0">
                <a:latin typeface="Consolas" panose="020B0609020204030204" pitchFamily="49" charset="0"/>
              </a:rPr>
              <a:t>-</a:t>
            </a:r>
            <a:r>
              <a:rPr lang="en-US" sz="1100" dirty="0" err="1">
                <a:latin typeface="Consolas" panose="020B0609020204030204" pitchFamily="49" charset="0"/>
              </a:rPr>
              <a:t>DomainName</a:t>
            </a:r>
            <a:r>
              <a:rPr lang="en-US" sz="1100" dirty="0">
                <a:latin typeface="Consolas" panose="020B0609020204030204" pitchFamily="49" charset="0"/>
              </a:rPr>
              <a:t> </a:t>
            </a:r>
            <a:r>
              <a:rPr lang="en-NL" sz="1100" dirty="0">
                <a:latin typeface="Consolas" panose="020B0609020204030204" pitchFamily="49" charset="0"/>
              </a:rPr>
              <a:t>"</a:t>
            </a:r>
            <a:r>
              <a:rPr lang="en-US" sz="1100" dirty="0">
                <a:latin typeface="Consolas" panose="020B0609020204030204" pitchFamily="49" charset="0"/>
              </a:rPr>
              <a:t>domain.com</a:t>
            </a:r>
            <a:r>
              <a:rPr lang="en-NL" sz="1100" dirty="0">
                <a:latin typeface="Consolas" panose="020B0609020204030204" pitchFamily="49" charset="0"/>
              </a:rPr>
              <a:t>"</a:t>
            </a:r>
            <a:br>
              <a:rPr lang="en-US" sz="1100" dirty="0">
                <a:latin typeface="Consolas" panose="020B0609020204030204" pitchFamily="49" charset="0"/>
              </a:rPr>
            </a:br>
            <a:r>
              <a:rPr lang="en-US" sz="1100" dirty="0">
                <a:latin typeface="Consolas" panose="020B0609020204030204" pitchFamily="49" charset="0"/>
              </a:rPr>
              <a:t>-</a:t>
            </a:r>
            <a:r>
              <a:rPr lang="en-US" sz="1100" dirty="0" err="1">
                <a:latin typeface="Consolas" panose="020B0609020204030204" pitchFamily="49" charset="0"/>
              </a:rPr>
              <a:t>OUPath</a:t>
            </a:r>
            <a:r>
              <a:rPr lang="en-US" sz="1100" dirty="0">
                <a:latin typeface="Consolas" panose="020B0609020204030204" pitchFamily="49" charset="0"/>
              </a:rPr>
              <a:t> </a:t>
            </a:r>
            <a:r>
              <a:rPr lang="en-NL" sz="1100" dirty="0">
                <a:latin typeface="Consolas" panose="020B0609020204030204" pitchFamily="49" charset="0"/>
              </a:rPr>
              <a:t>"</a:t>
            </a:r>
            <a:r>
              <a:rPr lang="en-US" sz="1100" dirty="0">
                <a:latin typeface="Consolas" panose="020B0609020204030204" pitchFamily="49" charset="0"/>
              </a:rPr>
              <a:t>OU=OU,DC=</a:t>
            </a:r>
            <a:r>
              <a:rPr lang="en-US" sz="1100" dirty="0" err="1">
                <a:latin typeface="Consolas" panose="020B0609020204030204" pitchFamily="49" charset="0"/>
              </a:rPr>
              <a:t>domain,DC</a:t>
            </a:r>
            <a:r>
              <a:rPr lang="en-US" sz="1100" dirty="0">
                <a:latin typeface="Consolas" panose="020B0609020204030204" pitchFamily="49" charset="0"/>
              </a:rPr>
              <a:t>=com</a:t>
            </a:r>
            <a:r>
              <a:rPr lang="en-NL" sz="1100" dirty="0">
                <a:latin typeface="Consolas" panose="020B0609020204030204" pitchFamily="49" charset="0"/>
              </a:rPr>
              <a:t>"</a:t>
            </a:r>
            <a:br>
              <a:rPr lang="en-US" sz="1100" dirty="0">
                <a:latin typeface="Consolas" panose="020B0609020204030204" pitchFamily="49" charset="0"/>
              </a:rPr>
            </a:br>
            <a:r>
              <a:rPr lang="en-US" sz="1100" dirty="0">
                <a:latin typeface="Consolas" panose="020B0609020204030204" pitchFamily="49" charset="0"/>
              </a:rPr>
              <a:t>-Credential </a:t>
            </a:r>
            <a:r>
              <a:rPr lang="nl-NL" sz="1100" dirty="0">
                <a:latin typeface="Consolas" panose="020B0609020204030204" pitchFamily="49" charset="0"/>
              </a:rPr>
              <a:t>domain\administrator</a:t>
            </a:r>
            <a:br>
              <a:rPr lang="nl-NL" sz="1100" dirty="0">
                <a:latin typeface="Consolas" panose="020B0609020204030204" pitchFamily="49" charset="0"/>
              </a:rPr>
            </a:br>
            <a:r>
              <a:rPr lang="nl-NL" sz="1100" dirty="0">
                <a:latin typeface="Consolas" panose="020B0609020204030204" pitchFamily="49" charset="0"/>
              </a:rPr>
              <a:t>-</a:t>
            </a:r>
            <a:r>
              <a:rPr lang="nl-NL" sz="1100" dirty="0" err="1">
                <a:latin typeface="Consolas" panose="020B0609020204030204" pitchFamily="49" charset="0"/>
              </a:rPr>
              <a:t>Restart</a:t>
            </a:r>
            <a:r>
              <a:rPr lang="nl-NL" sz="1100" dirty="0">
                <a:latin typeface="Consolas" panose="020B0609020204030204" pitchFamily="49" charset="0"/>
              </a:rPr>
              <a:t> -Force</a:t>
            </a:r>
          </a:p>
        </p:txBody>
      </p:sp>
    </p:spTree>
    <p:extLst>
      <p:ext uri="{BB962C8B-B14F-4D97-AF65-F5344CB8AC3E}">
        <p14:creationId xmlns:p14="http://schemas.microsoft.com/office/powerpoint/2010/main" val="4157874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pPr>
              <a:spcBef>
                <a:spcPts val="600"/>
              </a:spcBef>
            </a:pPr>
            <a:r>
              <a:rPr lang="en-US" altLang="en-US" dirty="0"/>
              <a:t>Domain Functional Level (DFL)</a:t>
            </a:r>
          </a:p>
          <a:p>
            <a:pPr marL="800100" lvl="1" indent="-342900">
              <a:spcBef>
                <a:spcPts val="600"/>
              </a:spcBef>
              <a:buFont typeface="Arial" panose="020B0604020202020204" pitchFamily="34" charset="0"/>
              <a:buChar char="•"/>
            </a:pPr>
            <a:r>
              <a:rPr lang="nl-NL" altLang="en-US" dirty="0"/>
              <a:t>Functionaliteiten</a:t>
            </a:r>
            <a:r>
              <a:rPr lang="en-US" altLang="en-US" dirty="0"/>
              <a:t> &amp; </a:t>
            </a:r>
            <a:r>
              <a:rPr lang="en-US" altLang="en-US" dirty="0" err="1"/>
              <a:t>veiligheid</a:t>
            </a:r>
            <a:r>
              <a:rPr lang="en-US" altLang="en-US" dirty="0"/>
              <a:t>;</a:t>
            </a:r>
          </a:p>
          <a:p>
            <a:pPr marL="742950" lvl="1" indent="-285750">
              <a:spcBef>
                <a:spcPts val="600"/>
              </a:spcBef>
              <a:buFont typeface="Arial" panose="020B0604020202020204" pitchFamily="34" charset="0"/>
              <a:buChar char="•"/>
            </a:pPr>
            <a:r>
              <a:rPr lang="en-US" altLang="en-US" sz="1800" dirty="0"/>
              <a:t>(2000, 2003,) 2008, 2008R2, 2012, 2012R2, 2016;</a:t>
            </a:r>
          </a:p>
          <a:p>
            <a:pPr marL="800100" lvl="1" indent="-342900">
              <a:spcBef>
                <a:spcPts val="600"/>
              </a:spcBef>
              <a:buFont typeface="Arial" panose="020B0604020202020204" pitchFamily="34" charset="0"/>
              <a:buChar char="•"/>
            </a:pPr>
            <a:r>
              <a:rPr lang="en-US" altLang="en-US" dirty="0" err="1"/>
              <a:t>Alleen</a:t>
            </a:r>
            <a:r>
              <a:rPr lang="en-US" altLang="en-US" dirty="0"/>
              <a:t> </a:t>
            </a:r>
            <a:r>
              <a:rPr lang="en-US" altLang="en-US" dirty="0" err="1"/>
              <a:t>geldig</a:t>
            </a:r>
            <a:r>
              <a:rPr lang="en-US" altLang="en-US" dirty="0"/>
              <a:t> </a:t>
            </a:r>
            <a:r>
              <a:rPr lang="en-US" altLang="en-US" dirty="0" err="1"/>
              <a:t>voor</a:t>
            </a:r>
            <a:r>
              <a:rPr lang="en-US" altLang="en-US" dirty="0"/>
              <a:t> DC!</a:t>
            </a:r>
          </a:p>
          <a:p>
            <a:pPr>
              <a:spcBef>
                <a:spcPts val="600"/>
              </a:spcBef>
            </a:pPr>
            <a:r>
              <a:rPr lang="en-US" altLang="en-US" dirty="0"/>
              <a:t>Forest Functional Levels (FFL)</a:t>
            </a:r>
          </a:p>
          <a:p>
            <a:pPr marL="742950" lvl="1" indent="-285750">
              <a:spcBef>
                <a:spcPts val="600"/>
              </a:spcBef>
              <a:buFont typeface="Arial" panose="020B0604020202020204" pitchFamily="34" charset="0"/>
              <a:buChar char="•"/>
            </a:pPr>
            <a:r>
              <a:rPr lang="en-US" altLang="en-US" sz="1800" dirty="0"/>
              <a:t>(2000, 2003,) 2008, 2008R2, 2012, 2012R2, 2016;</a:t>
            </a:r>
          </a:p>
          <a:p>
            <a:pPr>
              <a:spcBef>
                <a:spcPts val="600"/>
              </a:spcBef>
            </a:pPr>
            <a:r>
              <a:rPr lang="en-US" altLang="en-US" dirty="0"/>
              <a:t>DFL &gt; AD UC</a:t>
            </a:r>
          </a:p>
          <a:p>
            <a:pPr>
              <a:spcBef>
                <a:spcPts val="600"/>
              </a:spcBef>
            </a:pPr>
            <a:r>
              <a:rPr lang="en-US" altLang="en-US" dirty="0"/>
              <a:t>FFL &gt; AD Domains and Trust</a:t>
            </a:r>
          </a:p>
          <a:p>
            <a:pPr>
              <a:spcBef>
                <a:spcPts val="600"/>
              </a:spcBef>
            </a:pPr>
            <a:r>
              <a:rPr lang="en-US" altLang="en-US" dirty="0"/>
              <a:t>DFL &amp; FFL ADAC &amp; </a:t>
            </a:r>
            <a:r>
              <a:rPr lang="en-US" altLang="en-US" dirty="0" err="1"/>
              <a:t>Powershell</a:t>
            </a:r>
            <a:endParaRPr lang="en-US" altLang="en-US" dirty="0"/>
          </a:p>
        </p:txBody>
      </p:sp>
      <p:sp>
        <p:nvSpPr>
          <p:cNvPr id="25602" name="Title 1"/>
          <p:cNvSpPr>
            <a:spLocks noGrp="1"/>
          </p:cNvSpPr>
          <p:nvPr>
            <p:ph type="title"/>
          </p:nvPr>
        </p:nvSpPr>
        <p:spPr/>
        <p:txBody>
          <a:bodyPr/>
          <a:lstStyle/>
          <a:p>
            <a:r>
              <a:rPr lang="nl-NL" altLang="en-US" dirty="0" err="1"/>
              <a:t>Functional</a:t>
            </a:r>
            <a:r>
              <a:rPr lang="nl-NL" altLang="en-US" dirty="0"/>
              <a:t> Level</a:t>
            </a:r>
            <a:endParaRPr lang="en-US" altLang="en-US" dirty="0"/>
          </a:p>
        </p:txBody>
      </p:sp>
    </p:spTree>
    <p:extLst>
      <p:ext uri="{BB962C8B-B14F-4D97-AF65-F5344CB8AC3E}">
        <p14:creationId xmlns:p14="http://schemas.microsoft.com/office/powerpoint/2010/main" val="265536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a:lnSpc>
                <a:spcPct val="150000"/>
              </a:lnSpc>
            </a:pPr>
            <a:r>
              <a:rPr lang="nl-NL" dirty="0"/>
              <a:t>Shared Folder voor AD</a:t>
            </a:r>
          </a:p>
          <a:p>
            <a:pPr marL="800100" lvl="1" indent="-342900">
              <a:lnSpc>
                <a:spcPct val="150000"/>
              </a:lnSpc>
              <a:buFont typeface="Arial" panose="020B0604020202020204" pitchFamily="34" charset="0"/>
              <a:buChar char="•"/>
            </a:pPr>
            <a:r>
              <a:rPr lang="nl-NL" dirty="0"/>
              <a:t>Scripts, GPO</a:t>
            </a:r>
          </a:p>
          <a:p>
            <a:pPr marL="800100" lvl="1" indent="-342900">
              <a:lnSpc>
                <a:spcPct val="150000"/>
              </a:lnSpc>
              <a:buFont typeface="Arial" panose="020B0604020202020204" pitchFamily="34" charset="0"/>
              <a:buChar char="•"/>
            </a:pPr>
            <a:r>
              <a:rPr lang="nl-NL" dirty="0"/>
              <a:t>NTFS (Geen </a:t>
            </a:r>
            <a:r>
              <a:rPr lang="nl-NL" dirty="0" err="1"/>
              <a:t>ReFS</a:t>
            </a:r>
            <a:r>
              <a:rPr lang="nl-NL" dirty="0"/>
              <a:t>)</a:t>
            </a:r>
          </a:p>
          <a:p>
            <a:pPr>
              <a:lnSpc>
                <a:spcPct val="150000"/>
              </a:lnSpc>
            </a:pPr>
            <a:r>
              <a:rPr lang="nl-NL" dirty="0"/>
              <a:t>Default locatie: C:\Windows\SYSVOL</a:t>
            </a:r>
          </a:p>
          <a:p>
            <a:pPr>
              <a:lnSpc>
                <a:spcPct val="150000"/>
              </a:lnSpc>
            </a:pPr>
            <a:r>
              <a:rPr lang="nl-NL" dirty="0" err="1"/>
              <a:t>Sysvol</a:t>
            </a:r>
            <a:r>
              <a:rPr lang="nl-NL" dirty="0"/>
              <a:t> &amp; AD</a:t>
            </a:r>
          </a:p>
          <a:p>
            <a:pPr marL="800100" lvl="1" indent="-342900">
              <a:lnSpc>
                <a:spcPct val="150000"/>
              </a:lnSpc>
              <a:buFont typeface="Arial" panose="020B0604020202020204" pitchFamily="34" charset="0"/>
              <a:buChar char="•"/>
            </a:pPr>
            <a:r>
              <a:rPr lang="nl-NL" dirty="0"/>
              <a:t>Verschillende drives</a:t>
            </a:r>
          </a:p>
          <a:p>
            <a:pPr lvl="2">
              <a:lnSpc>
                <a:spcPct val="150000"/>
              </a:lnSpc>
            </a:pPr>
            <a:r>
              <a:rPr lang="nl-NL" dirty="0"/>
              <a:t>Prestaties &amp; veiligheid</a:t>
            </a:r>
            <a:endParaRPr lang="en-GB" dirty="0"/>
          </a:p>
          <a:p>
            <a:pPr marL="0" indent="0">
              <a:lnSpc>
                <a:spcPct val="150000"/>
              </a:lnSpc>
              <a:buNone/>
            </a:pPr>
            <a:endParaRPr lang="nl-NL" dirty="0"/>
          </a:p>
        </p:txBody>
      </p:sp>
      <p:sp>
        <p:nvSpPr>
          <p:cNvPr id="2" name="Title 1"/>
          <p:cNvSpPr>
            <a:spLocks noGrp="1"/>
          </p:cNvSpPr>
          <p:nvPr>
            <p:ph type="title"/>
          </p:nvPr>
        </p:nvSpPr>
        <p:spPr/>
        <p:txBody>
          <a:bodyPr/>
          <a:lstStyle/>
          <a:p>
            <a:r>
              <a:rPr lang="nl-NL" dirty="0" err="1"/>
              <a:t>Sysvol</a:t>
            </a:r>
            <a:r>
              <a:rPr lang="nl-NL" dirty="0"/>
              <a:t> &amp; Files</a:t>
            </a:r>
            <a:endParaRPr lang="en-GB" dirty="0"/>
          </a:p>
        </p:txBody>
      </p:sp>
    </p:spTree>
    <p:extLst>
      <p:ext uri="{BB962C8B-B14F-4D97-AF65-F5344CB8AC3E}">
        <p14:creationId xmlns:p14="http://schemas.microsoft.com/office/powerpoint/2010/main" val="387715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p:txBody>
          <a:bodyPr/>
          <a:lstStyle/>
          <a:p>
            <a:r>
              <a:rPr lang="en-US" altLang="en-US" dirty="0" err="1"/>
              <a:t>Organiseren</a:t>
            </a:r>
            <a:r>
              <a:rPr lang="en-US" altLang="en-US" dirty="0"/>
              <a:t> van </a:t>
            </a:r>
            <a:r>
              <a:rPr lang="en-US" altLang="en-US" dirty="0" err="1"/>
              <a:t>objecten</a:t>
            </a:r>
            <a:r>
              <a:rPr lang="en-US" altLang="en-US" dirty="0"/>
              <a:t> in AD</a:t>
            </a:r>
          </a:p>
          <a:p>
            <a:r>
              <a:rPr lang="en-US" altLang="en-US" dirty="0"/>
              <a:t>Management </a:t>
            </a:r>
            <a:r>
              <a:rPr lang="en-US" altLang="en-US" dirty="0" err="1"/>
              <a:t>dmv</a:t>
            </a:r>
            <a:r>
              <a:rPr lang="en-US" altLang="en-US" dirty="0"/>
              <a:t> Group Policy</a:t>
            </a:r>
          </a:p>
          <a:p>
            <a:r>
              <a:rPr lang="en-US" altLang="en-US" dirty="0"/>
              <a:t>Administrative delegation</a:t>
            </a:r>
          </a:p>
          <a:p>
            <a:r>
              <a:rPr lang="en-US" altLang="en-US" dirty="0" err="1"/>
              <a:t>Aanmaken</a:t>
            </a:r>
            <a:r>
              <a:rPr lang="en-US" altLang="en-US" dirty="0"/>
              <a:t> via: AD UC, ADAC, </a:t>
            </a:r>
            <a:r>
              <a:rPr lang="en-US" altLang="en-US" dirty="0" err="1"/>
              <a:t>Powershell</a:t>
            </a:r>
            <a:endParaRPr lang="en-US" altLang="en-US" dirty="0"/>
          </a:p>
        </p:txBody>
      </p:sp>
      <p:sp>
        <p:nvSpPr>
          <p:cNvPr id="26626" name="Title 1"/>
          <p:cNvSpPr>
            <a:spLocks noGrp="1"/>
          </p:cNvSpPr>
          <p:nvPr>
            <p:ph type="title"/>
          </p:nvPr>
        </p:nvSpPr>
        <p:spPr/>
        <p:txBody>
          <a:bodyPr/>
          <a:lstStyle/>
          <a:p>
            <a:r>
              <a:rPr lang="nl-NL" altLang="en-US"/>
              <a:t>Organizational Unit</a:t>
            </a:r>
            <a:endParaRPr lang="en-US" altLang="en-US"/>
          </a:p>
        </p:txBody>
      </p:sp>
      <p:pic>
        <p:nvPicPr>
          <p:cNvPr id="2" name="Picture 1"/>
          <p:cNvPicPr>
            <a:picLocks noChangeAspect="1"/>
          </p:cNvPicPr>
          <p:nvPr/>
        </p:nvPicPr>
        <p:blipFill>
          <a:blip r:embed="rId3"/>
          <a:stretch>
            <a:fillRect/>
          </a:stretch>
        </p:blipFill>
        <p:spPr>
          <a:xfrm>
            <a:off x="1081233" y="2726267"/>
            <a:ext cx="6825130" cy="2417233"/>
          </a:xfrm>
          <a:prstGeom prst="rect">
            <a:avLst/>
          </a:prstGeom>
        </p:spPr>
      </p:pic>
    </p:spTree>
    <p:extLst>
      <p:ext uri="{BB962C8B-B14F-4D97-AF65-F5344CB8AC3E}">
        <p14:creationId xmlns:p14="http://schemas.microsoft.com/office/powerpoint/2010/main" val="376233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ounded Rectangle 844806"/>
          <p:cNvSpPr>
            <a:spLocks noChangeArrowheads="1"/>
          </p:cNvSpPr>
          <p:nvPr/>
        </p:nvSpPr>
        <p:spPr bwMode="auto">
          <a:xfrm>
            <a:off x="1571626" y="1919478"/>
            <a:ext cx="5965031" cy="2508269"/>
          </a:xfrm>
          <a:prstGeom prst="roundRect">
            <a:avLst>
              <a:gd name="adj" fmla="val 4167"/>
            </a:avLst>
          </a:prstGeom>
          <a:solidFill>
            <a:srgbClr val="F2E7CE"/>
          </a:solidFill>
          <a:ln w="9525" algn="ctr">
            <a:solidFill>
              <a:srgbClr val="333333"/>
            </a:solidFill>
            <a:round/>
            <a:headEnd/>
            <a:tailEnd/>
          </a:ln>
        </p:spPr>
        <p:txBody>
          <a:bodyPr anchor="ct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500"/>
              <a:t>A user account can be stored:</a:t>
            </a:r>
          </a:p>
          <a:p>
            <a:pPr lvl="1" algn="l">
              <a:lnSpc>
                <a:spcPct val="90000"/>
              </a:lnSpc>
              <a:spcBef>
                <a:spcPct val="40000"/>
              </a:spcBef>
              <a:buSzPct val="80000"/>
              <a:buFontTx/>
              <a:buBlip>
                <a:blip r:embed="rId3"/>
              </a:buBlip>
            </a:pPr>
            <a:r>
              <a:rPr lang="en-US" altLang="nl-NL" sz="1350"/>
              <a:t>In AD DS (AD DS account)</a:t>
            </a:r>
          </a:p>
          <a:p>
            <a:pPr lvl="1" algn="l">
              <a:lnSpc>
                <a:spcPct val="90000"/>
              </a:lnSpc>
              <a:spcBef>
                <a:spcPct val="40000"/>
              </a:spcBef>
              <a:buSzPct val="80000"/>
              <a:buFontTx/>
              <a:buBlip>
                <a:blip r:embed="rId3"/>
              </a:buBlip>
            </a:pPr>
            <a:endParaRPr lang="en-US" altLang="nl-NL" sz="1200"/>
          </a:p>
          <a:p>
            <a:pPr lvl="1" algn="l">
              <a:lnSpc>
                <a:spcPct val="90000"/>
              </a:lnSpc>
              <a:spcBef>
                <a:spcPct val="40000"/>
              </a:spcBef>
              <a:buSzPct val="80000"/>
              <a:buFontTx/>
              <a:buBlip>
                <a:blip r:embed="rId3"/>
              </a:buBlip>
            </a:pPr>
            <a:endParaRPr lang="en-US" altLang="nl-NL" sz="1200"/>
          </a:p>
          <a:p>
            <a:pPr lvl="1" algn="l">
              <a:lnSpc>
                <a:spcPct val="90000"/>
              </a:lnSpc>
              <a:spcBef>
                <a:spcPct val="40000"/>
              </a:spcBef>
              <a:buSzPct val="80000"/>
              <a:buFontTx/>
              <a:buBlip>
                <a:blip r:embed="rId3"/>
              </a:buBlip>
            </a:pPr>
            <a:endParaRPr lang="en-US" altLang="nl-NL" sz="1200"/>
          </a:p>
          <a:p>
            <a:pPr lvl="1" algn="l">
              <a:lnSpc>
                <a:spcPct val="90000"/>
              </a:lnSpc>
              <a:spcBef>
                <a:spcPct val="40000"/>
              </a:spcBef>
              <a:buSzPct val="80000"/>
              <a:buFontTx/>
              <a:buBlip>
                <a:blip r:embed="rId3"/>
              </a:buBlip>
            </a:pPr>
            <a:r>
              <a:rPr lang="en-US" altLang="nl-NL" sz="1350"/>
              <a:t>On the local computer (local account)</a:t>
            </a:r>
          </a:p>
          <a:p>
            <a:pPr lvl="1" algn="l">
              <a:lnSpc>
                <a:spcPct val="90000"/>
              </a:lnSpc>
              <a:spcBef>
                <a:spcPct val="40000"/>
              </a:spcBef>
              <a:buSzPct val="80000"/>
              <a:buFontTx/>
              <a:buBlip>
                <a:blip r:embed="rId3"/>
              </a:buBlip>
            </a:pPr>
            <a:endParaRPr lang="en-US" altLang="nl-NL" sz="900"/>
          </a:p>
          <a:p>
            <a:pPr lvl="1" algn="l">
              <a:lnSpc>
                <a:spcPct val="90000"/>
              </a:lnSpc>
              <a:spcBef>
                <a:spcPct val="40000"/>
              </a:spcBef>
              <a:buSzPct val="80000"/>
              <a:buFontTx/>
              <a:buBlip>
                <a:blip r:embed="rId3"/>
              </a:buBlip>
            </a:pPr>
            <a:endParaRPr lang="en-US" altLang="nl-NL" sz="900"/>
          </a:p>
          <a:p>
            <a:pPr lvl="1" algn="l">
              <a:lnSpc>
                <a:spcPct val="90000"/>
              </a:lnSpc>
              <a:spcBef>
                <a:spcPct val="40000"/>
              </a:spcBef>
              <a:buSzPct val="80000"/>
              <a:buFontTx/>
              <a:buBlip>
                <a:blip r:embed="rId3"/>
              </a:buBlip>
            </a:pPr>
            <a:endParaRPr lang="en-US" altLang="nl-NL" sz="900"/>
          </a:p>
          <a:p>
            <a:pPr lvl="1" algn="l">
              <a:lnSpc>
                <a:spcPct val="90000"/>
              </a:lnSpc>
              <a:spcBef>
                <a:spcPct val="40000"/>
              </a:spcBef>
              <a:buSzPct val="80000"/>
              <a:buFontTx/>
              <a:buBlip>
                <a:blip r:embed="rId3"/>
              </a:buBlip>
            </a:pPr>
            <a:endParaRPr lang="en-US" altLang="nl-NL" sz="900"/>
          </a:p>
          <a:p>
            <a:pPr lvl="1" algn="l">
              <a:lnSpc>
                <a:spcPct val="90000"/>
              </a:lnSpc>
              <a:spcBef>
                <a:spcPct val="40000"/>
              </a:spcBef>
              <a:buSzPct val="80000"/>
              <a:buFontTx/>
              <a:buBlip>
                <a:blip r:embed="rId3"/>
              </a:buBlip>
            </a:pPr>
            <a:endParaRPr lang="en-US" altLang="nl-NL" sz="900"/>
          </a:p>
        </p:txBody>
      </p:sp>
      <p:sp>
        <p:nvSpPr>
          <p:cNvPr id="16387" name="Rectangle 2"/>
          <p:cNvSpPr>
            <a:spLocks noGrp="1" noChangeArrowheads="1"/>
          </p:cNvSpPr>
          <p:nvPr>
            <p:ph type="title"/>
          </p:nvPr>
        </p:nvSpPr>
        <p:spPr/>
        <p:txBody>
          <a:bodyPr/>
          <a:lstStyle/>
          <a:p>
            <a:r>
              <a:rPr lang="en-US" altLang="nl-NL" dirty="0"/>
              <a:t>What Is a User Account?</a:t>
            </a:r>
          </a:p>
        </p:txBody>
      </p:sp>
      <p:sp>
        <p:nvSpPr>
          <p:cNvPr id="1025028" name="Rounded Rectangle 844806"/>
          <p:cNvSpPr>
            <a:spLocks noChangeArrowheads="1"/>
          </p:cNvSpPr>
          <p:nvPr/>
        </p:nvSpPr>
        <p:spPr bwMode="auto">
          <a:xfrm>
            <a:off x="1597819" y="4609430"/>
            <a:ext cx="5940029" cy="284710"/>
          </a:xfrm>
          <a:prstGeom prst="roundRect">
            <a:avLst>
              <a:gd name="adj" fmla="val 4167"/>
            </a:avLst>
          </a:prstGeom>
          <a:solidFill>
            <a:schemeClr val="accent2">
              <a:lumMod val="60000"/>
              <a:lumOff val="40000"/>
            </a:schemeClr>
          </a:solidFill>
          <a:ln w="9525" algn="ctr">
            <a:solidFill>
              <a:srgbClr val="333333"/>
            </a:solidFill>
            <a:round/>
            <a:headEnd/>
            <a:tailEnd/>
          </a:ln>
        </p:spPr>
        <p:txBody>
          <a:bodyPr anchor="ctr">
            <a:spAutoFit/>
          </a:bodyPr>
          <a:lstStyle/>
          <a:p>
            <a:pPr marL="171450" indent="-171450">
              <a:lnSpc>
                <a:spcPct val="90000"/>
              </a:lnSpc>
              <a:spcBef>
                <a:spcPct val="40000"/>
              </a:spcBef>
              <a:buSzPct val="80000"/>
              <a:defRPr/>
            </a:pPr>
            <a:r>
              <a:rPr lang="en-US" sz="1350" dirty="0"/>
              <a:t>Creating a user account also creates a Security ID (SID)</a:t>
            </a:r>
          </a:p>
        </p:txBody>
      </p:sp>
      <p:sp>
        <p:nvSpPr>
          <p:cNvPr id="16389" name="AutoShape 12"/>
          <p:cNvSpPr>
            <a:spLocks noChangeArrowheads="1"/>
          </p:cNvSpPr>
          <p:nvPr/>
        </p:nvSpPr>
        <p:spPr bwMode="auto">
          <a:xfrm>
            <a:off x="1433513" y="1022747"/>
            <a:ext cx="6298406" cy="727472"/>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a:t>A user account is an Active Directory Domain Services (AD DS) object that enables authentication and access to local and network resources</a:t>
            </a:r>
          </a:p>
        </p:txBody>
      </p:sp>
      <p:sp>
        <p:nvSpPr>
          <p:cNvPr id="16390" name="AutoShape 13"/>
          <p:cNvSpPr>
            <a:spLocks noChangeArrowheads="1"/>
          </p:cNvSpPr>
          <p:nvPr/>
        </p:nvSpPr>
        <p:spPr bwMode="auto">
          <a:xfrm>
            <a:off x="2352675" y="2606279"/>
            <a:ext cx="4787504" cy="482203"/>
          </a:xfrm>
          <a:prstGeom prst="roundRect">
            <a:avLst>
              <a:gd name="adj" fmla="val 4167"/>
            </a:avLst>
          </a:prstGeom>
          <a:solidFill>
            <a:schemeClr val="accent1"/>
          </a:solidFill>
          <a:ln w="9525" algn="ctr">
            <a:solidFill>
              <a:srgbClr val="333333"/>
            </a:solidFill>
            <a:round/>
            <a:headEnd/>
            <a:tailEnd/>
          </a:ln>
          <a:effectLst>
            <a:outerShdw dist="35921" dir="2700000" algn="ctr" rotWithShape="0">
              <a:schemeClr val="bg2"/>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200"/>
              <a:t>AD DS accounts enable log on to domains and provide access to shared network resources</a:t>
            </a:r>
          </a:p>
        </p:txBody>
      </p:sp>
      <p:sp>
        <p:nvSpPr>
          <p:cNvPr id="16391" name="AutoShape 14"/>
          <p:cNvSpPr>
            <a:spLocks noChangeArrowheads="1"/>
          </p:cNvSpPr>
          <p:nvPr/>
        </p:nvSpPr>
        <p:spPr bwMode="auto">
          <a:xfrm>
            <a:off x="2327673" y="3625454"/>
            <a:ext cx="4787503" cy="482203"/>
          </a:xfrm>
          <a:prstGeom prst="roundRect">
            <a:avLst>
              <a:gd name="adj" fmla="val 4167"/>
            </a:avLst>
          </a:prstGeom>
          <a:solidFill>
            <a:schemeClr val="accent1"/>
          </a:solidFill>
          <a:ln w="9525" algn="ctr">
            <a:solidFill>
              <a:srgbClr val="333333"/>
            </a:solidFill>
            <a:round/>
            <a:headEnd/>
            <a:tailEnd/>
          </a:ln>
          <a:effectLst>
            <a:outerShdw dist="35921" dir="2700000" algn="ctr" rotWithShape="0">
              <a:schemeClr val="bg2"/>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 typeface="Symbol" pitchFamily="18" charset="2"/>
              <a:buNone/>
            </a:pPr>
            <a:r>
              <a:rPr lang="en-US" altLang="nl-NL" sz="1200"/>
              <a:t>Local accounts enable log on to a single computer and local resources</a:t>
            </a:r>
          </a:p>
        </p:txBody>
      </p:sp>
    </p:spTree>
    <p:extLst>
      <p:ext uri="{BB962C8B-B14F-4D97-AF65-F5344CB8AC3E}">
        <p14:creationId xmlns:p14="http://schemas.microsoft.com/office/powerpoint/2010/main" val="4074150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Titel 1"/>
          <p:cNvSpPr>
            <a:spLocks noGrp="1"/>
          </p:cNvSpPr>
          <p:nvPr>
            <p:ph type="title"/>
          </p:nvPr>
        </p:nvSpPr>
        <p:spPr/>
        <p:txBody>
          <a:bodyPr/>
          <a:lstStyle/>
          <a:p>
            <a:r>
              <a:rPr lang="en-US" altLang="nl-NL" dirty="0"/>
              <a:t>Well-Known SIDs</a:t>
            </a:r>
          </a:p>
        </p:txBody>
      </p:sp>
      <p:sp>
        <p:nvSpPr>
          <p:cNvPr id="17411" name="Rechthoek 3"/>
          <p:cNvSpPr>
            <a:spLocks noChangeArrowheads="1"/>
          </p:cNvSpPr>
          <p:nvPr/>
        </p:nvSpPr>
        <p:spPr bwMode="auto">
          <a:xfrm>
            <a:off x="1340599" y="1043340"/>
            <a:ext cx="652938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dirty="0"/>
              <a:t>SID: S-1-3-0</a:t>
            </a:r>
            <a:br>
              <a:rPr lang="en-GB" altLang="nl-NL" sz="1200" b="0" dirty="0"/>
            </a:br>
            <a:r>
              <a:rPr lang="en-GB" altLang="nl-NL" sz="1200" b="0" dirty="0"/>
              <a:t>Name: Creator Owner</a:t>
            </a:r>
            <a:br>
              <a:rPr lang="en-GB" altLang="nl-NL" sz="1200" b="0" dirty="0"/>
            </a:br>
            <a:r>
              <a:rPr lang="en-GB" altLang="nl-NL" sz="1200" b="0" dirty="0"/>
              <a:t>Description: A placeholder in an inheritable access control entry (ACE). When the ACE is inherited, the system replaces this SID with the SID for the object's creator.</a:t>
            </a:r>
            <a:endParaRPr lang="nl-NL" altLang="nl-NL" sz="1200" b="0" dirty="0"/>
          </a:p>
        </p:txBody>
      </p:sp>
      <p:sp>
        <p:nvSpPr>
          <p:cNvPr id="17412" name="Rechthoek 5"/>
          <p:cNvSpPr>
            <a:spLocks noChangeArrowheads="1"/>
          </p:cNvSpPr>
          <p:nvPr/>
        </p:nvSpPr>
        <p:spPr bwMode="auto">
          <a:xfrm>
            <a:off x="1347743" y="1931547"/>
            <a:ext cx="64162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dirty="0"/>
              <a:t>SID: S-1-5-2</a:t>
            </a:r>
            <a:br>
              <a:rPr lang="en-GB" altLang="nl-NL" sz="1200" b="0" dirty="0"/>
            </a:br>
            <a:r>
              <a:rPr lang="en-GB" altLang="nl-NL" sz="1200" b="0" dirty="0"/>
              <a:t>Name: Network</a:t>
            </a:r>
            <a:br>
              <a:rPr lang="en-GB" altLang="nl-NL" sz="1200" b="0" dirty="0"/>
            </a:br>
            <a:r>
              <a:rPr lang="en-GB" altLang="nl-NL" sz="1200" b="0" dirty="0"/>
              <a:t>Description: A group that includes all users that have logged on through a network connection. Membership is controlled by the operating system.</a:t>
            </a:r>
            <a:endParaRPr lang="nl-NL" altLang="nl-NL" sz="1200" b="0" dirty="0"/>
          </a:p>
        </p:txBody>
      </p:sp>
      <p:sp>
        <p:nvSpPr>
          <p:cNvPr id="17413" name="Rechthoek 6"/>
          <p:cNvSpPr>
            <a:spLocks noChangeArrowheads="1"/>
          </p:cNvSpPr>
          <p:nvPr/>
        </p:nvSpPr>
        <p:spPr bwMode="auto">
          <a:xfrm>
            <a:off x="1347743" y="2780463"/>
            <a:ext cx="63412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dirty="0"/>
              <a:t>SID: S-1-5-11</a:t>
            </a:r>
            <a:br>
              <a:rPr lang="en-GB" altLang="nl-NL" sz="1200" b="0" dirty="0"/>
            </a:br>
            <a:r>
              <a:rPr lang="en-GB" altLang="nl-NL" sz="1200" b="0" dirty="0"/>
              <a:t>Name: Authenticated Users</a:t>
            </a:r>
            <a:br>
              <a:rPr lang="en-GB" altLang="nl-NL" sz="1200" b="0" dirty="0"/>
            </a:br>
            <a:r>
              <a:rPr lang="en-GB" altLang="nl-NL" sz="1200" b="0" dirty="0"/>
              <a:t>Description: A group that includes all users whose identities were authenticated when they logged on. Membership is controlled by the operating system.</a:t>
            </a:r>
            <a:endParaRPr lang="nl-NL" altLang="nl-NL" sz="1200" b="0" dirty="0"/>
          </a:p>
        </p:txBody>
      </p:sp>
      <p:sp>
        <p:nvSpPr>
          <p:cNvPr id="17414" name="Rechthoek 7"/>
          <p:cNvSpPr>
            <a:spLocks noChangeArrowheads="1"/>
          </p:cNvSpPr>
          <p:nvPr/>
        </p:nvSpPr>
        <p:spPr bwMode="auto">
          <a:xfrm>
            <a:off x="1347743" y="3612709"/>
            <a:ext cx="63627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dirty="0"/>
              <a:t>SID: S-1-5-</a:t>
            </a:r>
            <a:r>
              <a:rPr lang="en-GB" altLang="nl-NL" sz="1200" i="1" dirty="0"/>
              <a:t>domain</a:t>
            </a:r>
            <a:r>
              <a:rPr lang="en-GB" altLang="nl-NL" sz="1200" dirty="0"/>
              <a:t>-500</a:t>
            </a:r>
            <a:br>
              <a:rPr lang="en-GB" altLang="nl-NL" sz="1200" b="0" dirty="0"/>
            </a:br>
            <a:r>
              <a:rPr lang="en-GB" altLang="nl-NL" sz="1200" b="0" dirty="0"/>
              <a:t>Name: Administrator</a:t>
            </a:r>
            <a:br>
              <a:rPr lang="en-GB" altLang="nl-NL" sz="1200" b="0" dirty="0"/>
            </a:br>
            <a:r>
              <a:rPr lang="en-GB" altLang="nl-NL" sz="1200" b="0" dirty="0"/>
              <a:t>Description: A user account for the system administrator. By default, it is the only user account that is given full control over the system.</a:t>
            </a:r>
            <a:endParaRPr lang="nl-NL" altLang="nl-NL" sz="1200" b="0" dirty="0"/>
          </a:p>
        </p:txBody>
      </p:sp>
    </p:spTree>
    <p:extLst>
      <p:ext uri="{BB962C8B-B14F-4D97-AF65-F5344CB8AC3E}">
        <p14:creationId xmlns:p14="http://schemas.microsoft.com/office/powerpoint/2010/main" val="434104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Titel 1"/>
          <p:cNvSpPr>
            <a:spLocks noGrp="1"/>
          </p:cNvSpPr>
          <p:nvPr>
            <p:ph type="title"/>
          </p:nvPr>
        </p:nvSpPr>
        <p:spPr/>
        <p:txBody>
          <a:bodyPr/>
          <a:lstStyle/>
          <a:p>
            <a:r>
              <a:rPr lang="en-US" altLang="nl-NL" dirty="0"/>
              <a:t>Security ID</a:t>
            </a:r>
          </a:p>
        </p:txBody>
      </p:sp>
      <p:pic>
        <p:nvPicPr>
          <p:cNvPr id="18435"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2197736" y="1043340"/>
            <a:ext cx="4743450" cy="3929063"/>
          </a:xfrm>
        </p:spPr>
      </p:pic>
    </p:spTree>
    <p:extLst>
      <p:ext uri="{BB962C8B-B14F-4D97-AF65-F5344CB8AC3E}">
        <p14:creationId xmlns:p14="http://schemas.microsoft.com/office/powerpoint/2010/main" val="790711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p:txBody>
          <a:bodyPr/>
          <a:lstStyle/>
          <a:p>
            <a:r>
              <a:rPr lang="en-US" altLang="nl-NL" dirty="0"/>
              <a:t>Names Associated with Domain User Accounts</a:t>
            </a:r>
          </a:p>
        </p:txBody>
      </p:sp>
      <p:graphicFrame>
        <p:nvGraphicFramePr>
          <p:cNvPr id="7206" name="Group 38"/>
          <p:cNvGraphicFramePr>
            <a:graphicFrameLocks noGrp="1"/>
          </p:cNvGraphicFramePr>
          <p:nvPr>
            <p:ph idx="4294967295"/>
          </p:nvPr>
        </p:nvGraphicFramePr>
        <p:xfrm>
          <a:off x="972089" y="1119661"/>
          <a:ext cx="7194744" cy="3493024"/>
        </p:xfrm>
        <a:graphic>
          <a:graphicData uri="http://schemas.openxmlformats.org/drawingml/2006/table">
            <a:tbl>
              <a:tblPr/>
              <a:tblGrid>
                <a:gridCol w="1775290">
                  <a:extLst>
                    <a:ext uri="{9D8B030D-6E8A-4147-A177-3AD203B41FA5}">
                      <a16:colId xmlns:a16="http://schemas.microsoft.com/office/drawing/2014/main" val="20000"/>
                    </a:ext>
                  </a:extLst>
                </a:gridCol>
                <a:gridCol w="2796326">
                  <a:extLst>
                    <a:ext uri="{9D8B030D-6E8A-4147-A177-3AD203B41FA5}">
                      <a16:colId xmlns:a16="http://schemas.microsoft.com/office/drawing/2014/main" val="20001"/>
                    </a:ext>
                  </a:extLst>
                </a:gridCol>
                <a:gridCol w="2623128">
                  <a:extLst>
                    <a:ext uri="{9D8B030D-6E8A-4147-A177-3AD203B41FA5}">
                      <a16:colId xmlns:a16="http://schemas.microsoft.com/office/drawing/2014/main" val="20002"/>
                    </a:ext>
                  </a:extLst>
                </a:gridCol>
              </a:tblGrid>
              <a:tr h="466328">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1" i="0" u="none" strike="noStrike" cap="none" normalizeH="0" baseline="0" dirty="0">
                          <a:ln>
                            <a:noFill/>
                          </a:ln>
                          <a:solidFill>
                            <a:schemeClr val="tx1"/>
                          </a:solidFill>
                          <a:effectLst/>
                          <a:latin typeface="Verdana" pitchFamily="34" charset="0"/>
                        </a:rPr>
                        <a:t>Object Names</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200" b="1" i="0" u="none" strike="noStrike" cap="none" normalizeH="0" baseline="0">
                          <a:ln>
                            <a:noFill/>
                          </a:ln>
                          <a:solidFill>
                            <a:schemeClr val="tx1"/>
                          </a:solidFill>
                          <a:effectLst/>
                          <a:latin typeface="Verdana" pitchFamily="34" charset="0"/>
                        </a:rPr>
                        <a:t>Example</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200" b="1" i="0" u="none" strike="noStrike" cap="none" normalizeH="0" baseline="0" dirty="0">
                          <a:ln>
                            <a:noFill/>
                          </a:ln>
                          <a:solidFill>
                            <a:schemeClr val="tx1"/>
                          </a:solidFill>
                          <a:effectLst/>
                          <a:latin typeface="Verdana" pitchFamily="34" charset="0"/>
                        </a:rPr>
                        <a:t>Uniqueness requirement</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extLst>
                  <a:ext uri="{0D108BD9-81ED-4DB2-BD59-A6C34878D82A}">
                    <a16:rowId xmlns:a16="http://schemas.microsoft.com/office/drawing/2014/main" val="10000"/>
                  </a:ext>
                </a:extLst>
              </a:tr>
              <a:tr h="466328">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User logon name</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Gregory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Must be unique within domain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651494">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User logon name (pre-Microsoft</a:t>
                      </a:r>
                      <a:r>
                        <a:rPr kumimoji="0" lang="en-US" altLang="ja-JP" sz="900" b="0" i="0" u="none" strike="noStrike" cap="none" normalizeH="0" baseline="0">
                          <a:ln>
                            <a:noFill/>
                          </a:ln>
                          <a:solidFill>
                            <a:schemeClr val="tx1"/>
                          </a:solidFill>
                          <a:effectLst/>
                          <a:latin typeface="Verdana" pitchFamily="34" charset="0"/>
                          <a:ea typeface="ＭＳ Ｐゴシック" pitchFamily="34" charset="-128"/>
                        </a:rPr>
                        <a:t>®</a:t>
                      </a:r>
                      <a:r>
                        <a:rPr kumimoji="0" lang="en-US" altLang="ja-JP" sz="1400" b="0" i="0" u="none" strike="noStrike" cap="none" normalizeH="0" baseline="0">
                          <a:ln>
                            <a:noFill/>
                          </a:ln>
                          <a:solidFill>
                            <a:schemeClr val="tx1"/>
                          </a:solidFill>
                          <a:effectLst/>
                          <a:latin typeface="Verdana" pitchFamily="34" charset="0"/>
                          <a:ea typeface="ＭＳ Ｐゴシック" pitchFamily="34" charset="-128"/>
                        </a:rPr>
                        <a:t> </a:t>
                      </a:r>
                      <a:r>
                        <a:rPr kumimoji="0" lang="en-US" sz="1200" b="0" i="0" u="none" strike="noStrike" cap="none" normalizeH="0" baseline="0">
                          <a:ln>
                            <a:noFill/>
                          </a:ln>
                          <a:solidFill>
                            <a:schemeClr val="tx1"/>
                          </a:solidFill>
                          <a:effectLst/>
                          <a:latin typeface="Verdana" pitchFamily="34" charset="0"/>
                        </a:rPr>
                        <a:t> Windows</a:t>
                      </a:r>
                      <a:r>
                        <a:rPr kumimoji="0" lang="en-US" altLang="ja-JP" sz="900" b="0" i="0" u="none" strike="noStrike" cap="none" normalizeH="0" baseline="0">
                          <a:ln>
                            <a:noFill/>
                          </a:ln>
                          <a:solidFill>
                            <a:schemeClr val="tx1"/>
                          </a:solidFill>
                          <a:effectLst/>
                          <a:latin typeface="Verdana" pitchFamily="34" charset="0"/>
                          <a:ea typeface="ＭＳ Ｐゴシック" pitchFamily="34" charset="-128"/>
                        </a:rPr>
                        <a:t>®</a:t>
                      </a:r>
                      <a:r>
                        <a:rPr kumimoji="0" lang="en-US" sz="1200" b="0" i="0" u="none" strike="noStrike" cap="none" normalizeH="0" baseline="0">
                          <a:ln>
                            <a:noFill/>
                          </a:ln>
                          <a:solidFill>
                            <a:schemeClr val="tx1"/>
                          </a:solidFill>
                          <a:effectLst/>
                          <a:latin typeface="Verdana" pitchFamily="34" charset="0"/>
                        </a:rPr>
                        <a:t> 2000)</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Woodgrove\Gregory</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Must be unique within domain</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6328">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User principal name (UPN)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1" i="0" u="none" strike="noStrike" cap="none" normalizeH="0" baseline="0">
                          <a:ln>
                            <a:noFill/>
                          </a:ln>
                          <a:solidFill>
                            <a:schemeClr val="tx1"/>
                          </a:solidFill>
                          <a:effectLst/>
                          <a:latin typeface="Verdana" pitchFamily="34" charset="0"/>
                          <a:hlinkClick r:id="rId3"/>
                        </a:rPr>
                        <a:t>Gregory@WoodgroveBank.com</a:t>
                      </a:r>
                      <a:r>
                        <a:rPr kumimoji="0" lang="en-US" sz="1200" b="0" i="0" u="none" strike="noStrike" cap="none" normalizeH="0" baseline="0">
                          <a:ln>
                            <a:noFill/>
                          </a:ln>
                          <a:solidFill>
                            <a:schemeClr val="tx1"/>
                          </a:solidFill>
                          <a:effectLst/>
                          <a:latin typeface="Verdana" pitchFamily="34" charset="0"/>
                        </a:rPr>
                        <a:t>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Must be unique within forest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804768">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LDAP distinguished name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CN=Gregory,OU=IT,DC=</a:t>
                      </a:r>
                      <a:br>
                        <a:rPr kumimoji="0" lang="en-US" sz="1200" b="0" i="0" u="none" strike="noStrike" cap="none" normalizeH="0" baseline="0">
                          <a:ln>
                            <a:noFill/>
                          </a:ln>
                          <a:solidFill>
                            <a:schemeClr val="tx1"/>
                          </a:solidFill>
                          <a:effectLst/>
                          <a:latin typeface="Verdana" pitchFamily="34" charset="0"/>
                        </a:rPr>
                      </a:br>
                      <a:r>
                        <a:rPr kumimoji="0" lang="en-US" sz="1200" b="0" i="0" u="none" strike="noStrike" cap="none" normalizeH="0" baseline="0">
                          <a:ln>
                            <a:noFill/>
                          </a:ln>
                          <a:solidFill>
                            <a:schemeClr val="tx1"/>
                          </a:solidFill>
                          <a:effectLst/>
                          <a:latin typeface="Verdana" pitchFamily="34" charset="0"/>
                        </a:rPr>
                        <a:t>WoodgroveBank,DC=com</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Will be globally unique, combining RDN, container name, and domain names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630920">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a:ln>
                            <a:noFill/>
                          </a:ln>
                          <a:solidFill>
                            <a:schemeClr val="tx1"/>
                          </a:solidFill>
                          <a:effectLst/>
                          <a:latin typeface="Verdana" pitchFamily="34" charset="0"/>
                        </a:rPr>
                        <a:t>Relative distinguished name (RDN)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1" i="0" u="none" strike="noStrike" cap="none" normalizeH="0" baseline="0">
                          <a:ln>
                            <a:noFill/>
                          </a:ln>
                          <a:solidFill>
                            <a:schemeClr val="tx1"/>
                          </a:solidFill>
                          <a:effectLst/>
                          <a:latin typeface="Verdana" pitchFamily="34" charset="0"/>
                        </a:rPr>
                        <a:t>CN=Gregory</a:t>
                      </a:r>
                      <a:r>
                        <a:rPr kumimoji="0" lang="en-US" sz="1200" b="0" i="0" u="none" strike="noStrike" cap="none" normalizeH="0" baseline="0">
                          <a:ln>
                            <a:noFill/>
                          </a:ln>
                          <a:solidFill>
                            <a:schemeClr val="tx1"/>
                          </a:solidFill>
                          <a:effectLst/>
                          <a:latin typeface="Verdana" pitchFamily="34" charset="0"/>
                        </a:rPr>
                        <a:t>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200" b="0" i="0" u="none" strike="noStrike" cap="none" normalizeH="0" baseline="0" dirty="0">
                          <a:ln>
                            <a:noFill/>
                          </a:ln>
                          <a:solidFill>
                            <a:schemeClr val="tx1"/>
                          </a:solidFill>
                          <a:effectLst/>
                          <a:latin typeface="Verdana" pitchFamily="34" charset="0"/>
                        </a:rPr>
                        <a:t>Must be unique in OU </a:t>
                      </a:r>
                    </a:p>
                  </a:txBody>
                  <a:tcPr marL="68580" marR="68580" marT="68572" marB="68572"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40720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7079" y="959644"/>
            <a:ext cx="6380559" cy="402669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0483" name="Rectangle 2"/>
          <p:cNvSpPr>
            <a:spLocks noGrp="1" noChangeArrowheads="1"/>
          </p:cNvSpPr>
          <p:nvPr>
            <p:ph type="title"/>
          </p:nvPr>
        </p:nvSpPr>
        <p:spPr/>
        <p:txBody>
          <a:bodyPr/>
          <a:lstStyle/>
          <a:p>
            <a:r>
              <a:rPr lang="en-US" altLang="nl-NL" dirty="0"/>
              <a:t>User Account Password Options</a:t>
            </a:r>
          </a:p>
        </p:txBody>
      </p:sp>
      <p:sp>
        <p:nvSpPr>
          <p:cNvPr id="20484" name="Rounded Rectangle 844806"/>
          <p:cNvSpPr>
            <a:spLocks noChangeArrowheads="1"/>
          </p:cNvSpPr>
          <p:nvPr/>
        </p:nvSpPr>
        <p:spPr bwMode="auto">
          <a:xfrm>
            <a:off x="1613298" y="1335366"/>
            <a:ext cx="5965031" cy="1301194"/>
          </a:xfrm>
          <a:prstGeom prst="roundRect">
            <a:avLst>
              <a:gd name="adj" fmla="val 4167"/>
            </a:avLst>
          </a:prstGeom>
          <a:solidFill>
            <a:srgbClr val="F2E7CE"/>
          </a:solidFill>
          <a:ln w="9525" algn="ctr">
            <a:solidFill>
              <a:srgbClr val="333333"/>
            </a:solidFill>
            <a:round/>
            <a:headEnd/>
            <a:tailEnd/>
          </a:ln>
        </p:spPr>
        <p:txBody>
          <a:bodyPr anchor="ct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a:t>User object passwords are a significant aspect of network security and can have options configured for:</a:t>
            </a:r>
          </a:p>
          <a:p>
            <a:pPr lvl="1" algn="l">
              <a:lnSpc>
                <a:spcPct val="90000"/>
              </a:lnSpc>
              <a:spcBef>
                <a:spcPct val="40000"/>
              </a:spcBef>
              <a:buSzPct val="80000"/>
              <a:buFontTx/>
              <a:buBlip>
                <a:blip r:embed="rId4"/>
              </a:buBlip>
            </a:pPr>
            <a:r>
              <a:rPr lang="en-US" altLang="nl-NL" sz="1350"/>
              <a:t>Password history </a:t>
            </a:r>
          </a:p>
          <a:p>
            <a:pPr lvl="1" algn="l">
              <a:lnSpc>
                <a:spcPct val="90000"/>
              </a:lnSpc>
              <a:spcBef>
                <a:spcPct val="40000"/>
              </a:spcBef>
              <a:buSzPct val="80000"/>
              <a:buFontTx/>
              <a:buBlip>
                <a:blip r:embed="rId4"/>
              </a:buBlip>
            </a:pPr>
            <a:r>
              <a:rPr lang="en-US" altLang="nl-NL" sz="1350"/>
              <a:t>Length</a:t>
            </a:r>
          </a:p>
          <a:p>
            <a:pPr lvl="1" algn="l">
              <a:lnSpc>
                <a:spcPct val="90000"/>
              </a:lnSpc>
              <a:spcBef>
                <a:spcPct val="40000"/>
              </a:spcBef>
              <a:buSzPct val="80000"/>
              <a:buFontTx/>
              <a:buBlip>
                <a:blip r:embed="rId4"/>
              </a:buBlip>
            </a:pPr>
            <a:r>
              <a:rPr lang="en-US" altLang="nl-NL" sz="1350"/>
              <a:t>Complexity</a:t>
            </a:r>
          </a:p>
        </p:txBody>
      </p:sp>
      <p:sp>
        <p:nvSpPr>
          <p:cNvPr id="20485" name="Rounded Rectangle 844806"/>
          <p:cNvSpPr>
            <a:spLocks noChangeArrowheads="1"/>
          </p:cNvSpPr>
          <p:nvPr/>
        </p:nvSpPr>
        <p:spPr bwMode="auto">
          <a:xfrm>
            <a:off x="1610916" y="2851450"/>
            <a:ext cx="5975747" cy="1767082"/>
          </a:xfrm>
          <a:prstGeom prst="roundRect">
            <a:avLst>
              <a:gd name="adj" fmla="val 4167"/>
            </a:avLst>
          </a:prstGeom>
          <a:solidFill>
            <a:srgbClr val="F2E7CE"/>
          </a:solidFill>
          <a:ln w="9525" algn="ctr">
            <a:solidFill>
              <a:srgbClr val="333333"/>
            </a:solidFill>
            <a:round/>
            <a:headEnd/>
            <a:tailEnd/>
          </a:ln>
        </p:spPr>
        <p:txBody>
          <a:bodyPr anchor="ct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dirty="0"/>
              <a:t>By default, Windows Server 2016 domain passwords must meet three out of the following four complexity requirements:</a:t>
            </a:r>
          </a:p>
          <a:p>
            <a:pPr lvl="1" algn="l">
              <a:lnSpc>
                <a:spcPct val="90000"/>
              </a:lnSpc>
              <a:spcBef>
                <a:spcPct val="40000"/>
              </a:spcBef>
              <a:buSzPct val="80000"/>
              <a:buFontTx/>
              <a:buBlip>
                <a:blip r:embed="rId4"/>
              </a:buBlip>
            </a:pPr>
            <a:r>
              <a:rPr lang="en-US" altLang="nl-NL" sz="1350" dirty="0"/>
              <a:t>Uppercase</a:t>
            </a:r>
          </a:p>
          <a:p>
            <a:pPr lvl="1" algn="l">
              <a:lnSpc>
                <a:spcPct val="90000"/>
              </a:lnSpc>
              <a:spcBef>
                <a:spcPct val="40000"/>
              </a:spcBef>
              <a:buSzPct val="80000"/>
              <a:buFontTx/>
              <a:buBlip>
                <a:blip r:embed="rId4"/>
              </a:buBlip>
            </a:pPr>
            <a:r>
              <a:rPr lang="en-US" altLang="nl-NL" sz="1350" dirty="0"/>
              <a:t>Lowercase</a:t>
            </a:r>
          </a:p>
          <a:p>
            <a:pPr lvl="1" algn="l">
              <a:lnSpc>
                <a:spcPct val="90000"/>
              </a:lnSpc>
              <a:spcBef>
                <a:spcPct val="40000"/>
              </a:spcBef>
              <a:buSzPct val="80000"/>
              <a:buFontTx/>
              <a:buBlip>
                <a:blip r:embed="rId4"/>
              </a:buBlip>
            </a:pPr>
            <a:r>
              <a:rPr lang="en-US" altLang="nl-NL" sz="1350" dirty="0"/>
              <a:t>Special characters (e.g. !, $, %, #)</a:t>
            </a:r>
          </a:p>
          <a:p>
            <a:pPr lvl="1" algn="l">
              <a:lnSpc>
                <a:spcPct val="90000"/>
              </a:lnSpc>
              <a:spcBef>
                <a:spcPct val="40000"/>
              </a:spcBef>
              <a:buSzPct val="80000"/>
              <a:buFontTx/>
              <a:buBlip>
                <a:blip r:embed="rId4"/>
              </a:buBlip>
            </a:pPr>
            <a:r>
              <a:rPr lang="en-US" altLang="nl-NL" sz="1350" dirty="0"/>
              <a:t>Numbers</a:t>
            </a:r>
          </a:p>
        </p:txBody>
      </p:sp>
      <p:pic>
        <p:nvPicPr>
          <p:cNvPr id="20486"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0023" y="3717132"/>
            <a:ext cx="1896665" cy="137874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048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5391" y="4308873"/>
            <a:ext cx="501253" cy="510778"/>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06790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title"/>
          </p:nvPr>
        </p:nvSpPr>
        <p:spPr/>
        <p:txBody>
          <a:bodyPr/>
          <a:lstStyle/>
          <a:p>
            <a:r>
              <a:rPr lang="en-US" altLang="nl-NL" dirty="0"/>
              <a:t>Tools for Configuring User Accounts </a:t>
            </a:r>
          </a:p>
        </p:txBody>
      </p:sp>
      <p:sp>
        <p:nvSpPr>
          <p:cNvPr id="21506" name="Rounded Rectangle 812098"/>
          <p:cNvSpPr>
            <a:spLocks noGrp="1" noChangeArrowheads="1"/>
          </p:cNvSpPr>
          <p:nvPr>
            <p:ph type="body" sz="quarter" idx="4294967295"/>
          </p:nvPr>
        </p:nvSpPr>
        <p:spPr>
          <a:xfrm>
            <a:off x="1409991" y="1043340"/>
            <a:ext cx="6317038" cy="3528660"/>
          </a:xfrm>
          <a:prstGeom prst="roundRect">
            <a:avLst>
              <a:gd name="adj" fmla="val 4167"/>
            </a:avLst>
          </a:prstGeom>
          <a:solidFill>
            <a:srgbClr val="DEE7F1"/>
          </a:solidFill>
          <a:ln cap="flat" algn="ctr">
            <a:solidFill>
              <a:srgbClr val="333333"/>
            </a:solidFill>
            <a:round/>
            <a:headEnd type="none" w="med" len="med"/>
            <a:tailEnd type="none" w="med" len="med"/>
          </a:ln>
        </p:spPr>
        <p:txBody>
          <a:bodyPr vert="horz" wrap="square" lIns="68580" tIns="34290" rIns="68580" bIns="34290" rtlCol="0" anchor="t" anchorCtr="0">
            <a:noAutofit/>
          </a:bodyPr>
          <a:lstStyle/>
          <a:p>
            <a:pPr marL="0" indent="0">
              <a:lnSpc>
                <a:spcPct val="100000"/>
              </a:lnSpc>
              <a:spcBef>
                <a:spcPct val="0"/>
              </a:spcBef>
              <a:buNone/>
            </a:pPr>
            <a:r>
              <a:rPr lang="en-US" altLang="nl-NL" b="1"/>
              <a:t>Local and Domain accounts each have their own tools for creating and managing properties</a:t>
            </a:r>
            <a:r>
              <a:rPr lang="en-US" altLang="nl-NL"/>
              <a:t>:</a:t>
            </a:r>
          </a:p>
        </p:txBody>
      </p:sp>
      <p:graphicFrame>
        <p:nvGraphicFramePr>
          <p:cNvPr id="9235" name="Group 19"/>
          <p:cNvGraphicFramePr>
            <a:graphicFrameLocks noGrp="1"/>
          </p:cNvGraphicFramePr>
          <p:nvPr>
            <p:ph idx="4294967295"/>
          </p:nvPr>
        </p:nvGraphicFramePr>
        <p:xfrm>
          <a:off x="1622067" y="1884156"/>
          <a:ext cx="5894785" cy="2525316"/>
        </p:xfrm>
        <a:graphic>
          <a:graphicData uri="http://schemas.openxmlformats.org/drawingml/2006/table">
            <a:tbl>
              <a:tblPr/>
              <a:tblGrid>
                <a:gridCol w="1710612">
                  <a:extLst>
                    <a:ext uri="{9D8B030D-6E8A-4147-A177-3AD203B41FA5}">
                      <a16:colId xmlns:a16="http://schemas.microsoft.com/office/drawing/2014/main" val="20000"/>
                    </a:ext>
                  </a:extLst>
                </a:gridCol>
                <a:gridCol w="4184173">
                  <a:extLst>
                    <a:ext uri="{9D8B030D-6E8A-4147-A177-3AD203B41FA5}">
                      <a16:colId xmlns:a16="http://schemas.microsoft.com/office/drawing/2014/main" val="20001"/>
                    </a:ext>
                  </a:extLst>
                </a:gridCol>
              </a:tblGrid>
              <a:tr h="571354">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1" i="0" u="none" strike="noStrike" cap="none" normalizeH="0" baseline="0" dirty="0">
                          <a:ln>
                            <a:noFill/>
                          </a:ln>
                          <a:solidFill>
                            <a:schemeClr val="tx1"/>
                          </a:solidFill>
                          <a:effectLst/>
                          <a:latin typeface="Verdana" pitchFamily="34" charset="0"/>
                        </a:rPr>
                        <a:t>Account</a:t>
                      </a:r>
                    </a:p>
                  </a:txBody>
                  <a:tcPr marL="68580" marR="68580" marT="68563" marB="68563"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400" b="1" i="0" u="none" strike="noStrike" cap="none" normalizeH="0" baseline="0">
                          <a:ln>
                            <a:noFill/>
                          </a:ln>
                          <a:solidFill>
                            <a:schemeClr val="tx1"/>
                          </a:solidFill>
                          <a:effectLst/>
                          <a:latin typeface="Verdana" pitchFamily="34" charset="0"/>
                        </a:rPr>
                        <a:t>Tools</a:t>
                      </a:r>
                    </a:p>
                  </a:txBody>
                  <a:tcPr marL="68580" marR="68580" marT="68563" marB="68563"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extLst>
                  <a:ext uri="{0D108BD9-81ED-4DB2-BD59-A6C34878D82A}">
                    <a16:rowId xmlns:a16="http://schemas.microsoft.com/office/drawing/2014/main" val="10000"/>
                  </a:ext>
                </a:extLst>
              </a:tr>
              <a:tr h="561833">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0" i="0" u="none" strike="noStrike" cap="none" normalizeH="0" baseline="0" dirty="0">
                          <a:ln>
                            <a:noFill/>
                          </a:ln>
                          <a:solidFill>
                            <a:schemeClr val="tx1"/>
                          </a:solidFill>
                          <a:effectLst/>
                          <a:latin typeface="Verdana" pitchFamily="34" charset="0"/>
                        </a:rPr>
                        <a:t>Local computer account </a:t>
                      </a:r>
                    </a:p>
                  </a:txBody>
                  <a:tcPr marL="68580" marR="68580" marT="68563" marB="68563"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0" i="0" u="none" strike="noStrike" cap="none" normalizeH="0" baseline="0" dirty="0">
                          <a:ln>
                            <a:noFill/>
                          </a:ln>
                          <a:solidFill>
                            <a:schemeClr val="tx1"/>
                          </a:solidFill>
                          <a:effectLst/>
                          <a:latin typeface="Verdana" pitchFamily="34" charset="0"/>
                        </a:rPr>
                        <a:t>Control Panel\User Accounts\User Accounts</a:t>
                      </a:r>
                    </a:p>
                  </a:txBody>
                  <a:tcPr marL="68580" marR="68580" marT="68563" marB="68563"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392129">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0" i="0" u="none" strike="noStrike" cap="none" normalizeH="0" baseline="0">
                          <a:ln>
                            <a:noFill/>
                          </a:ln>
                          <a:solidFill>
                            <a:schemeClr val="tx1"/>
                          </a:solidFill>
                          <a:effectLst/>
                          <a:latin typeface="Verdana" pitchFamily="34" charset="0"/>
                        </a:rPr>
                        <a:t>Domain account </a:t>
                      </a:r>
                    </a:p>
                  </a:txBody>
                  <a:tcPr marL="68580" marR="68580" marT="68563" marB="68563"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33363" marR="0" lvl="0" indent="-233363" algn="l" defTabSz="914400" rtl="0" eaLnBrk="1" fontAlgn="base" latinLnBrk="0" hangingPunct="1">
                        <a:lnSpc>
                          <a:spcPct val="90000"/>
                        </a:lnSpc>
                        <a:spcBef>
                          <a:spcPct val="70000"/>
                        </a:spcBef>
                        <a:spcAft>
                          <a:spcPct val="0"/>
                        </a:spcAft>
                        <a:buClr>
                          <a:schemeClr val="hlink"/>
                        </a:buClr>
                        <a:buSzPct val="90000"/>
                        <a:buFontTx/>
                        <a:buChar char="•"/>
                        <a:tabLst/>
                      </a:pPr>
                      <a:r>
                        <a:rPr kumimoji="0" lang="en-US" sz="1400" b="0" i="0" u="none" strike="noStrike" cap="none" normalizeH="0" baseline="0" dirty="0">
                          <a:ln>
                            <a:noFill/>
                          </a:ln>
                          <a:solidFill>
                            <a:schemeClr val="tx1"/>
                          </a:solidFill>
                          <a:effectLst/>
                          <a:latin typeface="Verdana" pitchFamily="34" charset="0"/>
                        </a:rPr>
                        <a:t>Windows Server GUI tool: Active Directory Users and Computers, ADAC</a:t>
                      </a:r>
                    </a:p>
                    <a:p>
                      <a:pPr marL="233363" marR="0" lvl="0" indent="-233363" algn="l" defTabSz="914400" rtl="0" eaLnBrk="1" fontAlgn="base" latinLnBrk="0" hangingPunct="1">
                        <a:lnSpc>
                          <a:spcPct val="90000"/>
                        </a:lnSpc>
                        <a:spcBef>
                          <a:spcPct val="70000"/>
                        </a:spcBef>
                        <a:spcAft>
                          <a:spcPct val="0"/>
                        </a:spcAft>
                        <a:buClr>
                          <a:schemeClr val="hlink"/>
                        </a:buClr>
                        <a:buSzPct val="90000"/>
                        <a:buFontTx/>
                        <a:buChar char="•"/>
                        <a:tabLst/>
                      </a:pPr>
                      <a:r>
                        <a:rPr kumimoji="0" lang="en-US" sz="1400" b="0" i="0" u="none" strike="noStrike" cap="none" normalizeH="0" baseline="0" dirty="0">
                          <a:ln>
                            <a:noFill/>
                          </a:ln>
                          <a:solidFill>
                            <a:schemeClr val="tx1"/>
                          </a:solidFill>
                          <a:effectLst/>
                          <a:latin typeface="Verdana" pitchFamily="34" charset="0"/>
                        </a:rPr>
                        <a:t>Command-line utilities: </a:t>
                      </a:r>
                      <a:r>
                        <a:rPr kumimoji="0" lang="en-US" sz="1400" b="0" i="0" u="none" strike="noStrike" cap="none" normalizeH="0" baseline="0" dirty="0" err="1">
                          <a:ln>
                            <a:noFill/>
                          </a:ln>
                          <a:solidFill>
                            <a:schemeClr val="tx1"/>
                          </a:solidFill>
                          <a:effectLst/>
                          <a:latin typeface="Verdana" pitchFamily="34" charset="0"/>
                        </a:rPr>
                        <a:t>dsadd</a:t>
                      </a:r>
                      <a:r>
                        <a:rPr kumimoji="0" lang="en-US" sz="1400" b="0" i="0" u="none" strike="noStrike" cap="none" normalizeH="0" baseline="0" dirty="0">
                          <a:ln>
                            <a:noFill/>
                          </a:ln>
                          <a:solidFill>
                            <a:schemeClr val="tx1"/>
                          </a:solidFill>
                          <a:effectLst/>
                          <a:latin typeface="Verdana" pitchFamily="34" charset="0"/>
                        </a:rPr>
                        <a:t>, Windows </a:t>
                      </a:r>
                      <a:r>
                        <a:rPr kumimoji="0" lang="en-US" sz="1400" b="0" i="0" u="none" strike="noStrike" cap="none" normalizeH="0" baseline="0" dirty="0" err="1">
                          <a:ln>
                            <a:noFill/>
                          </a:ln>
                          <a:solidFill>
                            <a:schemeClr val="tx1"/>
                          </a:solidFill>
                          <a:effectLst/>
                          <a:latin typeface="Verdana" pitchFamily="34" charset="0"/>
                        </a:rPr>
                        <a:t>Powershell</a:t>
                      </a:r>
                      <a:r>
                        <a:rPr kumimoji="0" lang="en-US" sz="1400" b="0" i="0" u="none" strike="noStrike" cap="none" normalizeH="0" baseline="0" dirty="0">
                          <a:ln>
                            <a:noFill/>
                          </a:ln>
                          <a:solidFill>
                            <a:schemeClr val="tx1"/>
                          </a:solidFill>
                          <a:effectLst/>
                          <a:latin typeface="Verdana" pitchFamily="34" charset="0"/>
                        </a:rPr>
                        <a:t>™, CSVDE, LDIFDE </a:t>
                      </a:r>
                    </a:p>
                  </a:txBody>
                  <a:tcPr marL="68580" marR="68580" marT="68563" marB="68563"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41156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787" y="1782719"/>
            <a:ext cx="6511529" cy="309324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2531" name="Rectangle 2"/>
          <p:cNvSpPr>
            <a:spLocks noGrp="1" noChangeArrowheads="1"/>
          </p:cNvSpPr>
          <p:nvPr>
            <p:ph type="title"/>
          </p:nvPr>
        </p:nvSpPr>
        <p:spPr/>
        <p:txBody>
          <a:bodyPr/>
          <a:lstStyle/>
          <a:p>
            <a:r>
              <a:rPr lang="en-US" altLang="nl-NL" dirty="0"/>
              <a:t>What Is a User Account Template?</a:t>
            </a:r>
          </a:p>
        </p:txBody>
      </p:sp>
      <p:sp>
        <p:nvSpPr>
          <p:cNvPr id="22532" name="Rounded Rectangle 844806"/>
          <p:cNvSpPr>
            <a:spLocks noChangeArrowheads="1"/>
          </p:cNvSpPr>
          <p:nvPr/>
        </p:nvSpPr>
        <p:spPr bwMode="auto">
          <a:xfrm>
            <a:off x="1631157" y="2121927"/>
            <a:ext cx="4374356" cy="47530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a:t>User accounts templates take advantage of similarity between user accounts</a:t>
            </a:r>
          </a:p>
        </p:txBody>
      </p:sp>
      <p:sp>
        <p:nvSpPr>
          <p:cNvPr id="22533" name="Rounded Rectangle 844808"/>
          <p:cNvSpPr>
            <a:spLocks noChangeArrowheads="1"/>
          </p:cNvSpPr>
          <p:nvPr/>
        </p:nvSpPr>
        <p:spPr bwMode="auto">
          <a:xfrm>
            <a:off x="1622822" y="2992641"/>
            <a:ext cx="5961459" cy="1527079"/>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569913" indent="-276225">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a:t>To use user templates:</a:t>
            </a:r>
          </a:p>
          <a:p>
            <a:pPr lvl="1" algn="l">
              <a:lnSpc>
                <a:spcPct val="90000"/>
              </a:lnSpc>
              <a:spcBef>
                <a:spcPct val="40000"/>
              </a:spcBef>
              <a:buSzPct val="80000"/>
              <a:buFontTx/>
              <a:buBlip>
                <a:blip r:embed="rId4"/>
              </a:buBlip>
            </a:pPr>
            <a:r>
              <a:rPr lang="en-US" altLang="nl-NL" sz="1200"/>
              <a:t>Create several typical users reflecting various groups within your organization</a:t>
            </a:r>
          </a:p>
          <a:p>
            <a:pPr lvl="1" algn="l">
              <a:lnSpc>
                <a:spcPct val="90000"/>
              </a:lnSpc>
              <a:spcBef>
                <a:spcPct val="40000"/>
              </a:spcBef>
              <a:buSzPct val="80000"/>
              <a:buFontTx/>
              <a:buBlip>
                <a:blip r:embed="rId4"/>
              </a:buBlip>
            </a:pPr>
            <a:r>
              <a:rPr lang="en-US" altLang="nl-NL" sz="1200"/>
              <a:t>Copy the user account most like the new account you want to create</a:t>
            </a:r>
          </a:p>
          <a:p>
            <a:pPr lvl="1" algn="l">
              <a:lnSpc>
                <a:spcPct val="90000"/>
              </a:lnSpc>
              <a:spcBef>
                <a:spcPct val="40000"/>
              </a:spcBef>
              <a:buSzPct val="80000"/>
              <a:buFontTx/>
              <a:buBlip>
                <a:blip r:embed="rId4"/>
              </a:buBlip>
            </a:pPr>
            <a:r>
              <a:rPr lang="en-US" altLang="nl-NL" sz="1200"/>
              <a:t>Modify the attributes: names, e-mail address, logon name, etc.</a:t>
            </a:r>
          </a:p>
        </p:txBody>
      </p:sp>
      <p:sp>
        <p:nvSpPr>
          <p:cNvPr id="22534" name="AutoShape 6"/>
          <p:cNvSpPr>
            <a:spLocks noChangeArrowheads="1"/>
          </p:cNvSpPr>
          <p:nvPr/>
        </p:nvSpPr>
        <p:spPr bwMode="auto">
          <a:xfrm>
            <a:off x="1459707" y="1043340"/>
            <a:ext cx="6298406" cy="619125"/>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a:t>A user account template is an account with common properties already configured</a:t>
            </a:r>
          </a:p>
        </p:txBody>
      </p:sp>
      <p:pic>
        <p:nvPicPr>
          <p:cNvPr id="22535"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6816" y="2125619"/>
            <a:ext cx="765572" cy="734615"/>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2536"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0122" y="1418388"/>
            <a:ext cx="800100" cy="767953"/>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2537"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1269" y="1755335"/>
            <a:ext cx="767954" cy="736997"/>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800896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Titel 1"/>
          <p:cNvSpPr>
            <a:spLocks noGrp="1"/>
          </p:cNvSpPr>
          <p:nvPr>
            <p:ph type="title"/>
          </p:nvPr>
        </p:nvSpPr>
        <p:spPr/>
        <p:txBody>
          <a:bodyPr/>
          <a:lstStyle/>
          <a:p>
            <a:r>
              <a:rPr lang="en-US" altLang="nl-NL" dirty="0"/>
              <a:t>CSVDE</a:t>
            </a:r>
          </a:p>
        </p:txBody>
      </p:sp>
      <p:sp>
        <p:nvSpPr>
          <p:cNvPr id="23555" name="AutoShape 6"/>
          <p:cNvSpPr>
            <a:spLocks noChangeArrowheads="1"/>
          </p:cNvSpPr>
          <p:nvPr/>
        </p:nvSpPr>
        <p:spPr bwMode="auto">
          <a:xfrm>
            <a:off x="1033063" y="997744"/>
            <a:ext cx="7077874" cy="442913"/>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dirty="0" err="1"/>
              <a:t>Csvde</a:t>
            </a:r>
            <a:r>
              <a:rPr lang="en-US" altLang="nl-NL" sz="1350" dirty="0"/>
              <a:t> is a command-line tool that is built into Windows Server</a:t>
            </a:r>
          </a:p>
          <a:p>
            <a:pPr algn="l"/>
            <a:endParaRPr lang="en-US" altLang="nl-NL" sz="1350" dirty="0"/>
          </a:p>
        </p:txBody>
      </p:sp>
      <p:pic>
        <p:nvPicPr>
          <p:cNvPr id="2355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063" y="1493044"/>
            <a:ext cx="7077874" cy="2437210"/>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3557" name="Rechthoek 18"/>
          <p:cNvSpPr>
            <a:spLocks noChangeArrowheads="1"/>
          </p:cNvSpPr>
          <p:nvPr/>
        </p:nvSpPr>
        <p:spPr bwMode="auto">
          <a:xfrm>
            <a:off x="1291328" y="1652588"/>
            <a:ext cx="6582283"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buFont typeface="Arial" charset="0"/>
              <a:buChar char="•"/>
            </a:pPr>
            <a:r>
              <a:rPr lang="en-US" altLang="nl-NL" sz="1350" dirty="0"/>
              <a:t> </a:t>
            </a:r>
            <a:r>
              <a:rPr lang="en-US" altLang="nl-NL" sz="1350" b="0" dirty="0"/>
              <a:t>Imports and exports data from Active Directory Domain Services using files that store data in the comma-separated value (CSV) format</a:t>
            </a:r>
          </a:p>
          <a:p>
            <a:pPr algn="l"/>
            <a:endParaRPr lang="en-US" altLang="nl-NL" sz="1350" b="0" dirty="0"/>
          </a:p>
          <a:p>
            <a:pPr algn="l">
              <a:buFont typeface="Arial" charset="0"/>
              <a:buChar char="•"/>
            </a:pPr>
            <a:r>
              <a:rPr lang="en-US" altLang="nl-NL" sz="1350" b="0" dirty="0"/>
              <a:t> </a:t>
            </a:r>
            <a:r>
              <a:rPr lang="en-US" altLang="nl-NL" sz="1350" b="0" dirty="0" err="1">
                <a:latin typeface="Consolas" panose="020B0609020204030204" pitchFamily="49" charset="0"/>
              </a:rPr>
              <a:t>csvde</a:t>
            </a:r>
            <a:r>
              <a:rPr lang="en-US" altLang="nl-NL" sz="1350" b="0" dirty="0"/>
              <a:t> command must be run from an elevated command prompt</a:t>
            </a:r>
          </a:p>
          <a:p>
            <a:pPr algn="l">
              <a:buFont typeface="Arial" charset="0"/>
              <a:buChar char="•"/>
            </a:pPr>
            <a:endParaRPr lang="en-US" altLang="nl-NL" sz="1350" b="0" dirty="0"/>
          </a:p>
          <a:p>
            <a:pPr algn="l">
              <a:buFont typeface="Arial" charset="0"/>
              <a:buChar char="•"/>
            </a:pPr>
            <a:r>
              <a:rPr lang="en-US" altLang="nl-NL" sz="1350" b="0" dirty="0">
                <a:latin typeface="Consolas" panose="020B0609020204030204" pitchFamily="49" charset="0"/>
              </a:rPr>
              <a:t> </a:t>
            </a:r>
            <a:r>
              <a:rPr lang="en-US" altLang="nl-NL" sz="1350" b="0" dirty="0" err="1">
                <a:latin typeface="Consolas" panose="020B0609020204030204" pitchFamily="49" charset="0"/>
              </a:rPr>
              <a:t>csvde</a:t>
            </a:r>
            <a:r>
              <a:rPr lang="en-US" altLang="nl-NL" sz="1350" b="0" dirty="0">
                <a:latin typeface="Consolas" panose="020B0609020204030204" pitchFamily="49" charset="0"/>
              </a:rPr>
              <a:t> -</a:t>
            </a:r>
            <a:r>
              <a:rPr lang="en-US" altLang="nl-NL" sz="1350" b="0" dirty="0" err="1">
                <a:latin typeface="Consolas" panose="020B0609020204030204" pitchFamily="49" charset="0"/>
              </a:rPr>
              <a:t>i</a:t>
            </a:r>
            <a:r>
              <a:rPr lang="en-US" altLang="nl-NL" sz="1350" b="0" dirty="0">
                <a:latin typeface="Consolas" panose="020B0609020204030204" pitchFamily="49" charset="0"/>
              </a:rPr>
              <a:t> -v -k -F users.csv</a:t>
            </a:r>
          </a:p>
          <a:p>
            <a:pPr algn="l">
              <a:buFont typeface="Arial" charset="0"/>
              <a:buChar char="•"/>
            </a:pPr>
            <a:endParaRPr lang="en-US" altLang="nl-NL" sz="1350" b="0" dirty="0"/>
          </a:p>
          <a:p>
            <a:pPr algn="l">
              <a:buFont typeface="Arial" charset="0"/>
              <a:buChar char="•"/>
            </a:pPr>
            <a:r>
              <a:rPr lang="en-US" altLang="nl-NL" sz="1350" b="0" dirty="0"/>
              <a:t> Cannot import user passwords (encrypted channel)</a:t>
            </a:r>
          </a:p>
          <a:p>
            <a:pPr algn="l"/>
            <a:endParaRPr lang="en-US" altLang="nl-NL" sz="1350" b="0" dirty="0"/>
          </a:p>
          <a:p>
            <a:pPr algn="l">
              <a:buFont typeface="Arial" charset="0"/>
              <a:buChar char="•"/>
            </a:pPr>
            <a:r>
              <a:rPr lang="en-US" altLang="nl-NL" sz="1350" b="0" dirty="0"/>
              <a:t> No editing or deleting existing objects</a:t>
            </a:r>
            <a:r>
              <a:rPr lang="en-US" altLang="nl-NL" sz="1350" dirty="0"/>
              <a:t> </a:t>
            </a:r>
          </a:p>
        </p:txBody>
      </p:sp>
      <p:pic>
        <p:nvPicPr>
          <p:cNvPr id="23558"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063" y="3958828"/>
            <a:ext cx="7077874" cy="1108472"/>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245" name="Picture 5"/>
          <p:cNvPicPr>
            <a:picLocks noChangeAspect="1" noChangeArrowheads="1"/>
          </p:cNvPicPr>
          <p:nvPr/>
        </p:nvPicPr>
        <p:blipFill>
          <a:blip r:embed="rId4" cstate="print"/>
          <a:srcRect/>
          <a:stretch>
            <a:fillRect/>
          </a:stretch>
        </p:blipFill>
        <p:spPr bwMode="auto">
          <a:xfrm>
            <a:off x="1143000" y="4078206"/>
            <a:ext cx="6858000" cy="809897"/>
          </a:xfrm>
          <a:prstGeom prst="rect">
            <a:avLst/>
          </a:prstGeom>
          <a:ln>
            <a:headEnd/>
            <a:tailEnd/>
          </a:ln>
        </p:spPr>
        <p:style>
          <a:lnRef idx="0">
            <a:schemeClr val="accent1"/>
          </a:lnRef>
          <a:fillRef idx="3">
            <a:schemeClr val="accent1"/>
          </a:fillRef>
          <a:effectRef idx="3">
            <a:schemeClr val="accent1"/>
          </a:effectRef>
          <a:fontRef idx="minor">
            <a:schemeClr val="lt1"/>
          </a:fontRef>
        </p:style>
      </p:pic>
    </p:spTree>
    <p:extLst>
      <p:ext uri="{BB962C8B-B14F-4D97-AF65-F5344CB8AC3E}">
        <p14:creationId xmlns:p14="http://schemas.microsoft.com/office/powerpoint/2010/main" val="3827617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Titel 1"/>
          <p:cNvSpPr>
            <a:spLocks noGrp="1"/>
          </p:cNvSpPr>
          <p:nvPr>
            <p:ph type="title"/>
          </p:nvPr>
        </p:nvSpPr>
        <p:spPr/>
        <p:txBody>
          <a:bodyPr/>
          <a:lstStyle/>
          <a:p>
            <a:r>
              <a:rPr lang="en-US" altLang="nl-NL" dirty="0"/>
              <a:t>LDIFDE</a:t>
            </a:r>
          </a:p>
        </p:txBody>
      </p:sp>
      <p:pic>
        <p:nvPicPr>
          <p:cNvPr id="24579"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787" y="1743075"/>
            <a:ext cx="6511529" cy="3276600"/>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4580" name="Rounded Rectangle 844806"/>
          <p:cNvSpPr>
            <a:spLocks noChangeArrowheads="1"/>
          </p:cNvSpPr>
          <p:nvPr/>
        </p:nvSpPr>
        <p:spPr bwMode="auto">
          <a:xfrm>
            <a:off x="1631156" y="1965556"/>
            <a:ext cx="5768579" cy="665891"/>
          </a:xfrm>
          <a:prstGeom prst="roundRect">
            <a:avLst>
              <a:gd name="adj" fmla="val 4167"/>
            </a:avLst>
          </a:prstGeom>
          <a:solidFill>
            <a:srgbClr val="F2E7CE"/>
          </a:solidFill>
          <a:ln w="9525" algn="ctr">
            <a:solidFill>
              <a:srgbClr val="333333"/>
            </a:solidFill>
            <a:round/>
            <a:headEnd/>
            <a:tailEnd/>
          </a:ln>
        </p:spPr>
        <p:txBody>
          <a:bodyPr anchor="ct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b="0"/>
              <a:t>A draft Internet standard for a file format that may be used for performing batch operations against directories that conform to the LDAP standards</a:t>
            </a:r>
          </a:p>
        </p:txBody>
      </p:sp>
      <p:sp>
        <p:nvSpPr>
          <p:cNvPr id="24581" name="Rounded Rectangle 844808"/>
          <p:cNvSpPr>
            <a:spLocks noChangeArrowheads="1"/>
          </p:cNvSpPr>
          <p:nvPr/>
        </p:nvSpPr>
        <p:spPr bwMode="auto">
          <a:xfrm>
            <a:off x="1622823" y="2812044"/>
            <a:ext cx="3164681" cy="1847084"/>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569913" indent="-276225">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b="0" dirty="0"/>
              <a:t>Difference</a:t>
            </a:r>
            <a:r>
              <a:rPr lang="en-US" altLang="nl-NL" sz="1350" dirty="0"/>
              <a:t>:</a:t>
            </a:r>
          </a:p>
          <a:p>
            <a:pPr marL="176213" lvl="1" indent="-127000" algn="l">
              <a:lnSpc>
                <a:spcPct val="90000"/>
              </a:lnSpc>
              <a:spcBef>
                <a:spcPct val="40000"/>
              </a:spcBef>
              <a:buSzPct val="80000"/>
              <a:buFontTx/>
              <a:buBlip>
                <a:blip r:embed="rId4"/>
              </a:buBlip>
            </a:pPr>
            <a:r>
              <a:rPr lang="en-US" altLang="nl-NL" sz="1200" b="0" dirty="0"/>
              <a:t>Cross-platform standard</a:t>
            </a:r>
          </a:p>
          <a:p>
            <a:pPr marL="176213" lvl="1" indent="-127000" algn="l">
              <a:lnSpc>
                <a:spcPct val="90000"/>
              </a:lnSpc>
              <a:spcBef>
                <a:spcPct val="40000"/>
              </a:spcBef>
              <a:buSzPct val="80000"/>
              <a:buFontTx/>
              <a:buBlip>
                <a:blip r:embed="rId4"/>
              </a:buBlip>
            </a:pPr>
            <a:r>
              <a:rPr lang="en-US" altLang="nl-NL" sz="1200" b="0" dirty="0"/>
              <a:t>Can modify existing objects and even delete objects </a:t>
            </a:r>
          </a:p>
          <a:p>
            <a:pPr marL="176213" lvl="1" indent="-127000" algn="l">
              <a:lnSpc>
                <a:spcPct val="90000"/>
              </a:lnSpc>
              <a:spcBef>
                <a:spcPct val="40000"/>
              </a:spcBef>
              <a:buSzPct val="80000"/>
              <a:buFontTx/>
              <a:buBlip>
                <a:blip r:embed="rId4"/>
              </a:buBlip>
            </a:pPr>
            <a:r>
              <a:rPr lang="en-US" altLang="nl-NL" sz="1200" b="0" dirty="0"/>
              <a:t>Doesn’t support changing Group Membership</a:t>
            </a:r>
          </a:p>
          <a:p>
            <a:pPr marL="176213" lvl="1" indent="-127000" algn="l">
              <a:lnSpc>
                <a:spcPct val="90000"/>
              </a:lnSpc>
              <a:spcBef>
                <a:spcPct val="40000"/>
              </a:spcBef>
              <a:buSzPct val="80000"/>
              <a:buFontTx/>
              <a:buBlip>
                <a:blip r:embed="rId4"/>
              </a:buBlip>
            </a:pPr>
            <a:r>
              <a:rPr lang="en-US" altLang="nl-NL" sz="1200" b="0" dirty="0"/>
              <a:t>No Passwords</a:t>
            </a:r>
          </a:p>
          <a:p>
            <a:pPr marL="176213" lvl="1" indent="-127000" algn="l">
              <a:lnSpc>
                <a:spcPct val="90000"/>
              </a:lnSpc>
              <a:spcBef>
                <a:spcPct val="40000"/>
              </a:spcBef>
              <a:buSzPct val="80000"/>
              <a:buFontTx/>
              <a:buBlip>
                <a:blip r:embed="rId4"/>
              </a:buBlip>
            </a:pPr>
            <a:r>
              <a:rPr lang="en-US" altLang="nl-NL" sz="1200" b="0" dirty="0" err="1">
                <a:latin typeface="Consolas" panose="020B0609020204030204" pitchFamily="49" charset="0"/>
              </a:rPr>
              <a:t>ldifde</a:t>
            </a:r>
            <a:r>
              <a:rPr lang="en-US" altLang="nl-NL" sz="1200" b="0" dirty="0">
                <a:latin typeface="Consolas" panose="020B0609020204030204" pitchFamily="49" charset="0"/>
              </a:rPr>
              <a:t> -</a:t>
            </a:r>
            <a:r>
              <a:rPr lang="en-US" altLang="nl-NL" sz="1200" b="0" dirty="0" err="1">
                <a:latin typeface="Consolas" panose="020B0609020204030204" pitchFamily="49" charset="0"/>
              </a:rPr>
              <a:t>i</a:t>
            </a:r>
            <a:r>
              <a:rPr lang="en-US" altLang="nl-NL" sz="1200" b="0" dirty="0">
                <a:latin typeface="Consolas" panose="020B0609020204030204" pitchFamily="49" charset="0"/>
              </a:rPr>
              <a:t> -f </a:t>
            </a:r>
            <a:r>
              <a:rPr lang="en-US" altLang="nl-NL" sz="1200" b="0" dirty="0" err="1">
                <a:latin typeface="Consolas" panose="020B0609020204030204" pitchFamily="49" charset="0"/>
              </a:rPr>
              <a:t>user.ldf</a:t>
            </a:r>
            <a:r>
              <a:rPr lang="en-US" altLang="nl-NL" sz="1200" b="0" dirty="0">
                <a:latin typeface="Consolas" panose="020B0609020204030204" pitchFamily="49" charset="0"/>
              </a:rPr>
              <a:t> -s </a:t>
            </a:r>
            <a:r>
              <a:rPr lang="en-US" altLang="nl-NL" sz="1200" b="0" i="1" dirty="0">
                <a:latin typeface="Consolas" panose="020B0609020204030204" pitchFamily="49" charset="0"/>
              </a:rPr>
              <a:t>Server2</a:t>
            </a:r>
            <a:endParaRPr lang="en-US" altLang="nl-NL" sz="1200" b="0" dirty="0">
              <a:latin typeface="Consolas" panose="020B0609020204030204" pitchFamily="49" charset="0"/>
            </a:endParaRPr>
          </a:p>
        </p:txBody>
      </p:sp>
      <p:sp>
        <p:nvSpPr>
          <p:cNvPr id="24582" name="AutoShape 6"/>
          <p:cNvSpPr>
            <a:spLocks noChangeArrowheads="1"/>
          </p:cNvSpPr>
          <p:nvPr/>
        </p:nvSpPr>
        <p:spPr bwMode="auto">
          <a:xfrm>
            <a:off x="1459707" y="944167"/>
            <a:ext cx="6298406" cy="629840"/>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endParaRPr lang="en-US" altLang="nl-NL" sz="1350" b="0"/>
          </a:p>
          <a:p>
            <a:pPr algn="l"/>
            <a:r>
              <a:rPr lang="en-US" altLang="nl-NL" sz="1350" b="0"/>
              <a:t>Commandline tool for importing and exporting objects in AD</a:t>
            </a:r>
          </a:p>
          <a:p>
            <a:pPr algn="l"/>
            <a:endParaRPr lang="en-US" altLang="nl-NL" sz="1350"/>
          </a:p>
        </p:txBody>
      </p:sp>
      <p:pic>
        <p:nvPicPr>
          <p:cNvPr id="24583"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3475" y="2870598"/>
            <a:ext cx="2759869" cy="1715690"/>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216084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Titel 1"/>
          <p:cNvSpPr>
            <a:spLocks noGrp="1"/>
          </p:cNvSpPr>
          <p:nvPr>
            <p:ph type="title"/>
          </p:nvPr>
        </p:nvSpPr>
        <p:spPr/>
        <p:txBody>
          <a:bodyPr/>
          <a:lstStyle/>
          <a:p>
            <a:r>
              <a:rPr lang="en-US" altLang="nl-NL" dirty="0"/>
              <a:t>DSADD</a:t>
            </a:r>
          </a:p>
        </p:txBody>
      </p:sp>
      <p:pic>
        <p:nvPicPr>
          <p:cNvPr id="2560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787" y="1708548"/>
            <a:ext cx="6511529" cy="254079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5604" name="Rounded Rectangle 844808"/>
          <p:cNvSpPr>
            <a:spLocks noChangeArrowheads="1"/>
          </p:cNvSpPr>
          <p:nvPr/>
        </p:nvSpPr>
        <p:spPr bwMode="auto">
          <a:xfrm>
            <a:off x="4549379" y="1851673"/>
            <a:ext cx="3156710" cy="2183559"/>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lvl1pPr marL="342900" indent="-342900">
              <a:defRPr b="1">
                <a:solidFill>
                  <a:schemeClr val="tx1"/>
                </a:solidFill>
                <a:latin typeface="Verdana" pitchFamily="34" charset="0"/>
              </a:defRPr>
            </a:lvl1pPr>
            <a:lvl2pPr marL="569913" indent="-276225">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nSpc>
                <a:spcPct val="90000"/>
              </a:lnSpc>
              <a:spcBef>
                <a:spcPct val="40000"/>
              </a:spcBef>
              <a:buSzPct val="80000"/>
              <a:buFontTx/>
              <a:buBlip>
                <a:blip r:embed="rId4"/>
              </a:buBlip>
            </a:pPr>
            <a:r>
              <a:rPr lang="en-US" altLang="nl-NL" sz="1200" b="0" dirty="0"/>
              <a:t>It is available if you have the AD DS server role installed</a:t>
            </a:r>
          </a:p>
          <a:p>
            <a:pPr>
              <a:lnSpc>
                <a:spcPct val="90000"/>
              </a:lnSpc>
              <a:spcBef>
                <a:spcPct val="40000"/>
              </a:spcBef>
              <a:buSzPct val="80000"/>
              <a:buFontTx/>
              <a:buBlip>
                <a:blip r:embed="rId4"/>
              </a:buBlip>
            </a:pPr>
            <a:r>
              <a:rPr lang="en-US" altLang="nl-NL" sz="1200" b="0" dirty="0"/>
              <a:t>Elevated command prompt</a:t>
            </a:r>
          </a:p>
          <a:p>
            <a:pPr>
              <a:lnSpc>
                <a:spcPct val="90000"/>
              </a:lnSpc>
              <a:spcBef>
                <a:spcPct val="40000"/>
              </a:spcBef>
              <a:buSzPct val="80000"/>
              <a:buFontTx/>
              <a:buBlip>
                <a:blip r:embed="rId4"/>
              </a:buBlip>
            </a:pPr>
            <a:r>
              <a:rPr lang="en-US" altLang="nl-NL" sz="1200" b="0" dirty="0"/>
              <a:t>If a value that you supply contains spaces, use quotation marks around the text.</a:t>
            </a:r>
          </a:p>
          <a:p>
            <a:pPr>
              <a:lnSpc>
                <a:spcPct val="90000"/>
              </a:lnSpc>
              <a:spcBef>
                <a:spcPct val="40000"/>
              </a:spcBef>
              <a:buSzPct val="80000"/>
              <a:buFontTx/>
              <a:buBlip>
                <a:blip r:embed="rId4"/>
              </a:buBlip>
            </a:pPr>
            <a:r>
              <a:rPr lang="en-US" altLang="nl-NL" sz="1200" b="0" dirty="0"/>
              <a:t>use the special token $username$ to replace the SAM account name in the value of the -email, -</a:t>
            </a:r>
            <a:r>
              <a:rPr lang="en-US" altLang="nl-NL" sz="1200" b="0" dirty="0" err="1"/>
              <a:t>hmdir</a:t>
            </a:r>
            <a:r>
              <a:rPr lang="en-US" altLang="nl-NL" sz="1200" b="0" dirty="0"/>
              <a:t>, -profile, and -</a:t>
            </a:r>
            <a:r>
              <a:rPr lang="en-US" altLang="nl-NL" sz="1200" b="0" dirty="0" err="1"/>
              <a:t>webpg</a:t>
            </a:r>
            <a:r>
              <a:rPr lang="en-US" altLang="nl-NL" sz="1200" b="0" dirty="0"/>
              <a:t> parameters</a:t>
            </a:r>
          </a:p>
        </p:txBody>
      </p:sp>
      <p:sp>
        <p:nvSpPr>
          <p:cNvPr id="25605" name="AutoShape 6"/>
          <p:cNvSpPr>
            <a:spLocks noChangeArrowheads="1"/>
          </p:cNvSpPr>
          <p:nvPr/>
        </p:nvSpPr>
        <p:spPr bwMode="auto">
          <a:xfrm>
            <a:off x="1347786" y="941785"/>
            <a:ext cx="6511529" cy="619125"/>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dirty="0" err="1"/>
              <a:t>Dsadd</a:t>
            </a:r>
            <a:r>
              <a:rPr lang="en-US" altLang="nl-NL" sz="1350" dirty="0"/>
              <a:t> can add the following objects to Active Directory</a:t>
            </a:r>
          </a:p>
          <a:p>
            <a:pPr lvl="1" algn="l">
              <a:buFont typeface="Arial" charset="0"/>
              <a:buChar char="•"/>
            </a:pPr>
            <a:r>
              <a:rPr lang="en-US" altLang="nl-NL" sz="1350" dirty="0"/>
              <a:t> User, OU, Group, Computer, Contact, quota</a:t>
            </a:r>
          </a:p>
        </p:txBody>
      </p:sp>
      <p:pic>
        <p:nvPicPr>
          <p:cNvPr id="2560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7110" y="4382691"/>
            <a:ext cx="5943600" cy="596503"/>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5607" name="Rounded Rectangle 844808"/>
          <p:cNvSpPr>
            <a:spLocks noChangeArrowheads="1"/>
          </p:cNvSpPr>
          <p:nvPr/>
        </p:nvSpPr>
        <p:spPr bwMode="auto">
          <a:xfrm>
            <a:off x="1502569" y="1851673"/>
            <a:ext cx="2892028" cy="2221206"/>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lvl1pPr marL="342900" indent="-342900">
              <a:defRPr b="1">
                <a:solidFill>
                  <a:schemeClr val="tx1"/>
                </a:solidFill>
                <a:latin typeface="Verdana" pitchFamily="34" charset="0"/>
              </a:defRPr>
            </a:lvl1pPr>
            <a:lvl2pPr marL="569913" indent="-276225">
              <a:defRPr b="1">
                <a:solidFill>
                  <a:schemeClr val="tx1"/>
                </a:solidFill>
                <a:latin typeface="Verdana" pitchFamily="34" charset="0"/>
              </a:defRPr>
            </a:lvl2pPr>
            <a:lvl3pPr marL="1027113" indent="-276225">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nSpc>
                <a:spcPct val="90000"/>
              </a:lnSpc>
              <a:spcBef>
                <a:spcPct val="40000"/>
              </a:spcBef>
              <a:buSzPct val="80000"/>
              <a:buFontTx/>
              <a:buBlip>
                <a:blip r:embed="rId4"/>
              </a:buBlip>
            </a:pPr>
            <a:r>
              <a:rPr lang="en-US" altLang="nl-NL" sz="1200" b="0" dirty="0"/>
              <a:t>Parameters (user):</a:t>
            </a:r>
          </a:p>
          <a:p>
            <a:pPr lvl="1">
              <a:lnSpc>
                <a:spcPct val="90000"/>
              </a:lnSpc>
              <a:spcBef>
                <a:spcPct val="40000"/>
              </a:spcBef>
              <a:buSzPct val="80000"/>
              <a:buFontTx/>
              <a:buBlip>
                <a:blip r:embed="rId4"/>
              </a:buBlip>
            </a:pPr>
            <a:r>
              <a:rPr lang="en-US" altLang="nl-NL" sz="1200" b="0" dirty="0" err="1"/>
              <a:t>UserDN</a:t>
            </a:r>
            <a:endParaRPr lang="en-US" altLang="nl-NL" sz="1200" b="0" dirty="0"/>
          </a:p>
          <a:p>
            <a:pPr lvl="1">
              <a:lnSpc>
                <a:spcPct val="90000"/>
              </a:lnSpc>
              <a:spcBef>
                <a:spcPct val="40000"/>
              </a:spcBef>
              <a:buSzPct val="80000"/>
              <a:buFontTx/>
              <a:buBlip>
                <a:blip r:embed="rId4"/>
              </a:buBlip>
            </a:pPr>
            <a:r>
              <a:rPr lang="en-US" altLang="nl-NL" sz="1200" b="0" dirty="0"/>
              <a:t>UPN</a:t>
            </a:r>
          </a:p>
          <a:p>
            <a:pPr lvl="1">
              <a:lnSpc>
                <a:spcPct val="90000"/>
              </a:lnSpc>
              <a:spcBef>
                <a:spcPct val="40000"/>
              </a:spcBef>
              <a:buSzPct val="80000"/>
              <a:buFontTx/>
              <a:buBlip>
                <a:blip r:embed="rId4"/>
              </a:buBlip>
            </a:pPr>
            <a:r>
              <a:rPr lang="en-US" altLang="nl-NL" sz="1200" b="0" dirty="0"/>
              <a:t>Password</a:t>
            </a:r>
          </a:p>
          <a:p>
            <a:pPr lvl="1">
              <a:lnSpc>
                <a:spcPct val="90000"/>
              </a:lnSpc>
              <a:spcBef>
                <a:spcPct val="40000"/>
              </a:spcBef>
              <a:buSzPct val="80000"/>
              <a:buFontTx/>
              <a:buBlip>
                <a:blip r:embed="rId4"/>
              </a:buBlip>
            </a:pPr>
            <a:r>
              <a:rPr lang="en-US" altLang="nl-NL" sz="1200" b="0" dirty="0"/>
              <a:t>Description</a:t>
            </a:r>
          </a:p>
          <a:p>
            <a:pPr lvl="1">
              <a:lnSpc>
                <a:spcPct val="90000"/>
              </a:lnSpc>
              <a:spcBef>
                <a:spcPct val="40000"/>
              </a:spcBef>
              <a:buSzPct val="80000"/>
              <a:buFontTx/>
              <a:buBlip>
                <a:blip r:embed="rId4"/>
              </a:buBlip>
            </a:pPr>
            <a:r>
              <a:rPr lang="en-US" altLang="nl-NL" sz="1200" b="0" dirty="0" err="1"/>
              <a:t>Memberof</a:t>
            </a:r>
            <a:endParaRPr lang="en-US" altLang="nl-NL" sz="1200" b="0" dirty="0"/>
          </a:p>
          <a:p>
            <a:pPr lvl="1">
              <a:lnSpc>
                <a:spcPct val="90000"/>
              </a:lnSpc>
              <a:spcBef>
                <a:spcPct val="40000"/>
              </a:spcBef>
              <a:buSzPct val="80000"/>
              <a:buFontTx/>
              <a:buBlip>
                <a:blip r:embed="rId4"/>
              </a:buBlip>
            </a:pPr>
            <a:r>
              <a:rPr lang="en-US" altLang="nl-NL" sz="1200" b="0" dirty="0" err="1"/>
              <a:t>Homedrv</a:t>
            </a:r>
            <a:r>
              <a:rPr lang="en-US" altLang="nl-NL" sz="1200" b="0" dirty="0"/>
              <a:t> / </a:t>
            </a:r>
            <a:r>
              <a:rPr lang="en-US" altLang="nl-NL" sz="1200" b="0" dirty="0" err="1"/>
              <a:t>dir</a:t>
            </a:r>
            <a:endParaRPr lang="en-US" altLang="nl-NL" sz="1200" b="0" dirty="0"/>
          </a:p>
          <a:p>
            <a:pPr lvl="1">
              <a:lnSpc>
                <a:spcPct val="90000"/>
              </a:lnSpc>
              <a:spcBef>
                <a:spcPct val="40000"/>
              </a:spcBef>
              <a:buSzPct val="80000"/>
              <a:buFontTx/>
              <a:buBlip>
                <a:blip r:embed="rId4"/>
              </a:buBlip>
            </a:pPr>
            <a:r>
              <a:rPr lang="en-US" altLang="nl-NL" sz="1200" b="0" dirty="0"/>
              <a:t>Profile</a:t>
            </a:r>
          </a:p>
          <a:p>
            <a:pPr lvl="1">
              <a:lnSpc>
                <a:spcPct val="90000"/>
              </a:lnSpc>
              <a:spcBef>
                <a:spcPct val="40000"/>
              </a:spcBef>
              <a:buSzPct val="80000"/>
              <a:buFontTx/>
              <a:buBlip>
                <a:blip r:embed="rId4"/>
              </a:buBlip>
            </a:pPr>
            <a:r>
              <a:rPr lang="en-US" altLang="nl-NL" sz="1200" b="0" dirty="0"/>
              <a:t>&lt;address&gt;</a:t>
            </a:r>
          </a:p>
        </p:txBody>
      </p:sp>
    </p:spTree>
    <p:extLst>
      <p:ext uri="{BB962C8B-B14F-4D97-AF65-F5344CB8AC3E}">
        <p14:creationId xmlns:p14="http://schemas.microsoft.com/office/powerpoint/2010/main" val="3303447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662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7431" y="1745457"/>
            <a:ext cx="5043488" cy="3251597"/>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6627" name="Titel 1"/>
          <p:cNvSpPr>
            <a:spLocks noGrp="1"/>
          </p:cNvSpPr>
          <p:nvPr>
            <p:ph type="title"/>
          </p:nvPr>
        </p:nvSpPr>
        <p:spPr/>
        <p:txBody>
          <a:bodyPr/>
          <a:lstStyle/>
          <a:p>
            <a:r>
              <a:rPr lang="en-US" altLang="nl-NL" dirty="0"/>
              <a:t>DSMOD</a:t>
            </a:r>
          </a:p>
        </p:txBody>
      </p:sp>
      <p:sp>
        <p:nvSpPr>
          <p:cNvPr id="26628" name="AutoShape 6"/>
          <p:cNvSpPr>
            <a:spLocks noChangeArrowheads="1"/>
          </p:cNvSpPr>
          <p:nvPr/>
        </p:nvSpPr>
        <p:spPr bwMode="auto">
          <a:xfrm>
            <a:off x="1459707" y="1002506"/>
            <a:ext cx="6298406" cy="619125"/>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b="0"/>
              <a:t>Dsmod modifies an existing object in AD. Objects can be:</a:t>
            </a:r>
          </a:p>
          <a:p>
            <a:pPr lvl="1" algn="l">
              <a:buFont typeface="Arial" charset="0"/>
              <a:buChar char="•"/>
            </a:pPr>
            <a:r>
              <a:rPr lang="en-US" altLang="nl-NL" sz="1350" b="0"/>
              <a:t> Computer, group, ou, user, server, …</a:t>
            </a:r>
          </a:p>
        </p:txBody>
      </p:sp>
      <p:pic>
        <p:nvPicPr>
          <p:cNvPr id="1536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069" y="3090863"/>
            <a:ext cx="6585347" cy="572691"/>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768005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8"/>
                                        </p:tgtEl>
                                        <p:attrNameLst>
                                          <p:attrName>style.visibility</p:attrName>
                                        </p:attrNameLst>
                                      </p:cBhvr>
                                      <p:to>
                                        <p:strVal val="visible"/>
                                      </p:to>
                                    </p:set>
                                    <p:anim calcmode="lin" valueType="num">
                                      <p:cBhvr additive="base">
                                        <p:cTn id="7" dur="500" fill="hold"/>
                                        <p:tgtEl>
                                          <p:spTgt spid="15368"/>
                                        </p:tgtEl>
                                        <p:attrNameLst>
                                          <p:attrName>ppt_x</p:attrName>
                                        </p:attrNameLst>
                                      </p:cBhvr>
                                      <p:tavLst>
                                        <p:tav tm="0">
                                          <p:val>
                                            <p:strVal val="#ppt_x"/>
                                          </p:val>
                                        </p:tav>
                                        <p:tav tm="100000">
                                          <p:val>
                                            <p:strVal val="#ppt_x"/>
                                          </p:val>
                                        </p:tav>
                                      </p:tavLst>
                                    </p:anim>
                                    <p:anim calcmode="lin" valueType="num">
                                      <p:cBhvr additive="base">
                                        <p:cTn id="8"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Titel 1"/>
          <p:cNvSpPr>
            <a:spLocks noGrp="1"/>
          </p:cNvSpPr>
          <p:nvPr>
            <p:ph type="title"/>
          </p:nvPr>
        </p:nvSpPr>
        <p:spPr/>
        <p:txBody>
          <a:bodyPr/>
          <a:lstStyle/>
          <a:p>
            <a:r>
              <a:rPr lang="en-US" altLang="nl-NL" dirty="0" err="1"/>
              <a:t>DSQuery</a:t>
            </a:r>
            <a:endParaRPr lang="en-US" altLang="nl-NL" dirty="0"/>
          </a:p>
        </p:txBody>
      </p:sp>
      <p:sp>
        <p:nvSpPr>
          <p:cNvPr id="27651" name="AutoShape 6"/>
          <p:cNvSpPr>
            <a:spLocks noChangeArrowheads="1"/>
          </p:cNvSpPr>
          <p:nvPr/>
        </p:nvSpPr>
        <p:spPr bwMode="auto">
          <a:xfrm>
            <a:off x="1420258" y="912067"/>
            <a:ext cx="6298406" cy="546497"/>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dirty="0"/>
              <a:t>Finds users in the directory who match the search criteria that you specify</a:t>
            </a:r>
          </a:p>
        </p:txBody>
      </p:sp>
      <p:pic>
        <p:nvPicPr>
          <p:cNvPr id="2765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773" y="1491826"/>
            <a:ext cx="4905375" cy="3582591"/>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6394" name="Picture 10"/>
          <p:cNvPicPr>
            <a:picLocks noChangeAspect="1" noChangeArrowheads="1"/>
          </p:cNvPicPr>
          <p:nvPr/>
        </p:nvPicPr>
        <p:blipFill rotWithShape="1">
          <a:blip r:embed="rId4">
            <a:extLst>
              <a:ext uri="{28A0092B-C50C-407E-A947-70E740481C1C}">
                <a14:useLocalDpi xmlns:a14="http://schemas.microsoft.com/office/drawing/2010/main" val="0"/>
              </a:ext>
            </a:extLst>
          </a:blip>
          <a:srcRect l="657"/>
          <a:stretch/>
        </p:blipFill>
        <p:spPr bwMode="auto">
          <a:xfrm>
            <a:off x="1598455" y="2371725"/>
            <a:ext cx="5981500" cy="681038"/>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76883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94"/>
                                        </p:tgtEl>
                                        <p:attrNameLst>
                                          <p:attrName>style.visibility</p:attrName>
                                        </p:attrNameLst>
                                      </p:cBhvr>
                                      <p:to>
                                        <p:strVal val="visible"/>
                                      </p:to>
                                    </p:set>
                                    <p:anim calcmode="lin" valueType="num">
                                      <p:cBhvr additive="base">
                                        <p:cTn id="7" dur="500" fill="hold"/>
                                        <p:tgtEl>
                                          <p:spTgt spid="16394"/>
                                        </p:tgtEl>
                                        <p:attrNameLst>
                                          <p:attrName>ppt_x</p:attrName>
                                        </p:attrNameLst>
                                      </p:cBhvr>
                                      <p:tavLst>
                                        <p:tav tm="0">
                                          <p:val>
                                            <p:strVal val="#ppt_x"/>
                                          </p:val>
                                        </p:tav>
                                        <p:tav tm="100000">
                                          <p:val>
                                            <p:strVal val="#ppt_x"/>
                                          </p:val>
                                        </p:tav>
                                      </p:tavLst>
                                    </p:anim>
                                    <p:anim calcmode="lin" valueType="num">
                                      <p:cBhvr additive="base">
                                        <p:cTn id="8" dur="500" fill="hold"/>
                                        <p:tgtEl>
                                          <p:spTgt spid="163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Titel 1"/>
          <p:cNvSpPr>
            <a:spLocks noGrp="1"/>
          </p:cNvSpPr>
          <p:nvPr>
            <p:ph type="title"/>
          </p:nvPr>
        </p:nvSpPr>
        <p:spPr/>
        <p:txBody>
          <a:bodyPr/>
          <a:lstStyle/>
          <a:p>
            <a:r>
              <a:rPr lang="en-US" altLang="nl-NL" dirty="0" err="1"/>
              <a:t>DSmove</a:t>
            </a:r>
            <a:endParaRPr lang="en-US" altLang="nl-NL" dirty="0"/>
          </a:p>
        </p:txBody>
      </p:sp>
      <p:sp>
        <p:nvSpPr>
          <p:cNvPr id="28675" name="AutoShape 6"/>
          <p:cNvSpPr>
            <a:spLocks noChangeArrowheads="1"/>
          </p:cNvSpPr>
          <p:nvPr/>
        </p:nvSpPr>
        <p:spPr bwMode="auto">
          <a:xfrm>
            <a:off x="1344058" y="1091842"/>
            <a:ext cx="6450806" cy="697706"/>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b="0" dirty="0"/>
              <a:t>Moves a single object, within a domain, from its current location in the directory to a new location, or renames a single object without moving it in the directory tree</a:t>
            </a:r>
          </a:p>
        </p:txBody>
      </p:sp>
      <p:pic>
        <p:nvPicPr>
          <p:cNvPr id="2867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058" y="2191668"/>
            <a:ext cx="6450806" cy="2378869"/>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007231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el 1"/>
          <p:cNvSpPr>
            <a:spLocks noGrp="1"/>
          </p:cNvSpPr>
          <p:nvPr>
            <p:ph type="title"/>
          </p:nvPr>
        </p:nvSpPr>
        <p:spPr/>
        <p:txBody>
          <a:bodyPr/>
          <a:lstStyle/>
          <a:p>
            <a:r>
              <a:rPr lang="en-US" altLang="nl-NL" dirty="0"/>
              <a:t>PowerShell</a:t>
            </a:r>
          </a:p>
        </p:txBody>
      </p:sp>
      <p:sp>
        <p:nvSpPr>
          <p:cNvPr id="29700" name="Rounded Rectangle 844808"/>
          <p:cNvSpPr>
            <a:spLocks noChangeArrowheads="1"/>
          </p:cNvSpPr>
          <p:nvPr/>
        </p:nvSpPr>
        <p:spPr bwMode="auto">
          <a:xfrm>
            <a:off x="1538287" y="1039284"/>
            <a:ext cx="6112055" cy="2880039"/>
          </a:xfrm>
          <a:prstGeom prst="roundRect">
            <a:avLst>
              <a:gd name="adj" fmla="val 4167"/>
            </a:avLst>
          </a:prstGeom>
          <a:solidFill>
            <a:srgbClr val="EAABA0"/>
          </a:solidFill>
          <a:ln w="9525" algn="ctr">
            <a:solidFill>
              <a:srgbClr val="333333"/>
            </a:solidFill>
            <a:round/>
            <a:headEnd/>
            <a:tailEnd/>
          </a:ln>
        </p:spPr>
        <p:txBody>
          <a:bodyPr wrap="square" anchor="ctr">
            <a:spAutoFit/>
          </a:bodyPr>
          <a:lstStyle>
            <a:lvl1pPr marL="228600" indent="-228600">
              <a:defRPr b="1">
                <a:solidFill>
                  <a:schemeClr val="tx1"/>
                </a:solidFill>
                <a:latin typeface="Verdana" pitchFamily="34" charset="0"/>
              </a:defRPr>
            </a:lvl1pPr>
            <a:lvl2pPr marL="569913" indent="-276225">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endParaRPr lang="en-US" altLang="nl-NL" sz="1200" dirty="0"/>
          </a:p>
          <a:p>
            <a:pPr lvl="1" algn="l">
              <a:lnSpc>
                <a:spcPct val="90000"/>
              </a:lnSpc>
              <a:spcBef>
                <a:spcPct val="40000"/>
              </a:spcBef>
              <a:buSzPct val="80000"/>
              <a:buFontTx/>
              <a:buBlip>
                <a:blip r:embed="rId3"/>
              </a:buBlip>
            </a:pPr>
            <a:r>
              <a:rPr lang="en-US" altLang="nl-NL" sz="1200" b="0" dirty="0" err="1"/>
              <a:t>Bijvoorbeeld</a:t>
            </a:r>
            <a:r>
              <a:rPr lang="en-US" altLang="nl-NL" sz="1200" b="0" dirty="0"/>
              <a:t>: </a:t>
            </a:r>
            <a:r>
              <a:rPr lang="en-US" altLang="nl-NL" sz="1200" b="0" dirty="0" err="1"/>
              <a:t>Maak</a:t>
            </a:r>
            <a:r>
              <a:rPr lang="en-US" altLang="nl-NL" sz="1200" b="0" dirty="0"/>
              <a:t> </a:t>
            </a:r>
            <a:r>
              <a:rPr lang="en-US" altLang="nl-NL" sz="1200" b="0" dirty="0" err="1"/>
              <a:t>een</a:t>
            </a:r>
            <a:r>
              <a:rPr lang="en-US" altLang="nl-NL" sz="1200" b="0" dirty="0"/>
              <a:t> OU en </a:t>
            </a:r>
            <a:r>
              <a:rPr lang="en-US" altLang="nl-NL" sz="1200" b="0" dirty="0" err="1"/>
              <a:t>importeer</a:t>
            </a:r>
            <a:r>
              <a:rPr lang="en-US" altLang="nl-NL" sz="1200" b="0" dirty="0"/>
              <a:t> </a:t>
            </a:r>
            <a:r>
              <a:rPr lang="en-US" altLang="nl-NL" sz="1200" b="0" dirty="0" err="1"/>
              <a:t>daarna</a:t>
            </a:r>
            <a:r>
              <a:rPr lang="en-US" altLang="nl-NL" sz="1200" b="0" dirty="0"/>
              <a:t> je </a:t>
            </a:r>
            <a:r>
              <a:rPr lang="en-US" altLang="nl-NL" sz="1200" b="0" dirty="0" err="1"/>
              <a:t>gebruikers</a:t>
            </a:r>
            <a:r>
              <a:rPr lang="en-US" altLang="nl-NL" sz="1200" b="0" dirty="0"/>
              <a:t> met </a:t>
            </a:r>
            <a:r>
              <a:rPr lang="en-US" altLang="nl-NL" sz="1200" b="0" dirty="0" err="1"/>
              <a:t>wachtwoord</a:t>
            </a:r>
            <a:r>
              <a:rPr lang="en-US" altLang="nl-NL" sz="1200" b="0" dirty="0"/>
              <a:t> en enabled:</a:t>
            </a:r>
          </a:p>
          <a:p>
            <a:pPr lvl="1" algn="l">
              <a:lnSpc>
                <a:spcPct val="90000"/>
              </a:lnSpc>
              <a:spcBef>
                <a:spcPct val="40000"/>
              </a:spcBef>
              <a:buSzPct val="80000"/>
              <a:buFontTx/>
              <a:buBlip>
                <a:blip r:embed="rId3"/>
              </a:buBlip>
            </a:pPr>
            <a:endParaRPr lang="en-US" altLang="nl-NL" sz="1200" b="0" dirty="0"/>
          </a:p>
          <a:p>
            <a:pPr lvl="1" algn="l">
              <a:lnSpc>
                <a:spcPct val="90000"/>
              </a:lnSpc>
              <a:spcBef>
                <a:spcPct val="40000"/>
              </a:spcBef>
              <a:buSzPct val="80000"/>
              <a:buFontTx/>
              <a:buBlip>
                <a:blip r:embed="rId3"/>
              </a:buBlip>
            </a:pPr>
            <a:endParaRPr lang="en-US" altLang="nl-NL" sz="1200" b="0" dirty="0"/>
          </a:p>
          <a:p>
            <a:pPr marL="793353" lvl="2" indent="0">
              <a:lnSpc>
                <a:spcPct val="90000"/>
              </a:lnSpc>
              <a:spcBef>
                <a:spcPct val="40000"/>
              </a:spcBef>
              <a:buSzPct val="80000"/>
            </a:pPr>
            <a:r>
              <a:rPr lang="en-US" altLang="nl-NL" sz="1500" b="0" dirty="0">
                <a:latin typeface="Consolas" panose="020B0609020204030204" pitchFamily="49" charset="0"/>
                <a:cs typeface="Courier New" panose="02070309020205020404" pitchFamily="49" charset="0"/>
              </a:rPr>
              <a:t>Install-</a:t>
            </a:r>
            <a:r>
              <a:rPr lang="en-US" altLang="nl-NL" sz="1500" b="0" dirty="0" err="1">
                <a:latin typeface="Consolas" panose="020B0609020204030204" pitchFamily="49" charset="0"/>
                <a:cs typeface="Courier New" panose="02070309020205020404" pitchFamily="49" charset="0"/>
              </a:rPr>
              <a:t>WindowsFeature</a:t>
            </a:r>
            <a:r>
              <a:rPr lang="en-US" altLang="nl-NL" sz="1500" b="0" dirty="0">
                <a:latin typeface="Consolas" panose="020B0609020204030204" pitchFamily="49" charset="0"/>
                <a:cs typeface="Courier New" panose="02070309020205020404" pitchFamily="49" charset="0"/>
              </a:rPr>
              <a:t> </a:t>
            </a:r>
            <a:r>
              <a:rPr lang="en-US" altLang="nl-NL" sz="1500" b="0" dirty="0" err="1">
                <a:latin typeface="Consolas" panose="020B0609020204030204" pitchFamily="49" charset="0"/>
                <a:cs typeface="Courier New" panose="02070309020205020404" pitchFamily="49" charset="0"/>
              </a:rPr>
              <a:t>rsat</a:t>
            </a:r>
            <a:r>
              <a:rPr lang="en-US" altLang="nl-NL" sz="1500" b="0" dirty="0">
                <a:latin typeface="Consolas" panose="020B0609020204030204" pitchFamily="49" charset="0"/>
                <a:cs typeface="Courier New" panose="02070309020205020404" pitchFamily="49" charset="0"/>
              </a:rPr>
              <a:t>-adds</a:t>
            </a:r>
          </a:p>
          <a:p>
            <a:pPr marL="793353" lvl="2" indent="0">
              <a:lnSpc>
                <a:spcPct val="90000"/>
              </a:lnSpc>
              <a:spcBef>
                <a:spcPct val="40000"/>
              </a:spcBef>
              <a:buSzPct val="80000"/>
            </a:pPr>
            <a:r>
              <a:rPr lang="en-US" altLang="nl-NL" sz="1500" b="0" dirty="0">
                <a:latin typeface="Consolas" panose="020B0609020204030204" pitchFamily="49" charset="0"/>
                <a:cs typeface="Courier New" panose="02070309020205020404" pitchFamily="49" charset="0"/>
              </a:rPr>
              <a:t>New-</a:t>
            </a:r>
            <a:r>
              <a:rPr lang="en-US" altLang="nl-NL" sz="1500" b="0" dirty="0" err="1">
                <a:latin typeface="Consolas" panose="020B0609020204030204" pitchFamily="49" charset="0"/>
                <a:cs typeface="Courier New" panose="02070309020205020404" pitchFamily="49" charset="0"/>
              </a:rPr>
              <a:t>ADOrganizationalUnit</a:t>
            </a:r>
            <a:r>
              <a:rPr lang="en-US" altLang="nl-NL" sz="1500" b="0" dirty="0">
                <a:latin typeface="Consolas" panose="020B0609020204030204" pitchFamily="49" charset="0"/>
                <a:cs typeface="Courier New" panose="02070309020205020404" pitchFamily="49" charset="0"/>
              </a:rPr>
              <a:t> </a:t>
            </a:r>
            <a:r>
              <a:rPr lang="en-US" altLang="nl-NL" sz="1500" b="0" dirty="0" err="1">
                <a:latin typeface="Consolas" panose="020B0609020204030204" pitchFamily="49" charset="0"/>
                <a:cs typeface="Courier New" panose="02070309020205020404" pitchFamily="49" charset="0"/>
              </a:rPr>
              <a:t>studenten</a:t>
            </a:r>
            <a:endParaRPr lang="en-US" altLang="nl-NL" sz="1500" b="0" dirty="0">
              <a:latin typeface="Consolas" panose="020B0609020204030204" pitchFamily="49" charset="0"/>
              <a:cs typeface="Courier New" panose="02070309020205020404" pitchFamily="49" charset="0"/>
            </a:endParaRPr>
          </a:p>
          <a:p>
            <a:pPr marL="793353" lvl="2" indent="0">
              <a:lnSpc>
                <a:spcPct val="90000"/>
              </a:lnSpc>
              <a:spcBef>
                <a:spcPct val="40000"/>
              </a:spcBef>
              <a:buSzPct val="80000"/>
            </a:pPr>
            <a:r>
              <a:rPr lang="en-US" altLang="nl-NL" sz="1500" b="0" dirty="0">
                <a:latin typeface="Consolas" panose="020B0609020204030204" pitchFamily="49" charset="0"/>
                <a:cs typeface="Courier New" panose="02070309020205020404" pitchFamily="49" charset="0"/>
              </a:rPr>
              <a:t>import-</a:t>
            </a:r>
            <a:r>
              <a:rPr lang="en-US" altLang="nl-NL" sz="1500" b="0" dirty="0" err="1">
                <a:latin typeface="Consolas" panose="020B0609020204030204" pitchFamily="49" charset="0"/>
                <a:cs typeface="Courier New" panose="02070309020205020404" pitchFamily="49" charset="0"/>
              </a:rPr>
              <a:t>csv</a:t>
            </a:r>
            <a:r>
              <a:rPr lang="en-US" altLang="nl-NL" sz="1500" b="0" dirty="0">
                <a:latin typeface="Consolas" panose="020B0609020204030204" pitchFamily="49" charset="0"/>
                <a:cs typeface="Courier New" panose="02070309020205020404" pitchFamily="49" charset="0"/>
              </a:rPr>
              <a:t> c:\powershell\source\users.csv | </a:t>
            </a:r>
          </a:p>
          <a:p>
            <a:pPr marL="793353" lvl="2" indent="0">
              <a:lnSpc>
                <a:spcPct val="90000"/>
              </a:lnSpc>
              <a:spcBef>
                <a:spcPct val="40000"/>
              </a:spcBef>
              <a:buSzPct val="80000"/>
            </a:pPr>
            <a:r>
              <a:rPr lang="en-US" altLang="nl-NL" sz="1500" b="0" dirty="0">
                <a:latin typeface="Consolas" panose="020B0609020204030204" pitchFamily="49" charset="0"/>
                <a:cs typeface="Courier New" panose="02070309020205020404" pitchFamily="49" charset="0"/>
              </a:rPr>
              <a:t>	New-</a:t>
            </a:r>
            <a:r>
              <a:rPr lang="en-US" altLang="nl-NL" sz="1500" b="0" dirty="0" err="1">
                <a:latin typeface="Consolas" panose="020B0609020204030204" pitchFamily="49" charset="0"/>
                <a:cs typeface="Courier New" panose="02070309020205020404" pitchFamily="49" charset="0"/>
              </a:rPr>
              <a:t>ADUser</a:t>
            </a:r>
            <a:endParaRPr lang="en-US" altLang="nl-NL" sz="1500" b="0" dirty="0">
              <a:latin typeface="Consolas" panose="020B0609020204030204" pitchFamily="49" charset="0"/>
              <a:cs typeface="Courier New" panose="02070309020205020404" pitchFamily="49" charset="0"/>
            </a:endParaRPr>
          </a:p>
          <a:p>
            <a:pPr lvl="1" algn="l">
              <a:lnSpc>
                <a:spcPct val="90000"/>
              </a:lnSpc>
              <a:spcBef>
                <a:spcPct val="40000"/>
              </a:spcBef>
              <a:buSzPct val="80000"/>
              <a:buFontTx/>
              <a:buBlip>
                <a:blip r:embed="rId3"/>
              </a:buBlip>
            </a:pPr>
            <a:endParaRPr lang="en-US" altLang="nl-NL" sz="1200" b="0" dirty="0"/>
          </a:p>
          <a:p>
            <a:pPr lvl="1" algn="l">
              <a:lnSpc>
                <a:spcPct val="90000"/>
              </a:lnSpc>
              <a:spcBef>
                <a:spcPct val="40000"/>
              </a:spcBef>
              <a:buSzPct val="80000"/>
              <a:buFontTx/>
              <a:buBlip>
                <a:blip r:embed="rId3"/>
              </a:buBlip>
            </a:pPr>
            <a:endParaRPr lang="en-US" altLang="nl-NL" sz="1200" dirty="0"/>
          </a:p>
        </p:txBody>
      </p:sp>
    </p:spTree>
    <p:extLst>
      <p:ext uri="{BB962C8B-B14F-4D97-AF65-F5344CB8AC3E}">
        <p14:creationId xmlns:p14="http://schemas.microsoft.com/office/powerpoint/2010/main" val="2623427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el 1"/>
          <p:cNvSpPr>
            <a:spLocks noGrp="1"/>
          </p:cNvSpPr>
          <p:nvPr>
            <p:ph type="title"/>
          </p:nvPr>
        </p:nvSpPr>
        <p:spPr/>
        <p:txBody>
          <a:bodyPr/>
          <a:lstStyle/>
          <a:p>
            <a:r>
              <a:rPr lang="en-US" altLang="nl-NL" dirty="0" err="1"/>
              <a:t>Homefolders</a:t>
            </a:r>
            <a:endParaRPr lang="en-US" altLang="nl-NL" dirty="0"/>
          </a:p>
        </p:txBody>
      </p:sp>
      <p:pic>
        <p:nvPicPr>
          <p:cNvPr id="30723"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787" y="1885950"/>
            <a:ext cx="6511529" cy="309324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0724" name="Rounded Rectangle 844806"/>
          <p:cNvSpPr>
            <a:spLocks noChangeArrowheads="1"/>
          </p:cNvSpPr>
          <p:nvPr/>
        </p:nvSpPr>
        <p:spPr bwMode="auto">
          <a:xfrm>
            <a:off x="1551385" y="2129822"/>
            <a:ext cx="5967413" cy="560007"/>
          </a:xfrm>
          <a:prstGeom prst="roundRect">
            <a:avLst>
              <a:gd name="adj" fmla="val 4167"/>
            </a:avLst>
          </a:prstGeom>
          <a:solidFill>
            <a:srgbClr val="F2E7CE"/>
          </a:solidFill>
          <a:ln w="9525" algn="ctr">
            <a:solidFill>
              <a:srgbClr val="333333"/>
            </a:solidFill>
            <a:round/>
            <a:headEnd/>
            <a:tailEnd/>
          </a:ln>
        </p:spPr>
        <p:txBody>
          <a:bodyPr anchor="ctr">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b="0"/>
              <a:t>Can be stored on client computer or on a file server</a:t>
            </a:r>
          </a:p>
          <a:p>
            <a:pPr algn="l">
              <a:lnSpc>
                <a:spcPct val="90000"/>
              </a:lnSpc>
              <a:spcBef>
                <a:spcPct val="40000"/>
              </a:spcBef>
              <a:buSzPct val="80000"/>
            </a:pPr>
            <a:r>
              <a:rPr lang="en-US" altLang="nl-NL" sz="1350" b="0"/>
              <a:t>It’s not part of a profile so size doesn’t effect network traffic</a:t>
            </a:r>
          </a:p>
        </p:txBody>
      </p:sp>
      <p:sp>
        <p:nvSpPr>
          <p:cNvPr id="30725" name="Rounded Rectangle 844808"/>
          <p:cNvSpPr>
            <a:spLocks noChangeArrowheads="1"/>
          </p:cNvSpPr>
          <p:nvPr/>
        </p:nvSpPr>
        <p:spPr bwMode="auto">
          <a:xfrm>
            <a:off x="1571625" y="2853817"/>
            <a:ext cx="5961460" cy="774128"/>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569913" indent="-276225">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pPr>
            <a:r>
              <a:rPr lang="en-US" altLang="nl-NL" sz="1350" b="0"/>
              <a:t>Advantages:</a:t>
            </a:r>
          </a:p>
          <a:p>
            <a:pPr lvl="1" algn="l">
              <a:lnSpc>
                <a:spcPct val="90000"/>
              </a:lnSpc>
              <a:spcBef>
                <a:spcPct val="40000"/>
              </a:spcBef>
              <a:buSzPct val="80000"/>
              <a:buFontTx/>
              <a:buBlip>
                <a:blip r:embed="rId4"/>
              </a:buBlip>
            </a:pPr>
            <a:r>
              <a:rPr lang="en-US" altLang="nl-NL" sz="1200" b="0"/>
              <a:t>Gain access to files from any client</a:t>
            </a:r>
          </a:p>
          <a:p>
            <a:pPr lvl="1" algn="l">
              <a:lnSpc>
                <a:spcPct val="90000"/>
              </a:lnSpc>
              <a:spcBef>
                <a:spcPct val="40000"/>
              </a:spcBef>
              <a:buSzPct val="80000"/>
              <a:buFontTx/>
              <a:buBlip>
                <a:blip r:embed="rId4"/>
              </a:buBlip>
            </a:pPr>
            <a:r>
              <a:rPr lang="en-US" altLang="nl-NL" sz="1200" b="0"/>
              <a:t>Centralized Backup</a:t>
            </a:r>
            <a:endParaRPr lang="en-US" altLang="nl-NL" sz="1200"/>
          </a:p>
        </p:txBody>
      </p:sp>
      <p:sp>
        <p:nvSpPr>
          <p:cNvPr id="30726" name="AutoShape 6"/>
          <p:cNvSpPr>
            <a:spLocks noChangeArrowheads="1"/>
          </p:cNvSpPr>
          <p:nvPr/>
        </p:nvSpPr>
        <p:spPr bwMode="auto">
          <a:xfrm>
            <a:off x="1459707" y="1135856"/>
            <a:ext cx="6298406" cy="619125"/>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b="0"/>
              <a:t>Home folder is an additional folder that can be used to store personal documents</a:t>
            </a:r>
          </a:p>
        </p:txBody>
      </p:sp>
      <p:pic>
        <p:nvPicPr>
          <p:cNvPr id="3" name="Picture 2"/>
          <p:cNvPicPr>
            <a:picLocks noChangeAspect="1"/>
          </p:cNvPicPr>
          <p:nvPr/>
        </p:nvPicPr>
        <p:blipFill rotWithShape="1">
          <a:blip r:embed="rId5"/>
          <a:srcRect t="36560" b="45142"/>
          <a:stretch/>
        </p:blipFill>
        <p:spPr>
          <a:xfrm>
            <a:off x="3618310" y="3758914"/>
            <a:ext cx="3914775" cy="937648"/>
          </a:xfrm>
          <a:prstGeom prst="rect">
            <a:avLst/>
          </a:prstGeom>
        </p:spPr>
      </p:pic>
    </p:spTree>
    <p:extLst>
      <p:ext uri="{BB962C8B-B14F-4D97-AF65-F5344CB8AC3E}">
        <p14:creationId xmlns:p14="http://schemas.microsoft.com/office/powerpoint/2010/main" val="64577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p:cNvSpPr>
            <a:spLocks noGrp="1"/>
          </p:cNvSpPr>
          <p:nvPr>
            <p:ph type="title"/>
          </p:nvPr>
        </p:nvSpPr>
        <p:spPr/>
        <p:txBody>
          <a:bodyPr/>
          <a:lstStyle/>
          <a:p>
            <a:r>
              <a:rPr lang="en-US" altLang="nl-NL" dirty="0"/>
              <a:t>Profile</a:t>
            </a:r>
          </a:p>
        </p:txBody>
      </p:sp>
      <p:pic>
        <p:nvPicPr>
          <p:cNvPr id="31747"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353" y="1863328"/>
            <a:ext cx="6511529" cy="309324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1748" name="AutoShape 6"/>
          <p:cNvSpPr>
            <a:spLocks noChangeArrowheads="1"/>
          </p:cNvSpPr>
          <p:nvPr/>
        </p:nvSpPr>
        <p:spPr bwMode="auto">
          <a:xfrm>
            <a:off x="1413273" y="1010841"/>
            <a:ext cx="6298406" cy="619125"/>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b="0" dirty="0"/>
              <a:t>Collection of folders and data of the user’s current desktop environment, application settings and personal data.</a:t>
            </a:r>
          </a:p>
        </p:txBody>
      </p:sp>
      <p:sp>
        <p:nvSpPr>
          <p:cNvPr id="31749" name="Rounded Rectangle 844808"/>
          <p:cNvSpPr>
            <a:spLocks noChangeArrowheads="1"/>
          </p:cNvSpPr>
          <p:nvPr/>
        </p:nvSpPr>
        <p:spPr bwMode="auto">
          <a:xfrm>
            <a:off x="1540670" y="2167526"/>
            <a:ext cx="2627709" cy="1385901"/>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342900" indent="-342900">
              <a:defRPr b="1">
                <a:solidFill>
                  <a:schemeClr val="tx1"/>
                </a:solidFill>
                <a:latin typeface="Verdana" pitchFamily="34" charset="0"/>
              </a:defRPr>
            </a:lvl1pPr>
            <a:lvl2pPr marL="466725" indent="-242888">
              <a:defRPr b="1">
                <a:solidFill>
                  <a:schemeClr val="tx1"/>
                </a:solidFill>
                <a:latin typeface="Verdana" pitchFamily="34" charset="0"/>
              </a:defRPr>
            </a:lvl2pPr>
            <a:lvl3pPr marL="923925" indent="-242888">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1" algn="l">
              <a:lnSpc>
                <a:spcPct val="90000"/>
              </a:lnSpc>
              <a:spcBef>
                <a:spcPct val="40000"/>
              </a:spcBef>
              <a:buSzPct val="80000"/>
              <a:buFontTx/>
              <a:buBlip>
                <a:blip r:embed="rId4"/>
              </a:buBlip>
            </a:pPr>
            <a:r>
              <a:rPr lang="en-US" altLang="nl-NL" sz="1350"/>
              <a:t>Three types:</a:t>
            </a:r>
          </a:p>
          <a:p>
            <a:pPr lvl="2" algn="l">
              <a:lnSpc>
                <a:spcPct val="90000"/>
              </a:lnSpc>
              <a:spcBef>
                <a:spcPct val="40000"/>
              </a:spcBef>
              <a:buSzPct val="80000"/>
              <a:buFontTx/>
              <a:buBlip>
                <a:blip r:embed="rId4"/>
              </a:buBlip>
            </a:pPr>
            <a:r>
              <a:rPr lang="en-US" altLang="nl-NL" sz="1350"/>
              <a:t>Local</a:t>
            </a:r>
          </a:p>
          <a:p>
            <a:pPr lvl="2" algn="l">
              <a:lnSpc>
                <a:spcPct val="90000"/>
              </a:lnSpc>
              <a:spcBef>
                <a:spcPct val="40000"/>
              </a:spcBef>
              <a:buSzPct val="80000"/>
              <a:buFontTx/>
              <a:buBlip>
                <a:blip r:embed="rId4"/>
              </a:buBlip>
            </a:pPr>
            <a:r>
              <a:rPr lang="en-US" altLang="nl-NL" sz="1350"/>
              <a:t>Roaming</a:t>
            </a:r>
          </a:p>
          <a:p>
            <a:pPr lvl="2" algn="l">
              <a:lnSpc>
                <a:spcPct val="90000"/>
              </a:lnSpc>
              <a:spcBef>
                <a:spcPct val="40000"/>
              </a:spcBef>
              <a:buSzPct val="80000"/>
              <a:buFontTx/>
              <a:buBlip>
                <a:blip r:embed="rId4"/>
              </a:buBlip>
            </a:pPr>
            <a:r>
              <a:rPr lang="en-US" altLang="nl-NL" sz="1350"/>
              <a:t>Mandatory</a:t>
            </a:r>
          </a:p>
          <a:p>
            <a:pPr lvl="1" algn="l">
              <a:lnSpc>
                <a:spcPct val="90000"/>
              </a:lnSpc>
              <a:spcBef>
                <a:spcPct val="40000"/>
              </a:spcBef>
              <a:buSzPct val="80000"/>
            </a:pPr>
            <a:endParaRPr lang="en-US" altLang="nl-NL" sz="1350"/>
          </a:p>
        </p:txBody>
      </p:sp>
      <p:pic>
        <p:nvPicPr>
          <p:cNvPr id="31750"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b="40943"/>
          <a:stretch/>
        </p:blipFill>
        <p:spPr bwMode="auto">
          <a:xfrm>
            <a:off x="4407696" y="2167526"/>
            <a:ext cx="3132257" cy="2421407"/>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1751" name="Picture 7">
            <a:hlinkClick r:id="rId6"/>
          </p:cNvPr>
          <p:cNvPicPr>
            <a:picLocks noChangeAspect="1" noChangeArrowheads="1"/>
          </p:cNvPicPr>
          <p:nvPr/>
        </p:nvPicPr>
        <p:blipFill rotWithShape="1">
          <a:blip r:embed="rId7"/>
          <a:srcRect t="60" r="26211" b="52405"/>
          <a:stretch/>
        </p:blipFill>
        <p:spPr bwMode="auto">
          <a:xfrm>
            <a:off x="1028222" y="1812835"/>
            <a:ext cx="7087556" cy="333066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gradFill rotWithShape="1">
                  <a:gsLst>
                    <a:gs pos="0">
                      <a:srgbClr val="E4CD9A"/>
                    </a:gs>
                    <a:gs pos="100000">
                      <a:srgbClr val="EEEFD7"/>
                    </a:gs>
                  </a:gsLst>
                  <a:lin ang="2700000" scaled="1"/>
                </a:gradFill>
              </a14:hiddenFill>
            </a:ext>
            <a:ext uri="{91240B29-F687-4F45-9708-019B960494DF}">
              <a14:hiddenLine xmlns:a14="http://schemas.microsoft.com/office/drawing/2010/main" w="9525" algn="ctr">
                <a:solidFill>
                  <a:srgbClr val="4D4D4D"/>
                </a:solidFill>
                <a:miter lim="800000"/>
                <a:headEnd/>
                <a:tailEnd/>
              </a14:hiddenLine>
            </a:ext>
          </a:extLst>
        </p:spPr>
      </p:pic>
    </p:spTree>
    <p:extLst>
      <p:ext uri="{BB962C8B-B14F-4D97-AF65-F5344CB8AC3E}">
        <p14:creationId xmlns:p14="http://schemas.microsoft.com/office/powerpoint/2010/main" val="798623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3"/>
          <p:cNvSpPr>
            <a:spLocks noChangeArrowheads="1"/>
          </p:cNvSpPr>
          <p:nvPr/>
        </p:nvSpPr>
        <p:spPr bwMode="auto">
          <a:xfrm>
            <a:off x="1418035" y="2822973"/>
            <a:ext cx="6346031" cy="2120503"/>
          </a:xfrm>
          <a:prstGeom prst="roundRect">
            <a:avLst>
              <a:gd name="adj" fmla="val 4167"/>
            </a:avLst>
          </a:prstGeom>
          <a:solidFill>
            <a:srgbClr val="DEE7F1"/>
          </a:solidFill>
          <a:ln w="9525" algn="ctr">
            <a:solidFill>
              <a:srgbClr val="333333"/>
            </a:solidFill>
            <a:round/>
            <a:headEnd/>
            <a:tailEnd/>
          </a:ln>
        </p:spPr>
        <p:txBody>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Clr>
                <a:srgbClr val="8DACD0"/>
              </a:buClr>
              <a:buSzPct val="70000"/>
              <a:buFont typeface="Wingdings" pitchFamily="2" charset="2"/>
              <a:buNone/>
            </a:pPr>
            <a:r>
              <a:rPr lang="en-US" altLang="nl-NL" sz="1500"/>
              <a:t>Computer accounts:</a:t>
            </a:r>
          </a:p>
        </p:txBody>
      </p:sp>
      <p:sp>
        <p:nvSpPr>
          <p:cNvPr id="32771" name="Rectangle 2"/>
          <p:cNvSpPr>
            <a:spLocks noGrp="1" noChangeArrowheads="1"/>
          </p:cNvSpPr>
          <p:nvPr>
            <p:ph type="title"/>
          </p:nvPr>
        </p:nvSpPr>
        <p:spPr/>
        <p:txBody>
          <a:bodyPr/>
          <a:lstStyle/>
          <a:p>
            <a:pPr eaLnBrk="1" hangingPunct="1"/>
            <a:r>
              <a:rPr lang="en-US" altLang="nl-NL" dirty="0"/>
              <a:t>What Is a Computer Account?</a:t>
            </a:r>
          </a:p>
        </p:txBody>
      </p:sp>
      <p:sp>
        <p:nvSpPr>
          <p:cNvPr id="32772" name="Rounded Rectangle 844808"/>
          <p:cNvSpPr>
            <a:spLocks noChangeArrowheads="1"/>
          </p:cNvSpPr>
          <p:nvPr/>
        </p:nvSpPr>
        <p:spPr bwMode="auto">
          <a:xfrm>
            <a:off x="1587104" y="3221756"/>
            <a:ext cx="5951934" cy="28471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342900" indent="-342900">
              <a:defRPr b="1">
                <a:solidFill>
                  <a:schemeClr val="tx1"/>
                </a:solidFill>
                <a:latin typeface="Verdana" pitchFamily="34" charset="0"/>
              </a:defRPr>
            </a:lvl1pPr>
            <a:lvl2pPr marL="466725" indent="-242888">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1" algn="l">
              <a:lnSpc>
                <a:spcPct val="90000"/>
              </a:lnSpc>
              <a:spcBef>
                <a:spcPct val="40000"/>
              </a:spcBef>
              <a:buSzPct val="80000"/>
              <a:buFontTx/>
              <a:buBlip>
                <a:blip r:embed="rId3"/>
              </a:buBlip>
            </a:pPr>
            <a:r>
              <a:rPr lang="en-US" altLang="nl-NL" sz="1350"/>
              <a:t>Are required for authentication and auditing</a:t>
            </a:r>
          </a:p>
        </p:txBody>
      </p:sp>
      <p:sp>
        <p:nvSpPr>
          <p:cNvPr id="32773" name="AutoShape 6"/>
          <p:cNvSpPr>
            <a:spLocks noChangeArrowheads="1"/>
          </p:cNvSpPr>
          <p:nvPr/>
        </p:nvSpPr>
        <p:spPr bwMode="auto">
          <a:xfrm>
            <a:off x="1408510" y="1570435"/>
            <a:ext cx="6354365" cy="859631"/>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a:t>A computer account is an object in </a:t>
            </a:r>
          </a:p>
          <a:p>
            <a:pPr algn="l"/>
            <a:r>
              <a:rPr lang="en-US" altLang="nl-NL" sz="1350"/>
              <a:t>AD DS that identifies a computer </a:t>
            </a:r>
          </a:p>
          <a:p>
            <a:pPr algn="l"/>
            <a:r>
              <a:rPr lang="en-US" altLang="nl-NL" sz="1350"/>
              <a:t>in a domain</a:t>
            </a:r>
          </a:p>
        </p:txBody>
      </p:sp>
      <p:pic>
        <p:nvPicPr>
          <p:cNvPr id="3277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994" y="1490662"/>
            <a:ext cx="1344216" cy="1185863"/>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277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5488" y="1874044"/>
            <a:ext cx="1058466" cy="629841"/>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2776" name="Picture 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148388" y="1903810"/>
            <a:ext cx="460772" cy="561975"/>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2777" name="Rounded Rectangle 844808"/>
          <p:cNvSpPr>
            <a:spLocks noChangeArrowheads="1"/>
          </p:cNvSpPr>
          <p:nvPr/>
        </p:nvSpPr>
        <p:spPr bwMode="auto">
          <a:xfrm>
            <a:off x="1587104" y="3686100"/>
            <a:ext cx="5953125" cy="28471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342900" indent="-342900">
              <a:defRPr b="1">
                <a:solidFill>
                  <a:schemeClr val="tx1"/>
                </a:solidFill>
                <a:latin typeface="Verdana" pitchFamily="34" charset="0"/>
              </a:defRPr>
            </a:lvl1pPr>
            <a:lvl2pPr marL="466725" indent="-242888">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1" algn="l">
              <a:lnSpc>
                <a:spcPct val="90000"/>
              </a:lnSpc>
              <a:spcBef>
                <a:spcPct val="40000"/>
              </a:spcBef>
              <a:buSzPct val="80000"/>
              <a:buFontTx/>
              <a:buBlip>
                <a:blip r:embed="rId3"/>
              </a:buBlip>
            </a:pPr>
            <a:r>
              <a:rPr lang="en-US" altLang="nl-NL" sz="1350"/>
              <a:t>Enable managing computer by using group policies</a:t>
            </a:r>
          </a:p>
        </p:txBody>
      </p:sp>
      <p:sp>
        <p:nvSpPr>
          <p:cNvPr id="32778" name="Rounded Rectangle 844808"/>
          <p:cNvSpPr>
            <a:spLocks noChangeArrowheads="1"/>
          </p:cNvSpPr>
          <p:nvPr/>
        </p:nvSpPr>
        <p:spPr bwMode="auto">
          <a:xfrm>
            <a:off x="1587103" y="4177188"/>
            <a:ext cx="5956697" cy="47530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342900" indent="-342900">
              <a:defRPr b="1">
                <a:solidFill>
                  <a:schemeClr val="tx1"/>
                </a:solidFill>
                <a:latin typeface="Verdana" pitchFamily="34" charset="0"/>
              </a:defRPr>
            </a:lvl1pPr>
            <a:lvl2pPr marL="466725" indent="-242888">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1" algn="l">
              <a:lnSpc>
                <a:spcPct val="90000"/>
              </a:lnSpc>
              <a:spcBef>
                <a:spcPct val="40000"/>
              </a:spcBef>
              <a:buSzPct val="80000"/>
              <a:buFontTx/>
              <a:buBlip>
                <a:blip r:embed="rId3"/>
              </a:buBlip>
            </a:pPr>
            <a:r>
              <a:rPr lang="en-US" altLang="nl-NL" sz="1350"/>
              <a:t>Are required for all computers running Windows NT </a:t>
            </a:r>
            <a:br>
              <a:rPr lang="en-US" altLang="nl-NL" sz="1350"/>
            </a:br>
            <a:r>
              <a:rPr lang="en-US" altLang="nl-NL" sz="1350"/>
              <a:t>or later</a:t>
            </a:r>
          </a:p>
        </p:txBody>
      </p:sp>
    </p:spTree>
    <p:extLst>
      <p:ext uri="{BB962C8B-B14F-4D97-AF65-F5344CB8AC3E}">
        <p14:creationId xmlns:p14="http://schemas.microsoft.com/office/powerpoint/2010/main" val="2776407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val 2"/>
          <p:cNvSpPr>
            <a:spLocks noChangeArrowheads="1"/>
          </p:cNvSpPr>
          <p:nvPr/>
        </p:nvSpPr>
        <p:spPr bwMode="auto">
          <a:xfrm>
            <a:off x="1435894" y="1197769"/>
            <a:ext cx="6165056" cy="3138488"/>
          </a:xfrm>
          <a:prstGeom prst="ellipse">
            <a:avLst/>
          </a:prstGeom>
          <a:gradFill rotWithShape="1">
            <a:gsLst>
              <a:gs pos="0">
                <a:srgbClr val="FFFFFF"/>
              </a:gs>
              <a:gs pos="100000">
                <a:srgbClr val="EEEFD7"/>
              </a:gs>
            </a:gsLst>
            <a:path path="shape">
              <a:fillToRect l="50000" t="50000" r="50000" b="50000"/>
            </a:path>
          </a:gradFill>
          <a:ln>
            <a:noFill/>
          </a:ln>
          <a:effectLst>
            <a:outerShdw dist="35921" dir="2700000" algn="ctr" rotWithShape="0">
              <a:srgbClr val="ADADAD"/>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endParaRPr lang="nl-NL" altLang="nl-NL" sz="1350"/>
          </a:p>
        </p:txBody>
      </p:sp>
      <p:sp>
        <p:nvSpPr>
          <p:cNvPr id="33795" name="Rectangle 3"/>
          <p:cNvSpPr>
            <a:spLocks noGrp="1" noChangeArrowheads="1"/>
          </p:cNvSpPr>
          <p:nvPr>
            <p:ph type="title"/>
          </p:nvPr>
        </p:nvSpPr>
        <p:spPr/>
        <p:txBody>
          <a:bodyPr/>
          <a:lstStyle/>
          <a:p>
            <a:pPr eaLnBrk="1" hangingPunct="1"/>
            <a:r>
              <a:rPr lang="en-US" altLang="nl-NL" dirty="0"/>
              <a:t>Options for Locating Objects in AD DS</a:t>
            </a:r>
          </a:p>
        </p:txBody>
      </p:sp>
      <p:sp>
        <p:nvSpPr>
          <p:cNvPr id="33796" name="AutoShape 4"/>
          <p:cNvSpPr>
            <a:spLocks noChangeArrowheads="1"/>
          </p:cNvSpPr>
          <p:nvPr/>
        </p:nvSpPr>
        <p:spPr bwMode="auto">
          <a:xfrm>
            <a:off x="1551385" y="1521619"/>
            <a:ext cx="1820465" cy="2752725"/>
          </a:xfrm>
          <a:prstGeom prst="roundRect">
            <a:avLst>
              <a:gd name="adj" fmla="val 4167"/>
            </a:avLst>
          </a:prstGeom>
          <a:gradFill rotWithShape="1">
            <a:gsLst>
              <a:gs pos="0">
                <a:srgbClr val="B395D8"/>
              </a:gs>
              <a:gs pos="100000">
                <a:srgbClr val="DFD2EE"/>
              </a:gs>
            </a:gsLst>
            <a:lin ang="2700000" scaled="1"/>
          </a:gradFill>
          <a:ln w="9525" algn="ctr">
            <a:solidFill>
              <a:srgbClr val="333333"/>
            </a:solidFill>
            <a:round/>
            <a:headEnd/>
            <a:tailEnd/>
          </a:ln>
          <a:effectLst>
            <a:outerShdw dist="35921" dir="2700000" algn="ctr" rotWithShape="0">
              <a:schemeClr val="bg2"/>
            </a:outerShdw>
          </a:effectLst>
        </p:spPr>
        <p:txBody>
          <a:bodyPr/>
          <a:lstStyle>
            <a:lvl1pPr marL="166688" indent="-166688">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Tx/>
              <a:buBlip>
                <a:blip r:embed="rId3"/>
              </a:buBlip>
            </a:pPr>
            <a:r>
              <a:rPr lang="en-US" altLang="nl-NL" sz="1350"/>
              <a:t>Sorting: </a:t>
            </a:r>
            <a:r>
              <a:rPr lang="en-US" altLang="nl-NL" sz="1350" b="0"/>
              <a:t>use column headings in Active Directory Users and Computers to find the objects based on the columns </a:t>
            </a:r>
          </a:p>
        </p:txBody>
      </p:sp>
      <p:pic>
        <p:nvPicPr>
          <p:cNvPr id="33797"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8838" y="3193257"/>
            <a:ext cx="1188244" cy="130254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9"/>
          <p:cNvGrpSpPr>
            <a:grpSpLocks/>
          </p:cNvGrpSpPr>
          <p:nvPr/>
        </p:nvGrpSpPr>
        <p:grpSpPr bwMode="auto">
          <a:xfrm>
            <a:off x="3744516" y="1521619"/>
            <a:ext cx="1824038" cy="2632472"/>
            <a:chOff x="3495675" y="1619250"/>
            <a:chExt cx="2432050" cy="3509963"/>
          </a:xfrm>
        </p:grpSpPr>
        <p:sp>
          <p:nvSpPr>
            <p:cNvPr id="33810" name="AutoShape 5"/>
            <p:cNvSpPr>
              <a:spLocks noChangeArrowheads="1"/>
            </p:cNvSpPr>
            <p:nvPr/>
          </p:nvSpPr>
          <p:spPr bwMode="auto">
            <a:xfrm>
              <a:off x="3495675" y="1619250"/>
              <a:ext cx="2432050" cy="3303588"/>
            </a:xfrm>
            <a:prstGeom prst="roundRect">
              <a:avLst>
                <a:gd name="adj" fmla="val 4167"/>
              </a:avLst>
            </a:prstGeom>
            <a:gradFill rotWithShape="1">
              <a:gsLst>
                <a:gs pos="0">
                  <a:srgbClr val="8DACD0"/>
                </a:gs>
                <a:gs pos="100000">
                  <a:srgbClr val="DEE7F1"/>
                </a:gs>
              </a:gsLst>
              <a:lin ang="2700000" scaled="1"/>
            </a:gradFill>
            <a:ln w="9525">
              <a:solidFill>
                <a:srgbClr val="333333"/>
              </a:solidFill>
              <a:round/>
              <a:headEnd/>
              <a:tailEnd/>
            </a:ln>
            <a:effectLst>
              <a:outerShdw dist="35921" dir="2700000" algn="ctr" rotWithShape="0">
                <a:srgbClr val="AFAFAF"/>
              </a:outerShdw>
            </a:effectLst>
          </p:spPr>
          <p:txBody>
            <a:bodyPr/>
            <a:lstStyle>
              <a:lvl1pPr marL="166688" indent="-166688">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 typeface="Symbol" pitchFamily="18" charset="2"/>
                <a:buBlip>
                  <a:blip r:embed="rId3"/>
                </a:buBlip>
              </a:pPr>
              <a:r>
                <a:rPr lang="en-US" altLang="nl-NL" sz="1350"/>
                <a:t>Searching: </a:t>
              </a:r>
              <a:r>
                <a:rPr lang="en-US" altLang="nl-NL" sz="1350" b="0"/>
                <a:t>provide the criteria for which you want to search</a:t>
              </a:r>
            </a:p>
          </p:txBody>
        </p:sp>
        <p:pic>
          <p:nvPicPr>
            <p:cNvPr id="33811" name="Picture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1037" y="3203575"/>
              <a:ext cx="933450" cy="1925638"/>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3" name="Group 10"/>
          <p:cNvGrpSpPr>
            <a:grpSpLocks/>
          </p:cNvGrpSpPr>
          <p:nvPr/>
        </p:nvGrpSpPr>
        <p:grpSpPr bwMode="auto">
          <a:xfrm>
            <a:off x="5878116" y="1525191"/>
            <a:ext cx="1795463" cy="2169319"/>
            <a:chOff x="6313488" y="1638300"/>
            <a:chExt cx="2393950" cy="2892425"/>
          </a:xfrm>
        </p:grpSpPr>
        <p:sp>
          <p:nvSpPr>
            <p:cNvPr id="33808" name="AutoShape 6"/>
            <p:cNvSpPr>
              <a:spLocks noChangeArrowheads="1"/>
            </p:cNvSpPr>
            <p:nvPr/>
          </p:nvSpPr>
          <p:spPr bwMode="auto">
            <a:xfrm>
              <a:off x="6313488" y="1638300"/>
              <a:ext cx="2393950" cy="2892425"/>
            </a:xfrm>
            <a:prstGeom prst="roundRect">
              <a:avLst>
                <a:gd name="adj" fmla="val 4167"/>
              </a:avLst>
            </a:prstGeom>
            <a:gradFill rotWithShape="1">
              <a:gsLst>
                <a:gs pos="0">
                  <a:srgbClr val="97DFC1"/>
                </a:gs>
                <a:gs pos="100000">
                  <a:srgbClr val="DAF4E9"/>
                </a:gs>
              </a:gsLst>
              <a:lin ang="2700000" scaled="1"/>
            </a:gradFill>
            <a:ln w="9525" algn="ctr">
              <a:solidFill>
                <a:srgbClr val="333333"/>
              </a:solidFill>
              <a:round/>
              <a:headEnd/>
              <a:tailEnd/>
            </a:ln>
            <a:effectLst>
              <a:outerShdw dist="35921" dir="2700000" algn="ctr" rotWithShape="0">
                <a:schemeClr val="bg2"/>
              </a:outerShdw>
            </a:effectLst>
          </p:spPr>
          <p:txBody>
            <a:bodyPr/>
            <a:lstStyle>
              <a:lvl1pPr marL="166688" indent="-166688">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Tx/>
                <a:buBlip>
                  <a:blip r:embed="rId3"/>
                </a:buBlip>
              </a:pPr>
              <a:r>
                <a:rPr lang="en-US" altLang="nl-NL" sz="1350"/>
                <a:t>Command line: </a:t>
              </a:r>
              <a:r>
                <a:rPr lang="en-US" altLang="nl-NL" sz="1350" b="0"/>
                <a:t>dsquery </a:t>
              </a:r>
              <a:r>
                <a:rPr lang="en-US" altLang="nl-NL" sz="1350" b="0" i="1"/>
                <a:t>parameter</a:t>
              </a:r>
              <a:r>
                <a:rPr lang="en-US" altLang="nl-NL" sz="1350"/>
                <a:t> </a:t>
              </a:r>
            </a:p>
          </p:txBody>
        </p:sp>
        <p:pic>
          <p:nvPicPr>
            <p:cNvPr id="33809" name="Picture 4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42138" y="2854325"/>
              <a:ext cx="1319212" cy="1173162"/>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33800" name="Group 29"/>
          <p:cNvGrpSpPr>
            <a:grpSpLocks/>
          </p:cNvGrpSpPr>
          <p:nvPr/>
        </p:nvGrpSpPr>
        <p:grpSpPr bwMode="auto">
          <a:xfrm>
            <a:off x="1600200" y="4769644"/>
            <a:ext cx="685800" cy="319088"/>
            <a:chOff x="384" y="3024"/>
            <a:chExt cx="720" cy="336"/>
          </a:xfrm>
        </p:grpSpPr>
        <p:sp>
          <p:nvSpPr>
            <p:cNvPr id="33804" name="Oval 3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a:noFill/>
            </a:ln>
            <a:effectLst>
              <a:outerShdw dist="17961" dir="2700000" algn="ctr" rotWithShape="0">
                <a:srgbClr val="969696"/>
              </a:outerShdw>
            </a:effectLst>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endParaRPr lang="nl-NL" altLang="nl-NL" sz="1350"/>
            </a:p>
          </p:txBody>
        </p:sp>
        <p:grpSp>
          <p:nvGrpSpPr>
            <p:cNvPr id="33805" name="Group 31"/>
            <p:cNvGrpSpPr>
              <a:grpSpLocks/>
            </p:cNvGrpSpPr>
            <p:nvPr/>
          </p:nvGrpSpPr>
          <p:grpSpPr bwMode="auto">
            <a:xfrm>
              <a:off x="480" y="3096"/>
              <a:ext cx="240" cy="192"/>
              <a:chOff x="480" y="3096"/>
              <a:chExt cx="240" cy="192"/>
            </a:xfrm>
          </p:grpSpPr>
          <p:sp>
            <p:nvSpPr>
              <p:cNvPr id="33806" name="Oval 3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endParaRPr lang="nl-NL" altLang="nl-NL" sz="1350"/>
              </a:p>
            </p:txBody>
          </p:sp>
          <p:sp>
            <p:nvSpPr>
              <p:cNvPr id="33807" name="Freeform 33"/>
              <p:cNvSpPr>
                <a:spLocks/>
              </p:cNvSpPr>
              <p:nvPr/>
            </p:nvSpPr>
            <p:spPr bwMode="auto">
              <a:xfrm>
                <a:off x="539" y="3123"/>
                <a:ext cx="139" cy="133"/>
              </a:xfrm>
              <a:custGeom>
                <a:avLst/>
                <a:gdLst>
                  <a:gd name="T0" fmla="*/ 0 w 432"/>
                  <a:gd name="T1" fmla="*/ 0 h 576"/>
                  <a:gd name="T2" fmla="*/ 0 w 432"/>
                  <a:gd name="T3" fmla="*/ 7 h 576"/>
                  <a:gd name="T4" fmla="*/ 14 w 432"/>
                  <a:gd name="T5" fmla="*/ 3 h 576"/>
                  <a:gd name="T6" fmla="*/ 0 w 432"/>
                  <a:gd name="T7" fmla="*/ 0 h 5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nl-NL" sz="1350"/>
              </a:p>
            </p:txBody>
          </p:sp>
        </p:grpSp>
      </p:grpSp>
      <p:grpSp>
        <p:nvGrpSpPr>
          <p:cNvPr id="6" name="Group 34"/>
          <p:cNvGrpSpPr>
            <a:grpSpLocks/>
          </p:cNvGrpSpPr>
          <p:nvPr/>
        </p:nvGrpSpPr>
        <p:grpSpPr bwMode="auto">
          <a:xfrm>
            <a:off x="1965722" y="4837510"/>
            <a:ext cx="228600" cy="183356"/>
            <a:chOff x="768" y="3096"/>
            <a:chExt cx="240" cy="192"/>
          </a:xfrm>
        </p:grpSpPr>
        <p:sp>
          <p:nvSpPr>
            <p:cNvPr id="33802" name="Oval 3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endParaRPr lang="nl-NL" altLang="nl-NL" sz="1350"/>
            </a:p>
          </p:txBody>
        </p:sp>
        <p:sp>
          <p:nvSpPr>
            <p:cNvPr id="33803" name="Rectangle 36"/>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endParaRPr lang="nl-NL" altLang="nl-NL" sz="1350"/>
            </a:p>
          </p:txBody>
        </p:sp>
      </p:grpSp>
    </p:spTree>
    <p:extLst>
      <p:ext uri="{BB962C8B-B14F-4D97-AF65-F5344CB8AC3E}">
        <p14:creationId xmlns:p14="http://schemas.microsoft.com/office/powerpoint/2010/main" val="22109427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nl-NL" dirty="0"/>
              <a:t>What is an OU?</a:t>
            </a:r>
          </a:p>
        </p:txBody>
      </p:sp>
      <p:sp>
        <p:nvSpPr>
          <p:cNvPr id="34819" name="Rounded Rectangle 812098"/>
          <p:cNvSpPr>
            <a:spLocks noGrp="1" noChangeArrowheads="1"/>
          </p:cNvSpPr>
          <p:nvPr>
            <p:ph type="body" sz="quarter" idx="4294967295"/>
          </p:nvPr>
        </p:nvSpPr>
        <p:spPr>
          <a:xfrm>
            <a:off x="900441" y="1000126"/>
            <a:ext cx="7487910" cy="3781279"/>
          </a:xfrm>
          <a:prstGeom prst="roundRect">
            <a:avLst>
              <a:gd name="adj" fmla="val 4167"/>
            </a:avLst>
          </a:prstGeom>
          <a:solidFill>
            <a:srgbClr val="DEE7F1"/>
          </a:solidFill>
          <a:ln cap="flat" algn="ctr">
            <a:solidFill>
              <a:srgbClr val="333333"/>
            </a:solidFill>
            <a:round/>
            <a:headEnd type="none" w="med" len="med"/>
            <a:tailEnd type="none" w="med" len="med"/>
          </a:ln>
        </p:spPr>
        <p:txBody>
          <a:bodyPr vert="horz" wrap="square" lIns="68580" tIns="34290" rIns="68580" bIns="34290" rtlCol="0" anchor="t" anchorCtr="0">
            <a:noAutofit/>
          </a:bodyPr>
          <a:lstStyle/>
          <a:p>
            <a:pPr marL="0" indent="0">
              <a:lnSpc>
                <a:spcPct val="100000"/>
              </a:lnSpc>
              <a:spcBef>
                <a:spcPct val="0"/>
              </a:spcBef>
              <a:buNone/>
            </a:pPr>
            <a:r>
              <a:rPr lang="en-US" altLang="nl-NL" b="1" dirty="0"/>
              <a:t>OUs are used to:</a:t>
            </a:r>
            <a:r>
              <a:rPr lang="en-US" altLang="nl-NL" dirty="0"/>
              <a:t> </a:t>
            </a:r>
          </a:p>
        </p:txBody>
      </p:sp>
      <p:sp>
        <p:nvSpPr>
          <p:cNvPr id="34820" name="Rounded Rectangle 844806"/>
          <p:cNvSpPr>
            <a:spLocks noChangeArrowheads="1"/>
          </p:cNvSpPr>
          <p:nvPr/>
        </p:nvSpPr>
        <p:spPr bwMode="auto">
          <a:xfrm>
            <a:off x="1649611" y="2935932"/>
            <a:ext cx="5918597" cy="28471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 typeface="Courier New" pitchFamily="49" charset="0"/>
              <a:buBlip>
                <a:blip r:embed="rId3"/>
              </a:buBlip>
            </a:pPr>
            <a:r>
              <a:rPr lang="en-US" altLang="nl-NL" sz="1350"/>
              <a:t>Delegate authority (create users, reset passwords)</a:t>
            </a:r>
          </a:p>
        </p:txBody>
      </p:sp>
      <p:sp>
        <p:nvSpPr>
          <p:cNvPr id="34821" name="Rounded Rectangle 844806"/>
          <p:cNvSpPr>
            <a:spLocks noChangeArrowheads="1"/>
          </p:cNvSpPr>
          <p:nvPr/>
        </p:nvSpPr>
        <p:spPr bwMode="auto">
          <a:xfrm>
            <a:off x="1644848" y="3325266"/>
            <a:ext cx="5903119" cy="47530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 typeface="Courier New" pitchFamily="49" charset="0"/>
              <a:buBlip>
                <a:blip r:embed="rId3"/>
              </a:buBlip>
            </a:pPr>
            <a:r>
              <a:rPr lang="en-US" altLang="nl-NL" sz="1350"/>
              <a:t>Create containers within the domain model to represent logical structures</a:t>
            </a:r>
          </a:p>
        </p:txBody>
      </p:sp>
      <p:sp>
        <p:nvSpPr>
          <p:cNvPr id="34822" name="Rounded Rectangle 844806"/>
          <p:cNvSpPr>
            <a:spLocks noChangeArrowheads="1"/>
          </p:cNvSpPr>
          <p:nvPr/>
        </p:nvSpPr>
        <p:spPr bwMode="auto">
          <a:xfrm>
            <a:off x="1644848" y="3905190"/>
            <a:ext cx="5918597" cy="28471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 typeface="Courier New" pitchFamily="49" charset="0"/>
              <a:buBlip>
                <a:blip r:embed="rId3"/>
              </a:buBlip>
            </a:pPr>
            <a:r>
              <a:rPr lang="en-US" altLang="nl-NL" sz="1350"/>
              <a:t>Create administrative boundaries within the domain</a:t>
            </a:r>
          </a:p>
        </p:txBody>
      </p:sp>
      <p:sp>
        <p:nvSpPr>
          <p:cNvPr id="34823" name="AutoShape 10"/>
          <p:cNvSpPr>
            <a:spLocks noChangeArrowheads="1"/>
          </p:cNvSpPr>
          <p:nvPr/>
        </p:nvSpPr>
        <p:spPr bwMode="auto">
          <a:xfrm>
            <a:off x="1459707" y="1431132"/>
            <a:ext cx="6298406" cy="1371600"/>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marL="404813" indent="-2286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dirty="0"/>
              <a:t>An organizational unit (OU):</a:t>
            </a:r>
          </a:p>
          <a:p>
            <a:pPr algn="l">
              <a:buClr>
                <a:schemeClr val="hlink"/>
              </a:buClr>
              <a:buFontTx/>
              <a:buChar char="•"/>
            </a:pPr>
            <a:r>
              <a:rPr lang="en-US" altLang="nl-NL" sz="1350" dirty="0"/>
              <a:t>Is a directory object within the domain</a:t>
            </a:r>
          </a:p>
          <a:p>
            <a:pPr algn="l">
              <a:buClr>
                <a:schemeClr val="hlink"/>
              </a:buClr>
              <a:buFontTx/>
              <a:buChar char="•"/>
            </a:pPr>
            <a:r>
              <a:rPr lang="en-US" altLang="nl-NL" sz="1350" dirty="0"/>
              <a:t>Is the smallest scope or unit to which you can assign Group Policy settings or delegate administrative authority</a:t>
            </a:r>
          </a:p>
          <a:p>
            <a:pPr algn="l">
              <a:buClr>
                <a:schemeClr val="hlink"/>
              </a:buClr>
              <a:buFontTx/>
              <a:buChar char="•"/>
            </a:pPr>
            <a:r>
              <a:rPr lang="en-US" altLang="nl-NL" sz="1350" dirty="0"/>
              <a:t>Can contain users, computers,  groups, printers, and other OUs</a:t>
            </a:r>
          </a:p>
        </p:txBody>
      </p:sp>
      <p:sp>
        <p:nvSpPr>
          <p:cNvPr id="34824" name="Rounded Rectangle 844806"/>
          <p:cNvSpPr>
            <a:spLocks noChangeArrowheads="1"/>
          </p:cNvSpPr>
          <p:nvPr/>
        </p:nvSpPr>
        <p:spPr bwMode="auto">
          <a:xfrm>
            <a:off x="1649611" y="4323100"/>
            <a:ext cx="5918597" cy="284710"/>
          </a:xfrm>
          <a:prstGeom prst="roundRect">
            <a:avLst>
              <a:gd name="adj" fmla="val 4167"/>
            </a:avLst>
          </a:prstGeom>
          <a:solidFill>
            <a:srgbClr val="F2E7CE"/>
          </a:solidFill>
          <a:ln w="9525" algn="ctr">
            <a:solidFill>
              <a:srgbClr val="333333"/>
            </a:solidFill>
            <a:round/>
            <a:headEnd/>
            <a:tailEnd/>
          </a:ln>
        </p:spPr>
        <p:txBody>
          <a:bodyPr anchor="ctr">
            <a:spAutoFit/>
          </a:bodyPr>
          <a:lstStyle>
            <a:lvl1pPr marL="228600" indent="-228600">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lnSpc>
                <a:spcPct val="90000"/>
              </a:lnSpc>
              <a:spcBef>
                <a:spcPct val="40000"/>
              </a:spcBef>
              <a:buSzPct val="80000"/>
              <a:buFont typeface="Courier New" pitchFamily="49" charset="0"/>
              <a:buBlip>
                <a:blip r:embed="rId3"/>
              </a:buBlip>
            </a:pPr>
            <a:r>
              <a:rPr lang="en-US" altLang="nl-NL" sz="1350"/>
              <a:t>Enforce Group Policy</a:t>
            </a:r>
          </a:p>
        </p:txBody>
      </p:sp>
      <p:pic>
        <p:nvPicPr>
          <p:cNvPr id="3482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6569" y="962026"/>
            <a:ext cx="960835" cy="847725"/>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482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99698" y="1239442"/>
            <a:ext cx="431006" cy="431006"/>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653571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8616" y="1857375"/>
            <a:ext cx="4589859" cy="3168254"/>
          </a:xfrm>
          <a:prstGeom prst="rect">
            <a:avLst/>
          </a:prstGeom>
          <a:noFill/>
          <a:ln>
            <a:noFill/>
          </a:ln>
          <a:effectLst>
            <a:outerShdw dist="35921" dir="2700000" algn="ctr" rotWithShape="0">
              <a:srgbClr val="AFAFAF"/>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5843" name="Rectangle 2"/>
          <p:cNvSpPr>
            <a:spLocks noGrp="1" noChangeArrowheads="1"/>
          </p:cNvSpPr>
          <p:nvPr>
            <p:ph type="title"/>
          </p:nvPr>
        </p:nvSpPr>
        <p:spPr/>
        <p:txBody>
          <a:bodyPr/>
          <a:lstStyle/>
          <a:p>
            <a:pPr eaLnBrk="1" hangingPunct="1"/>
            <a:r>
              <a:rPr lang="en-US" altLang="nl-NL" dirty="0"/>
              <a:t>What Is an OU Hierarchy?</a:t>
            </a:r>
          </a:p>
        </p:txBody>
      </p:sp>
      <p:sp>
        <p:nvSpPr>
          <p:cNvPr id="35844" name="AutoShape 7"/>
          <p:cNvSpPr>
            <a:spLocks noChangeArrowheads="1"/>
          </p:cNvSpPr>
          <p:nvPr/>
        </p:nvSpPr>
        <p:spPr bwMode="auto">
          <a:xfrm>
            <a:off x="1459707" y="1045369"/>
            <a:ext cx="6298406" cy="659606"/>
          </a:xfrm>
          <a:prstGeom prst="roundRect">
            <a:avLst>
              <a:gd name="adj" fmla="val 14815"/>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US" altLang="nl-NL" sz="1350"/>
              <a:t>OUs can be put inside other OUs to create a hierarchical design</a:t>
            </a:r>
          </a:p>
        </p:txBody>
      </p:sp>
      <p:grpSp>
        <p:nvGrpSpPr>
          <p:cNvPr id="35845" name="Group 20"/>
          <p:cNvGrpSpPr>
            <a:grpSpLocks/>
          </p:cNvGrpSpPr>
          <p:nvPr/>
        </p:nvGrpSpPr>
        <p:grpSpPr bwMode="auto">
          <a:xfrm>
            <a:off x="2858691" y="2172891"/>
            <a:ext cx="3409950" cy="2465784"/>
            <a:chOff x="2982278" y="2560320"/>
            <a:chExt cx="4546282" cy="3288602"/>
          </a:xfrm>
        </p:grpSpPr>
        <p:pic>
          <p:nvPicPr>
            <p:cNvPr id="3584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2278" y="2581847"/>
              <a:ext cx="2447925"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5847"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5660" y="2595887"/>
              <a:ext cx="251841" cy="29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5848" name="Text Box 10"/>
            <p:cNvSpPr txBox="1">
              <a:spLocks noChangeArrowheads="1"/>
            </p:cNvSpPr>
            <p:nvPr/>
          </p:nvSpPr>
          <p:spPr bwMode="auto">
            <a:xfrm>
              <a:off x="3527917" y="2560320"/>
              <a:ext cx="2836307" cy="38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r>
                <a:rPr lang="en-GB" altLang="nl-NL" sz="1200"/>
                <a:t>WoodgroveBank.com</a:t>
              </a:r>
              <a:endParaRPr lang="en-US" altLang="nl-NL" sz="1200"/>
            </a:p>
          </p:txBody>
        </p:sp>
        <p:sp>
          <p:nvSpPr>
            <p:cNvPr id="35849" name="Text Box 10"/>
            <p:cNvSpPr txBox="1">
              <a:spLocks noChangeArrowheads="1"/>
            </p:cNvSpPr>
            <p:nvPr/>
          </p:nvSpPr>
          <p:spPr bwMode="auto">
            <a:xfrm>
              <a:off x="3986784" y="2913889"/>
              <a:ext cx="978693" cy="3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Builtin</a:t>
              </a:r>
              <a:endParaRPr lang="en-US" altLang="nl-NL" sz="1200"/>
            </a:p>
          </p:txBody>
        </p:sp>
        <p:sp>
          <p:nvSpPr>
            <p:cNvPr id="35850" name="Text Box 10"/>
            <p:cNvSpPr txBox="1">
              <a:spLocks noChangeArrowheads="1"/>
            </p:cNvSpPr>
            <p:nvPr/>
          </p:nvSpPr>
          <p:spPr bwMode="auto">
            <a:xfrm>
              <a:off x="3991213" y="3224784"/>
              <a:ext cx="2043827" cy="341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Business Units</a:t>
              </a:r>
              <a:endParaRPr lang="en-US" altLang="nl-NL" sz="1200"/>
            </a:p>
          </p:txBody>
        </p:sp>
        <p:sp>
          <p:nvSpPr>
            <p:cNvPr id="35851" name="Text Box 10"/>
            <p:cNvSpPr txBox="1">
              <a:spLocks noChangeArrowheads="1"/>
            </p:cNvSpPr>
            <p:nvPr/>
          </p:nvSpPr>
          <p:spPr bwMode="auto">
            <a:xfrm>
              <a:off x="4344781" y="3560064"/>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Business Management</a:t>
              </a:r>
              <a:endParaRPr lang="en-US" altLang="nl-NL" sz="1200"/>
            </a:p>
          </p:txBody>
        </p:sp>
        <p:sp>
          <p:nvSpPr>
            <p:cNvPr id="35852" name="Text Box 10"/>
            <p:cNvSpPr txBox="1">
              <a:spLocks noChangeArrowheads="1"/>
            </p:cNvSpPr>
            <p:nvPr/>
          </p:nvSpPr>
          <p:spPr bwMode="auto">
            <a:xfrm>
              <a:off x="4350877" y="3877056"/>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Delegation</a:t>
              </a:r>
              <a:endParaRPr lang="en-US" altLang="nl-NL" sz="1200"/>
            </a:p>
          </p:txBody>
        </p:sp>
        <p:sp>
          <p:nvSpPr>
            <p:cNvPr id="35853" name="Text Box 10"/>
            <p:cNvSpPr txBox="1">
              <a:spLocks noChangeArrowheads="1"/>
            </p:cNvSpPr>
            <p:nvPr/>
          </p:nvSpPr>
          <p:spPr bwMode="auto">
            <a:xfrm>
              <a:off x="4356973" y="4194048"/>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Product Development</a:t>
              </a:r>
              <a:endParaRPr lang="en-US" altLang="nl-NL" sz="1200"/>
            </a:p>
          </p:txBody>
        </p:sp>
        <p:sp>
          <p:nvSpPr>
            <p:cNvPr id="35854" name="Text Box 10"/>
            <p:cNvSpPr txBox="1">
              <a:spLocks noChangeArrowheads="1"/>
            </p:cNvSpPr>
            <p:nvPr/>
          </p:nvSpPr>
          <p:spPr bwMode="auto">
            <a:xfrm>
              <a:off x="4692253" y="4511040"/>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Accounts</a:t>
              </a:r>
              <a:endParaRPr lang="en-US" altLang="nl-NL" sz="1200"/>
            </a:p>
          </p:txBody>
        </p:sp>
        <p:sp>
          <p:nvSpPr>
            <p:cNvPr id="35855" name="Text Box 10"/>
            <p:cNvSpPr txBox="1">
              <a:spLocks noChangeArrowheads="1"/>
            </p:cNvSpPr>
            <p:nvPr/>
          </p:nvSpPr>
          <p:spPr bwMode="auto">
            <a:xfrm>
              <a:off x="4698349" y="4809744"/>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Delegation</a:t>
              </a:r>
              <a:endParaRPr lang="en-US" altLang="nl-NL" sz="1200"/>
            </a:p>
          </p:txBody>
        </p:sp>
        <p:sp>
          <p:nvSpPr>
            <p:cNvPr id="35856" name="Text Box 10"/>
            <p:cNvSpPr txBox="1">
              <a:spLocks noChangeArrowheads="1"/>
            </p:cNvSpPr>
            <p:nvPr/>
          </p:nvSpPr>
          <p:spPr bwMode="auto">
            <a:xfrm>
              <a:off x="4704445" y="5145024"/>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Resources</a:t>
              </a:r>
              <a:endParaRPr lang="en-US" altLang="nl-NL" sz="1200"/>
            </a:p>
          </p:txBody>
        </p:sp>
        <p:sp>
          <p:nvSpPr>
            <p:cNvPr id="35857" name="Text Box 10"/>
            <p:cNvSpPr txBox="1">
              <a:spLocks noChangeArrowheads="1"/>
            </p:cNvSpPr>
            <p:nvPr/>
          </p:nvSpPr>
          <p:spPr bwMode="auto">
            <a:xfrm>
              <a:off x="4692253" y="5462016"/>
              <a:ext cx="2824115" cy="31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algn="l"/>
              <a:r>
                <a:rPr lang="en-GB" altLang="nl-NL" sz="1200"/>
                <a:t>Security Groups</a:t>
              </a:r>
              <a:endParaRPr lang="en-US" altLang="nl-NL" sz="1200"/>
            </a:p>
          </p:txBody>
        </p:sp>
      </p:grpSp>
    </p:spTree>
    <p:extLst>
      <p:ext uri="{BB962C8B-B14F-4D97-AF65-F5344CB8AC3E}">
        <p14:creationId xmlns:p14="http://schemas.microsoft.com/office/powerpoint/2010/main" val="3382617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nl-NL" dirty="0"/>
              <a:t>OU Hierarchy Examples</a:t>
            </a:r>
          </a:p>
        </p:txBody>
      </p:sp>
      <p:graphicFrame>
        <p:nvGraphicFramePr>
          <p:cNvPr id="1133605" name="Group 37"/>
          <p:cNvGraphicFramePr>
            <a:graphicFrameLocks noGrp="1"/>
          </p:cNvGraphicFramePr>
          <p:nvPr>
            <p:ph idx="4294967295"/>
          </p:nvPr>
        </p:nvGraphicFramePr>
        <p:xfrm>
          <a:off x="1534558" y="1622898"/>
          <a:ext cx="6069806" cy="2468167"/>
        </p:xfrm>
        <a:graphic>
          <a:graphicData uri="http://schemas.openxmlformats.org/drawingml/2006/table">
            <a:tbl>
              <a:tblPr/>
              <a:tblGrid>
                <a:gridCol w="2098331">
                  <a:extLst>
                    <a:ext uri="{9D8B030D-6E8A-4147-A177-3AD203B41FA5}">
                      <a16:colId xmlns:a16="http://schemas.microsoft.com/office/drawing/2014/main" val="20000"/>
                    </a:ext>
                  </a:extLst>
                </a:gridCol>
                <a:gridCol w="3971475">
                  <a:extLst>
                    <a:ext uri="{9D8B030D-6E8A-4147-A177-3AD203B41FA5}">
                      <a16:colId xmlns:a16="http://schemas.microsoft.com/office/drawing/2014/main" val="20001"/>
                    </a:ext>
                  </a:extLst>
                </a:gridCol>
              </a:tblGrid>
              <a:tr h="385763">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1500" b="1" i="0" u="none" strike="noStrike" cap="none" normalizeH="0" baseline="0" dirty="0">
                          <a:ln>
                            <a:noFill/>
                          </a:ln>
                          <a:solidFill>
                            <a:schemeClr val="tx1"/>
                          </a:solidFill>
                          <a:effectLst/>
                          <a:latin typeface="Verdana" pitchFamily="34" charset="0"/>
                        </a:rPr>
                        <a:t>Example</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500" b="1" i="0" u="none" strike="noStrike" cap="none" normalizeH="0" baseline="0" dirty="0">
                          <a:ln>
                            <a:noFill/>
                          </a:ln>
                          <a:solidFill>
                            <a:schemeClr val="tx1"/>
                          </a:solidFill>
                          <a:effectLst/>
                          <a:latin typeface="Verdana" pitchFamily="34" charset="0"/>
                        </a:rPr>
                        <a:t>Benefit</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extLst>
                  <a:ext uri="{0D108BD9-81ED-4DB2-BD59-A6C34878D82A}">
                    <a16:rowId xmlns:a16="http://schemas.microsoft.com/office/drawing/2014/main" val="10000"/>
                  </a:ext>
                </a:extLst>
              </a:tr>
              <a:tr h="573881">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1" i="0" u="none" strike="noStrike" cap="none" normalizeH="0" baseline="0" dirty="0">
                          <a:ln>
                            <a:noFill/>
                          </a:ln>
                          <a:solidFill>
                            <a:schemeClr val="tx1"/>
                          </a:solidFill>
                          <a:effectLst/>
                          <a:latin typeface="Verdana" pitchFamily="34" charset="0"/>
                        </a:rPr>
                        <a:t>Geographic OUs</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33363" marR="0" lvl="0" indent="-233363" algn="l" defTabSz="914400" rtl="0" eaLnBrk="1" fontAlgn="base" latinLnBrk="0" hangingPunct="1">
                        <a:lnSpc>
                          <a:spcPct val="90000"/>
                        </a:lnSpc>
                        <a:spcBef>
                          <a:spcPct val="70000"/>
                        </a:spcBef>
                        <a:spcAft>
                          <a:spcPct val="0"/>
                        </a:spcAft>
                        <a:buClr>
                          <a:schemeClr val="hlink"/>
                        </a:buClr>
                        <a:buSzPct val="90000"/>
                        <a:buFontTx/>
                        <a:buChar char="•"/>
                        <a:tabLst/>
                      </a:pPr>
                      <a:r>
                        <a:rPr kumimoji="0" lang="en-US" sz="1400" b="0" i="0" u="none" strike="noStrike" cap="none" normalizeH="0" baseline="0" dirty="0">
                          <a:ln>
                            <a:noFill/>
                          </a:ln>
                          <a:solidFill>
                            <a:schemeClr val="tx1"/>
                          </a:solidFill>
                          <a:effectLst/>
                          <a:latin typeface="Verdana" pitchFamily="34" charset="0"/>
                        </a:rPr>
                        <a:t>Can be administered at the location level</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3141">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1" i="0" u="none" strike="noStrike" cap="none" normalizeH="0" baseline="0" dirty="0">
                          <a:ln>
                            <a:noFill/>
                          </a:ln>
                          <a:solidFill>
                            <a:schemeClr val="tx1"/>
                          </a:solidFill>
                          <a:effectLst/>
                          <a:latin typeface="Verdana" pitchFamily="34" charset="0"/>
                        </a:rPr>
                        <a:t>Departmental OUs</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33363" marR="0" lvl="0" indent="-233363" algn="l" defTabSz="914400" rtl="0" eaLnBrk="1" fontAlgn="base" latinLnBrk="0" hangingPunct="1">
                        <a:lnSpc>
                          <a:spcPct val="90000"/>
                        </a:lnSpc>
                        <a:spcBef>
                          <a:spcPct val="70000"/>
                        </a:spcBef>
                        <a:spcAft>
                          <a:spcPct val="0"/>
                        </a:spcAft>
                        <a:buClr>
                          <a:schemeClr val="hlink"/>
                        </a:buClr>
                        <a:buSzPct val="90000"/>
                        <a:buFontTx/>
                        <a:buChar char="•"/>
                        <a:tabLst/>
                      </a:pPr>
                      <a:r>
                        <a:rPr kumimoji="0" lang="en-US" sz="1400" b="0" i="0" u="none" strike="noStrike" cap="none" normalizeH="0" baseline="0" dirty="0">
                          <a:ln>
                            <a:noFill/>
                          </a:ln>
                          <a:solidFill>
                            <a:schemeClr val="tx1"/>
                          </a:solidFill>
                          <a:effectLst/>
                          <a:latin typeface="Verdana" pitchFamily="34" charset="0"/>
                        </a:rPr>
                        <a:t>Delegation by job function</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72691">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1" i="0" u="none" strike="noStrike" cap="none" normalizeH="0" baseline="0" dirty="0">
                          <a:ln>
                            <a:noFill/>
                          </a:ln>
                          <a:solidFill>
                            <a:schemeClr val="tx1"/>
                          </a:solidFill>
                          <a:effectLst/>
                          <a:latin typeface="Verdana" pitchFamily="34" charset="0"/>
                        </a:rPr>
                        <a:t>Resource OUs</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33363" marR="0" lvl="0" indent="-233363" algn="l" defTabSz="914400" rtl="0" eaLnBrk="1" fontAlgn="base" latinLnBrk="0" hangingPunct="1">
                        <a:lnSpc>
                          <a:spcPct val="90000"/>
                        </a:lnSpc>
                        <a:spcBef>
                          <a:spcPct val="70000"/>
                        </a:spcBef>
                        <a:spcAft>
                          <a:spcPct val="0"/>
                        </a:spcAft>
                        <a:buClr>
                          <a:schemeClr val="hlink"/>
                        </a:buClr>
                        <a:buSzPct val="90000"/>
                        <a:buFontTx/>
                        <a:buChar char="•"/>
                        <a:tabLst/>
                      </a:pPr>
                      <a:r>
                        <a:rPr kumimoji="0" lang="en-US" sz="1400" b="0" i="0" u="none" strike="noStrike" cap="none" normalizeH="0" baseline="0" dirty="0">
                          <a:ln>
                            <a:noFill/>
                          </a:ln>
                          <a:solidFill>
                            <a:schemeClr val="tx1"/>
                          </a:solidFill>
                          <a:effectLst/>
                          <a:latin typeface="Verdana" pitchFamily="34" charset="0"/>
                        </a:rPr>
                        <a:t>Designed to manage resource (nonuser) objects</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72691">
                <a:tc>
                  <a:txBody>
                    <a:bodyPr/>
                    <a:lstStyle/>
                    <a:p>
                      <a:pPr marL="0" marR="0" lvl="0" indent="0" algn="l" defTabSz="914400" rtl="0" eaLnBrk="1" fontAlgn="base" latinLnBrk="0" hangingPunct="1">
                        <a:lnSpc>
                          <a:spcPct val="90000"/>
                        </a:lnSpc>
                        <a:spcBef>
                          <a:spcPct val="70000"/>
                        </a:spcBef>
                        <a:spcAft>
                          <a:spcPct val="0"/>
                        </a:spcAft>
                        <a:buClr>
                          <a:schemeClr val="hlink"/>
                        </a:buClr>
                        <a:buSzPct val="90000"/>
                        <a:buFontTx/>
                        <a:buNone/>
                        <a:tabLst/>
                      </a:pPr>
                      <a:r>
                        <a:rPr kumimoji="0" lang="en-US" sz="1400" b="1" i="0" u="none" strike="noStrike" cap="none" normalizeH="0" baseline="0" dirty="0">
                          <a:ln>
                            <a:noFill/>
                          </a:ln>
                          <a:solidFill>
                            <a:schemeClr val="tx1"/>
                          </a:solidFill>
                          <a:effectLst/>
                          <a:latin typeface="Verdana" pitchFamily="34" charset="0"/>
                        </a:rPr>
                        <a:t>By management</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33363" marR="0" lvl="0" indent="-233363" algn="l" defTabSz="914400" rtl="0" eaLnBrk="1" fontAlgn="base" latinLnBrk="0" hangingPunct="1">
                        <a:lnSpc>
                          <a:spcPct val="90000"/>
                        </a:lnSpc>
                        <a:spcBef>
                          <a:spcPct val="70000"/>
                        </a:spcBef>
                        <a:spcAft>
                          <a:spcPct val="0"/>
                        </a:spcAft>
                        <a:buClr>
                          <a:schemeClr val="hlink"/>
                        </a:buClr>
                        <a:buSzPct val="90000"/>
                        <a:buFontTx/>
                        <a:buChar char="•"/>
                        <a:tabLst/>
                      </a:pPr>
                      <a:r>
                        <a:rPr kumimoji="0" lang="en-US" sz="1400" b="0" i="0" u="none" strike="noStrike" cap="none" normalizeH="0" baseline="0" dirty="0">
                          <a:ln>
                            <a:noFill/>
                          </a:ln>
                          <a:solidFill>
                            <a:schemeClr val="tx1"/>
                          </a:solidFill>
                          <a:effectLst/>
                          <a:latin typeface="Verdana" pitchFamily="34" charset="0"/>
                        </a:rPr>
                        <a:t>Build </a:t>
                      </a:r>
                      <a:r>
                        <a:rPr kumimoji="0" lang="en-US" sz="1400" b="0" i="0" u="none" strike="noStrike" cap="none" normalizeH="0" baseline="0" dirty="0" err="1">
                          <a:ln>
                            <a:noFill/>
                          </a:ln>
                          <a:solidFill>
                            <a:schemeClr val="tx1"/>
                          </a:solidFill>
                          <a:effectLst/>
                          <a:latin typeface="Verdana" pitchFamily="34" charset="0"/>
                        </a:rPr>
                        <a:t>OUs</a:t>
                      </a:r>
                      <a:r>
                        <a:rPr kumimoji="0" lang="en-US" sz="1400" b="0" i="0" u="none" strike="noStrike" cap="none" normalizeH="0" baseline="0" dirty="0">
                          <a:ln>
                            <a:noFill/>
                          </a:ln>
                          <a:solidFill>
                            <a:schemeClr val="tx1"/>
                          </a:solidFill>
                          <a:effectLst/>
                          <a:latin typeface="Verdana" pitchFamily="34" charset="0"/>
                        </a:rPr>
                        <a:t> around the administration of the business</a:t>
                      </a:r>
                    </a:p>
                  </a:txBody>
                  <a:tcPr marL="68579" marR="68579" marT="68580" marB="68580"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0161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el 1"/>
          <p:cNvSpPr>
            <a:spLocks noGrp="1"/>
          </p:cNvSpPr>
          <p:nvPr>
            <p:ph type="title"/>
          </p:nvPr>
        </p:nvSpPr>
        <p:spPr/>
        <p:txBody>
          <a:bodyPr/>
          <a:lstStyle/>
          <a:p>
            <a:r>
              <a:rPr lang="nl-NL" altLang="nl-NL"/>
              <a:t>Vragen?</a:t>
            </a:r>
          </a:p>
        </p:txBody>
      </p:sp>
      <p:sp>
        <p:nvSpPr>
          <p:cNvPr id="2" name="Rectangle 1"/>
          <p:cNvSpPr/>
          <p:nvPr/>
        </p:nvSpPr>
        <p:spPr>
          <a:xfrm>
            <a:off x="3097701" y="316186"/>
            <a:ext cx="2432077" cy="4508927"/>
          </a:xfrm>
          <a:prstGeom prst="rect">
            <a:avLst/>
          </a:prstGeom>
          <a:noFill/>
        </p:spPr>
        <p:txBody>
          <a:bodyPr wrap="none" lIns="91440" tIns="45720" rIns="91440" bIns="45720">
            <a:spAutoFit/>
          </a:bodyPr>
          <a:lstStyle/>
          <a:p>
            <a:pPr algn="ctr"/>
            <a:r>
              <a:rPr lang="en-US" sz="287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876314781"/>
      </p:ext>
    </p:extLst>
  </p:cSld>
  <p:clrMapOvr>
    <a:masterClrMapping/>
  </p:clrMapOvr>
</p:sld>
</file>

<file path=ppt/theme/theme1.xml><?xml version="1.0" encoding="utf-8"?>
<a:theme xmlns:a="http://schemas.openxmlformats.org/drawingml/2006/main" name="HU_powerpoint_breed">
  <a:themeElements>
    <a:clrScheme name="Custom 1">
      <a:dk1>
        <a:srgbClr val="000000"/>
      </a:dk1>
      <a:lt1>
        <a:srgbClr val="FFFFFF"/>
      </a:lt1>
      <a:dk2>
        <a:srgbClr val="E6302B"/>
      </a:dk2>
      <a:lt2>
        <a:srgbClr val="00A1E1"/>
      </a:lt2>
      <a:accent1>
        <a:srgbClr val="00A1E1"/>
      </a:accent1>
      <a:accent2>
        <a:srgbClr val="E6302B"/>
      </a:accent2>
      <a:accent3>
        <a:srgbClr val="FFFFFF"/>
      </a:accent3>
      <a:accent4>
        <a:srgbClr val="FFFFFF"/>
      </a:accent4>
      <a:accent5>
        <a:srgbClr val="FFFFFF"/>
      </a:accent5>
      <a:accent6>
        <a:srgbClr val="FFFFFF"/>
      </a:accent6>
      <a:hlink>
        <a:srgbClr val="005070"/>
      </a:hlink>
      <a:folHlink>
        <a:srgbClr val="005070"/>
      </a:folHlink>
    </a:clrScheme>
    <a:fontScheme name="Office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U_powerpoint_breed aanpassing Martijn.potx [Read-Only]" id="{54AEACF5-23A2-45DE-A480-CE65F4A144C8}" vid="{2F011E1D-6BE9-462B-BCF7-741BB9AD0F3D}"/>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HU_powerpoint_breed aanpassing Martijn</Template>
  <TotalTime>419</TotalTime>
  <Words>4105</Words>
  <Application>Microsoft Office PowerPoint</Application>
  <PresentationFormat>On-screen Show (16:9)</PresentationFormat>
  <Paragraphs>510</Paragraphs>
  <Slides>35</Slides>
  <Notes>33</Notes>
  <HiddenSlides>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Consolas</vt:lpstr>
      <vt:lpstr>Courier New</vt:lpstr>
      <vt:lpstr>Georgia</vt:lpstr>
      <vt:lpstr>Symbol</vt:lpstr>
      <vt:lpstr>Verdana</vt:lpstr>
      <vt:lpstr>Wingdings</vt:lpstr>
      <vt:lpstr>HU_powerpoint_breed</vt:lpstr>
      <vt:lpstr>PowerPoint Presentation</vt:lpstr>
      <vt:lpstr>Platformen</vt:lpstr>
      <vt:lpstr>Active Directory</vt:lpstr>
      <vt:lpstr>AD Basics</vt:lpstr>
      <vt:lpstr>Creating AD</vt:lpstr>
      <vt:lpstr>Benefits (single) AD domain</vt:lpstr>
      <vt:lpstr>What is Authentication?</vt:lpstr>
      <vt:lpstr>What is Authorization?</vt:lpstr>
      <vt:lpstr>AD &amp; DNS</vt:lpstr>
      <vt:lpstr>Domain Join</vt:lpstr>
      <vt:lpstr>Functional Level</vt:lpstr>
      <vt:lpstr>Sysvol &amp; Files</vt:lpstr>
      <vt:lpstr>Organizational Unit</vt:lpstr>
      <vt:lpstr>What Is a User Account?</vt:lpstr>
      <vt:lpstr>Well-Known SIDs</vt:lpstr>
      <vt:lpstr>Security ID</vt:lpstr>
      <vt:lpstr>Names Associated with Domain User Accounts</vt:lpstr>
      <vt:lpstr>User Account Password Options</vt:lpstr>
      <vt:lpstr>Tools for Configuring User Accounts </vt:lpstr>
      <vt:lpstr>What Is a User Account Template?</vt:lpstr>
      <vt:lpstr>CSVDE</vt:lpstr>
      <vt:lpstr>LDIFDE</vt:lpstr>
      <vt:lpstr>DSADD</vt:lpstr>
      <vt:lpstr>DSMOD</vt:lpstr>
      <vt:lpstr>DSQuery</vt:lpstr>
      <vt:lpstr>DSmove</vt:lpstr>
      <vt:lpstr>PowerShell</vt:lpstr>
      <vt:lpstr>Homefolders</vt:lpstr>
      <vt:lpstr>Profile</vt:lpstr>
      <vt:lpstr>What Is a Computer Account?</vt:lpstr>
      <vt:lpstr>Options for Locating Objects in AD DS</vt:lpstr>
      <vt:lpstr>What is an OU?</vt:lpstr>
      <vt:lpstr>What Is an OU Hierarchy?</vt:lpstr>
      <vt:lpstr>OU Hierarchy Examples</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Marco van den Boogaard</dc:creator>
  <cp:lastModifiedBy>Marco van den Boogaard</cp:lastModifiedBy>
  <cp:revision>23</cp:revision>
  <dcterms:created xsi:type="dcterms:W3CDTF">2019-01-28T12:32:43Z</dcterms:created>
  <dcterms:modified xsi:type="dcterms:W3CDTF">2025-09-05T13:54:57Z</dcterms:modified>
</cp:coreProperties>
</file>