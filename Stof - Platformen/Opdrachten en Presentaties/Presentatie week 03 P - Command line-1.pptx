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39"/>
  </p:notesMasterIdLst>
  <p:sldIdLst>
    <p:sldId id="256" r:id="rId2"/>
    <p:sldId id="257" r:id="rId3"/>
    <p:sldId id="265" r:id="rId4"/>
    <p:sldId id="266" r:id="rId5"/>
    <p:sldId id="267" r:id="rId6"/>
    <p:sldId id="263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4" r:id="rId22"/>
    <p:sldId id="260" r:id="rId23"/>
    <p:sldId id="286" r:id="rId24"/>
    <p:sldId id="287" r:id="rId25"/>
    <p:sldId id="288" r:id="rId26"/>
    <p:sldId id="289" r:id="rId27"/>
    <p:sldId id="291" r:id="rId28"/>
    <p:sldId id="292" r:id="rId29"/>
    <p:sldId id="293" r:id="rId30"/>
    <p:sldId id="294" r:id="rId31"/>
    <p:sldId id="295" r:id="rId32"/>
    <p:sldId id="281" r:id="rId33"/>
    <p:sldId id="296" r:id="rId34"/>
    <p:sldId id="282" r:id="rId35"/>
    <p:sldId id="297" r:id="rId36"/>
    <p:sldId id="299" r:id="rId37"/>
    <p:sldId id="259" r:id="rId38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2" autoAdjust="0"/>
    <p:restoredTop sz="90335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1050" y="102"/>
      </p:cViewPr>
      <p:guideLst>
        <p:guide orient="horz" pos="2160"/>
        <p:guide pos="2880"/>
        <p:guide orient="horz" pos="1626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van den Boogaard" userId="22347987-6598-45a0-9cef-8489ec81de00" providerId="ADAL" clId="{2C74177F-FCCA-4636-921A-F8F3DDED9B00}"/>
    <pc:docChg chg="undo redo custSel addSld delSld modSld">
      <pc:chgData name="Marco van den Boogaard" userId="22347987-6598-45a0-9cef-8489ec81de00" providerId="ADAL" clId="{2C74177F-FCCA-4636-921A-F8F3DDED9B00}" dt="2025-01-31T15:04:19.046" v="476" actId="2696"/>
      <pc:docMkLst>
        <pc:docMk/>
      </pc:docMkLst>
      <pc:sldChg chg="modSp mod">
        <pc:chgData name="Marco van den Boogaard" userId="22347987-6598-45a0-9cef-8489ec81de00" providerId="ADAL" clId="{2C74177F-FCCA-4636-921A-F8F3DDED9B00}" dt="2025-01-31T14:04:17.402" v="31" actId="20577"/>
        <pc:sldMkLst>
          <pc:docMk/>
          <pc:sldMk cId="2213974897" sldId="260"/>
        </pc:sldMkLst>
        <pc:spChg chg="mod">
          <ac:chgData name="Marco van den Boogaard" userId="22347987-6598-45a0-9cef-8489ec81de00" providerId="ADAL" clId="{2C74177F-FCCA-4636-921A-F8F3DDED9B00}" dt="2025-01-31T14:04:17.402" v="31" actId="20577"/>
          <ac:spMkLst>
            <pc:docMk/>
            <pc:sldMk cId="2213974897" sldId="260"/>
            <ac:spMk id="3" creationId="{1E947E1D-FDB9-4C93-3A8C-7012B335D29E}"/>
          </ac:spMkLst>
        </pc:spChg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922499597" sldId="281"/>
        </pc:sldMkLst>
      </pc:sldChg>
      <pc:sldChg chg="modSp add mod">
        <pc:chgData name="Marco van den Boogaard" userId="22347987-6598-45a0-9cef-8489ec81de00" providerId="ADAL" clId="{2C74177F-FCCA-4636-921A-F8F3DDED9B00}" dt="2025-01-31T15:03:24.649" v="456" actId="20577"/>
        <pc:sldMkLst>
          <pc:docMk/>
          <pc:sldMk cId="1866763566" sldId="282"/>
        </pc:sldMkLst>
        <pc:spChg chg="mod">
          <ac:chgData name="Marco van den Boogaard" userId="22347987-6598-45a0-9cef-8489ec81de00" providerId="ADAL" clId="{2C74177F-FCCA-4636-921A-F8F3DDED9B00}" dt="2025-01-31T15:03:24.649" v="456" actId="20577"/>
          <ac:spMkLst>
            <pc:docMk/>
            <pc:sldMk cId="1866763566" sldId="282"/>
            <ac:spMk id="37890" creationId="{00000000-0000-0000-0000-000000000000}"/>
          </ac:spMkLst>
        </pc:spChg>
      </pc:sldChg>
      <pc:sldChg chg="addSp delSp modSp new del mod modClrScheme chgLayout">
        <pc:chgData name="Marco van den Boogaard" userId="22347987-6598-45a0-9cef-8489ec81de00" providerId="ADAL" clId="{2C74177F-FCCA-4636-921A-F8F3DDED9B00}" dt="2025-01-31T14:06:24.947" v="34" actId="2696"/>
        <pc:sldMkLst>
          <pc:docMk/>
          <pc:sldMk cId="2497086371" sldId="285"/>
        </pc:sldMkLst>
        <pc:spChg chg="del mod ord">
          <ac:chgData name="Marco van den Boogaard" userId="22347987-6598-45a0-9cef-8489ec81de00" providerId="ADAL" clId="{2C74177F-FCCA-4636-921A-F8F3DDED9B00}" dt="2025-01-31T14:04:22.700" v="32" actId="700"/>
          <ac:spMkLst>
            <pc:docMk/>
            <pc:sldMk cId="2497086371" sldId="285"/>
            <ac:spMk id="2" creationId="{76E0C120-EAB4-F909-40F1-D6FB0F45A418}"/>
          </ac:spMkLst>
        </pc:spChg>
        <pc:spChg chg="del mod ord">
          <ac:chgData name="Marco van den Boogaard" userId="22347987-6598-45a0-9cef-8489ec81de00" providerId="ADAL" clId="{2C74177F-FCCA-4636-921A-F8F3DDED9B00}" dt="2025-01-31T14:04:22.700" v="32" actId="700"/>
          <ac:spMkLst>
            <pc:docMk/>
            <pc:sldMk cId="2497086371" sldId="285"/>
            <ac:spMk id="3" creationId="{F7A8BCF7-211E-C1BF-4386-485A7B523B1B}"/>
          </ac:spMkLst>
        </pc:spChg>
        <pc:spChg chg="add mod ord">
          <ac:chgData name="Marco van den Boogaard" userId="22347987-6598-45a0-9cef-8489ec81de00" providerId="ADAL" clId="{2C74177F-FCCA-4636-921A-F8F3DDED9B00}" dt="2025-01-31T14:04:22.700" v="32" actId="700"/>
          <ac:spMkLst>
            <pc:docMk/>
            <pc:sldMk cId="2497086371" sldId="285"/>
            <ac:spMk id="4" creationId="{DA5B5D56-FA03-B1D8-4B62-1DA407013D1B}"/>
          </ac:spMkLst>
        </pc:spChg>
        <pc:spChg chg="add mod ord">
          <ac:chgData name="Marco van den Boogaard" userId="22347987-6598-45a0-9cef-8489ec81de00" providerId="ADAL" clId="{2C74177F-FCCA-4636-921A-F8F3DDED9B00}" dt="2025-01-31T14:04:22.700" v="32" actId="700"/>
          <ac:spMkLst>
            <pc:docMk/>
            <pc:sldMk cId="2497086371" sldId="285"/>
            <ac:spMk id="5" creationId="{37C7715E-AA78-BEE7-7EDD-F4E9459035B1}"/>
          </ac:spMkLst>
        </pc:spChg>
      </pc:sldChg>
      <pc:sldChg chg="addSp delSp modSp add mod modClrScheme chgLayout modNotesTx">
        <pc:chgData name="Marco van den Boogaard" userId="22347987-6598-45a0-9cef-8489ec81de00" providerId="ADAL" clId="{2C74177F-FCCA-4636-921A-F8F3DDED9B00}" dt="2025-01-31T14:34:52.878" v="205" actId="6549"/>
        <pc:sldMkLst>
          <pc:docMk/>
          <pc:sldMk cId="3253166058" sldId="286"/>
        </pc:sldMkLst>
        <pc:spChg chg="add mod ord">
          <ac:chgData name="Marco van den Boogaard" userId="22347987-6598-45a0-9cef-8489ec81de00" providerId="ADAL" clId="{2C74177F-FCCA-4636-921A-F8F3DDED9B00}" dt="2025-01-31T14:34:47.404" v="204" actId="20577"/>
          <ac:spMkLst>
            <pc:docMk/>
            <pc:sldMk cId="3253166058" sldId="286"/>
            <ac:spMk id="2" creationId="{1C17E742-E4F3-96A2-D6CE-DB4EE79BC837}"/>
          </ac:spMkLst>
        </pc:spChg>
        <pc:spChg chg="mod ord">
          <ac:chgData name="Marco van den Boogaard" userId="22347987-6598-45a0-9cef-8489ec81de00" providerId="ADAL" clId="{2C74177F-FCCA-4636-921A-F8F3DDED9B00}" dt="2025-01-31T14:32:44.616" v="77" actId="700"/>
          <ac:spMkLst>
            <pc:docMk/>
            <pc:sldMk cId="3253166058" sldId="286"/>
            <ac:spMk id="7170" creationId="{00000000-0000-0000-0000-000000000000}"/>
          </ac:spMkLst>
        </pc:spChg>
        <pc:spChg chg="del">
          <ac:chgData name="Marco van den Boogaard" userId="22347987-6598-45a0-9cef-8489ec81de00" providerId="ADAL" clId="{2C74177F-FCCA-4636-921A-F8F3DDED9B00}" dt="2025-01-31T14:33:29.750" v="160" actId="478"/>
          <ac:spMkLst>
            <pc:docMk/>
            <pc:sldMk cId="3253166058" sldId="286"/>
            <ac:spMk id="7171" creationId="{00000000-0000-0000-0000-000000000000}"/>
          </ac:spMkLst>
        </pc:spChg>
        <pc:spChg chg="del">
          <ac:chgData name="Marco van den Boogaard" userId="22347987-6598-45a0-9cef-8489ec81de00" providerId="ADAL" clId="{2C74177F-FCCA-4636-921A-F8F3DDED9B00}" dt="2025-01-31T14:33:31.934" v="161" actId="478"/>
          <ac:spMkLst>
            <pc:docMk/>
            <pc:sldMk cId="3253166058" sldId="286"/>
            <ac:spMk id="7172" creationId="{00000000-0000-0000-0000-000000000000}"/>
          </ac:spMkLst>
        </pc:spChg>
        <pc:spChg chg="del mod">
          <ac:chgData name="Marco van den Boogaard" userId="22347987-6598-45a0-9cef-8489ec81de00" providerId="ADAL" clId="{2C74177F-FCCA-4636-921A-F8F3DDED9B00}" dt="2025-01-31T14:33:34.557" v="162" actId="478"/>
          <ac:spMkLst>
            <pc:docMk/>
            <pc:sldMk cId="3253166058" sldId="286"/>
            <ac:spMk id="7173" creationId="{00000000-0000-0000-0000-000000000000}"/>
          </ac:spMkLst>
        </pc:spChg>
        <pc:grpChg chg="mod">
          <ac:chgData name="Marco van den Boogaard" userId="22347987-6598-45a0-9cef-8489ec81de00" providerId="ADAL" clId="{2C74177F-FCCA-4636-921A-F8F3DDED9B00}" dt="2025-01-31T14:34:19.038" v="172" actId="1076"/>
          <ac:grpSpMkLst>
            <pc:docMk/>
            <pc:sldMk cId="3253166058" sldId="286"/>
            <ac:grpSpMk id="7174" creationId="{00000000-0000-0000-0000-000000000000}"/>
          </ac:grpSpMkLst>
        </pc:grpChg>
        <pc:picChg chg="mod">
          <ac:chgData name="Marco van den Boogaard" userId="22347987-6598-45a0-9cef-8489ec81de00" providerId="ADAL" clId="{2C74177F-FCCA-4636-921A-F8F3DDED9B00}" dt="2025-01-31T14:34:08.084" v="169" actId="1076"/>
          <ac:picMkLst>
            <pc:docMk/>
            <pc:sldMk cId="3253166058" sldId="286"/>
            <ac:picMk id="7175" creationId="{00000000-0000-0000-0000-000000000000}"/>
          </ac:picMkLst>
        </pc:picChg>
        <pc:picChg chg="mod">
          <ac:chgData name="Marco van den Boogaard" userId="22347987-6598-45a0-9cef-8489ec81de00" providerId="ADAL" clId="{2C74177F-FCCA-4636-921A-F8F3DDED9B00}" dt="2025-01-31T14:34:15.525" v="171" actId="1076"/>
          <ac:picMkLst>
            <pc:docMk/>
            <pc:sldMk cId="3253166058" sldId="286"/>
            <ac:picMk id="7176" creationId="{00000000-0000-0000-0000-000000000000}"/>
          </ac:picMkLst>
        </pc:picChg>
        <pc:picChg chg="mod">
          <ac:chgData name="Marco van den Boogaard" userId="22347987-6598-45a0-9cef-8489ec81de00" providerId="ADAL" clId="{2C74177F-FCCA-4636-921A-F8F3DDED9B00}" dt="2025-01-31T14:34:19.038" v="172" actId="1076"/>
          <ac:picMkLst>
            <pc:docMk/>
            <pc:sldMk cId="3253166058" sldId="286"/>
            <ac:picMk id="7177" creationId="{00000000-0000-0000-0000-000000000000}"/>
          </ac:picMkLst>
        </pc:picChg>
        <pc:picChg chg="mod">
          <ac:chgData name="Marco van den Boogaard" userId="22347987-6598-45a0-9cef-8489ec81de00" providerId="ADAL" clId="{2C74177F-FCCA-4636-921A-F8F3DDED9B00}" dt="2025-01-31T14:34:19.038" v="172" actId="1076"/>
          <ac:picMkLst>
            <pc:docMk/>
            <pc:sldMk cId="3253166058" sldId="286"/>
            <ac:picMk id="7178" creationId="{00000000-0000-0000-0000-000000000000}"/>
          </ac:picMkLst>
        </pc:picChg>
      </pc:sldChg>
      <pc:sldChg chg="modSp add mod modNotesTx">
        <pc:chgData name="Marco van den Boogaard" userId="22347987-6598-45a0-9cef-8489ec81de00" providerId="ADAL" clId="{2C74177F-FCCA-4636-921A-F8F3DDED9B00}" dt="2025-01-31T14:41:56.452" v="327" actId="20577"/>
        <pc:sldMkLst>
          <pc:docMk/>
          <pc:sldMk cId="2387858997" sldId="287"/>
        </pc:sldMkLst>
        <pc:spChg chg="mod">
          <ac:chgData name="Marco van den Boogaard" userId="22347987-6598-45a0-9cef-8489ec81de00" providerId="ADAL" clId="{2C74177F-FCCA-4636-921A-F8F3DDED9B00}" dt="2025-01-31T14:06:53.529" v="76" actId="20577"/>
          <ac:spMkLst>
            <pc:docMk/>
            <pc:sldMk cId="2387858997" sldId="287"/>
            <ac:spMk id="2" creationId="{00000000-0000-0000-0000-000000000000}"/>
          </ac:spMkLst>
        </pc:spChg>
        <pc:spChg chg="mod">
          <ac:chgData name="Marco van den Boogaard" userId="22347987-6598-45a0-9cef-8489ec81de00" providerId="ADAL" clId="{2C74177F-FCCA-4636-921A-F8F3DDED9B00}" dt="2025-01-31T14:41:40.436" v="266" actId="20577"/>
          <ac:spMkLst>
            <pc:docMk/>
            <pc:sldMk cId="2387858997" sldId="287"/>
            <ac:spMk id="4" creationId="{00000000-0000-0000-0000-000000000000}"/>
          </ac:spMkLst>
        </pc:spChg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710527350" sldId="288"/>
        </pc:sldMkLst>
      </pc:sldChg>
      <pc:sldChg chg="modSp add mod modNotesTx">
        <pc:chgData name="Marco van den Boogaard" userId="22347987-6598-45a0-9cef-8489ec81de00" providerId="ADAL" clId="{2C74177F-FCCA-4636-921A-F8F3DDED9B00}" dt="2025-01-31T15:01:46.810" v="443" actId="20577"/>
        <pc:sldMkLst>
          <pc:docMk/>
          <pc:sldMk cId="875648173" sldId="289"/>
        </pc:sldMkLst>
        <pc:picChg chg="mod">
          <ac:chgData name="Marco van den Boogaard" userId="22347987-6598-45a0-9cef-8489ec81de00" providerId="ADAL" clId="{2C74177F-FCCA-4636-921A-F8F3DDED9B00}" dt="2025-01-31T14:57:48.360" v="337" actId="14826"/>
          <ac:picMkLst>
            <pc:docMk/>
            <pc:sldMk cId="875648173" sldId="289"/>
            <ac:picMk id="2" creationId="{00000000-0000-0000-0000-000000000000}"/>
          </ac:picMkLst>
        </pc:picChg>
      </pc:sldChg>
      <pc:sldChg chg="add del">
        <pc:chgData name="Marco van den Boogaard" userId="22347987-6598-45a0-9cef-8489ec81de00" providerId="ADAL" clId="{2C74177F-FCCA-4636-921A-F8F3DDED9B00}" dt="2025-01-31T15:01:06.511" v="339" actId="2696"/>
        <pc:sldMkLst>
          <pc:docMk/>
          <pc:sldMk cId="3838292239" sldId="290"/>
        </pc:sldMkLst>
      </pc:sldChg>
      <pc:sldChg chg="modSp add mod">
        <pc:chgData name="Marco van den Boogaard" userId="22347987-6598-45a0-9cef-8489ec81de00" providerId="ADAL" clId="{2C74177F-FCCA-4636-921A-F8F3DDED9B00}" dt="2025-01-31T15:01:14.338" v="340" actId="6549"/>
        <pc:sldMkLst>
          <pc:docMk/>
          <pc:sldMk cId="1967529100" sldId="291"/>
        </pc:sldMkLst>
        <pc:spChg chg="mod">
          <ac:chgData name="Marco van den Boogaard" userId="22347987-6598-45a0-9cef-8489ec81de00" providerId="ADAL" clId="{2C74177F-FCCA-4636-921A-F8F3DDED9B00}" dt="2025-01-31T15:01:14.338" v="340" actId="6549"/>
          <ac:spMkLst>
            <pc:docMk/>
            <pc:sldMk cId="1967529100" sldId="291"/>
            <ac:spMk id="4" creationId="{00000000-0000-0000-0000-000000000000}"/>
          </ac:spMkLst>
        </pc:spChg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161683785" sldId="292"/>
        </pc:sldMkLst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2021175705" sldId="293"/>
        </pc:sldMkLst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1844658636" sldId="294"/>
        </pc:sldMkLst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2821284040" sldId="295"/>
        </pc:sldMkLst>
      </pc:sldChg>
      <pc:sldChg chg="modSp add mod">
        <pc:chgData name="Marco van den Boogaard" userId="22347987-6598-45a0-9cef-8489ec81de00" providerId="ADAL" clId="{2C74177F-FCCA-4636-921A-F8F3DDED9B00}" dt="2025-01-31T15:03:40.361" v="473" actId="20577"/>
        <pc:sldMkLst>
          <pc:docMk/>
          <pc:sldMk cId="2999438102" sldId="296"/>
        </pc:sldMkLst>
        <pc:spChg chg="mod">
          <ac:chgData name="Marco van den Boogaard" userId="22347987-6598-45a0-9cef-8489ec81de00" providerId="ADAL" clId="{2C74177F-FCCA-4636-921A-F8F3DDED9B00}" dt="2025-01-31T15:03:40.361" v="473" actId="20577"/>
          <ac:spMkLst>
            <pc:docMk/>
            <pc:sldMk cId="2999438102" sldId="296"/>
            <ac:spMk id="37890" creationId="{00000000-0000-0000-0000-000000000000}"/>
          </ac:spMkLst>
        </pc:spChg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3279087421" sldId="297"/>
        </pc:sldMkLst>
      </pc:sldChg>
      <pc:sldChg chg="add del">
        <pc:chgData name="Marco van den Boogaard" userId="22347987-6598-45a0-9cef-8489ec81de00" providerId="ADAL" clId="{2C74177F-FCCA-4636-921A-F8F3DDED9B00}" dt="2025-01-31T15:04:19.046" v="476" actId="2696"/>
        <pc:sldMkLst>
          <pc:docMk/>
          <pc:sldMk cId="1753141967" sldId="298"/>
        </pc:sldMkLst>
      </pc:sldChg>
      <pc:sldChg chg="add">
        <pc:chgData name="Marco van den Boogaard" userId="22347987-6598-45a0-9cef-8489ec81de00" providerId="ADAL" clId="{2C74177F-FCCA-4636-921A-F8F3DDED9B00}" dt="2025-01-31T14:06:16.812" v="33"/>
        <pc:sldMkLst>
          <pc:docMk/>
          <pc:sldMk cId="4139459678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05D3-16DF-DF43-AE35-A9E379D47CEE}" type="datetimeFigureOut">
              <a:rPr lang="nl-NL" smtClean="0"/>
              <a:t>31-1-2025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FEC66-6BFA-9A4F-8C14-93D2FB19A6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19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Bronvermelding afbeelding:</a:t>
            </a:r>
            <a:r>
              <a:rPr lang="nl-NL" baseline="0" dirty="0"/>
              <a:t> SUSE LLC, 2019 (</a:t>
            </a:r>
            <a:r>
              <a:rPr lang="nl-NL" dirty="0"/>
              <a:t>https://en.opensuse.org/Concepts_interface)</a:t>
            </a:r>
            <a:r>
              <a:rPr lang="nl-NL" baseline="0" dirty="0"/>
              <a:t> onder </a:t>
            </a:r>
            <a:r>
              <a:rPr lang="nl-N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GNU Free </a:t>
            </a:r>
            <a:r>
              <a:rPr lang="nl-NL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License (GFDL), Version 1.2 (https://www.gnu.org/licenses/lgpl.html)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9291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O’Reilly Media </a:t>
            </a:r>
            <a:r>
              <a:rPr lang="en-US" dirty="0" err="1"/>
              <a:t>onder</a:t>
            </a:r>
            <a:r>
              <a:rPr lang="en-US" dirty="0"/>
              <a:t> fair</a:t>
            </a:r>
            <a:r>
              <a:rPr lang="en-US" baseline="0" dirty="0"/>
              <a:t> use (</a:t>
            </a:r>
            <a:r>
              <a:rPr lang="en-US" baseline="0" dirty="0" err="1"/>
              <a:t>boekomslag</a:t>
            </a:r>
            <a:r>
              <a:rPr lang="en-US" baseline="0" dirty="0"/>
              <a:t>)</a:t>
            </a:r>
          </a:p>
          <a:p>
            <a:r>
              <a:rPr lang="nl-NL" dirty="0" err="1">
                <a:latin typeface="Consolas" panose="020B0609020204030204" pitchFamily="49" charset="0"/>
              </a:rPr>
              <a:t>bash</a:t>
            </a:r>
            <a:r>
              <a:rPr lang="nl-NL" dirty="0"/>
              <a:t> is de standaardshell binnen de meeste Linux distributies, al zijn er (zoals Kali) die </a:t>
            </a:r>
            <a:r>
              <a:rPr lang="nl-NL" dirty="0" err="1"/>
              <a:t>zsh</a:t>
            </a:r>
            <a:r>
              <a:rPr lang="nl-NL" dirty="0"/>
              <a:t> als standaard shell gebruiken.</a:t>
            </a:r>
          </a:p>
          <a:p>
            <a:r>
              <a:rPr lang="nl-NL" dirty="0" err="1"/>
              <a:t>PowerShell</a:t>
            </a:r>
            <a:r>
              <a:rPr lang="nl-NL" dirty="0"/>
              <a:t> (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pwsh</a:t>
            </a:r>
            <a:r>
              <a:rPr lang="nl-NL" dirty="0"/>
              <a:t>) is tegenwoordig ook beschikbaar voor Linux</a:t>
            </a:r>
            <a:r>
              <a:rPr lang="en-US" baseline="0" dirty="0"/>
              <a:t> maar het is </a:t>
            </a:r>
            <a:r>
              <a:rPr lang="en-US" baseline="0" dirty="0" err="1"/>
              <a:t>onwaarschijnlijk</a:t>
            </a:r>
            <a:r>
              <a:rPr lang="en-US" baseline="0" dirty="0"/>
              <a:t> </a:t>
            </a:r>
            <a:r>
              <a:rPr lang="en-US" baseline="0" dirty="0" err="1"/>
              <a:t>dat</a:t>
            </a:r>
            <a:r>
              <a:rPr lang="en-US" baseline="0" dirty="0"/>
              <a:t> </a:t>
            </a:r>
            <a:r>
              <a:rPr lang="en-US" baseline="0" dirty="0" err="1"/>
              <a:t>veel</a:t>
            </a:r>
            <a:r>
              <a:rPr lang="en-US" baseline="0" dirty="0"/>
              <a:t> </a:t>
            </a:r>
            <a:r>
              <a:rPr lang="en-US" baseline="0" dirty="0" err="1"/>
              <a:t>mensen</a:t>
            </a:r>
            <a:r>
              <a:rPr lang="en-US" baseline="0" dirty="0"/>
              <a:t> die </a:t>
            </a:r>
            <a:r>
              <a:rPr lang="en-US" baseline="0" dirty="0" err="1"/>
              <a:t>als</a:t>
            </a:r>
            <a:r>
              <a:rPr lang="en-US" baseline="0" dirty="0"/>
              <a:t> </a:t>
            </a:r>
            <a:r>
              <a:rPr lang="en-US" baseline="0" dirty="0" err="1"/>
              <a:t>hun</a:t>
            </a:r>
            <a:r>
              <a:rPr lang="en-US" baseline="0" dirty="0"/>
              <a:t> </a:t>
            </a:r>
            <a:r>
              <a:rPr lang="en-US" baseline="0" dirty="0" err="1"/>
              <a:t>primaire</a:t>
            </a:r>
            <a:r>
              <a:rPr lang="en-US" baseline="0" dirty="0"/>
              <a:t> shell </a:t>
            </a:r>
            <a:r>
              <a:rPr lang="en-US" baseline="0" dirty="0" err="1"/>
              <a:t>gebruiken</a:t>
            </a:r>
            <a:r>
              <a:rPr lang="en-US" baseline="0" dirty="0"/>
              <a:t> </a:t>
            </a:r>
            <a:r>
              <a:rPr lang="en-US" baseline="0" dirty="0" err="1"/>
              <a:t>dus</a:t>
            </a:r>
            <a:r>
              <a:rPr lang="en-US" baseline="0" dirty="0"/>
              <a:t> laten we </a:t>
            </a:r>
            <a:r>
              <a:rPr lang="en-US" baseline="0" dirty="0" err="1"/>
              <a:t>hier</a:t>
            </a:r>
            <a:r>
              <a:rPr lang="en-US" baseline="0" dirty="0"/>
              <a:t> </a:t>
            </a:r>
            <a:r>
              <a:rPr lang="en-US" baseline="0" dirty="0" err="1"/>
              <a:t>buiten</a:t>
            </a:r>
            <a:r>
              <a:rPr lang="en-US" baseline="0" dirty="0"/>
              <a:t> </a:t>
            </a:r>
            <a:r>
              <a:rPr lang="en-US" baseline="0" dirty="0" err="1"/>
              <a:t>beschouwing</a:t>
            </a:r>
            <a:r>
              <a:rPr lang="en-US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0546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</a:t>
            </a:r>
            <a:r>
              <a:rPr lang="en-US" dirty="0" err="1"/>
              <a:t>desinfreaksnet</a:t>
            </a:r>
            <a:r>
              <a:rPr lang="en-US" baseline="0" dirty="0"/>
              <a:t> via </a:t>
            </a:r>
            <a:r>
              <a:rPr lang="en-US" baseline="0" dirty="0" err="1"/>
              <a:t>Pixabay</a:t>
            </a:r>
            <a:r>
              <a:rPr lang="en-US" baseline="0" dirty="0"/>
              <a:t> (https://pixabay.com/en/tree-trees-nature-landscape-render-2728873/) </a:t>
            </a:r>
            <a:r>
              <a:rPr lang="en-US" baseline="0" dirty="0" err="1"/>
              <a:t>onder</a:t>
            </a:r>
            <a:r>
              <a:rPr lang="en-US" baseline="0" dirty="0"/>
              <a:t> </a:t>
            </a:r>
            <a:r>
              <a:rPr lang="en-US" baseline="0" dirty="0" err="1"/>
              <a:t>Pixabay</a:t>
            </a:r>
            <a:r>
              <a:rPr lang="en-US" baseline="0" dirty="0"/>
              <a:t> </a:t>
            </a:r>
            <a:r>
              <a:rPr lang="en-US" baseline="0" dirty="0" err="1"/>
              <a:t>licentie</a:t>
            </a:r>
            <a:r>
              <a:rPr lang="en-US" baseline="0" dirty="0"/>
              <a:t> (https://pixabay.com/en/service/license/)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421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Novell,</a:t>
            </a:r>
            <a:r>
              <a:rPr lang="en-US" baseline="0" dirty="0"/>
              <a:t> 2016 </a:t>
            </a:r>
            <a:r>
              <a:rPr lang="en-US" dirty="0"/>
              <a:t>(https://www.novell.com/documentation/nld/nld_deployment/data/sec_bash.html)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nl-N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GNU Free </a:t>
            </a:r>
            <a:r>
              <a:rPr lang="nl-NL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License (GFDL), Version 1.2 (https://www.gnu.org/licenses/lgpl.html)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8429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1448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4783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Tegenwoordig</a:t>
            </a:r>
            <a:r>
              <a:rPr lang="en-US" dirty="0"/>
              <a:t> </a:t>
            </a:r>
            <a:r>
              <a:rPr lang="en-US" dirty="0" err="1"/>
              <a:t>vaak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alternatief</a:t>
            </a:r>
            <a:r>
              <a:rPr lang="en-US" baseline="0" dirty="0"/>
              <a:t> </a:t>
            </a:r>
            <a:r>
              <a:rPr lang="en-US" baseline="0" dirty="0" err="1"/>
              <a:t>voor</a:t>
            </a:r>
            <a:r>
              <a:rPr lang="en-US" baseline="0" dirty="0"/>
              <a:t> more: less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529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</a:t>
            </a:r>
            <a:r>
              <a:rPr lang="en-US" baseline="0" dirty="0" err="1"/>
              <a:t>Schlomi</a:t>
            </a:r>
            <a:r>
              <a:rPr lang="en-US" baseline="0" dirty="0"/>
              <a:t> Fish (https://www.shlomifish.org/humour/bits/Mastering-Cat/) </a:t>
            </a:r>
            <a:r>
              <a:rPr lang="en-US" baseline="0" dirty="0" err="1"/>
              <a:t>onder</a:t>
            </a:r>
            <a:r>
              <a:rPr lang="en-US" baseline="0" dirty="0"/>
              <a:t> CC-BY-SA 3.0 </a:t>
            </a:r>
            <a:r>
              <a:rPr lang="en-US" baseline="0" dirty="0" err="1"/>
              <a:t>licentie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4314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7759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32C413B8-EA60-40F8-8852-B8591F2F1E9F}" type="slidenum">
              <a:rPr lang="en-US" altLang="en-US" b="0">
                <a:latin typeface="Arial" panose="020B0604020202020204" pitchFamily="34" charset="0"/>
              </a:rPr>
              <a:pPr algn="r"/>
              <a:t>23</a:t>
            </a:fld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Wat is Windows Server Core voor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besturingsysteem</a:t>
            </a:r>
            <a:r>
              <a:rPr lang="en-US" altLang="en-US" dirty="0"/>
              <a:t>? Wat </a:t>
            </a:r>
            <a:r>
              <a:rPr lang="en-US" altLang="en-US" dirty="0" err="1"/>
              <a:t>zijn</a:t>
            </a:r>
            <a:r>
              <a:rPr lang="en-US" altLang="en-US" dirty="0"/>
              <a:t> de </a:t>
            </a:r>
            <a:r>
              <a:rPr lang="en-US" altLang="en-US" dirty="0" err="1"/>
              <a:t>kenmerken</a:t>
            </a:r>
            <a:r>
              <a:rPr lang="en-US" altLang="en-US" dirty="0"/>
              <a:t>? Wat </a:t>
            </a:r>
            <a:r>
              <a:rPr lang="en-US" altLang="en-US" dirty="0" err="1"/>
              <a:t>zijn</a:t>
            </a:r>
            <a:r>
              <a:rPr lang="en-US" altLang="en-US" dirty="0"/>
              <a:t> de </a:t>
            </a:r>
            <a:r>
              <a:rPr lang="en-US" altLang="en-US" dirty="0" err="1"/>
              <a:t>mogelijkheden</a:t>
            </a:r>
            <a:r>
              <a:rPr lang="en-US" altLang="en-US" dirty="0"/>
              <a:t>? Wat </a:t>
            </a:r>
            <a:r>
              <a:rPr lang="en-US" altLang="en-US" dirty="0" err="1"/>
              <a:t>zijn</a:t>
            </a:r>
            <a:r>
              <a:rPr lang="en-US" altLang="en-US" dirty="0"/>
              <a:t> de </a:t>
            </a:r>
            <a:r>
              <a:rPr lang="en-US" altLang="en-US" dirty="0" err="1"/>
              <a:t>voordelen</a:t>
            </a:r>
            <a:r>
              <a:rPr lang="en-US" altLang="en-US" dirty="0"/>
              <a:t>, </a:t>
            </a:r>
            <a:r>
              <a:rPr lang="en-US" altLang="en-US" dirty="0" err="1"/>
              <a:t>nadelen</a:t>
            </a:r>
            <a:r>
              <a:rPr lang="en-US" altLang="en-US" dirty="0"/>
              <a:t>, </a:t>
            </a:r>
            <a:r>
              <a:rPr lang="en-US" altLang="en-US" dirty="0" err="1"/>
              <a:t>beperkingen</a:t>
            </a:r>
            <a:r>
              <a:rPr lang="en-US" altLang="en-US" dirty="0"/>
              <a:t> </a:t>
            </a:r>
            <a:r>
              <a:rPr lang="en-US" altLang="en-US" dirty="0" err="1"/>
              <a:t>enz</a:t>
            </a:r>
            <a:r>
              <a:rPr lang="en-US" altLang="en-US" dirty="0"/>
              <a:t>.. </a:t>
            </a:r>
            <a:r>
              <a:rPr lang="en-US" altLang="en-US" dirty="0" err="1"/>
              <a:t>Technisch</a:t>
            </a:r>
            <a:r>
              <a:rPr lang="en-US" altLang="en-US" dirty="0"/>
              <a:t> </a:t>
            </a:r>
            <a:r>
              <a:rPr lang="en-US" altLang="en-US" dirty="0" err="1"/>
              <a:t>gesproken</a:t>
            </a:r>
            <a:r>
              <a:rPr lang="en-US" altLang="en-US" dirty="0"/>
              <a:t> is het </a:t>
            </a:r>
            <a:r>
              <a:rPr lang="en-US" altLang="en-US" dirty="0" err="1"/>
              <a:t>geen</a:t>
            </a:r>
            <a:r>
              <a:rPr lang="en-US" altLang="en-US" dirty="0"/>
              <a:t> </a:t>
            </a:r>
            <a:r>
              <a:rPr lang="en-US" altLang="en-US" dirty="0" err="1"/>
              <a:t>specifiek</a:t>
            </a:r>
            <a:r>
              <a:rPr lang="en-US" altLang="en-US" dirty="0"/>
              <a:t> </a:t>
            </a:r>
            <a:r>
              <a:rPr lang="en-US" altLang="en-US" dirty="0" err="1"/>
              <a:t>besturingsysteem</a:t>
            </a:r>
            <a:r>
              <a:rPr lang="en-US" altLang="en-US" dirty="0"/>
              <a:t> maar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installatie</a:t>
            </a:r>
            <a:r>
              <a:rPr lang="en-US" altLang="en-US" dirty="0"/>
              <a:t> </a:t>
            </a:r>
            <a:r>
              <a:rPr lang="en-US" altLang="en-US" dirty="0" err="1"/>
              <a:t>optie</a:t>
            </a:r>
            <a:r>
              <a:rPr lang="en-US" altLang="en-US" dirty="0"/>
              <a:t>. </a:t>
            </a:r>
            <a:r>
              <a:rPr lang="en-US" altLang="en-US" dirty="0" err="1"/>
              <a:t>Zoals</a:t>
            </a:r>
            <a:r>
              <a:rPr lang="en-US" altLang="en-US" dirty="0"/>
              <a:t> we later </a:t>
            </a:r>
            <a:r>
              <a:rPr lang="en-US" altLang="en-US" dirty="0" err="1"/>
              <a:t>zullen</a:t>
            </a:r>
            <a:r>
              <a:rPr lang="en-US" altLang="en-US" dirty="0"/>
              <a:t> </a:t>
            </a:r>
            <a:r>
              <a:rPr lang="en-US" altLang="en-US" dirty="0" err="1"/>
              <a:t>zien</a:t>
            </a:r>
            <a:r>
              <a:rPr lang="en-US" altLang="en-US" dirty="0"/>
              <a:t> is de basis </a:t>
            </a:r>
            <a:r>
              <a:rPr lang="en-US" altLang="en-US" dirty="0" err="1"/>
              <a:t>architectuur</a:t>
            </a:r>
            <a:r>
              <a:rPr lang="en-US" altLang="en-US" dirty="0"/>
              <a:t> van de full en de core </a:t>
            </a:r>
            <a:r>
              <a:rPr lang="en-US" altLang="en-US" dirty="0" err="1"/>
              <a:t>installatie</a:t>
            </a:r>
            <a:r>
              <a:rPr lang="en-US" altLang="en-US" dirty="0"/>
              <a:t> </a:t>
            </a:r>
            <a:r>
              <a:rPr lang="en-US" altLang="en-US" dirty="0" err="1"/>
              <a:t>hetzelfde</a:t>
            </a:r>
            <a:r>
              <a:rPr lang="en-US" altLang="en-US" dirty="0"/>
              <a:t>. Wat is dan </a:t>
            </a:r>
            <a:r>
              <a:rPr lang="en-US" altLang="en-US" dirty="0" err="1"/>
              <a:t>kenmerkend</a:t>
            </a:r>
            <a:r>
              <a:rPr lang="en-US" altLang="en-US" dirty="0"/>
              <a:t> </a:t>
            </a:r>
            <a:r>
              <a:rPr lang="en-US" altLang="en-US" dirty="0" err="1"/>
              <a:t>aan</a:t>
            </a:r>
            <a:r>
              <a:rPr lang="en-US" altLang="en-US" dirty="0"/>
              <a:t> de core variant? Het </a:t>
            </a:r>
            <a:r>
              <a:rPr lang="en-US" altLang="en-US" dirty="0" err="1"/>
              <a:t>meest</a:t>
            </a:r>
            <a:r>
              <a:rPr lang="en-US" altLang="en-US" dirty="0"/>
              <a:t> in het </a:t>
            </a:r>
            <a:r>
              <a:rPr lang="en-US" altLang="en-US" dirty="0" err="1"/>
              <a:t>oogspringende</a:t>
            </a:r>
            <a:r>
              <a:rPr lang="en-US" altLang="en-US" dirty="0"/>
              <a:t> van de core variant is het </a:t>
            </a:r>
            <a:r>
              <a:rPr lang="en-US" altLang="en-US" dirty="0" err="1"/>
              <a:t>ontbreken</a:t>
            </a:r>
            <a:r>
              <a:rPr lang="en-US" altLang="en-US" dirty="0"/>
              <a:t> van de </a:t>
            </a:r>
            <a:r>
              <a:rPr lang="en-US" altLang="en-US" dirty="0" err="1"/>
              <a:t>grafische</a:t>
            </a:r>
            <a:r>
              <a:rPr lang="en-US" altLang="en-US" dirty="0"/>
              <a:t> </a:t>
            </a:r>
            <a:r>
              <a:rPr lang="en-US" altLang="en-US" dirty="0" err="1"/>
              <a:t>schil</a:t>
            </a:r>
            <a:r>
              <a:rPr lang="en-US" altLang="en-US" dirty="0"/>
              <a:t> die we van Microsoft </a:t>
            </a:r>
            <a:r>
              <a:rPr lang="en-US" altLang="en-US" dirty="0" err="1"/>
              <a:t>producten</a:t>
            </a:r>
            <a:r>
              <a:rPr lang="en-US" altLang="en-US" dirty="0"/>
              <a:t> </a:t>
            </a:r>
            <a:r>
              <a:rPr lang="en-US" altLang="en-US" dirty="0" err="1"/>
              <a:t>gewend</a:t>
            </a:r>
            <a:r>
              <a:rPr lang="en-US" altLang="en-US" dirty="0"/>
              <a:t> </a:t>
            </a:r>
            <a:r>
              <a:rPr lang="en-US" altLang="en-US" dirty="0" err="1"/>
              <a:t>zijn</a:t>
            </a:r>
            <a:r>
              <a:rPr lang="en-US" altLang="en-US" dirty="0"/>
              <a:t>. Het </a:t>
            </a:r>
            <a:r>
              <a:rPr lang="en-US" altLang="en-US" dirty="0" err="1"/>
              <a:t>ontbreken</a:t>
            </a:r>
            <a:r>
              <a:rPr lang="en-US" altLang="en-US" dirty="0"/>
              <a:t> van de </a:t>
            </a:r>
            <a:r>
              <a:rPr lang="en-US" altLang="en-US" dirty="0" err="1"/>
              <a:t>grafische</a:t>
            </a:r>
            <a:r>
              <a:rPr lang="en-US" altLang="en-US" dirty="0"/>
              <a:t> </a:t>
            </a:r>
            <a:r>
              <a:rPr lang="en-US" altLang="en-US" dirty="0" err="1"/>
              <a:t>omgeving</a:t>
            </a:r>
            <a:r>
              <a:rPr lang="en-US" altLang="en-US" dirty="0"/>
              <a:t> </a:t>
            </a:r>
            <a:r>
              <a:rPr lang="en-US" altLang="en-US" dirty="0" err="1"/>
              <a:t>zal</a:t>
            </a:r>
            <a:r>
              <a:rPr lang="en-US" altLang="en-US" dirty="0"/>
              <a:t> voor Microsoft in de </a:t>
            </a:r>
            <a:r>
              <a:rPr lang="en-US" altLang="en-US" dirty="0" err="1"/>
              <a:t>besluitvorming</a:t>
            </a:r>
            <a:r>
              <a:rPr lang="en-US" altLang="en-US" dirty="0"/>
              <a:t> voor het </a:t>
            </a:r>
            <a:r>
              <a:rPr lang="en-US" altLang="en-US" dirty="0" err="1"/>
              <a:t>uitbrengen</a:t>
            </a:r>
            <a:r>
              <a:rPr lang="en-US" altLang="en-US" dirty="0"/>
              <a:t> van de Core </a:t>
            </a:r>
            <a:r>
              <a:rPr lang="en-US" altLang="en-US" dirty="0" err="1"/>
              <a:t>edite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systeemeisen</a:t>
            </a:r>
            <a:r>
              <a:rPr lang="en-US" altLang="en-US" dirty="0"/>
              <a:t> </a:t>
            </a:r>
            <a:r>
              <a:rPr lang="en-US" altLang="en-US" dirty="0" err="1"/>
              <a:t>zijn</a:t>
            </a:r>
            <a:r>
              <a:rPr lang="en-US" altLang="en-US" dirty="0"/>
              <a:t> </a:t>
            </a:r>
            <a:r>
              <a:rPr lang="en-US" altLang="en-US" dirty="0" err="1"/>
              <a:t>geweest</a:t>
            </a:r>
            <a:r>
              <a:rPr lang="en-US" altLang="en-US" dirty="0"/>
              <a:t>. Het </a:t>
            </a:r>
            <a:r>
              <a:rPr lang="en-US" altLang="en-US" dirty="0" err="1"/>
              <a:t>zal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resultaat</a:t>
            </a:r>
            <a:r>
              <a:rPr lang="en-US" altLang="en-US" dirty="0"/>
              <a:t> </a:t>
            </a:r>
            <a:r>
              <a:rPr lang="en-US" altLang="en-US" dirty="0" err="1"/>
              <a:t>zijn</a:t>
            </a:r>
            <a:r>
              <a:rPr lang="en-US" altLang="en-US" dirty="0"/>
              <a:t> van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aantal</a:t>
            </a:r>
            <a:r>
              <a:rPr lang="en-US" altLang="en-US" dirty="0"/>
              <a:t> </a:t>
            </a:r>
            <a:r>
              <a:rPr lang="en-US" altLang="en-US" dirty="0" err="1"/>
              <a:t>andere</a:t>
            </a:r>
            <a:r>
              <a:rPr lang="en-US" altLang="en-US" dirty="0"/>
              <a:t> </a:t>
            </a:r>
            <a:r>
              <a:rPr lang="en-US" altLang="en-US" dirty="0" err="1"/>
              <a:t>systeemeisen</a:t>
            </a:r>
            <a:r>
              <a:rPr lang="en-US" altLang="en-US" dirty="0"/>
              <a:t> die ze </a:t>
            </a:r>
            <a:r>
              <a:rPr lang="en-US" altLang="en-US" dirty="0" err="1"/>
              <a:t>bij</a:t>
            </a:r>
            <a:r>
              <a:rPr lang="en-US" altLang="en-US" dirty="0"/>
              <a:t> het </a:t>
            </a:r>
            <a:r>
              <a:rPr lang="en-US" altLang="en-US" dirty="0" err="1"/>
              <a:t>ontwikkelen</a:t>
            </a:r>
            <a:r>
              <a:rPr lang="en-US" altLang="en-US" dirty="0"/>
              <a:t> </a:t>
            </a:r>
            <a:r>
              <a:rPr lang="en-US" altLang="en-US" dirty="0" err="1"/>
              <a:t>wel</a:t>
            </a:r>
            <a:r>
              <a:rPr lang="en-US" altLang="en-US" dirty="0"/>
              <a:t> </a:t>
            </a:r>
            <a:r>
              <a:rPr lang="en-US" altLang="en-US" dirty="0" err="1"/>
              <a:t>gehad</a:t>
            </a:r>
            <a:r>
              <a:rPr lang="en-US" altLang="en-US" dirty="0"/>
              <a:t> </a:t>
            </a:r>
            <a:r>
              <a:rPr lang="en-US" altLang="en-US" dirty="0" err="1"/>
              <a:t>zullen</a:t>
            </a:r>
            <a:r>
              <a:rPr lang="en-US" altLang="en-US" dirty="0"/>
              <a:t> </a:t>
            </a:r>
            <a:r>
              <a:rPr lang="en-US" altLang="en-US" dirty="0" err="1"/>
              <a:t>hebben</a:t>
            </a:r>
            <a:r>
              <a:rPr lang="en-US" altLang="en-US" dirty="0"/>
              <a:t>. Het </a:t>
            </a:r>
            <a:r>
              <a:rPr lang="en-US" altLang="en-US" dirty="0" err="1"/>
              <a:t>verhogen</a:t>
            </a:r>
            <a:r>
              <a:rPr lang="en-US" altLang="en-US" dirty="0"/>
              <a:t> van de </a:t>
            </a:r>
            <a:r>
              <a:rPr lang="en-US" altLang="en-US" dirty="0" err="1"/>
              <a:t>veiligheid</a:t>
            </a:r>
            <a:r>
              <a:rPr lang="en-US" altLang="en-US" dirty="0"/>
              <a:t>, het </a:t>
            </a:r>
            <a:r>
              <a:rPr lang="en-US" altLang="en-US" dirty="0" err="1"/>
              <a:t>verlagen</a:t>
            </a:r>
            <a:r>
              <a:rPr lang="en-US" altLang="en-US" dirty="0"/>
              <a:t> van de TCO en het </a:t>
            </a:r>
            <a:r>
              <a:rPr lang="en-US" altLang="en-US" dirty="0" err="1"/>
              <a:t>beperken</a:t>
            </a:r>
            <a:r>
              <a:rPr lang="en-US" altLang="en-US" dirty="0"/>
              <a:t> van </a:t>
            </a:r>
            <a:r>
              <a:rPr lang="en-US" altLang="en-US" dirty="0" err="1"/>
              <a:t>systemeisen</a:t>
            </a:r>
            <a:r>
              <a:rPr lang="en-US" altLang="en-US" dirty="0"/>
              <a:t> </a:t>
            </a:r>
            <a:r>
              <a:rPr lang="en-US" altLang="en-US" dirty="0" err="1"/>
              <a:t>zullen</a:t>
            </a:r>
            <a:r>
              <a:rPr lang="en-US" altLang="en-US" dirty="0"/>
              <a:t> </a:t>
            </a:r>
            <a:r>
              <a:rPr lang="en-US" altLang="en-US" dirty="0" err="1"/>
              <a:t>dat</a:t>
            </a:r>
            <a:r>
              <a:rPr lang="en-US" altLang="en-US" dirty="0"/>
              <a:t> </a:t>
            </a:r>
            <a:r>
              <a:rPr lang="en-US" altLang="en-US" dirty="0" err="1"/>
              <a:t>wel</a:t>
            </a:r>
            <a:r>
              <a:rPr lang="en-US" altLang="en-US" dirty="0"/>
              <a:t> </a:t>
            </a:r>
            <a:r>
              <a:rPr lang="en-US" altLang="en-US" dirty="0" err="1"/>
              <a:t>hebben</a:t>
            </a:r>
            <a:r>
              <a:rPr lang="en-US" altLang="en-US" dirty="0"/>
              <a:t>. Het </a:t>
            </a:r>
            <a:r>
              <a:rPr lang="en-US" altLang="en-US" dirty="0" err="1"/>
              <a:t>ontbreken</a:t>
            </a:r>
            <a:r>
              <a:rPr lang="en-US" altLang="en-US" dirty="0"/>
              <a:t> van de </a:t>
            </a:r>
            <a:r>
              <a:rPr lang="en-US" altLang="en-US" dirty="0" err="1"/>
              <a:t>grafisch</a:t>
            </a:r>
            <a:r>
              <a:rPr lang="en-US" altLang="en-US" dirty="0"/>
              <a:t> </a:t>
            </a:r>
            <a:r>
              <a:rPr lang="en-US" altLang="en-US" dirty="0" err="1"/>
              <a:t>omgeving</a:t>
            </a:r>
            <a:r>
              <a:rPr lang="en-US" altLang="en-US" dirty="0"/>
              <a:t> </a:t>
            </a:r>
            <a:r>
              <a:rPr lang="en-US" altLang="en-US" dirty="0" err="1"/>
              <a:t>moet</a:t>
            </a:r>
            <a:r>
              <a:rPr lang="en-US" altLang="en-US" dirty="0"/>
              <a:t> de claim op </a:t>
            </a:r>
            <a:r>
              <a:rPr lang="en-US" altLang="en-US" dirty="0" err="1"/>
              <a:t>geheugen</a:t>
            </a:r>
            <a:r>
              <a:rPr lang="en-US" altLang="en-US" dirty="0"/>
              <a:t>, </a:t>
            </a:r>
            <a:r>
              <a:rPr lang="en-US" altLang="en-US" dirty="0" err="1"/>
              <a:t>cpu</a:t>
            </a:r>
            <a:r>
              <a:rPr lang="en-US" altLang="en-US" dirty="0"/>
              <a:t> en disk </a:t>
            </a:r>
            <a:r>
              <a:rPr lang="en-US" altLang="en-US" dirty="0" err="1"/>
              <a:t>beperken</a:t>
            </a:r>
            <a:r>
              <a:rPr lang="en-US" altLang="en-US" dirty="0"/>
              <a:t>. Het </a:t>
            </a:r>
            <a:r>
              <a:rPr lang="en-US" altLang="en-US" dirty="0" err="1"/>
              <a:t>weglaten</a:t>
            </a:r>
            <a:r>
              <a:rPr lang="en-US" altLang="en-US" dirty="0"/>
              <a:t> van services, de </a:t>
            </a:r>
            <a:r>
              <a:rPr lang="en-US" altLang="en-US" dirty="0" err="1"/>
              <a:t>gui</a:t>
            </a:r>
            <a:r>
              <a:rPr lang="en-US" altLang="en-US" dirty="0"/>
              <a:t> en Internet </a:t>
            </a:r>
            <a:r>
              <a:rPr lang="en-US" altLang="en-US" dirty="0" err="1"/>
              <a:t>exploreren</a:t>
            </a:r>
            <a:r>
              <a:rPr lang="en-US" altLang="en-US" dirty="0"/>
              <a:t> </a:t>
            </a:r>
            <a:r>
              <a:rPr lang="en-US" altLang="en-US" dirty="0" err="1"/>
              <a:t>moeten</a:t>
            </a:r>
            <a:r>
              <a:rPr lang="en-US" altLang="en-US" dirty="0"/>
              <a:t> het minder </a:t>
            </a:r>
            <a:r>
              <a:rPr lang="en-US" altLang="en-US" dirty="0" err="1"/>
              <a:t>gevoelig</a:t>
            </a:r>
            <a:r>
              <a:rPr lang="en-US" altLang="en-US" dirty="0"/>
              <a:t> </a:t>
            </a:r>
            <a:r>
              <a:rPr lang="en-US" altLang="en-US" dirty="0" err="1"/>
              <a:t>maken</a:t>
            </a:r>
            <a:r>
              <a:rPr lang="en-US" altLang="en-US" dirty="0"/>
              <a:t> voor </a:t>
            </a:r>
            <a:r>
              <a:rPr lang="en-US" altLang="en-US" dirty="0" err="1"/>
              <a:t>veiligheidslekken</a:t>
            </a:r>
            <a:r>
              <a:rPr lang="en-US" altLang="en-US" dirty="0"/>
              <a:t> en </a:t>
            </a:r>
            <a:r>
              <a:rPr lang="en-US" altLang="en-US" dirty="0" err="1"/>
              <a:t>dus</a:t>
            </a:r>
            <a:r>
              <a:rPr lang="en-US" altLang="en-US" dirty="0"/>
              <a:t> </a:t>
            </a:r>
            <a:r>
              <a:rPr lang="en-US" altLang="en-US" dirty="0" err="1"/>
              <a:t>aanvallen</a:t>
            </a:r>
            <a:r>
              <a:rPr lang="en-US" altLang="en-US" dirty="0"/>
              <a:t> en het </a:t>
            </a:r>
            <a:r>
              <a:rPr lang="en-US" altLang="en-US" dirty="0" err="1"/>
              <a:t>ontbreken</a:t>
            </a:r>
            <a:r>
              <a:rPr lang="en-US" altLang="en-US" dirty="0"/>
              <a:t> van </a:t>
            </a:r>
            <a:r>
              <a:rPr lang="en-US" altLang="en-US" dirty="0" err="1"/>
              <a:t>applicaties</a:t>
            </a:r>
            <a:r>
              <a:rPr lang="en-US" altLang="en-US" dirty="0"/>
              <a:t> en IE </a:t>
            </a:r>
            <a:r>
              <a:rPr lang="en-US" altLang="en-US" dirty="0" err="1"/>
              <a:t>zal</a:t>
            </a:r>
            <a:r>
              <a:rPr lang="en-US" altLang="en-US" dirty="0"/>
              <a:t> de </a:t>
            </a:r>
            <a:r>
              <a:rPr lang="en-US" altLang="en-US" dirty="0" err="1"/>
              <a:t>vraag</a:t>
            </a:r>
            <a:r>
              <a:rPr lang="en-US" altLang="en-US" dirty="0"/>
              <a:t> </a:t>
            </a:r>
            <a:r>
              <a:rPr lang="en-US" altLang="en-US" dirty="0" err="1"/>
              <a:t>aan</a:t>
            </a:r>
            <a:r>
              <a:rPr lang="en-US" altLang="en-US" dirty="0"/>
              <a:t> updates </a:t>
            </a:r>
            <a:r>
              <a:rPr lang="en-US" altLang="en-US" dirty="0" err="1"/>
              <a:t>verminderen</a:t>
            </a:r>
            <a:r>
              <a:rPr lang="en-US" altLang="en-US" dirty="0"/>
              <a:t>. </a:t>
            </a:r>
            <a:r>
              <a:rPr lang="en-US" altLang="en-US" dirty="0" err="1"/>
              <a:t>Dit</a:t>
            </a:r>
            <a:r>
              <a:rPr lang="en-US" altLang="en-US" dirty="0"/>
              <a:t> </a:t>
            </a:r>
            <a:r>
              <a:rPr lang="en-US" altLang="en-US" dirty="0" err="1"/>
              <a:t>leidt</a:t>
            </a:r>
            <a:r>
              <a:rPr lang="en-US" altLang="en-US" dirty="0"/>
              <a:t> tot minder </a:t>
            </a:r>
            <a:r>
              <a:rPr lang="en-US" altLang="en-US" dirty="0" err="1"/>
              <a:t>werk</a:t>
            </a:r>
            <a:r>
              <a:rPr lang="en-US" altLang="en-US" dirty="0"/>
              <a:t> voor de </a:t>
            </a:r>
            <a:r>
              <a:rPr lang="en-US" altLang="en-US" dirty="0" err="1"/>
              <a:t>beheerders</a:t>
            </a:r>
            <a:r>
              <a:rPr lang="en-US" altLang="en-US" dirty="0"/>
              <a:t> en </a:t>
            </a:r>
            <a:r>
              <a:rPr lang="en-US" altLang="en-US" dirty="0" err="1"/>
              <a:t>zal</a:t>
            </a:r>
            <a:r>
              <a:rPr lang="en-US" altLang="en-US" dirty="0"/>
              <a:t> </a:t>
            </a:r>
            <a:r>
              <a:rPr lang="en-US" altLang="en-US" dirty="0" err="1"/>
              <a:t>daardoor</a:t>
            </a:r>
            <a:r>
              <a:rPr lang="en-US" altLang="en-US" dirty="0"/>
              <a:t> </a:t>
            </a:r>
            <a:r>
              <a:rPr lang="en-US" altLang="en-US" dirty="0" err="1"/>
              <a:t>mede</a:t>
            </a:r>
            <a:r>
              <a:rPr lang="en-US" altLang="en-US" dirty="0"/>
              <a:t> </a:t>
            </a:r>
            <a:r>
              <a:rPr lang="en-US" altLang="en-US" dirty="0" err="1"/>
              <a:t>ook</a:t>
            </a:r>
            <a:r>
              <a:rPr lang="en-US" altLang="en-US" dirty="0"/>
              <a:t> voor </a:t>
            </a:r>
            <a:r>
              <a:rPr lang="en-US" altLang="en-US" dirty="0" err="1"/>
              <a:t>een</a:t>
            </a:r>
            <a:r>
              <a:rPr lang="en-US" altLang="en-US" dirty="0"/>
              <a:t> lager TCO </a:t>
            </a:r>
            <a:r>
              <a:rPr lang="en-US" altLang="en-US" dirty="0" err="1"/>
              <a:t>zorgen</a:t>
            </a:r>
            <a:r>
              <a:rPr lang="en-US" altLang="en-US" dirty="0"/>
              <a:t>. Door het </a:t>
            </a:r>
            <a:r>
              <a:rPr lang="en-US" altLang="en-US" dirty="0" err="1"/>
              <a:t>ontbreken</a:t>
            </a:r>
            <a:r>
              <a:rPr lang="en-US" altLang="en-US" dirty="0"/>
              <a:t> van software is er </a:t>
            </a:r>
            <a:r>
              <a:rPr lang="en-US" altLang="en-US" dirty="0" err="1"/>
              <a:t>tevens</a:t>
            </a:r>
            <a:r>
              <a:rPr lang="en-US" altLang="en-US" dirty="0"/>
              <a:t> minder </a:t>
            </a:r>
            <a:r>
              <a:rPr lang="en-US" altLang="en-US" dirty="0" err="1"/>
              <a:t>harde</a:t>
            </a:r>
            <a:r>
              <a:rPr lang="en-US" altLang="en-US" dirty="0"/>
              <a:t> </a:t>
            </a:r>
            <a:r>
              <a:rPr lang="en-US" altLang="en-US" dirty="0" err="1"/>
              <a:t>schijfruimte</a:t>
            </a:r>
            <a:r>
              <a:rPr lang="en-US" altLang="en-US" dirty="0"/>
              <a:t> </a:t>
            </a:r>
            <a:r>
              <a:rPr lang="en-US" altLang="en-US" dirty="0" err="1"/>
              <a:t>nodig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330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Hyper-V server is </a:t>
            </a:r>
            <a:r>
              <a:rPr lang="en-GB" dirty="0" err="1"/>
              <a:t>niet</a:t>
            </a:r>
            <a:r>
              <a:rPr lang="en-GB" dirty="0"/>
              <a:t> nieuw</a:t>
            </a:r>
            <a:r>
              <a:rPr lang="en-GB" baseline="0" dirty="0"/>
              <a:t> maar voor de ‘ </a:t>
            </a:r>
            <a:r>
              <a:rPr lang="en-GB" baseline="0" dirty="0" err="1"/>
              <a:t>volledigheid</a:t>
            </a:r>
            <a:r>
              <a:rPr lang="en-GB" baseline="0" dirty="0"/>
              <a:t>’  van Core.</a:t>
            </a:r>
          </a:p>
          <a:p>
            <a:r>
              <a:rPr lang="en-GB" baseline="0" dirty="0"/>
              <a:t>Wat containers </a:t>
            </a:r>
            <a:r>
              <a:rPr lang="en-GB" baseline="0" dirty="0" err="1"/>
              <a:t>zijn</a:t>
            </a:r>
            <a:r>
              <a:rPr lang="en-GB" baseline="0" dirty="0"/>
              <a:t> </a:t>
            </a:r>
            <a:r>
              <a:rPr lang="en-GB" baseline="0" dirty="0" err="1"/>
              <a:t>valt</a:t>
            </a:r>
            <a:r>
              <a:rPr lang="en-GB" baseline="0" dirty="0"/>
              <a:t> </a:t>
            </a:r>
            <a:r>
              <a:rPr lang="en-GB" baseline="0" dirty="0" err="1"/>
              <a:t>buiten</a:t>
            </a:r>
            <a:r>
              <a:rPr lang="en-GB" baseline="0" dirty="0"/>
              <a:t> de scope van </a:t>
            </a:r>
            <a:r>
              <a:rPr lang="en-GB" baseline="0" dirty="0" err="1"/>
              <a:t>deze</a:t>
            </a:r>
            <a:r>
              <a:rPr lang="en-GB" baseline="0" dirty="0"/>
              <a:t> les.</a:t>
            </a:r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1/31/2025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24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298419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nl-NL" dirty="0" err="1"/>
              <a:t>Bron</a:t>
            </a:r>
            <a:r>
              <a:rPr lang="en-US" altLang="nl-NL" dirty="0"/>
              <a:t>: Microsoft</a:t>
            </a:r>
            <a:r>
              <a:rPr lang="en-US" altLang="nl-NL" baseline="0" dirty="0"/>
              <a:t> </a:t>
            </a:r>
            <a:r>
              <a:rPr lang="en-US" altLang="nl-NL" baseline="0" dirty="0" err="1"/>
              <a:t>lesmaterialen</a:t>
            </a:r>
            <a:r>
              <a:rPr lang="en-US" altLang="nl-NL" baseline="0" dirty="0"/>
              <a:t> via docent met instructor status</a:t>
            </a:r>
            <a:endParaRPr lang="nl-NL" altLang="nl-NL" dirty="0"/>
          </a:p>
        </p:txBody>
      </p:sp>
      <p:sp>
        <p:nvSpPr>
          <p:cNvPr id="53252" name="Tijdelijke aanduiding voor koptekst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itchFamily="34" charset="0"/>
              </a:defRPr>
            </a:lvl1pPr>
            <a:lvl2pPr marL="729057" indent="-280406">
              <a:defRPr b="1">
                <a:solidFill>
                  <a:schemeClr val="tx1"/>
                </a:solidFill>
                <a:latin typeface="Verdana" pitchFamily="34" charset="0"/>
              </a:defRPr>
            </a:lvl2pPr>
            <a:lvl3pPr marL="1121626" indent="-224325">
              <a:defRPr b="1">
                <a:solidFill>
                  <a:schemeClr val="tx1"/>
                </a:solidFill>
                <a:latin typeface="Verdana" pitchFamily="34" charset="0"/>
              </a:defRPr>
            </a:lvl3pPr>
            <a:lvl4pPr marL="1570276" indent="-224325">
              <a:defRPr b="1">
                <a:solidFill>
                  <a:schemeClr val="tx1"/>
                </a:solidFill>
                <a:latin typeface="Verdana" pitchFamily="34" charset="0"/>
              </a:defRPr>
            </a:lvl4pPr>
            <a:lvl5pPr marL="2018927" indent="-224325">
              <a:defRPr b="1">
                <a:solidFill>
                  <a:schemeClr val="tx1"/>
                </a:solidFill>
                <a:latin typeface="Verdana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nl-NL">
                <a:solidFill>
                  <a:srgbClr val="336699"/>
                </a:solidFill>
              </a:rPr>
              <a:t>Module 3: </a:t>
            </a:r>
            <a:r>
              <a:rPr lang="en-US" altLang="nl-NL" sz="1000">
                <a:solidFill>
                  <a:srgbClr val="336699"/>
                </a:solidFill>
                <a:cs typeface="Times New Roman" pitchFamily="18" charset="0"/>
              </a:rPr>
              <a:t>Planning Windows Server 2008 Server Roles</a:t>
            </a:r>
            <a:r>
              <a:rPr lang="en-GB" altLang="nl-NL">
                <a:solidFill>
                  <a:srgbClr val="336699"/>
                </a:solidFill>
              </a:rPr>
              <a:t> </a:t>
            </a:r>
            <a:endParaRPr lang="en-US" altLang="nl-NL">
              <a:solidFill>
                <a:srgbClr val="336699"/>
              </a:solidFill>
            </a:endParaRPr>
          </a:p>
        </p:txBody>
      </p:sp>
      <p:sp>
        <p:nvSpPr>
          <p:cNvPr id="53253" name="Tijdelijke aanduiding voor datum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itchFamily="34" charset="0"/>
              </a:defRPr>
            </a:lvl1pPr>
            <a:lvl2pPr marL="729057" indent="-280406">
              <a:defRPr b="1">
                <a:solidFill>
                  <a:schemeClr val="tx1"/>
                </a:solidFill>
                <a:latin typeface="Verdana" pitchFamily="34" charset="0"/>
              </a:defRPr>
            </a:lvl2pPr>
            <a:lvl3pPr marL="1121626" indent="-224325">
              <a:defRPr b="1">
                <a:solidFill>
                  <a:schemeClr val="tx1"/>
                </a:solidFill>
                <a:latin typeface="Verdana" pitchFamily="34" charset="0"/>
              </a:defRPr>
            </a:lvl3pPr>
            <a:lvl4pPr marL="1570276" indent="-224325">
              <a:defRPr b="1">
                <a:solidFill>
                  <a:schemeClr val="tx1"/>
                </a:solidFill>
                <a:latin typeface="Verdana" pitchFamily="34" charset="0"/>
              </a:defRPr>
            </a:lvl4pPr>
            <a:lvl5pPr marL="2018927" indent="-224325">
              <a:defRPr b="1">
                <a:solidFill>
                  <a:schemeClr val="tx1"/>
                </a:solidFill>
                <a:latin typeface="Verdana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nl-NL"/>
              <a:t>Course 6430A</a:t>
            </a:r>
          </a:p>
        </p:txBody>
      </p:sp>
      <p:sp>
        <p:nvSpPr>
          <p:cNvPr id="53254" name="Tijdelijke aanduiding voor dianumm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itchFamily="34" charset="0"/>
              </a:defRPr>
            </a:lvl1pPr>
            <a:lvl2pPr marL="729057" indent="-280406">
              <a:defRPr b="1">
                <a:solidFill>
                  <a:schemeClr val="tx1"/>
                </a:solidFill>
                <a:latin typeface="Verdana" pitchFamily="34" charset="0"/>
              </a:defRPr>
            </a:lvl2pPr>
            <a:lvl3pPr marL="1121626" indent="-224325">
              <a:defRPr b="1">
                <a:solidFill>
                  <a:schemeClr val="tx1"/>
                </a:solidFill>
                <a:latin typeface="Verdana" pitchFamily="34" charset="0"/>
              </a:defRPr>
            </a:lvl3pPr>
            <a:lvl4pPr marL="1570276" indent="-224325">
              <a:defRPr b="1">
                <a:solidFill>
                  <a:schemeClr val="tx1"/>
                </a:solidFill>
                <a:latin typeface="Verdana" pitchFamily="34" charset="0"/>
              </a:defRPr>
            </a:lvl4pPr>
            <a:lvl5pPr marL="2018927" indent="-224325">
              <a:defRPr b="1">
                <a:solidFill>
                  <a:schemeClr val="tx1"/>
                </a:solidFill>
                <a:latin typeface="Verdana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EF9E91BA-3359-4CC5-B40F-E6F2D0F26050}" type="slidenum">
              <a:rPr lang="en-US" altLang="nl-NL" b="0" smtClean="0">
                <a:latin typeface="Arial" charset="0"/>
              </a:rPr>
              <a:pPr/>
              <a:t>25</a:t>
            </a:fld>
            <a:endParaRPr lang="en-US" altLang="nl-NL" b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786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Waar</a:t>
            </a:r>
            <a:r>
              <a:rPr lang="en-US" dirty="0"/>
              <a:t> voor 2016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expliciet</a:t>
            </a:r>
            <a:r>
              <a:rPr lang="en-US" dirty="0"/>
              <a:t> voor </a:t>
            </a:r>
            <a:r>
              <a:rPr lang="en-US" dirty="0" err="1"/>
              <a:t>een</a:t>
            </a:r>
            <a:r>
              <a:rPr lang="en-US" baseline="0" dirty="0"/>
              <a:t> Server Core </a:t>
            </a:r>
            <a:r>
              <a:rPr lang="en-US" baseline="0" dirty="0" err="1"/>
              <a:t>installatie</a:t>
            </a:r>
            <a:r>
              <a:rPr lang="en-US" baseline="0" dirty="0"/>
              <a:t> </a:t>
            </a:r>
            <a:r>
              <a:rPr lang="en-US" baseline="0" dirty="0" err="1"/>
              <a:t>moest</a:t>
            </a:r>
            <a:r>
              <a:rPr lang="en-US" baseline="0" dirty="0"/>
              <a:t> </a:t>
            </a:r>
            <a:r>
              <a:rPr lang="en-US" baseline="0" dirty="0" err="1"/>
              <a:t>worden</a:t>
            </a:r>
            <a:r>
              <a:rPr lang="en-US" baseline="0" dirty="0"/>
              <a:t> </a:t>
            </a:r>
            <a:r>
              <a:rPr lang="en-US" baseline="0" dirty="0" err="1"/>
              <a:t>gekozen</a:t>
            </a:r>
            <a:r>
              <a:rPr lang="en-US" baseline="0" dirty="0"/>
              <a:t>, is </a:t>
            </a:r>
            <a:r>
              <a:rPr lang="en-US" baseline="0" dirty="0" err="1"/>
              <a:t>dit</a:t>
            </a:r>
            <a:r>
              <a:rPr lang="en-US" baseline="0" dirty="0"/>
              <a:t> </a:t>
            </a:r>
            <a:r>
              <a:rPr lang="en-US" baseline="0" dirty="0" err="1"/>
              <a:t>sindsdien</a:t>
            </a:r>
            <a:r>
              <a:rPr lang="en-US" baseline="0" dirty="0"/>
              <a:t> de </a:t>
            </a:r>
            <a:r>
              <a:rPr lang="en-US" baseline="0" dirty="0" err="1"/>
              <a:t>standaard</a:t>
            </a:r>
            <a:r>
              <a:rPr lang="en-US" baseline="0" dirty="0"/>
              <a:t> en </a:t>
            </a:r>
            <a:r>
              <a:rPr lang="en-US" baseline="0" dirty="0" err="1"/>
              <a:t>moet</a:t>
            </a:r>
            <a:r>
              <a:rPr lang="en-US" baseline="0" dirty="0"/>
              <a:t> </a:t>
            </a:r>
            <a:r>
              <a:rPr lang="en-US" b="1" baseline="0" dirty="0" err="1"/>
              <a:t>niet</a:t>
            </a:r>
            <a:r>
              <a:rPr lang="en-US" b="0" baseline="0" dirty="0"/>
              <a:t> de ‘Desktop Experience’ </a:t>
            </a:r>
            <a:r>
              <a:rPr lang="en-US" b="0" baseline="0" dirty="0" err="1"/>
              <a:t>gekozen</a:t>
            </a:r>
            <a:r>
              <a:rPr lang="en-US" b="0" baseline="0" dirty="0"/>
              <a:t> </a:t>
            </a:r>
            <a:r>
              <a:rPr lang="en-US" b="0" baseline="0" dirty="0" err="1"/>
              <a:t>worden</a:t>
            </a:r>
            <a:r>
              <a:rPr lang="en-US" b="0" baseline="0" dirty="0"/>
              <a:t>.</a:t>
            </a:r>
          </a:p>
          <a:p>
            <a:r>
              <a:rPr lang="en-US" b="0" baseline="0" dirty="0" err="1"/>
              <a:t>Achteraf</a:t>
            </a:r>
            <a:r>
              <a:rPr lang="en-US" b="0" baseline="0" dirty="0"/>
              <a:t> </a:t>
            </a:r>
            <a:r>
              <a:rPr lang="en-US" b="0" baseline="0" dirty="0" err="1"/>
              <a:t>kan</a:t>
            </a:r>
            <a:r>
              <a:rPr lang="en-US" b="0" baseline="0" dirty="0"/>
              <a:t> </a:t>
            </a:r>
            <a:r>
              <a:rPr lang="en-US" b="0" baseline="0" dirty="0" err="1"/>
              <a:t>dit</a:t>
            </a:r>
            <a:r>
              <a:rPr lang="en-US" b="0" baseline="0" dirty="0"/>
              <a:t> </a:t>
            </a:r>
            <a:r>
              <a:rPr lang="en-US" b="0" baseline="0" dirty="0" err="1"/>
              <a:t>niet</a:t>
            </a:r>
            <a:r>
              <a:rPr lang="en-US" b="0" baseline="0" dirty="0"/>
              <a:t> </a:t>
            </a:r>
            <a:r>
              <a:rPr lang="en-US" b="0" baseline="0" dirty="0" err="1"/>
              <a:t>meer</a:t>
            </a:r>
            <a:r>
              <a:rPr lang="en-US" b="0" baseline="0" dirty="0"/>
              <a:t> </a:t>
            </a:r>
            <a:r>
              <a:rPr lang="en-US" b="0" baseline="0" dirty="0" err="1"/>
              <a:t>herzien</a:t>
            </a:r>
            <a:r>
              <a:rPr lang="en-US" b="0" baseline="0" dirty="0"/>
              <a:t> </a:t>
            </a:r>
            <a:r>
              <a:rPr lang="en-US" b="0" baseline="0" dirty="0" err="1"/>
              <a:t>worden</a:t>
            </a:r>
            <a:r>
              <a:rPr lang="en-US" b="0" baseline="0" dirty="0"/>
              <a:t>!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eigen screenshot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1/31/2025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26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259979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1/31/2025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27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979076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Bronvermelding</a:t>
            </a:r>
            <a:r>
              <a:rPr lang="en-US" dirty="0"/>
              <a:t> </a:t>
            </a:r>
            <a:r>
              <a:rPr lang="en-US" dirty="0" err="1"/>
              <a:t>illustraties</a:t>
            </a:r>
            <a:r>
              <a:rPr lang="en-US" dirty="0"/>
              <a:t>: links,</a:t>
            </a:r>
            <a:r>
              <a:rPr lang="en-US" baseline="0" dirty="0"/>
              <a:t> </a:t>
            </a:r>
            <a:r>
              <a:rPr lang="en-US" baseline="0" dirty="0" err="1"/>
              <a:t>cursusmateriaal</a:t>
            </a:r>
            <a:r>
              <a:rPr lang="en-US" baseline="0" dirty="0"/>
              <a:t> Microsoft via docent met instructor status; </a:t>
            </a:r>
            <a:r>
              <a:rPr lang="en-US" baseline="0" dirty="0" err="1"/>
              <a:t>rechts</a:t>
            </a:r>
            <a:r>
              <a:rPr lang="en-US" baseline="0" dirty="0"/>
              <a:t>, eigen screenshot</a:t>
            </a:r>
          </a:p>
          <a:p>
            <a:endParaRPr lang="en-US" baseline="0" dirty="0"/>
          </a:p>
          <a:p>
            <a:r>
              <a:rPr lang="en-US" baseline="0" dirty="0" err="1"/>
              <a:t>Zoals</a:t>
            </a:r>
            <a:r>
              <a:rPr lang="en-US" baseline="0" dirty="0"/>
              <a:t> Microsoft op de download </a:t>
            </a:r>
            <a:r>
              <a:rPr lang="en-US" baseline="0" dirty="0" err="1"/>
              <a:t>pagina</a:t>
            </a:r>
            <a:r>
              <a:rPr lang="en-US" baseline="0" dirty="0"/>
              <a:t> voor (RSAT; https://www.microsoft.com/en-us/download/details.aspx?id=45520) </a:t>
            </a:r>
            <a:r>
              <a:rPr lang="en-US" baseline="0" dirty="0" err="1"/>
              <a:t>meldt</a:t>
            </a:r>
            <a:r>
              <a:rPr lang="en-US" baseline="0" dirty="0"/>
              <a:t>: “</a:t>
            </a:r>
            <a:r>
              <a:rPr lang="en-US" dirty="0"/>
              <a:t>Remote Server Administration Tools for Windows 10 includes </a:t>
            </a:r>
            <a:r>
              <a:rPr lang="en-US" b="1" dirty="0"/>
              <a:t>Server Manager</a:t>
            </a:r>
            <a:r>
              <a:rPr lang="en-US" dirty="0"/>
              <a:t>, </a:t>
            </a:r>
            <a:r>
              <a:rPr lang="en-US" b="1" dirty="0"/>
              <a:t>Microsoft Management Console (MMC) snap-ins</a:t>
            </a:r>
            <a:r>
              <a:rPr lang="en-US" dirty="0"/>
              <a:t>, consoles, </a:t>
            </a:r>
            <a:r>
              <a:rPr lang="en-US" b="1" dirty="0"/>
              <a:t>Windows PowerShell cmdlets and providers</a:t>
            </a:r>
            <a:r>
              <a:rPr lang="en-US" dirty="0"/>
              <a:t>, and command-line tools for managing roles and features that run on Windows Server.</a:t>
            </a:r>
            <a:r>
              <a:rPr lang="en-US" baseline="0" dirty="0"/>
              <a:t>”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621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0A48A744-077C-43E1-ACFC-B95892EACDB2}" type="slidenum">
              <a:rPr lang="en-US" altLang="en-US" sz="1200" b="0">
                <a:latin typeface="Arial" panose="020B0604020202020204" pitchFamily="34" charset="0"/>
              </a:rPr>
              <a:pPr algn="r" eaLnBrk="1" hangingPunct="1"/>
              <a:t>30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7600" cy="3486150"/>
          </a:xfrm>
          <a:ln/>
        </p:spPr>
      </p:sp>
      <p:sp>
        <p:nvSpPr>
          <p:cNvPr id="286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De </a:t>
            </a:r>
            <a:r>
              <a:rPr lang="en-US" altLang="en-US" dirty="0" err="1"/>
              <a:t>basisconfiguratie</a:t>
            </a:r>
            <a:r>
              <a:rPr lang="en-US" altLang="en-US" dirty="0"/>
              <a:t> </a:t>
            </a:r>
            <a:r>
              <a:rPr lang="en-US" altLang="en-US" dirty="0" err="1"/>
              <a:t>ziet</a:t>
            </a:r>
            <a:r>
              <a:rPr lang="en-US" altLang="en-US" dirty="0"/>
              <a:t> </a:t>
            </a:r>
            <a:r>
              <a:rPr lang="en-US" altLang="en-US" dirty="0" err="1"/>
              <a:t>er</a:t>
            </a:r>
            <a:r>
              <a:rPr lang="en-US" altLang="en-US" dirty="0"/>
              <a:t> </a:t>
            </a:r>
            <a:r>
              <a:rPr lang="en-US" altLang="en-US" dirty="0" err="1"/>
              <a:t>dan</a:t>
            </a:r>
            <a:r>
              <a:rPr lang="en-US" altLang="en-US" dirty="0"/>
              <a:t> </a:t>
            </a:r>
            <a:r>
              <a:rPr lang="en-US" altLang="en-US" dirty="0" err="1"/>
              <a:t>vanaf</a:t>
            </a:r>
            <a:r>
              <a:rPr lang="en-US" altLang="en-US" dirty="0"/>
              <a:t> de </a:t>
            </a:r>
            <a:r>
              <a:rPr lang="en-US" altLang="en-US" dirty="0" err="1"/>
              <a:t>commandline</a:t>
            </a:r>
            <a:r>
              <a:rPr lang="en-US" altLang="en-US" dirty="0"/>
              <a:t> zo </a:t>
            </a:r>
            <a:r>
              <a:rPr lang="en-US" altLang="en-US" dirty="0" err="1"/>
              <a:t>uit</a:t>
            </a:r>
            <a:r>
              <a:rPr lang="en-US" altLang="en-US" dirty="0"/>
              <a:t>. Het </a:t>
            </a:r>
            <a:r>
              <a:rPr lang="en-US" altLang="en-US" dirty="0" err="1"/>
              <a:t>aanpassen</a:t>
            </a:r>
            <a:r>
              <a:rPr lang="en-US" altLang="en-US" dirty="0"/>
              <a:t>/ </a:t>
            </a:r>
            <a:r>
              <a:rPr lang="en-US" altLang="en-US" dirty="0" err="1"/>
              <a:t>maken</a:t>
            </a:r>
            <a:r>
              <a:rPr lang="en-US" altLang="en-US" dirty="0"/>
              <a:t> van </a:t>
            </a:r>
            <a:r>
              <a:rPr lang="en-US" altLang="en-US" dirty="0" err="1"/>
              <a:t>gebruikers</a:t>
            </a:r>
            <a:r>
              <a:rPr lang="en-US" altLang="en-US" dirty="0"/>
              <a:t> </a:t>
            </a:r>
            <a:r>
              <a:rPr lang="en-US" altLang="en-US" dirty="0" err="1"/>
              <a:t>kan</a:t>
            </a:r>
            <a:r>
              <a:rPr lang="en-US" altLang="en-US" dirty="0"/>
              <a:t> via net user.</a:t>
            </a:r>
          </a:p>
          <a:p>
            <a:r>
              <a:rPr lang="en-US" altLang="en-US" dirty="0"/>
              <a:t>Het </a:t>
            </a:r>
            <a:r>
              <a:rPr lang="en-US" altLang="en-US" dirty="0" err="1"/>
              <a:t>toekennen</a:t>
            </a:r>
            <a:r>
              <a:rPr lang="en-US" altLang="en-US" dirty="0"/>
              <a:t> van </a:t>
            </a:r>
            <a:r>
              <a:rPr lang="en-US" altLang="en-US" dirty="0" err="1"/>
              <a:t>een</a:t>
            </a:r>
            <a:r>
              <a:rPr lang="en-US" altLang="en-US" dirty="0"/>
              <a:t> IP en </a:t>
            </a:r>
            <a:r>
              <a:rPr lang="en-US" altLang="en-US" dirty="0" err="1"/>
              <a:t>een</a:t>
            </a:r>
            <a:r>
              <a:rPr lang="en-US" altLang="en-US" dirty="0"/>
              <a:t> DNS server </a:t>
            </a:r>
            <a:r>
              <a:rPr lang="en-US" altLang="en-US" dirty="0" err="1"/>
              <a:t>gaat</a:t>
            </a:r>
            <a:r>
              <a:rPr lang="en-US" altLang="en-US" dirty="0"/>
              <a:t> via </a:t>
            </a:r>
            <a:r>
              <a:rPr lang="en-US" altLang="en-US" dirty="0" err="1"/>
              <a:t>netsh</a:t>
            </a:r>
            <a:r>
              <a:rPr lang="en-US" altLang="en-US" dirty="0"/>
              <a:t>. </a:t>
            </a:r>
            <a:r>
              <a:rPr lang="en-US" altLang="en-US" dirty="0" err="1"/>
              <a:t>Hierbij</a:t>
            </a:r>
            <a:r>
              <a:rPr lang="en-US" altLang="en-US" dirty="0"/>
              <a:t> </a:t>
            </a:r>
            <a:r>
              <a:rPr lang="en-US" altLang="en-US" dirty="0" err="1"/>
              <a:t>selecteer</a:t>
            </a:r>
            <a:r>
              <a:rPr lang="en-US" altLang="en-US" dirty="0"/>
              <a:t> je </a:t>
            </a:r>
            <a:r>
              <a:rPr lang="en-US" altLang="en-US" dirty="0" err="1"/>
              <a:t>eerst</a:t>
            </a:r>
            <a:r>
              <a:rPr lang="en-US" altLang="en-US" dirty="0"/>
              <a:t> de </a:t>
            </a:r>
            <a:r>
              <a:rPr lang="en-US" altLang="en-US" dirty="0" err="1"/>
              <a:t>optie</a:t>
            </a:r>
            <a:r>
              <a:rPr lang="en-US" altLang="en-US" dirty="0"/>
              <a:t> interface, </a:t>
            </a:r>
            <a:r>
              <a:rPr lang="en-US" altLang="en-US" dirty="0" err="1"/>
              <a:t>daarna</a:t>
            </a:r>
            <a:r>
              <a:rPr lang="en-US" altLang="en-US" dirty="0"/>
              <a:t> kun je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keuze</a:t>
            </a:r>
            <a:r>
              <a:rPr lang="en-US" altLang="en-US" dirty="0"/>
              <a:t> </a:t>
            </a:r>
            <a:r>
              <a:rPr lang="en-US" altLang="en-US" dirty="0" err="1"/>
              <a:t>maken</a:t>
            </a:r>
            <a:r>
              <a:rPr lang="en-US" altLang="en-US" dirty="0"/>
              <a:t> in v4 of v6 </a:t>
            </a:r>
            <a:r>
              <a:rPr lang="en-US" altLang="en-US" dirty="0" err="1"/>
              <a:t>dan</a:t>
            </a:r>
            <a:r>
              <a:rPr lang="en-US" altLang="en-US" dirty="0"/>
              <a:t> </a:t>
            </a:r>
            <a:r>
              <a:rPr lang="en-US" altLang="en-US" dirty="0" err="1"/>
              <a:t>selecteer</a:t>
            </a:r>
            <a:r>
              <a:rPr lang="en-US" altLang="en-US" dirty="0"/>
              <a:t> je </a:t>
            </a:r>
            <a:r>
              <a:rPr lang="en-US" altLang="en-US" dirty="0" err="1"/>
              <a:t>een</a:t>
            </a:r>
            <a:r>
              <a:rPr lang="en-US" altLang="en-US" dirty="0"/>
              <a:t> interface (show interface) </a:t>
            </a:r>
            <a:r>
              <a:rPr lang="en-US" altLang="en-US" dirty="0" err="1"/>
              <a:t>geeft</a:t>
            </a:r>
            <a:r>
              <a:rPr lang="en-US" altLang="en-US" dirty="0"/>
              <a:t> </a:t>
            </a:r>
            <a:r>
              <a:rPr lang="en-US" altLang="en-US" dirty="0" err="1"/>
              <a:t>daarbij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naam</a:t>
            </a:r>
            <a:r>
              <a:rPr lang="en-US" altLang="en-US" dirty="0"/>
              <a:t> </a:t>
            </a:r>
            <a:r>
              <a:rPr lang="en-US" altLang="en-US" dirty="0" err="1"/>
              <a:t>en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ldx</a:t>
            </a:r>
            <a:r>
              <a:rPr lang="en-US" altLang="en-US" dirty="0"/>
              <a:t> </a:t>
            </a:r>
            <a:r>
              <a:rPr lang="en-US" altLang="en-US" dirty="0" err="1"/>
              <a:t>nummer</a:t>
            </a:r>
            <a:r>
              <a:rPr lang="en-US" altLang="en-US" dirty="0"/>
              <a:t>. </a:t>
            </a:r>
            <a:r>
              <a:rPr lang="en-US" altLang="en-US" dirty="0" err="1"/>
              <a:t>Vervolgens</a:t>
            </a:r>
            <a:r>
              <a:rPr lang="en-US" altLang="en-US" dirty="0"/>
              <a:t> </a:t>
            </a:r>
            <a:r>
              <a:rPr lang="en-US" altLang="en-US" dirty="0" err="1"/>
              <a:t>geef</a:t>
            </a:r>
            <a:r>
              <a:rPr lang="en-US" altLang="en-US" dirty="0"/>
              <a:t> je </a:t>
            </a:r>
            <a:r>
              <a:rPr lang="en-US" altLang="en-US" dirty="0" err="1"/>
              <a:t>bij</a:t>
            </a:r>
            <a:r>
              <a:rPr lang="en-US" altLang="en-US" dirty="0"/>
              <a:t> source op of het </a:t>
            </a:r>
            <a:r>
              <a:rPr lang="en-US" altLang="en-US" dirty="0" err="1"/>
              <a:t>statische</a:t>
            </a:r>
            <a:r>
              <a:rPr lang="en-US" altLang="en-US" dirty="0"/>
              <a:t> of dynamic </a:t>
            </a:r>
            <a:r>
              <a:rPr lang="en-US" altLang="en-US" dirty="0" err="1"/>
              <a:t>moet</a:t>
            </a:r>
            <a:r>
              <a:rPr lang="en-US" altLang="en-US" dirty="0"/>
              <a:t> </a:t>
            </a:r>
            <a:r>
              <a:rPr lang="en-US" altLang="en-US" dirty="0" err="1"/>
              <a:t>zijn</a:t>
            </a:r>
            <a:r>
              <a:rPr lang="en-US" altLang="en-US" dirty="0"/>
              <a:t>. Static </a:t>
            </a:r>
            <a:r>
              <a:rPr lang="en-US" altLang="en-US" dirty="0" err="1"/>
              <a:t>geeft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IP op, mask </a:t>
            </a:r>
            <a:r>
              <a:rPr lang="en-US" altLang="en-US" dirty="0" err="1"/>
              <a:t>specificeert</a:t>
            </a:r>
            <a:r>
              <a:rPr lang="en-US" altLang="en-US" dirty="0"/>
              <a:t> het </a:t>
            </a:r>
            <a:r>
              <a:rPr lang="en-US" altLang="en-US" dirty="0" err="1"/>
              <a:t>subnetmask</a:t>
            </a:r>
            <a:r>
              <a:rPr lang="en-US" altLang="en-US" dirty="0"/>
              <a:t> en gateway het IP van de router. De</a:t>
            </a:r>
            <a:r>
              <a:rPr lang="en-US" altLang="en-US" baseline="0" dirty="0"/>
              <a:t> DNS </a:t>
            </a:r>
            <a:r>
              <a:rPr lang="en-US" altLang="en-US" dirty="0"/>
              <a:t>server </a:t>
            </a:r>
            <a:r>
              <a:rPr lang="en-US" altLang="en-US" dirty="0" err="1"/>
              <a:t>kan</a:t>
            </a:r>
            <a:r>
              <a:rPr lang="en-US" altLang="en-US" dirty="0"/>
              <a:t> </a:t>
            </a:r>
            <a:r>
              <a:rPr lang="en-US" altLang="en-US" dirty="0" err="1"/>
              <a:t>niet</a:t>
            </a:r>
            <a:r>
              <a:rPr lang="en-US" altLang="en-US" dirty="0"/>
              <a:t> direct </a:t>
            </a:r>
            <a:r>
              <a:rPr lang="en-US" altLang="en-US" dirty="0" err="1"/>
              <a:t>worden</a:t>
            </a:r>
            <a:r>
              <a:rPr lang="en-US" altLang="en-US" dirty="0"/>
              <a:t> </a:t>
            </a:r>
            <a:r>
              <a:rPr lang="en-US" altLang="en-US" dirty="0" err="1"/>
              <a:t>opgegeven</a:t>
            </a:r>
            <a:r>
              <a:rPr lang="en-US" altLang="en-US" dirty="0"/>
              <a:t>. </a:t>
            </a:r>
            <a:r>
              <a:rPr lang="en-US" altLang="en-US" dirty="0" err="1"/>
              <a:t>Dit</a:t>
            </a:r>
            <a:r>
              <a:rPr lang="en-US" altLang="en-US" dirty="0"/>
              <a:t> </a:t>
            </a:r>
            <a:r>
              <a:rPr lang="en-US" altLang="en-US" dirty="0" err="1"/>
              <a:t>moet</a:t>
            </a:r>
            <a:r>
              <a:rPr lang="en-US" altLang="en-US" dirty="0"/>
              <a:t> </a:t>
            </a:r>
            <a:r>
              <a:rPr lang="en-US" altLang="en-US" dirty="0" err="1"/>
              <a:t>weer</a:t>
            </a:r>
            <a:r>
              <a:rPr lang="en-US" altLang="en-US" dirty="0"/>
              <a:t> in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aparte</a:t>
            </a:r>
            <a:r>
              <a:rPr lang="en-US" altLang="en-US" dirty="0"/>
              <a:t> regel </a:t>
            </a:r>
            <a:r>
              <a:rPr lang="en-US" altLang="en-US" dirty="0" err="1"/>
              <a:t>gebeuren</a:t>
            </a:r>
            <a:r>
              <a:rPr lang="en-US" altLang="en-US" dirty="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De op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na</a:t>
            </a:r>
            <a:r>
              <a:rPr lang="en-US" altLang="en-US" dirty="0"/>
              <a:t> </a:t>
            </a:r>
            <a:r>
              <a:rPr lang="en-US" altLang="en-US" dirty="0" err="1"/>
              <a:t>onderste</a:t>
            </a:r>
            <a:r>
              <a:rPr lang="en-US" altLang="en-US" dirty="0"/>
              <a:t> </a:t>
            </a:r>
            <a:r>
              <a:rPr lang="en-US" altLang="en-US" dirty="0" err="1"/>
              <a:t>netsh</a:t>
            </a:r>
            <a:r>
              <a:rPr lang="en-US" altLang="en-US" dirty="0"/>
              <a:t> regel </a:t>
            </a:r>
            <a:r>
              <a:rPr lang="en-US" altLang="en-US" dirty="0" err="1"/>
              <a:t>zorgt</a:t>
            </a:r>
            <a:r>
              <a:rPr lang="en-US" altLang="en-US" dirty="0"/>
              <a:t> </a:t>
            </a:r>
            <a:r>
              <a:rPr lang="en-US" altLang="en-US" dirty="0" err="1"/>
              <a:t>voor</a:t>
            </a:r>
            <a:r>
              <a:rPr lang="en-US" altLang="en-US" dirty="0"/>
              <a:t> het </a:t>
            </a:r>
            <a:r>
              <a:rPr lang="en-US" altLang="en-US" dirty="0" err="1"/>
              <a:t>aanpassen</a:t>
            </a:r>
            <a:r>
              <a:rPr lang="en-US" altLang="en-US" dirty="0"/>
              <a:t> van de firewall, om remote </a:t>
            </a:r>
            <a:r>
              <a:rPr lang="en-US" altLang="en-US" dirty="0" err="1"/>
              <a:t>administratie</a:t>
            </a:r>
            <a:r>
              <a:rPr lang="en-US" altLang="en-US" dirty="0"/>
              <a:t> </a:t>
            </a:r>
            <a:r>
              <a:rPr lang="en-US" altLang="en-US" dirty="0" err="1"/>
              <a:t>mogelijk</a:t>
            </a:r>
            <a:r>
              <a:rPr lang="en-US" altLang="en-US" dirty="0"/>
              <a:t>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maken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De </a:t>
            </a:r>
            <a:r>
              <a:rPr lang="en-US" altLang="en-US" dirty="0" err="1"/>
              <a:t>onderste</a:t>
            </a:r>
            <a:r>
              <a:rPr lang="en-US" altLang="en-US" dirty="0"/>
              <a:t> regel </a:t>
            </a:r>
            <a:r>
              <a:rPr lang="en-US" altLang="en-US" dirty="0" err="1"/>
              <a:t>maakt</a:t>
            </a:r>
            <a:r>
              <a:rPr lang="en-US" altLang="en-US" dirty="0"/>
              <a:t>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deel</a:t>
            </a:r>
            <a:r>
              <a:rPr lang="en-US" altLang="en-US" dirty="0"/>
              <a:t> van </a:t>
            </a:r>
            <a:r>
              <a:rPr lang="en-US" altLang="en-US" dirty="0" err="1"/>
              <a:t>remotebeheer</a:t>
            </a:r>
            <a:r>
              <a:rPr lang="en-US" altLang="en-US" dirty="0"/>
              <a:t> </a:t>
            </a:r>
            <a:r>
              <a:rPr lang="en-US" altLang="en-US" dirty="0" err="1"/>
              <a:t>mogelijk</a:t>
            </a:r>
            <a:r>
              <a:rPr lang="en-US" altLang="en-US" dirty="0"/>
              <a:t> via </a:t>
            </a:r>
            <a:r>
              <a:rPr lang="en-US" altLang="en-US" dirty="0" err="1"/>
              <a:t>een</a:t>
            </a:r>
            <a:r>
              <a:rPr lang="en-US" altLang="en-US" dirty="0"/>
              <a:t> </a:t>
            </a:r>
            <a:r>
              <a:rPr lang="en-US" altLang="en-US" dirty="0" err="1"/>
              <a:t>ander</a:t>
            </a:r>
            <a:r>
              <a:rPr lang="en-US" altLang="en-US" dirty="0"/>
              <a:t> </a:t>
            </a:r>
            <a:r>
              <a:rPr lang="en-US" altLang="en-US" dirty="0" err="1"/>
              <a:t>systeem</a:t>
            </a:r>
            <a:r>
              <a:rPr lang="en-US" altLang="en-US" dirty="0"/>
              <a:t> de firewall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beheren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948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EC71827D-3ED9-45CD-AC94-120CCB8C2C6F}" type="slidenum">
              <a:rPr lang="en-US" altLang="en-US" sz="1200" b="0">
                <a:latin typeface="Arial" panose="020B0604020202020204" pitchFamily="34" charset="0"/>
              </a:rPr>
              <a:pPr algn="r" eaLnBrk="1" hangingPunct="1"/>
              <a:t>31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7600" cy="3486150"/>
          </a:xfrm>
          <a:ln/>
        </p:spPr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/>
              <a:t>Andere</a:t>
            </a:r>
            <a:r>
              <a:rPr lang="en-US" altLang="en-US" dirty="0"/>
              <a:t> </a:t>
            </a:r>
            <a:r>
              <a:rPr lang="en-US" altLang="en-US" dirty="0" err="1"/>
              <a:t>handelingen</a:t>
            </a:r>
            <a:r>
              <a:rPr lang="en-US" altLang="en-US" dirty="0"/>
              <a:t> </a:t>
            </a:r>
            <a:r>
              <a:rPr lang="en-US" altLang="en-US" dirty="0" err="1"/>
              <a:t>zijn</a:t>
            </a:r>
            <a:r>
              <a:rPr lang="en-US" altLang="en-US" dirty="0"/>
              <a:t> het </a:t>
            </a:r>
            <a:r>
              <a:rPr lang="en-US" altLang="en-US" dirty="0" err="1"/>
              <a:t>activeren</a:t>
            </a:r>
            <a:r>
              <a:rPr lang="en-US" altLang="en-US" dirty="0"/>
              <a:t> slmgr.vbs /rearm </a:t>
            </a:r>
            <a:r>
              <a:rPr lang="en-US" altLang="en-US" dirty="0" err="1"/>
              <a:t>geeft</a:t>
            </a:r>
            <a:r>
              <a:rPr lang="en-US" altLang="en-US" dirty="0"/>
              <a:t> je de </a:t>
            </a:r>
            <a:r>
              <a:rPr lang="en-US" altLang="en-US" dirty="0" err="1"/>
              <a:t>mogelijkheid</a:t>
            </a:r>
            <a:r>
              <a:rPr lang="en-US" altLang="en-US" dirty="0"/>
              <a:t> om de server </a:t>
            </a:r>
            <a:r>
              <a:rPr lang="en-US" altLang="en-US" dirty="0" err="1"/>
              <a:t>langer</a:t>
            </a:r>
            <a:r>
              <a:rPr lang="en-US" altLang="en-US" dirty="0"/>
              <a:t>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gebruiken</a:t>
            </a:r>
            <a:r>
              <a:rPr lang="en-US" altLang="en-US" dirty="0"/>
              <a:t> </a:t>
            </a:r>
            <a:r>
              <a:rPr lang="en-US" altLang="en-US" dirty="0" err="1"/>
              <a:t>zonder</a:t>
            </a:r>
            <a:r>
              <a:rPr lang="en-US" altLang="en-US" dirty="0"/>
              <a:t>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activeren</a:t>
            </a:r>
            <a:r>
              <a:rPr lang="en-US" altLang="en-US" dirty="0"/>
              <a:t> /</a:t>
            </a:r>
            <a:r>
              <a:rPr lang="en-US" altLang="en-US" dirty="0" err="1"/>
              <a:t>registreren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Met control </a:t>
            </a:r>
            <a:r>
              <a:rPr lang="en-US" altLang="en-US" dirty="0" err="1"/>
              <a:t>timedate.cpl</a:t>
            </a:r>
            <a:r>
              <a:rPr lang="en-US" altLang="en-US" dirty="0"/>
              <a:t> en </a:t>
            </a:r>
            <a:r>
              <a:rPr lang="en-US" altLang="en-US" dirty="0" err="1"/>
              <a:t>intl.cpl</a:t>
            </a:r>
            <a:r>
              <a:rPr lang="en-US" altLang="en-US" dirty="0"/>
              <a:t> kun je de datum, </a:t>
            </a:r>
            <a:r>
              <a:rPr lang="en-US" altLang="en-US" dirty="0" err="1"/>
              <a:t>tijd</a:t>
            </a:r>
            <a:r>
              <a:rPr lang="en-US" altLang="en-US" dirty="0"/>
              <a:t> </a:t>
            </a:r>
            <a:r>
              <a:rPr lang="en-US" altLang="en-US" dirty="0" err="1"/>
              <a:t>respectievelijk</a:t>
            </a:r>
            <a:r>
              <a:rPr lang="en-US" altLang="en-US" dirty="0"/>
              <a:t> de taal </a:t>
            </a:r>
            <a:r>
              <a:rPr lang="en-US" altLang="en-US" dirty="0" err="1"/>
              <a:t>aanpassen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3949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CF783429-9893-4130-9EE7-89BB752C24B6}" type="slidenum">
              <a:rPr lang="en-US" altLang="en-US" sz="1200" b="0">
                <a:latin typeface="Arial" panose="020B0604020202020204" pitchFamily="34" charset="0"/>
              </a:rPr>
              <a:pPr algn="r" eaLnBrk="1" hangingPunct="1"/>
              <a:t>32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7600" cy="3486150"/>
          </a:xfrm>
          <a:ln/>
        </p:spPr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5211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A684B09F-325B-43C6-A189-4AC0BCF373C9}" type="slidenum">
              <a:rPr lang="en-US" altLang="en-US" sz="1200" b="0">
                <a:latin typeface="Arial" panose="020B0604020202020204" pitchFamily="34" charset="0"/>
              </a:rPr>
              <a:pPr algn="r" eaLnBrk="1" hangingPunct="1"/>
              <a:t>33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7600" cy="3486150"/>
          </a:xfrm>
          <a:ln/>
        </p:spPr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DHCP </a:t>
            </a:r>
            <a:r>
              <a:rPr lang="en-US" altLang="en-US" dirty="0" err="1"/>
              <a:t>installeren</a:t>
            </a:r>
            <a:r>
              <a:rPr lang="en-US" altLang="en-US" dirty="0"/>
              <a:t>, </a:t>
            </a:r>
            <a:r>
              <a:rPr lang="en-US" altLang="en-US" dirty="0" err="1"/>
              <a:t>autostart</a:t>
            </a:r>
            <a:r>
              <a:rPr lang="en-US" altLang="en-US" dirty="0"/>
              <a:t> </a:t>
            </a:r>
            <a:r>
              <a:rPr lang="en-US" altLang="en-US" dirty="0" err="1"/>
              <a:t>maken</a:t>
            </a:r>
            <a:r>
              <a:rPr lang="en-US" altLang="en-US" dirty="0"/>
              <a:t> en de server nu </a:t>
            </a:r>
            <a:r>
              <a:rPr lang="en-US" altLang="en-US" dirty="0" err="1"/>
              <a:t>starten</a:t>
            </a:r>
            <a:r>
              <a:rPr lang="en-US" altLang="en-US" dirty="0"/>
              <a:t>, </a:t>
            </a:r>
            <a:r>
              <a:rPr lang="en-US" altLang="en-US" dirty="0" err="1"/>
              <a:t>netsh</a:t>
            </a:r>
            <a:r>
              <a:rPr lang="en-US" altLang="en-US" dirty="0"/>
              <a:t> </a:t>
            </a:r>
            <a:r>
              <a:rPr lang="en-US" altLang="en-US" dirty="0" err="1"/>
              <a:t>dhcp</a:t>
            </a:r>
            <a:r>
              <a:rPr lang="en-US" altLang="en-US" dirty="0"/>
              <a:t> add server </a:t>
            </a:r>
            <a:r>
              <a:rPr lang="en-US" altLang="en-US" dirty="0" err="1"/>
              <a:t>biedt</a:t>
            </a:r>
            <a:r>
              <a:rPr lang="en-US" altLang="en-US" dirty="0"/>
              <a:t> de </a:t>
            </a:r>
            <a:r>
              <a:rPr lang="en-US" altLang="en-US" dirty="0" err="1"/>
              <a:t>mogelijkheid</a:t>
            </a:r>
            <a:r>
              <a:rPr lang="en-US" altLang="en-US" dirty="0"/>
              <a:t> om de </a:t>
            </a:r>
            <a:r>
              <a:rPr lang="en-US" altLang="en-US" dirty="0" err="1"/>
              <a:t>dhcp</a:t>
            </a:r>
            <a:r>
              <a:rPr lang="en-US" altLang="en-US" dirty="0"/>
              <a:t>-server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configureren</a:t>
            </a:r>
            <a:r>
              <a:rPr lang="en-US" altLang="en-US" dirty="0"/>
              <a:t>. </a:t>
            </a:r>
          </a:p>
          <a:p>
            <a:r>
              <a:rPr lang="en-US" altLang="en-US" dirty="0" err="1"/>
              <a:t>Vervolgens</a:t>
            </a:r>
            <a:r>
              <a:rPr lang="en-US" altLang="en-US" dirty="0"/>
              <a:t> kun je </a:t>
            </a:r>
            <a:r>
              <a:rPr lang="en-US" altLang="en-US" dirty="0" err="1"/>
              <a:t>daarna</a:t>
            </a:r>
            <a:r>
              <a:rPr lang="en-US" altLang="en-US" dirty="0"/>
              <a:t> nog de IP-range en </a:t>
            </a:r>
            <a:r>
              <a:rPr lang="en-US" altLang="en-US" dirty="0" err="1"/>
              <a:t>opties</a:t>
            </a:r>
            <a:r>
              <a:rPr lang="en-US" altLang="en-US" dirty="0"/>
              <a:t> </a:t>
            </a:r>
            <a:r>
              <a:rPr lang="en-US" altLang="en-US" dirty="0" err="1"/>
              <a:t>opzetten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32516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A684B09F-325B-43C6-A189-4AC0BCF373C9}" type="slidenum">
              <a:rPr lang="en-US" altLang="en-US" sz="1200" b="0">
                <a:latin typeface="Arial" panose="020B0604020202020204" pitchFamily="34" charset="0"/>
              </a:rPr>
              <a:pPr algn="r" eaLnBrk="1" hangingPunct="1"/>
              <a:t>34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7600" cy="3486150"/>
          </a:xfrm>
          <a:ln/>
        </p:spPr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DHCP </a:t>
            </a:r>
            <a:r>
              <a:rPr lang="en-US" altLang="en-US" dirty="0" err="1"/>
              <a:t>installeren</a:t>
            </a:r>
            <a:r>
              <a:rPr lang="en-US" altLang="en-US" dirty="0"/>
              <a:t>, </a:t>
            </a:r>
            <a:r>
              <a:rPr lang="en-US" altLang="en-US" dirty="0" err="1"/>
              <a:t>autostart</a:t>
            </a:r>
            <a:r>
              <a:rPr lang="en-US" altLang="en-US" dirty="0"/>
              <a:t> </a:t>
            </a:r>
            <a:r>
              <a:rPr lang="en-US" altLang="en-US" dirty="0" err="1"/>
              <a:t>maken</a:t>
            </a:r>
            <a:r>
              <a:rPr lang="en-US" altLang="en-US" dirty="0"/>
              <a:t> en de server nu </a:t>
            </a:r>
            <a:r>
              <a:rPr lang="en-US" altLang="en-US" dirty="0" err="1"/>
              <a:t>starten</a:t>
            </a:r>
            <a:r>
              <a:rPr lang="en-US" altLang="en-US" dirty="0"/>
              <a:t>, </a:t>
            </a:r>
            <a:r>
              <a:rPr lang="en-US" altLang="en-US" dirty="0" err="1"/>
              <a:t>netsh</a:t>
            </a:r>
            <a:r>
              <a:rPr lang="en-US" altLang="en-US" dirty="0"/>
              <a:t> </a:t>
            </a:r>
            <a:r>
              <a:rPr lang="en-US" altLang="en-US" dirty="0" err="1"/>
              <a:t>dhcp</a:t>
            </a:r>
            <a:r>
              <a:rPr lang="en-US" altLang="en-US" dirty="0"/>
              <a:t> add server </a:t>
            </a:r>
            <a:r>
              <a:rPr lang="en-US" altLang="en-US" dirty="0" err="1"/>
              <a:t>biedt</a:t>
            </a:r>
            <a:r>
              <a:rPr lang="en-US" altLang="en-US" dirty="0"/>
              <a:t> de </a:t>
            </a:r>
            <a:r>
              <a:rPr lang="en-US" altLang="en-US" dirty="0" err="1"/>
              <a:t>mogelijkheid</a:t>
            </a:r>
            <a:r>
              <a:rPr lang="en-US" altLang="en-US" dirty="0"/>
              <a:t> om de </a:t>
            </a:r>
            <a:r>
              <a:rPr lang="en-US" altLang="en-US" dirty="0" err="1"/>
              <a:t>dhcp</a:t>
            </a:r>
            <a:r>
              <a:rPr lang="en-US" altLang="en-US" dirty="0"/>
              <a:t>-server </a:t>
            </a:r>
            <a:r>
              <a:rPr lang="en-US" altLang="en-US" dirty="0" err="1"/>
              <a:t>te</a:t>
            </a:r>
            <a:r>
              <a:rPr lang="en-US" altLang="en-US" dirty="0"/>
              <a:t> </a:t>
            </a:r>
            <a:r>
              <a:rPr lang="en-US" altLang="en-US" dirty="0" err="1"/>
              <a:t>configureren</a:t>
            </a:r>
            <a:r>
              <a:rPr lang="en-US" altLang="en-US" dirty="0"/>
              <a:t>. </a:t>
            </a:r>
          </a:p>
          <a:p>
            <a:r>
              <a:rPr lang="en-US" altLang="en-US" dirty="0" err="1"/>
              <a:t>Vervolgens</a:t>
            </a:r>
            <a:r>
              <a:rPr lang="en-US" altLang="en-US" dirty="0"/>
              <a:t> kun je </a:t>
            </a:r>
            <a:r>
              <a:rPr lang="en-US" altLang="en-US" dirty="0" err="1"/>
              <a:t>daarna</a:t>
            </a:r>
            <a:r>
              <a:rPr lang="en-US" altLang="en-US" dirty="0"/>
              <a:t> nog de IP-range en </a:t>
            </a:r>
            <a:r>
              <a:rPr lang="en-US" altLang="en-US" dirty="0" err="1"/>
              <a:t>opties</a:t>
            </a:r>
            <a:r>
              <a:rPr lang="en-US" altLang="en-US" dirty="0"/>
              <a:t> </a:t>
            </a:r>
            <a:r>
              <a:rPr lang="en-US" altLang="en-US" dirty="0" err="1"/>
              <a:t>opzetten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23458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1/31/2025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35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35267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itchFamily="34" charset="0"/>
              </a:defRPr>
            </a:lvl1pPr>
            <a:lvl2pPr marL="729057" indent="-280406">
              <a:defRPr b="1">
                <a:solidFill>
                  <a:schemeClr val="tx1"/>
                </a:solidFill>
                <a:latin typeface="Verdana" pitchFamily="34" charset="0"/>
              </a:defRPr>
            </a:lvl2pPr>
            <a:lvl3pPr marL="1121626" indent="-224325">
              <a:defRPr b="1">
                <a:solidFill>
                  <a:schemeClr val="tx1"/>
                </a:solidFill>
                <a:latin typeface="Verdana" pitchFamily="34" charset="0"/>
              </a:defRPr>
            </a:lvl3pPr>
            <a:lvl4pPr marL="1570276" indent="-224325">
              <a:defRPr b="1">
                <a:solidFill>
                  <a:schemeClr val="tx1"/>
                </a:solidFill>
                <a:latin typeface="Verdana" pitchFamily="34" charset="0"/>
              </a:defRPr>
            </a:lvl4pPr>
            <a:lvl5pPr marL="2018927" indent="-224325">
              <a:defRPr b="1">
                <a:solidFill>
                  <a:schemeClr val="tx1"/>
                </a:solidFill>
                <a:latin typeface="Verdana" pitchFamily="34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02574A54-282E-4796-9227-C5649F56EAFA}" type="slidenum">
              <a:rPr lang="en-US" altLang="nl-NL" b="0" smtClean="0">
                <a:latin typeface="Arial" charset="0"/>
              </a:rPr>
              <a:pPr/>
              <a:t>36</a:t>
            </a:fld>
            <a:endParaRPr lang="en-US" altLang="nl-NL" b="0"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4213"/>
            <a:ext cx="6096000" cy="3430587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6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nl-NL" dirty="0" err="1"/>
              <a:t>Bronvermelding</a:t>
            </a:r>
            <a:r>
              <a:rPr lang="en-US" altLang="nl-NL" baseline="0" dirty="0"/>
              <a:t> </a:t>
            </a:r>
            <a:r>
              <a:rPr lang="en-US" altLang="nl-NL" baseline="0" dirty="0" err="1"/>
              <a:t>illustratie</a:t>
            </a:r>
            <a:r>
              <a:rPr lang="en-US" altLang="nl-NL" baseline="0" dirty="0"/>
              <a:t>: </a:t>
            </a:r>
            <a:r>
              <a:rPr lang="en-US" altLang="nl-NL" baseline="0" dirty="0" err="1"/>
              <a:t>eigen</a:t>
            </a:r>
            <a:r>
              <a:rPr lang="en-US" altLang="nl-NL" baseline="0" dirty="0"/>
              <a:t> screenshot</a:t>
            </a:r>
            <a:endParaRPr lang="nl-NL" altLang="nl-NL" dirty="0"/>
          </a:p>
        </p:txBody>
      </p:sp>
    </p:spTree>
    <p:extLst>
      <p:ext uri="{BB962C8B-B14F-4D97-AF65-F5344CB8AC3E}">
        <p14:creationId xmlns:p14="http://schemas.microsoft.com/office/powerpoint/2010/main" val="2213873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1/31/2025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37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41815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14" y="300471"/>
            <a:ext cx="4042858" cy="9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0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800962-39D7-4A2F-877C-C0B248DA24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278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6827B49-8514-4B4D-93BE-DF1EBC1330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729589"/>
            <a:ext cx="9144000" cy="341391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2AF5AF-6D65-499C-A5ED-F3C429D05A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75771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8219" y="1196341"/>
            <a:ext cx="7553716" cy="3292316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6" name="Rechthoek 5"/>
          <p:cNvSpPr/>
          <p:nvPr userDrawn="1"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433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rtikel_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718218" y="594516"/>
            <a:ext cx="7670132" cy="389414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Font typeface="Arial"/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nl-NL" dirty="0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9808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4570488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kstvak 8"/>
          <p:cNvSpPr txBox="1"/>
          <p:nvPr/>
        </p:nvSpPr>
        <p:spPr>
          <a:xfrm>
            <a:off x="453006" y="481131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/>
          <p:cNvSpPr txBox="1"/>
          <p:nvPr/>
        </p:nvSpPr>
        <p:spPr>
          <a:xfrm>
            <a:off x="453006" y="702873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7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BE96C8-0802-4DEF-9B61-78DAF483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3" y="2905077"/>
            <a:ext cx="7725727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911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31" name="Afbeelding 30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257651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Rechthoek 15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7670066" cy="11043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2" name="Afbeelding 11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89D279-AE2A-4F81-B9FC-573B4F89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581675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92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1408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6" name="Rechthoek 25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8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CD6AF1-FC9F-4D85-84FA-79A0AD5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2762106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313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104925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5292148" y="1196341"/>
            <a:ext cx="3568072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9F7ADF-4FD4-440E-B278-2B96AD70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148" y="581675"/>
            <a:ext cx="3568072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64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4573522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Afbeelding 6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pic>
        <p:nvPicPr>
          <p:cNvPr id="8" name="Afbeelding 7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EA1F60-581A-4678-83E6-545DB57C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2" y="581675"/>
            <a:ext cx="3461388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492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fbeelding 8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3" name="Afbeelding 12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6" name="Tekstvak 15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A25B72-A285-45B6-B8DA-EA310278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1" y="581675"/>
            <a:ext cx="7207861" cy="46166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951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2"/>
            <a:ext cx="9144000" cy="18323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DB5DD-F031-4348-AE63-F011E503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103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BDEEBC-F862-428A-BC14-C55F2193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35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ijdelijke aanduiding voor tekst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8224" y="623650"/>
            <a:ext cx="3493741" cy="312906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Tabelkop</a:t>
            </a:r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387718-F286-4F2E-8A56-4A663086FB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0"/>
            <a:ext cx="4572000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32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5" name="Afbeelding 4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7" name="Afbeelding 6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9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4"/>
          <p:cNvSpPr>
            <a:spLocks noGrp="1"/>
          </p:cNvSpPr>
          <p:nvPr>
            <p:ph type="pic" sz="quarter" idx="13"/>
          </p:nvPr>
        </p:nvSpPr>
        <p:spPr>
          <a:xfrm>
            <a:off x="0" y="6362"/>
            <a:ext cx="9144000" cy="33230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1064" y="3695965"/>
            <a:ext cx="7857286" cy="792692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en-US" dirty="0" err="1"/>
              <a:t>Bijschrift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91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>
          <a:xfrm>
            <a:off x="750570" y="1369219"/>
            <a:ext cx="7637780" cy="12022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</a:t>
            </a:r>
          </a:p>
          <a:p>
            <a:pPr lvl="1"/>
            <a:r>
              <a:rPr lang="nl-NL" dirty="0"/>
              <a:t>Niveau 2</a:t>
            </a:r>
          </a:p>
          <a:p>
            <a:pPr lvl="2"/>
            <a:r>
              <a:rPr lang="nl-NL" dirty="0"/>
              <a:t>Niveau 3</a:t>
            </a:r>
          </a:p>
        </p:txBody>
      </p:sp>
      <p:sp>
        <p:nvSpPr>
          <p:cNvPr id="5" name="Tijdelijke aanduiding voor titel 4"/>
          <p:cNvSpPr>
            <a:spLocks noGrp="1"/>
          </p:cNvSpPr>
          <p:nvPr>
            <p:ph type="title"/>
          </p:nvPr>
        </p:nvSpPr>
        <p:spPr>
          <a:xfrm>
            <a:off x="750572" y="581675"/>
            <a:ext cx="763777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</a:p>
        </p:txBody>
      </p:sp>
      <p:pic>
        <p:nvPicPr>
          <p:cNvPr id="13" name="Afbeelding 12" descr="hu logo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pic>
        <p:nvPicPr>
          <p:cNvPr id="6" name="Afbeelding 5" descr="hu logo.png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9352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0" r:id="rId3"/>
    <p:sldLayoutId id="2147483695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Courier New" panose="02070309020205020404" pitchFamily="49" charset="0"/>
        <a:buChar char="o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284">
          <p15:clr>
            <a:srgbClr val="F26B43"/>
          </p15:clr>
        </p15:guide>
        <p15:guide id="4" orient="horz" pos="37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command.org/lc3_learning_the_shell.ph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8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Platformen</a:t>
            </a:r>
            <a:r>
              <a:rPr lang="en-US" dirty="0"/>
              <a:t>: command line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Deel 1: Linux shell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955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Programma voor communicatie tussen gebruiker en OS (kernel)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Leest invoer van gebruiker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Interpreteert invoer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Vertaalt naar OS-aanroepen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Geeft uitvoer voor gebruiker begrijpelijk weer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Shell – Wat is dat?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9600" y="1471142"/>
            <a:ext cx="3894401" cy="301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08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5798264" cy="329231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Meest voorkomende </a:t>
            </a:r>
            <a:r>
              <a:rPr lang="nl-NL" dirty="0" err="1"/>
              <a:t>shells</a:t>
            </a:r>
            <a:r>
              <a:rPr lang="nl-NL" dirty="0"/>
              <a:t>: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 err="1"/>
              <a:t>Bourne</a:t>
            </a:r>
            <a:r>
              <a:rPr lang="nl-NL" dirty="0"/>
              <a:t> shell (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/bin/sh</a:t>
            </a:r>
            <a:r>
              <a:rPr lang="nl-NL" dirty="0"/>
              <a:t>)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b="1" i="1" dirty="0" err="1"/>
              <a:t>Bourne</a:t>
            </a:r>
            <a:r>
              <a:rPr lang="nl-NL" b="1" i="1" dirty="0"/>
              <a:t> </a:t>
            </a:r>
            <a:r>
              <a:rPr lang="nl-NL" b="1" i="1" dirty="0" err="1"/>
              <a:t>Again</a:t>
            </a:r>
            <a:r>
              <a:rPr lang="nl-NL" b="1" i="1" dirty="0"/>
              <a:t> shell (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/bin/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r>
              <a:rPr lang="nl-NL" b="1" i="1" dirty="0"/>
              <a:t>)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Korn shell (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/bin/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ksh</a:t>
            </a:r>
            <a:r>
              <a:rPr lang="nl-NL" dirty="0"/>
              <a:t>)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C shell (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/bin/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csh</a:t>
            </a:r>
            <a:r>
              <a:rPr lang="nl-NL" dirty="0"/>
              <a:t>)</a:t>
            </a:r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Z shell (</a:t>
            </a:r>
            <a:r>
              <a:rPr lang="nl-NL" dirty="0">
                <a:latin typeface="Consolas" panose="020B0609020204030204" pitchFamily="49" charset="0"/>
              </a:rPr>
              <a:t>/bin/</a:t>
            </a:r>
            <a:r>
              <a:rPr lang="nl-NL" dirty="0" err="1">
                <a:latin typeface="Consolas" panose="020B0609020204030204" pitchFamily="49" charset="0"/>
              </a:rPr>
              <a:t>zsh</a:t>
            </a:r>
            <a:r>
              <a:rPr lang="nl-NL" dirty="0"/>
              <a:t>)</a:t>
            </a:r>
          </a:p>
          <a:p>
            <a:pPr marL="685800">
              <a:buFont typeface="Arial" panose="020B0604020202020204" pitchFamily="34" charset="0"/>
              <a:buChar char="•"/>
            </a:pPr>
            <a:endParaRPr lang="nl-NL" dirty="0"/>
          </a:p>
          <a:p>
            <a:pPr marL="685800">
              <a:buFont typeface="Arial" panose="020B0604020202020204" pitchFamily="34" charset="0"/>
              <a:buChar char="•"/>
            </a:pPr>
            <a:r>
              <a:rPr lang="nl-NL" dirty="0"/>
              <a:t>Voor Windows: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cmd.exe</a:t>
            </a:r>
            <a:r>
              <a:rPr lang="nl-NL" dirty="0"/>
              <a:t> of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powershell.exe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Shell – Typen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83" y="1221692"/>
            <a:ext cx="2077338" cy="272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4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800" dirty="0"/>
              <a:t>Login shell: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Gestart bij inloggen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Configuratie:	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/profile </a:t>
            </a:r>
            <a:r>
              <a:rPr lang="nl-NL" sz="1350" dirty="0"/>
              <a:t>(alle accounts, alle </a:t>
            </a:r>
            <a:r>
              <a:rPr lang="nl-NL" sz="1350" dirty="0" err="1"/>
              <a:t>shells</a:t>
            </a:r>
            <a:r>
              <a:rPr lang="nl-NL" sz="1350" dirty="0"/>
              <a:t>)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~/.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bash_profile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350" dirty="0"/>
              <a:t>(</a:t>
            </a:r>
            <a:r>
              <a:rPr lang="nl-NL" sz="1350" dirty="0" err="1"/>
              <a:t>gebruikerspecifiek</a:t>
            </a:r>
            <a:r>
              <a:rPr lang="nl-NL" sz="1350" dirty="0"/>
              <a:t>, alleen </a:t>
            </a:r>
            <a:r>
              <a:rPr lang="nl-NL" sz="1350" dirty="0" err="1"/>
              <a:t>bash</a:t>
            </a:r>
            <a:r>
              <a:rPr lang="nl-NL" sz="1350" dirty="0"/>
              <a:t>)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~/.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bash_login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350" dirty="0"/>
              <a:t>(</a:t>
            </a:r>
            <a:r>
              <a:rPr lang="nl-NL" sz="1350" dirty="0" err="1"/>
              <a:t>gebruikerspecifiek</a:t>
            </a:r>
            <a:r>
              <a:rPr lang="nl-NL" sz="1350" dirty="0"/>
              <a:t>, alleen </a:t>
            </a:r>
            <a:r>
              <a:rPr lang="nl-NL" sz="1350" dirty="0" err="1"/>
              <a:t>bash</a:t>
            </a:r>
            <a:r>
              <a:rPr lang="nl-NL" sz="1350" dirty="0"/>
              <a:t>)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~/.profile </a:t>
            </a:r>
            <a:r>
              <a:rPr lang="nl-NL" sz="1350" dirty="0"/>
              <a:t>(</a:t>
            </a:r>
            <a:r>
              <a:rPr lang="nl-NL" sz="1350" dirty="0" err="1"/>
              <a:t>gebruikerspecifiek</a:t>
            </a:r>
            <a:r>
              <a:rPr lang="nl-NL" sz="1350" dirty="0"/>
              <a:t>, alle </a:t>
            </a:r>
            <a:r>
              <a:rPr lang="nl-NL" sz="1350" dirty="0" err="1"/>
              <a:t>shells</a:t>
            </a:r>
            <a:r>
              <a:rPr lang="nl-NL" sz="1350" dirty="0"/>
              <a:t>)</a:t>
            </a:r>
          </a:p>
          <a:p>
            <a:pPr lvl="2">
              <a:lnSpc>
                <a:spcPct val="100000"/>
              </a:lnSpc>
            </a:pPr>
            <a:r>
              <a:rPr lang="nl-NL" sz="1350" dirty="0"/>
              <a:t>Dezelfde configuratiebestanden als een non-login shell</a:t>
            </a:r>
          </a:p>
          <a:p>
            <a:r>
              <a:rPr lang="nl-NL" sz="1800" dirty="0"/>
              <a:t>Non-login shell: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Gestart door ander gebruikersproces (bijv. Terminal)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Configuratiebestanden: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bashrc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350" dirty="0"/>
              <a:t>(alle accounts, alleen interactieve </a:t>
            </a:r>
            <a:r>
              <a:rPr lang="nl-NL" sz="1350" dirty="0" err="1"/>
              <a:t>bash</a:t>
            </a:r>
            <a:r>
              <a:rPr lang="nl-NL" sz="1350" dirty="0"/>
              <a:t> sessie)</a:t>
            </a:r>
          </a:p>
          <a:p>
            <a:pPr lvl="2">
              <a:lnSpc>
                <a:spcPct val="100000"/>
              </a:lnSpc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~/.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bashrc</a:t>
            </a:r>
            <a:r>
              <a:rPr lang="nl-NL" sz="1200" dirty="0"/>
              <a:t> </a:t>
            </a:r>
            <a:r>
              <a:rPr lang="nl-NL" sz="1350" dirty="0"/>
              <a:t>(</a:t>
            </a:r>
            <a:r>
              <a:rPr lang="nl-NL" sz="1350" dirty="0" err="1"/>
              <a:t>gebruikerspecifiek</a:t>
            </a:r>
            <a:r>
              <a:rPr lang="nl-NL" sz="1350" dirty="0"/>
              <a:t>, alleen interactieve </a:t>
            </a:r>
            <a:r>
              <a:rPr lang="nl-NL" sz="1350" dirty="0" err="1"/>
              <a:t>bash</a:t>
            </a:r>
            <a:r>
              <a:rPr lang="nl-NL" sz="1350" dirty="0"/>
              <a:t> sessie)</a:t>
            </a:r>
            <a:endParaRPr lang="nl-NL" dirty="0"/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Shell – Login/</a:t>
            </a:r>
            <a:r>
              <a:rPr lang="nl-NL" dirty="0" err="1"/>
              <a:t>non-login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1634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1 enkele boom</a:t>
            </a:r>
          </a:p>
          <a:p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dirty="0"/>
              <a:t> ((forward) slash) in plaats van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nl-NL" dirty="0"/>
              <a:t> (backslash)</a:t>
            </a:r>
          </a:p>
          <a:p>
            <a:r>
              <a:rPr lang="nl-NL" dirty="0"/>
              <a:t>Home directory (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&lt;user&gt; </a:t>
            </a:r>
            <a:r>
              <a:rPr lang="nl-NL" dirty="0"/>
              <a:t>of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nl-NL" dirty="0"/>
              <a:t>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 - File structuur onder Linux (1)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A9096D49-DAE3-40DE-93E0-41688E0A5016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7495" y="1196342"/>
            <a:ext cx="2959810" cy="357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42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 - File structuur onder Linux (2)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9866" y="1216892"/>
            <a:ext cx="5660743" cy="352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512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lang="nl-NL" dirty="0"/>
              <a:t>		(</a:t>
            </a:r>
            <a:r>
              <a:rPr lang="nl-NL" b="1" dirty="0"/>
              <a:t>p</a:t>
            </a:r>
            <a:r>
              <a:rPr lang="nl-NL" dirty="0"/>
              <a:t>rint </a:t>
            </a:r>
            <a:r>
              <a:rPr lang="nl-NL" b="1" dirty="0" err="1"/>
              <a:t>w</a:t>
            </a:r>
            <a:r>
              <a:rPr lang="nl-NL" dirty="0" err="1"/>
              <a:t>orking</a:t>
            </a:r>
            <a:r>
              <a:rPr lang="nl-NL" dirty="0"/>
              <a:t> </a:t>
            </a:r>
            <a:r>
              <a:rPr lang="nl-NL" b="1" dirty="0"/>
              <a:t>d</a:t>
            </a:r>
            <a:r>
              <a:rPr lang="nl-NL" dirty="0"/>
              <a:t>irectory)</a:t>
            </a:r>
          </a:p>
          <a:p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nl-NL" dirty="0"/>
              <a:t>			(</a:t>
            </a:r>
            <a:r>
              <a:rPr lang="nl-NL" b="1" dirty="0"/>
              <a:t>c</a:t>
            </a:r>
            <a:r>
              <a:rPr lang="nl-NL" dirty="0"/>
              <a:t>hange </a:t>
            </a:r>
            <a:r>
              <a:rPr lang="nl-NL" b="1" dirty="0"/>
              <a:t>d</a:t>
            </a:r>
            <a:r>
              <a:rPr lang="nl-NL" dirty="0"/>
              <a:t>irectory)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nl-NL" dirty="0"/>
              <a:t>		(</a:t>
            </a:r>
            <a:r>
              <a:rPr lang="nl-NL" sz="1800" dirty="0"/>
              <a:t>met niks gaat hij naar huis = </a:t>
            </a:r>
            <a:r>
              <a:rPr lang="nl-NL" sz="1800" i="1" dirty="0"/>
              <a:t>home</a:t>
            </a:r>
            <a:r>
              <a:rPr lang="nl-NL" sz="1800" dirty="0"/>
              <a:t>)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 ~</a:t>
            </a:r>
            <a:r>
              <a:rPr lang="nl-NL" dirty="0"/>
              <a:t>		</a:t>
            </a:r>
            <a:r>
              <a:rPr lang="nl-NL" sz="1800" dirty="0"/>
              <a:t>(zelfde,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nl-NL" sz="1800" dirty="0"/>
              <a:t> =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&lt;username&gt;</a:t>
            </a:r>
            <a:r>
              <a:rPr lang="nl-NL" sz="18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 ..</a:t>
            </a:r>
            <a:r>
              <a:rPr lang="nl-NL" dirty="0"/>
              <a:t>		</a:t>
            </a:r>
            <a:r>
              <a:rPr lang="nl-NL" sz="1800" dirty="0"/>
              <a:t>(1 dir hoger, let op de spatie!)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 /</a:t>
            </a:r>
            <a:r>
              <a:rPr lang="nl-NL" dirty="0"/>
              <a:t>  		</a:t>
            </a:r>
            <a:r>
              <a:rPr lang="nl-NL" sz="1800" dirty="0"/>
              <a:t>(naar </a:t>
            </a:r>
            <a:r>
              <a:rPr lang="nl-NL" sz="1800" i="1" dirty="0"/>
              <a:t>root</a:t>
            </a:r>
            <a:r>
              <a:rPr lang="nl-NL" sz="1800" dirty="0"/>
              <a:t> directory)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cd 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dirty="0"/>
              <a:t>	</a:t>
            </a:r>
            <a:r>
              <a:rPr lang="nl-NL" sz="1800" dirty="0"/>
              <a:t>(ga naar directory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/>
              <a:t>)</a:t>
            </a: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dirty="0"/>
              <a:t>			(</a:t>
            </a:r>
            <a:r>
              <a:rPr lang="nl-NL" b="1" dirty="0"/>
              <a:t>l</a:t>
            </a:r>
            <a:r>
              <a:rPr lang="nl-NL" dirty="0"/>
              <a:t>i</a:t>
            </a:r>
            <a:r>
              <a:rPr lang="nl-NL" b="1" dirty="0"/>
              <a:t>s</a:t>
            </a:r>
            <a:r>
              <a:rPr lang="nl-NL" dirty="0"/>
              <a:t>t)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navigeren</a:t>
            </a:r>
          </a:p>
        </p:txBody>
      </p:sp>
    </p:spTree>
    <p:extLst>
      <p:ext uri="{BB962C8B-B14F-4D97-AF65-F5344CB8AC3E}">
        <p14:creationId xmlns:p14="http://schemas.microsoft.com/office/powerpoint/2010/main" val="227836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Je wilt weten waar je nu staat… wat doe je?</a:t>
            </a:r>
          </a:p>
          <a:p>
            <a:pPr lvl="2"/>
            <a:r>
              <a:rPr lang="nl-NL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Ok, je staat in </a:t>
            </a: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  <a:r>
              <a:rPr lang="nl-NL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tux</a:t>
            </a:r>
            <a:r>
              <a:rPr lang="nl-NL" sz="1500" dirty="0"/>
              <a:t>, maar je wilt naar </a:t>
            </a: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  <a:r>
              <a:rPr lang="nl-NL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bgates</a:t>
            </a:r>
            <a:r>
              <a:rPr lang="nl-NL" sz="1500" dirty="0"/>
              <a:t>… wat doe je?</a:t>
            </a:r>
          </a:p>
          <a:p>
            <a:pPr lvl="2"/>
            <a:r>
              <a:rPr lang="nl-NL" sz="1400" dirty="0">
                <a:latin typeface="Consolas" panose="020B0609020204030204" pitchFamily="49" charset="0"/>
                <a:cs typeface="Consolas" panose="020B0609020204030204" pitchFamily="49" charset="0"/>
              </a:rPr>
              <a:t>cd ../</a:t>
            </a:r>
            <a:r>
              <a:rPr lang="nl-NL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bgates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Hoe kijk je wat er in deze directory staat?</a:t>
            </a:r>
          </a:p>
          <a:p>
            <a:pPr lvl="2"/>
            <a:r>
              <a:rPr lang="nl-NL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Gezien… nu naar </a:t>
            </a: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500" dirty="0"/>
              <a:t>; hoe?</a:t>
            </a:r>
          </a:p>
          <a:p>
            <a:pPr lvl="2"/>
            <a:r>
              <a:rPr lang="nl-NL" sz="1400" dirty="0">
                <a:latin typeface="Consolas" panose="020B0609020204030204" pitchFamily="49" charset="0"/>
                <a:cs typeface="Consolas" panose="020B0609020204030204" pitchFamily="49" charset="0"/>
              </a:rPr>
              <a:t>cd /</a:t>
            </a:r>
            <a:r>
              <a:rPr lang="nl-NL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/>
              <a:t>En weer zo snel mogelijk terug naar huis (</a:t>
            </a:r>
            <a:r>
              <a:rPr lang="nl-NL" sz="1500" i="1" dirty="0"/>
              <a:t>home</a:t>
            </a:r>
            <a:r>
              <a:rPr lang="nl-NL" sz="1500" dirty="0"/>
              <a:t>). Hoe?</a:t>
            </a:r>
          </a:p>
          <a:p>
            <a:pPr lvl="2"/>
            <a:r>
              <a:rPr lang="nl-NL" sz="1400" dirty="0">
                <a:latin typeface="Consolas" panose="020B0609020204030204" pitchFamily="49" charset="0"/>
                <a:cs typeface="Consolas" panose="020B0609020204030204" pitchFamily="49" charset="0"/>
              </a:rPr>
              <a:t>cd (of cd ~)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navigeren</a:t>
            </a:r>
          </a:p>
        </p:txBody>
      </p:sp>
    </p:spTree>
    <p:extLst>
      <p:ext uri="{BB962C8B-B14F-4D97-AF65-F5344CB8AC3E}">
        <p14:creationId xmlns:p14="http://schemas.microsoft.com/office/powerpoint/2010/main" val="335420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&lt;bron&gt; &lt;doel&gt;</a:t>
            </a:r>
            <a:r>
              <a:rPr lang="nl-NL" dirty="0"/>
              <a:t> = kopiëren (</a:t>
            </a:r>
            <a:r>
              <a:rPr lang="nl-NL" b="1" dirty="0"/>
              <a:t>c</a:t>
            </a:r>
            <a:r>
              <a:rPr lang="nl-NL" dirty="0"/>
              <a:t>o</a:t>
            </a:r>
            <a:r>
              <a:rPr lang="nl-NL" b="1" dirty="0"/>
              <a:t>p</a:t>
            </a:r>
            <a:r>
              <a:rPr lang="nl-NL" dirty="0"/>
              <a:t>y)</a:t>
            </a:r>
          </a:p>
          <a:p>
            <a:pPr marL="800100" lvl="1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-r</a:t>
            </a:r>
            <a:r>
              <a:rPr lang="nl-NL" dirty="0"/>
              <a:t> = inclusief </a:t>
            </a:r>
            <a:r>
              <a:rPr lang="nl-NL" dirty="0" err="1"/>
              <a:t>subdirs</a:t>
            </a:r>
            <a:r>
              <a:rPr lang="nl-NL" dirty="0"/>
              <a:t> (</a:t>
            </a:r>
            <a:r>
              <a:rPr lang="nl-NL" b="1" dirty="0"/>
              <a:t>r</a:t>
            </a:r>
            <a:r>
              <a:rPr lang="nl-NL" dirty="0"/>
              <a:t>ecursief)</a:t>
            </a:r>
          </a:p>
          <a:p>
            <a:pPr>
              <a:spcBef>
                <a:spcPts val="1200"/>
              </a:spcBef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mv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&lt;bron&gt; &lt;doel&gt;</a:t>
            </a:r>
            <a:r>
              <a:rPr lang="nl-NL" dirty="0"/>
              <a:t> = </a:t>
            </a:r>
            <a:r>
              <a:rPr lang="nl-NL" b="1" dirty="0"/>
              <a:t>m</a:t>
            </a:r>
            <a:r>
              <a:rPr lang="nl-NL" dirty="0"/>
              <a:t>o</a:t>
            </a:r>
            <a:r>
              <a:rPr lang="nl-NL" b="1" dirty="0"/>
              <a:t>v</a:t>
            </a:r>
            <a:r>
              <a:rPr lang="nl-NL" dirty="0"/>
              <a:t>e en/of </a:t>
            </a:r>
            <a:r>
              <a:rPr lang="nl-NL" dirty="0" err="1"/>
              <a:t>rename</a:t>
            </a:r>
            <a:endParaRPr lang="nl-NL" dirty="0"/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&lt;doel&gt;</a:t>
            </a:r>
            <a:r>
              <a:rPr lang="nl-NL" dirty="0"/>
              <a:t> = verwijderen (</a:t>
            </a:r>
            <a:r>
              <a:rPr lang="nl-NL" b="1" dirty="0" err="1"/>
              <a:t>r</a:t>
            </a:r>
            <a:r>
              <a:rPr lang="nl-NL" dirty="0" err="1"/>
              <a:t>e</a:t>
            </a:r>
            <a:r>
              <a:rPr lang="nl-NL" b="1" dirty="0" err="1"/>
              <a:t>m</a:t>
            </a:r>
            <a:r>
              <a:rPr lang="nl-NL" dirty="0" err="1"/>
              <a:t>ove</a:t>
            </a:r>
            <a:r>
              <a:rPr lang="nl-NL" dirty="0"/>
              <a:t>)</a:t>
            </a:r>
          </a:p>
          <a:p>
            <a:pPr marL="800100" lvl="1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-r</a:t>
            </a:r>
            <a:r>
              <a:rPr lang="nl-NL" dirty="0"/>
              <a:t> = inclusief </a:t>
            </a:r>
            <a:r>
              <a:rPr lang="nl-NL" dirty="0" err="1"/>
              <a:t>subdirs</a:t>
            </a:r>
            <a:r>
              <a:rPr lang="nl-NL" dirty="0"/>
              <a:t> (</a:t>
            </a:r>
            <a:r>
              <a:rPr lang="nl-NL" b="1" dirty="0"/>
              <a:t>r</a:t>
            </a:r>
            <a:r>
              <a:rPr lang="nl-NL" dirty="0"/>
              <a:t>ecursief) </a:t>
            </a:r>
            <a:r>
              <a:rPr lang="nl-NL" b="1" i="1" dirty="0">
                <a:solidFill>
                  <a:srgbClr val="FF0000"/>
                </a:solidFill>
              </a:rPr>
              <a:t>DANGER!</a:t>
            </a:r>
            <a:endParaRPr lang="nl-NL" dirty="0"/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touch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&lt;doel&gt;</a:t>
            </a:r>
            <a:r>
              <a:rPr lang="nl-NL" dirty="0"/>
              <a:t> = leeg bestand aanmaken</a:t>
            </a: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NL" i="1" dirty="0" err="1">
                <a:latin typeface="Consolas" panose="020B0609020204030204" pitchFamily="49" charset="0"/>
                <a:cs typeface="Consolas" panose="020B0609020204030204" pitchFamily="49" charset="0"/>
              </a:rPr>
              <a:t>doeldir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nl-NL" dirty="0"/>
              <a:t> = directory aanmaken</a:t>
            </a: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rmdir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NL" i="1" dirty="0" err="1">
                <a:latin typeface="Consolas" panose="020B0609020204030204" pitchFamily="49" charset="0"/>
                <a:cs typeface="Consolas" panose="020B0609020204030204" pitchFamily="49" charset="0"/>
              </a:rPr>
              <a:t>doeldir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nl-NL" dirty="0"/>
              <a:t> = lege directory verwijderen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basis filemanagement</a:t>
            </a:r>
          </a:p>
        </p:txBody>
      </p:sp>
    </p:spTree>
    <p:extLst>
      <p:ext uri="{BB962C8B-B14F-4D97-AF65-F5344CB8AC3E}">
        <p14:creationId xmlns:p14="http://schemas.microsoft.com/office/powerpoint/2010/main" val="116219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1600" dirty="0"/>
              <a:t>Oefening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Ga naar de home-directory van de user 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ltorvalds</a:t>
            </a:r>
            <a:r>
              <a:rPr lang="nl-NL" sz="1200" dirty="0"/>
              <a:t>; hoe?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cd /home/</a:t>
            </a: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ltorvalds</a:t>
            </a:r>
            <a:endParaRPr lang="nl-NL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Maak daar een subdirectory aan genaamd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werk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 werk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Maak daar een leeg bestand in aan genaamd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cd werk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touch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 test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Maak daar een subdirectory aan genaamd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gedaan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 gedaan 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Verplaats het bestand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nl-NL" sz="1200" dirty="0"/>
              <a:t> naar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werk/gedaan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mv test gedaan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 err="1"/>
              <a:t>Rename</a:t>
            </a:r>
            <a:r>
              <a:rPr lang="nl-NL" sz="1200" dirty="0"/>
              <a:t>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nl-NL" sz="1200" i="1" dirty="0"/>
              <a:t> </a:t>
            </a:r>
            <a:r>
              <a:rPr lang="nl-NL" sz="1200" dirty="0"/>
              <a:t>naar 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klaar 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mv gedaan/test gedaan/klaar</a:t>
            </a:r>
          </a:p>
          <a:p>
            <a:pPr marL="5143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nl-NL" sz="1200" dirty="0"/>
              <a:t>Verwijder alles wat je net hebt aangemaakt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cd .. (of cd /home/</a:t>
            </a: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ltorvalds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720000" lvl="1" indent="-171450">
              <a:lnSpc>
                <a:spcPct val="1000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nl-NL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nl-NL" sz="1100" dirty="0">
                <a:latin typeface="Consolas" panose="020B0609020204030204" pitchFamily="49" charset="0"/>
                <a:cs typeface="Consolas" panose="020B0609020204030204" pitchFamily="49" charset="0"/>
              </a:rPr>
              <a:t> werk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basis filemanagement</a:t>
            </a:r>
          </a:p>
        </p:txBody>
      </p:sp>
    </p:spTree>
    <p:extLst>
      <p:ext uri="{BB962C8B-B14F-4D97-AF65-F5344CB8AC3E}">
        <p14:creationId xmlns:p14="http://schemas.microsoft.com/office/powerpoint/2010/main" val="34003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Linux kent 3 “I/O kanalen”: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Standard input (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stdin</a:t>
            </a:r>
            <a:r>
              <a:rPr lang="nl-NL" dirty="0"/>
              <a:t>): 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Standard output (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stdout</a:t>
            </a:r>
            <a:r>
              <a:rPr lang="nl-NL" dirty="0"/>
              <a:t>): 1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Standard error output (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stderr</a:t>
            </a:r>
            <a:r>
              <a:rPr lang="nl-NL" dirty="0"/>
              <a:t>): 2</a:t>
            </a:r>
          </a:p>
          <a:p>
            <a:r>
              <a:rPr lang="nl-NL" dirty="0"/>
              <a:t>Deze zijn standaard als volgt verbonden: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output </a:t>
            </a:r>
            <a:r>
              <a:rPr lang="nl-NL" dirty="0" err="1"/>
              <a:t>redirection</a:t>
            </a:r>
            <a:endParaRPr lang="nl-NL" dirty="0"/>
          </a:p>
        </p:txBody>
      </p:sp>
      <p:pic>
        <p:nvPicPr>
          <p:cNvPr id="5" name="Afbeelding 4" descr="stdstreams-factory std connections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55" t="9676" r="10306" b="31098"/>
          <a:stretch>
            <a:fillRect/>
          </a:stretch>
        </p:blipFill>
        <p:spPr>
          <a:xfrm>
            <a:off x="2573778" y="3057804"/>
            <a:ext cx="3456384" cy="1728192"/>
          </a:xfrm>
          <a:prstGeom prst="rect">
            <a:avLst/>
          </a:prstGeom>
        </p:spPr>
      </p:pic>
      <p:sp>
        <p:nvSpPr>
          <p:cNvPr id="6" name="Tekstvak 5"/>
          <p:cNvSpPr txBox="1"/>
          <p:nvPr/>
        </p:nvSpPr>
        <p:spPr>
          <a:xfrm>
            <a:off x="2195737" y="3975906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350" dirty="0"/>
              <a:t>STDIN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3707905" y="3327834"/>
            <a:ext cx="72327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350" dirty="0"/>
              <a:t>Proces</a:t>
            </a:r>
          </a:p>
        </p:txBody>
      </p:sp>
      <p:sp>
        <p:nvSpPr>
          <p:cNvPr id="8" name="Tekstvak 7"/>
          <p:cNvSpPr txBox="1"/>
          <p:nvPr/>
        </p:nvSpPr>
        <p:spPr>
          <a:xfrm>
            <a:off x="4463989" y="4353948"/>
            <a:ext cx="8963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350" dirty="0"/>
              <a:t>STDERR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4842030" y="3651870"/>
            <a:ext cx="7377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dirty="0"/>
              <a:t>STDOUT</a:t>
            </a:r>
          </a:p>
        </p:txBody>
      </p:sp>
    </p:spTree>
    <p:extLst>
      <p:ext uri="{BB962C8B-B14F-4D97-AF65-F5344CB8AC3E}">
        <p14:creationId xmlns:p14="http://schemas.microsoft.com/office/powerpoint/2010/main" val="2300101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800" dirty="0"/>
              <a:t>Deze “verbindingen” kunnen omgelegd worden: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sz="1800" dirty="0"/>
          </a:p>
          <a:p>
            <a:endParaRPr lang="nl-NL" sz="1800" dirty="0"/>
          </a:p>
          <a:p>
            <a:r>
              <a:rPr lang="nl-NL" sz="1800" dirty="0"/>
              <a:t>Bijvoorbeeld: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 &gt; directorylisting.txt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mail &lt; voorbereidmailtje.txt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sz="1500" dirty="0">
                <a:latin typeface="Consolas" panose="020B0609020204030204" pitchFamily="49" charset="0"/>
                <a:cs typeface="Consolas" panose="020B0609020204030204" pitchFamily="49" charset="0"/>
              </a:rPr>
              <a:t> -r /home /backup 2&gt; backupfouten.txt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output </a:t>
            </a:r>
            <a:r>
              <a:rPr lang="nl-NL" dirty="0" err="1"/>
              <a:t>redirection</a:t>
            </a:r>
            <a:endParaRPr lang="nl-NL" dirty="0"/>
          </a:p>
        </p:txBody>
      </p:sp>
      <p:pic>
        <p:nvPicPr>
          <p:cNvPr id="6" name="Afbeelding 5" descr="stdstreams-factory redir stdout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00" t="3375" r="3690" b="28578"/>
          <a:stretch>
            <a:fillRect/>
          </a:stretch>
        </p:blipFill>
        <p:spPr>
          <a:xfrm>
            <a:off x="5850550" y="2992431"/>
            <a:ext cx="2592275" cy="1399824"/>
          </a:xfrm>
          <a:prstGeom prst="rect">
            <a:avLst/>
          </a:prstGeom>
        </p:spPr>
      </p:pic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1660928" y="1510403"/>
          <a:ext cx="5668297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2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nl-NL" sz="1400" dirty="0" err="1"/>
                        <a:t>Redirection</a:t>
                      </a:r>
                      <a:r>
                        <a:rPr lang="nl-NL" sz="1400" dirty="0"/>
                        <a:t> karakter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Beschrijving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nl-NL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Standard input word omgeleid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nl-NL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</a:t>
                      </a:r>
                      <a:r>
                        <a:rPr lang="nl-NL" sz="1400" dirty="0"/>
                        <a:t> </a:t>
                      </a:r>
                      <a:r>
                        <a:rPr lang="nl-NL" sz="1400" i="1" dirty="0"/>
                        <a:t>of</a:t>
                      </a:r>
                      <a:r>
                        <a:rPr lang="nl-NL" sz="1400" dirty="0"/>
                        <a:t> </a:t>
                      </a:r>
                      <a:r>
                        <a:rPr lang="nl-NL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1&gt;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Standard output wordt omgeleid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nl-NL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2&gt;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Standard </a:t>
                      </a:r>
                      <a:r>
                        <a:rPr lang="nl-NL" sz="1400" dirty="0" err="1"/>
                        <a:t>error</a:t>
                      </a:r>
                      <a:r>
                        <a:rPr lang="nl-NL" sz="1400" dirty="0"/>
                        <a:t> wordt omgeleid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&gt;&amp;</a:t>
                      </a:r>
                      <a:endParaRPr lang="nl-NL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Standard</a:t>
                      </a:r>
                      <a:r>
                        <a:rPr lang="en-US" sz="1400" baseline="0" dirty="0"/>
                        <a:t> output en error </a:t>
                      </a:r>
                      <a:r>
                        <a:rPr lang="en-US" sz="1400" baseline="0" dirty="0" err="1"/>
                        <a:t>worden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omgeleid</a:t>
                      </a:r>
                      <a:endParaRPr lang="nl-NL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22536258"/>
                  </a:ext>
                </a:extLst>
              </a:tr>
            </a:tbl>
          </a:graphicData>
        </a:graphic>
      </p:graphicFrame>
      <p:pic>
        <p:nvPicPr>
          <p:cNvPr id="7" name="Afbeelding 6" descr="stdstreams-factory redir stdin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45" t="10936" r="11251" b="44959"/>
          <a:stretch>
            <a:fillRect/>
          </a:stretch>
        </p:blipFill>
        <p:spPr>
          <a:xfrm>
            <a:off x="5595238" y="2999224"/>
            <a:ext cx="3157538" cy="1218010"/>
          </a:xfrm>
          <a:prstGeom prst="rect">
            <a:avLst/>
          </a:prstGeom>
        </p:spPr>
      </p:pic>
      <p:pic>
        <p:nvPicPr>
          <p:cNvPr id="8" name="Afbeelding 7" descr="stdstreams-factory redir stderr.p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55" t="3375" r="5580" b="27317"/>
          <a:stretch>
            <a:fillRect/>
          </a:stretch>
        </p:blipFill>
        <p:spPr>
          <a:xfrm>
            <a:off x="5825334" y="2992431"/>
            <a:ext cx="2563016" cy="142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4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Je kunt ook output met input verbinden via het “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nl-NL" dirty="0"/>
              <a:t>” karakter (</a:t>
            </a:r>
            <a:r>
              <a:rPr lang="nl-NL" i="1" dirty="0"/>
              <a:t>pipe-</a:t>
            </a:r>
            <a:r>
              <a:rPr lang="nl-NL" i="1" dirty="0" err="1"/>
              <a:t>character</a:t>
            </a:r>
            <a:r>
              <a:rPr lang="nl-NL" dirty="0"/>
              <a:t>, boven de “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nl-NL" dirty="0"/>
              <a:t>”), bijv.: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| more</a:t>
            </a:r>
            <a:r>
              <a:rPr lang="nl-NL" dirty="0"/>
              <a:t> (bij een lange directory pauzeert het commando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more</a:t>
            </a:r>
            <a:r>
              <a:rPr lang="nl-NL" dirty="0"/>
              <a:t> na ieder scherm)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output </a:t>
            </a:r>
            <a:r>
              <a:rPr lang="nl-NL" dirty="0" err="1"/>
              <a:t>redirection</a:t>
            </a:r>
            <a:endParaRPr lang="nl-NL" dirty="0"/>
          </a:p>
        </p:txBody>
      </p:sp>
      <p:pic>
        <p:nvPicPr>
          <p:cNvPr id="5" name="Afbeelding 4" descr="stdstreams-factory pipe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7236" r="1800" b="37399"/>
          <a:stretch>
            <a:fillRect/>
          </a:stretch>
        </p:blipFill>
        <p:spPr>
          <a:xfrm>
            <a:off x="1709682" y="2949792"/>
            <a:ext cx="5611449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0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Simpel weergeven, 3 belangrijke commando’s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nl-NL" dirty="0"/>
              <a:t> – geeft simpelweg heel het tekstbestand weer op het beeldscherm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more</a:t>
            </a:r>
            <a:r>
              <a:rPr lang="nl-NL" dirty="0"/>
              <a:t> – geeft het tekstbestand weer op het beeldscherm, pauzeert na ieder scherm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less</a:t>
            </a:r>
            <a:r>
              <a:rPr lang="nl-NL" dirty="0"/>
              <a:t> – uitgebreide versie van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more</a:t>
            </a:r>
            <a:r>
              <a:rPr lang="nl-NL" dirty="0"/>
              <a:t>, je kunt bijv. ook terugbladeren</a:t>
            </a:r>
          </a:p>
          <a:p>
            <a:r>
              <a:rPr lang="nl-NL" dirty="0"/>
              <a:t>Bijvoorbeeld: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etc.lst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etc.lst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| more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less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etc.lst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zoeken in en weergeven van bestanden</a:t>
            </a:r>
          </a:p>
        </p:txBody>
      </p:sp>
      <p:pic>
        <p:nvPicPr>
          <p:cNvPr id="1026" name="Picture 2" descr="Mastering cat Cov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840" y="3050066"/>
            <a:ext cx="1537563" cy="201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96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800" dirty="0"/>
              <a:t>Stuur de uitvoer van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/>
              <a:t>naar het bestand </a:t>
            </a:r>
            <a:r>
              <a:rPr lang="nl-NL" sz="1800" i="1" dirty="0"/>
              <a:t>~/</a:t>
            </a:r>
            <a:r>
              <a:rPr lang="nl-NL" sz="1800" i="1" dirty="0" err="1"/>
              <a:t>etc.lst</a:t>
            </a:r>
            <a:endParaRPr lang="nl-NL" sz="1600" dirty="0"/>
          </a:p>
          <a:p>
            <a:pPr lvl="2"/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&gt; ~/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etc.lst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800" dirty="0"/>
              <a:t>Mail deze lijst naar de gebruiker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student</a:t>
            </a:r>
          </a:p>
          <a:p>
            <a:pPr lvl="2"/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mail -t student &lt; ~/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etc.lst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800" dirty="0"/>
              <a:t>Kopieer de directory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/>
              <a:t>naar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~/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etc.backup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/>
              <a:t>en zorg dat mislukte </a:t>
            </a:r>
            <a:r>
              <a:rPr lang="nl-NL" sz="1800" dirty="0" err="1"/>
              <a:t>kopieeracties</a:t>
            </a:r>
            <a:r>
              <a:rPr lang="nl-NL" sz="1800" dirty="0"/>
              <a:t> vastgelegd worden in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~/backuperrors.log</a:t>
            </a:r>
          </a:p>
          <a:p>
            <a:pPr lvl="2"/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~/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etc.backup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-r 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~/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etc.backup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2&gt; ~/backuperrors.log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nl-NL" sz="1800" dirty="0"/>
              <a:t>Bekijk de inhoud van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~/backuperror.log </a:t>
            </a:r>
            <a:r>
              <a:rPr lang="nl-NL" sz="1800" dirty="0"/>
              <a:t>en zorg dat na ieder scherm gepauzeerd wordt</a:t>
            </a:r>
          </a:p>
          <a:p>
            <a:pPr lvl="2"/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~/backuperrors.log | more</a:t>
            </a: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basis filemanagement</a:t>
            </a:r>
          </a:p>
        </p:txBody>
      </p:sp>
    </p:spTree>
    <p:extLst>
      <p:ext uri="{BB962C8B-B14F-4D97-AF65-F5344CB8AC3E}">
        <p14:creationId xmlns:p14="http://schemas.microsoft.com/office/powerpoint/2010/main" val="90261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800" dirty="0"/>
              <a:t>Zoeken in tekstfiles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grep 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&lt;zoekexpressie&gt; &lt;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bestandsna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(a)m(en)&gt;</a:t>
            </a:r>
          </a:p>
          <a:p>
            <a:r>
              <a:rPr lang="nl-NL" sz="1800" dirty="0"/>
              <a:t>Naar een bestand op het filesystem zoeken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&lt;beginpunt zoekactie&gt;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-name 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&lt;bestandsnaam&gt;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l-NL" sz="1600" dirty="0"/>
          </a:p>
          <a:p>
            <a:r>
              <a:rPr lang="nl-NL" sz="1800" dirty="0"/>
              <a:t>Bijvoorbeeld: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800" dirty="0"/>
              <a:t>Geef alle regels in 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/var/log/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/>
              <a:t>weer, waar het woord “error” in voorkomt:</a:t>
            </a:r>
          </a:p>
          <a:p>
            <a:pPr lvl="2"/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grep error /var/log/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800" dirty="0"/>
              <a:t>Zoek alle logbestanden op het filesystem:</a:t>
            </a:r>
          </a:p>
          <a:p>
            <a:pPr lvl="2"/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/ -name "*.log"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zoeken in en weergeven van bestanden</a:t>
            </a:r>
          </a:p>
        </p:txBody>
      </p:sp>
    </p:spTree>
    <p:extLst>
      <p:ext uri="{BB962C8B-B14F-4D97-AF65-F5344CB8AC3E}">
        <p14:creationId xmlns:p14="http://schemas.microsoft.com/office/powerpoint/2010/main" val="296516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Variabelen waarin een bepaald instelling voor de sessie wordt opgeslagen, bijv.: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nl-NL" dirty="0"/>
              <a:t> = </a:t>
            </a:r>
            <a:r>
              <a:rPr lang="nl-NL" dirty="0" err="1"/>
              <a:t>zoekpad</a:t>
            </a:r>
            <a:r>
              <a:rPr lang="nl-NL" dirty="0"/>
              <a:t> voor </a:t>
            </a:r>
            <a:r>
              <a:rPr lang="nl-NL" dirty="0" err="1"/>
              <a:t>executables</a:t>
            </a:r>
            <a:endParaRPr lang="nl-NL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HOME</a:t>
            </a:r>
            <a:r>
              <a:rPr lang="nl-NL" dirty="0"/>
              <a:t> = home-directory van gebruiker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nl-NL" dirty="0"/>
              <a:t> = loginnaam van gebruiker</a:t>
            </a:r>
          </a:p>
          <a:p>
            <a:r>
              <a:rPr lang="nl-NL" dirty="0"/>
              <a:t>Weergeven met: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nl-NL" dirty="0"/>
              <a:t> - geeft alle variabelen weer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echo $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NL" i="1" dirty="0" err="1">
                <a:latin typeface="Consolas" panose="020B0609020204030204" pitchFamily="49" charset="0"/>
                <a:cs typeface="Consolas" panose="020B0609020204030204" pitchFamily="49" charset="0"/>
              </a:rPr>
              <a:t>variabelenaam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NL" dirty="0"/>
              <a:t>- geeft inhoud van </a:t>
            </a:r>
            <a:r>
              <a:rPr lang="nl-NL" dirty="0" err="1"/>
              <a:t>variabelenaam</a:t>
            </a:r>
            <a:r>
              <a:rPr lang="nl-NL" dirty="0"/>
              <a:t> weer, </a:t>
            </a:r>
            <a:r>
              <a:rPr lang="nl-NL" dirty="0" err="1"/>
              <a:t>bijv</a:t>
            </a:r>
            <a:r>
              <a:rPr lang="nl-NL" dirty="0"/>
              <a:t>:</a:t>
            </a:r>
          </a:p>
          <a:p>
            <a:pPr lvl="2"/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echo $USER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environment-variabelen (1)</a:t>
            </a:r>
          </a:p>
        </p:txBody>
      </p:sp>
    </p:spTree>
    <p:extLst>
      <p:ext uri="{BB962C8B-B14F-4D97-AF65-F5344CB8AC3E}">
        <p14:creationId xmlns:p14="http://schemas.microsoft.com/office/powerpoint/2010/main" val="3372093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Variabelen aanpassen met: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NL" i="1" dirty="0" err="1">
                <a:latin typeface="Consolas" panose="020B0609020204030204" pitchFamily="49" charset="0"/>
                <a:cs typeface="Consolas" panose="020B0609020204030204" pitchFamily="49" charset="0"/>
              </a:rPr>
              <a:t>variabelenaam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&lt;waarde&gt;</a:t>
            </a:r>
            <a:b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nl-NL" dirty="0" err="1"/>
              <a:t>Bijv</a:t>
            </a:r>
            <a:r>
              <a:rPr lang="nl-NL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LOGBESTAND=~/error.log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BACKUPDIR=~/backup</a:t>
            </a:r>
          </a:p>
          <a:p>
            <a:r>
              <a:rPr lang="nl-NL" dirty="0"/>
              <a:t>Voorbeeld van gebruik: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-r 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$BACKUPDIR 2&gt; $LOGBESTAND</a:t>
            </a:r>
          </a:p>
          <a:p>
            <a:r>
              <a:rPr lang="nl-NL" dirty="0"/>
              <a:t>Variabelen ‘promoveren’ tot environment variabelen met: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export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NL" i="1" dirty="0" err="1">
                <a:latin typeface="Consolas" panose="020B0609020204030204" pitchFamily="49" charset="0"/>
                <a:cs typeface="Consolas" panose="020B0609020204030204" pitchFamily="49" charset="0"/>
              </a:rPr>
              <a:t>variabelenaam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environment-variabelen (2)</a:t>
            </a:r>
          </a:p>
        </p:txBody>
      </p:sp>
    </p:spTree>
    <p:extLst>
      <p:ext uri="{BB962C8B-B14F-4D97-AF65-F5344CB8AC3E}">
        <p14:creationId xmlns:p14="http://schemas.microsoft.com/office/powerpoint/2010/main" val="86168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Informatie die het commando zelf geeft:</a:t>
            </a:r>
            <a:br>
              <a:rPr lang="nl-NL" dirty="0"/>
            </a:b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&lt;commando&gt; --help</a:t>
            </a:r>
            <a:endParaRPr lang="nl-NL" dirty="0"/>
          </a:p>
          <a:p>
            <a:r>
              <a:rPr lang="nl-NL" dirty="0"/>
              <a:t>Handleiding van een commando:</a:t>
            </a:r>
            <a:br>
              <a:rPr lang="nl-NL" dirty="0"/>
            </a:b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man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&lt;commando&gt; </a:t>
            </a:r>
            <a:r>
              <a:rPr lang="nl-NL" dirty="0"/>
              <a:t>(</a:t>
            </a:r>
            <a:r>
              <a:rPr lang="nl-NL" b="1" i="1" dirty="0"/>
              <a:t>man</a:t>
            </a:r>
            <a:r>
              <a:rPr lang="nl-NL" i="1" dirty="0"/>
              <a:t>ual</a:t>
            </a:r>
            <a:r>
              <a:rPr lang="nl-NL" dirty="0"/>
              <a:t>; bijv.: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man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nl-NL" dirty="0"/>
              <a:t>)</a:t>
            </a:r>
          </a:p>
          <a:p>
            <a:r>
              <a:rPr lang="nl-NL" dirty="0"/>
              <a:t>Een commando zoeken op trefwoord:</a:t>
            </a:r>
            <a:br>
              <a:rPr lang="nl-NL" dirty="0"/>
            </a:b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man -k </a:t>
            </a:r>
            <a:r>
              <a:rPr lang="nl-NL" i="1" dirty="0">
                <a:latin typeface="Consolas" panose="020B0609020204030204" pitchFamily="49" charset="0"/>
                <a:cs typeface="Consolas" panose="020B0609020204030204" pitchFamily="49" charset="0"/>
              </a:rPr>
              <a:t>&lt;trefwoord&gt; </a:t>
            </a:r>
            <a:r>
              <a:rPr lang="nl-NL" dirty="0"/>
              <a:t>(bijv.: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man -k copy</a:t>
            </a:r>
            <a:r>
              <a:rPr lang="nl-NL" dirty="0"/>
              <a:t>)</a:t>
            </a:r>
          </a:p>
          <a:p>
            <a:r>
              <a:rPr lang="nl-NL" dirty="0"/>
              <a:t>Documentatie:</a:t>
            </a:r>
            <a:br>
              <a:rPr lang="nl-NL" dirty="0"/>
            </a:br>
            <a:r>
              <a:rPr lang="nl-NL" dirty="0"/>
              <a:t>Te vinden in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/share/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doc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Commandline</a:t>
            </a:r>
            <a:r>
              <a:rPr lang="nl-NL" dirty="0"/>
              <a:t> – help!</a:t>
            </a:r>
          </a:p>
        </p:txBody>
      </p:sp>
    </p:spTree>
    <p:extLst>
      <p:ext uri="{BB962C8B-B14F-4D97-AF65-F5344CB8AC3E}">
        <p14:creationId xmlns:p14="http://schemas.microsoft.com/office/powerpoint/2010/main" val="316174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9B0DED-6D0A-EE55-A532-CF82B44CBD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De opdracht verwijst dit keer niet alleen naar </a:t>
            </a:r>
            <a:r>
              <a:rPr lang="nl-NL" i="1" dirty="0"/>
              <a:t>UNIX </a:t>
            </a:r>
            <a:r>
              <a:rPr lang="nl-NL" i="1" dirty="0" err="1"/>
              <a:t>and</a:t>
            </a:r>
            <a:r>
              <a:rPr lang="nl-NL" i="1" dirty="0"/>
              <a:t> Linux System Administration </a:t>
            </a:r>
            <a:r>
              <a:rPr lang="nl-NL" i="1" dirty="0" err="1"/>
              <a:t>Handbook</a:t>
            </a:r>
            <a:r>
              <a:rPr lang="nl-NL" i="1" dirty="0"/>
              <a:t> 5</a:t>
            </a:r>
            <a:r>
              <a:rPr lang="nl-NL" i="1" baseline="30000" dirty="0"/>
              <a:t>th</a:t>
            </a:r>
            <a:r>
              <a:rPr lang="nl-NL" i="1" dirty="0"/>
              <a:t> Edition</a:t>
            </a:r>
            <a:r>
              <a:rPr lang="nl-NL" dirty="0"/>
              <a:t>, maar ook naar online cursus </a:t>
            </a:r>
            <a:r>
              <a:rPr lang="nl-NL" i="1" dirty="0"/>
              <a:t>Learning </a:t>
            </a:r>
            <a:r>
              <a:rPr lang="nl-NL" i="1" dirty="0" err="1"/>
              <a:t>the</a:t>
            </a:r>
            <a:r>
              <a:rPr lang="nl-NL" i="1" dirty="0"/>
              <a:t> Shell</a:t>
            </a:r>
            <a:r>
              <a:rPr lang="nl-NL" dirty="0"/>
              <a:t>: </a:t>
            </a:r>
            <a:r>
              <a:rPr lang="nl-NL" dirty="0">
                <a:hlinkClick r:id="rId3"/>
              </a:rPr>
              <a:t>http://linuxcommand.org/lc3_learning_the_shell.php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430501-D2BE-B4AE-F01D-A847E33E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Zelfstudie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DB8A0-50E8-E5F4-6819-F27BC2C30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321" y="2593861"/>
            <a:ext cx="2759875" cy="1894796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306EA26-D174-7FDD-92B0-6DCCCD23EED6}"/>
              </a:ext>
            </a:extLst>
          </p:cNvPr>
          <p:cNvSpPr txBox="1">
            <a:spLocks/>
          </p:cNvSpPr>
          <p:nvPr/>
        </p:nvSpPr>
        <p:spPr>
          <a:xfrm>
            <a:off x="718219" y="2593861"/>
            <a:ext cx="5352797" cy="18947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342900" indent="-3429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1"/>
              </a:buClr>
              <a:buFont typeface="Arial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1"/>
              </a:buClr>
              <a:buFont typeface="Arial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nl-NL" dirty="0"/>
              <a:t>Bestudeer zelfstandig deze cursus:</a:t>
            </a:r>
          </a:p>
          <a:p>
            <a:r>
              <a:rPr lang="nl-NL" dirty="0"/>
              <a:t>Alle 10 de hoofdstukken maken onderdeel uit van de leerstof van deze cursus, er kunnen op het tentamen vragen over gesteld worden!</a:t>
            </a:r>
          </a:p>
          <a:p>
            <a:r>
              <a:rPr lang="nl-NL" dirty="0"/>
              <a:t>De opgedane vaardigheden helpen bij toekomstige opdrachten</a:t>
            </a:r>
          </a:p>
        </p:txBody>
      </p:sp>
    </p:spTree>
    <p:extLst>
      <p:ext uri="{BB962C8B-B14F-4D97-AF65-F5344CB8AC3E}">
        <p14:creationId xmlns:p14="http://schemas.microsoft.com/office/powerpoint/2010/main" val="421369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EA11-FE80-C748-58AD-8500CC3D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3D71-8404-857B-5A3A-3F0A7FCB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Platformen</a:t>
            </a:r>
            <a:r>
              <a:rPr lang="en-US" dirty="0"/>
              <a:t>: command line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47E1D-FDB9-4C93-3A8C-7012B335D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Deel 2: Windows Server Core, </a:t>
            </a:r>
            <a:r>
              <a:rPr lang="en-US" dirty="0" err="1"/>
              <a:t>cmd</a:t>
            </a:r>
            <a:r>
              <a:rPr lang="en-US" dirty="0"/>
              <a:t>, PowerShell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3974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17E742-E4F3-96A2-D6CE-DB4EE79BC8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Server Core  is </a:t>
            </a:r>
            <a:r>
              <a:rPr lang="en-US" altLang="en-US" dirty="0" err="1"/>
              <a:t>een</a:t>
            </a:r>
            <a:r>
              <a:rPr lang="en-US" altLang="en-US" dirty="0"/>
              <a:t> “</a:t>
            </a:r>
            <a:r>
              <a:rPr lang="en-US" altLang="en-US" dirty="0" err="1"/>
              <a:t>minimale</a:t>
            </a:r>
            <a:r>
              <a:rPr lang="en-US" altLang="en-US" dirty="0"/>
              <a:t>” </a:t>
            </a:r>
            <a:r>
              <a:rPr lang="en-US" altLang="en-US" dirty="0" err="1"/>
              <a:t>installatie</a:t>
            </a:r>
            <a:r>
              <a:rPr lang="en-US" altLang="en-US" dirty="0"/>
              <a:t> </a:t>
            </a:r>
            <a:r>
              <a:rPr lang="en-US" altLang="en-US" dirty="0" err="1"/>
              <a:t>optie</a:t>
            </a:r>
            <a:r>
              <a:rPr lang="en-US" altLang="en-US" dirty="0"/>
              <a:t> van Windows Server 2008 of later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Server Core </a:t>
            </a:r>
            <a:r>
              <a:rPr lang="en-US" altLang="en-US" dirty="0" err="1"/>
              <a:t>heeft</a:t>
            </a:r>
            <a:r>
              <a:rPr lang="en-US" altLang="en-US" dirty="0"/>
              <a:t> de </a:t>
            </a:r>
            <a:r>
              <a:rPr lang="en-US" altLang="en-US" dirty="0" err="1"/>
              <a:t>volgende</a:t>
            </a:r>
            <a:r>
              <a:rPr lang="en-US" altLang="en-US" dirty="0"/>
              <a:t> </a:t>
            </a:r>
            <a:r>
              <a:rPr lang="en-US" altLang="en-US" dirty="0" err="1"/>
              <a:t>voordelen</a:t>
            </a:r>
            <a:r>
              <a:rPr lang="en-US" altLang="en-US" dirty="0"/>
              <a:t> (</a:t>
            </a:r>
            <a:r>
              <a:rPr lang="en-US" altLang="en-US" dirty="0" err="1"/>
              <a:t>boven</a:t>
            </a:r>
            <a:r>
              <a:rPr lang="en-US" altLang="en-US" dirty="0"/>
              <a:t> de </a:t>
            </a:r>
            <a:r>
              <a:rPr lang="en-US" altLang="en-US" i="1" dirty="0"/>
              <a:t>desktop experience</a:t>
            </a:r>
            <a:r>
              <a:rPr lang="en-US" altLang="en-US" dirty="0"/>
              <a:t>):</a:t>
            </a:r>
          </a:p>
          <a:p>
            <a:pPr marL="800100" lvl="1" indent="-342900">
              <a:lnSpc>
                <a:spcPct val="150000"/>
              </a:lnSpc>
              <a:spcAft>
                <a:spcPct val="40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altLang="en-US" dirty="0"/>
              <a:t>“Reduces software maintenance”</a:t>
            </a:r>
          </a:p>
          <a:p>
            <a:pPr marL="800100" lvl="1" indent="-342900">
              <a:lnSpc>
                <a:spcPct val="150000"/>
              </a:lnSpc>
              <a:spcAft>
                <a:spcPct val="40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altLang="en-US" dirty="0"/>
              <a:t>“Reduces attack surface”</a:t>
            </a:r>
          </a:p>
          <a:p>
            <a:pPr marL="800100" lvl="1" indent="-342900">
              <a:lnSpc>
                <a:spcPct val="100000"/>
              </a:lnSpc>
              <a:spcAft>
                <a:spcPct val="40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altLang="en-US" dirty="0"/>
              <a:t>“Reduces the require disk space and </a:t>
            </a:r>
            <a:br>
              <a:rPr lang="en-US" altLang="en-US" dirty="0"/>
            </a:br>
            <a:r>
              <a:rPr lang="en-US" altLang="en-US" dirty="0"/>
              <a:t>the number of restarts”</a:t>
            </a:r>
          </a:p>
          <a:p>
            <a:pPr indent="0">
              <a:lnSpc>
                <a:spcPct val="100000"/>
              </a:lnSpc>
              <a:spcAft>
                <a:spcPct val="40000"/>
              </a:spcAft>
              <a:buSzPct val="80000"/>
              <a:buNone/>
            </a:pPr>
            <a:r>
              <a:rPr lang="en-US" altLang="en-US" dirty="0"/>
              <a:t>(</a:t>
            </a:r>
            <a:r>
              <a:rPr lang="en-US" altLang="en-US" dirty="0" err="1"/>
              <a:t>bron</a:t>
            </a:r>
            <a:r>
              <a:rPr lang="en-US" altLang="en-US" dirty="0"/>
              <a:t>: Microsoft)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dirty="0"/>
          </a:p>
          <a:p>
            <a:pPr>
              <a:lnSpc>
                <a:spcPct val="150000"/>
              </a:lnSpc>
            </a:pPr>
            <a:endParaRPr lang="nl-NL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Wat is Server Core?	</a:t>
            </a:r>
          </a:p>
        </p:txBody>
      </p:sp>
      <p:grpSp>
        <p:nvGrpSpPr>
          <p:cNvPr id="7174" name="Group 10"/>
          <p:cNvGrpSpPr>
            <a:grpSpLocks/>
          </p:cNvGrpSpPr>
          <p:nvPr/>
        </p:nvGrpSpPr>
        <p:grpSpPr bwMode="auto">
          <a:xfrm>
            <a:off x="6697545" y="2950616"/>
            <a:ext cx="910829" cy="595313"/>
            <a:chOff x="4582" y="3520"/>
            <a:chExt cx="765" cy="500"/>
          </a:xfrm>
        </p:grpSpPr>
        <p:pic>
          <p:nvPicPr>
            <p:cNvPr id="7177" name="Picture 11" descr="ThreatA0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2" y="3572"/>
              <a:ext cx="765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8" name="Picture 12" descr="Serv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9" y="3520"/>
              <a:ext cx="369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175" name="Picture 14" descr="maintai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587" y="2178015"/>
            <a:ext cx="616744" cy="65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15" descr="Data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497" y="3703672"/>
            <a:ext cx="46910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3166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Core en GUI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nl-NL" dirty="0"/>
              <a:t>Core;</a:t>
            </a:r>
          </a:p>
          <a:p>
            <a:pPr lvl="2"/>
            <a:r>
              <a:rPr lang="en-US" altLang="nl-NL" sz="1500" dirty="0" err="1"/>
              <a:t>Vinkjes</a:t>
            </a:r>
            <a:r>
              <a:rPr lang="en-US" altLang="nl-NL" sz="1500" dirty="0"/>
              <a:t> </a:t>
            </a:r>
            <a:r>
              <a:rPr lang="en-US" altLang="nl-NL" sz="1500" dirty="0" err="1"/>
              <a:t>uit</a:t>
            </a:r>
            <a:r>
              <a:rPr lang="en-US" altLang="nl-NL" sz="1500" dirty="0"/>
              <a:t> </a:t>
            </a:r>
            <a:r>
              <a:rPr lang="en-US" altLang="nl-NL" sz="1500" dirty="0" err="1"/>
              <a:t>bij</a:t>
            </a:r>
            <a:r>
              <a:rPr lang="en-US" altLang="nl-NL" sz="1500" dirty="0"/>
              <a:t> </a:t>
            </a:r>
            <a:r>
              <a:rPr lang="en-US" altLang="nl-NL" sz="1500" dirty="0" err="1"/>
              <a:t>alle</a:t>
            </a:r>
            <a:r>
              <a:rPr lang="en-US" altLang="nl-NL" sz="1500" dirty="0"/>
              <a:t> </a:t>
            </a:r>
            <a:r>
              <a:rPr lang="en-US" altLang="nl-NL" sz="1500" dirty="0" err="1"/>
              <a:t>opties</a:t>
            </a:r>
            <a:r>
              <a:rPr lang="en-US" altLang="nl-NL" sz="1500" dirty="0"/>
              <a:t>.</a:t>
            </a:r>
            <a:endParaRPr lang="en-US" altLang="nl-NL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nl-NL" dirty="0"/>
              <a:t>Server with a Desktop Experience:</a:t>
            </a:r>
          </a:p>
          <a:p>
            <a:pPr lvl="2"/>
            <a:r>
              <a:rPr lang="en-US" altLang="nl-NL" sz="1500" dirty="0"/>
              <a:t>“</a:t>
            </a:r>
            <a:r>
              <a:rPr lang="en-US" altLang="nl-NL" sz="1500" dirty="0" err="1"/>
              <a:t>Normale</a:t>
            </a:r>
            <a:r>
              <a:rPr lang="en-US" altLang="nl-NL" sz="1500" dirty="0"/>
              <a:t>” GUI.</a:t>
            </a:r>
            <a:endParaRPr lang="en-US" altLang="nl-NL" sz="1650" dirty="0"/>
          </a:p>
          <a:p>
            <a:r>
              <a:rPr lang="en-US" altLang="nl-NL" sz="1800" dirty="0"/>
              <a:t>Nano Server: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nl-NL" sz="1650" dirty="0" err="1"/>
              <a:t>Nog</a:t>
            </a:r>
            <a:r>
              <a:rPr lang="en-US" altLang="nl-NL" sz="1650" dirty="0"/>
              <a:t> </a:t>
            </a:r>
            <a:r>
              <a:rPr lang="en-US" altLang="nl-NL" sz="1650" dirty="0" err="1"/>
              <a:t>kaler</a:t>
            </a:r>
            <a:r>
              <a:rPr lang="en-US" altLang="nl-NL" sz="1650" dirty="0"/>
              <a:t> dan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nl-NL" sz="1650" dirty="0"/>
              <a:t>Alleen </a:t>
            </a:r>
            <a:r>
              <a:rPr lang="en-US" altLang="nl-NL" sz="1650" dirty="0" err="1"/>
              <a:t>als</a:t>
            </a:r>
            <a:r>
              <a:rPr lang="en-US" altLang="nl-NL" sz="1650" dirty="0"/>
              <a:t> container </a:t>
            </a:r>
            <a:r>
              <a:rPr lang="en-US" altLang="nl-NL" sz="1650" dirty="0" err="1"/>
              <a:t>beschikbaar</a:t>
            </a:r>
            <a:endParaRPr lang="en-US" altLang="nl-NL" sz="1650" dirty="0"/>
          </a:p>
          <a:p>
            <a:r>
              <a:rPr lang="en-US" altLang="nl-NL" sz="1800" dirty="0"/>
              <a:t>Hyper-V Server: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nl-NL" sz="1650" dirty="0" err="1"/>
              <a:t>Specifieke</a:t>
            </a:r>
            <a:r>
              <a:rPr lang="en-US" altLang="nl-NL" sz="1650" dirty="0"/>
              <a:t> </a:t>
            </a:r>
            <a:r>
              <a:rPr lang="en-US" altLang="nl-NL" sz="1650" dirty="0" err="1"/>
              <a:t>virtualisatie</a:t>
            </a:r>
            <a:r>
              <a:rPr lang="en-US" altLang="nl-NL" sz="1650" dirty="0"/>
              <a:t> host </a:t>
            </a:r>
            <a:r>
              <a:rPr lang="en-US" altLang="nl-NL" sz="1650" dirty="0" err="1"/>
              <a:t>vergelijkbaar</a:t>
            </a:r>
            <a:r>
              <a:rPr lang="en-US" altLang="nl-NL" sz="1650" dirty="0"/>
              <a:t> met Core</a:t>
            </a:r>
            <a:endParaRPr lang="nl-NL" altLang="nl-NL" sz="1650" dirty="0"/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Verschillende</a:t>
            </a:r>
            <a:r>
              <a:rPr lang="en-GB" dirty="0"/>
              <a:t> </a:t>
            </a:r>
            <a:r>
              <a:rPr lang="en-GB" dirty="0" err="1"/>
              <a:t>soorten</a:t>
            </a:r>
            <a:r>
              <a:rPr lang="en-GB" dirty="0"/>
              <a:t> Windows </a:t>
            </a:r>
            <a:r>
              <a:rPr lang="en-GB" dirty="0" err="1"/>
              <a:t>installaties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7858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Core Architecture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2"/>
          <a:stretch/>
        </p:blipFill>
        <p:spPr>
          <a:xfrm>
            <a:off x="2117567" y="922338"/>
            <a:ext cx="4903788" cy="4125912"/>
          </a:xfrm>
          <a:noFill/>
        </p:spPr>
      </p:pic>
    </p:spTree>
    <p:extLst>
      <p:ext uri="{BB962C8B-B14F-4D97-AF65-F5344CB8AC3E}">
        <p14:creationId xmlns:p14="http://schemas.microsoft.com/office/powerpoint/2010/main" val="710527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 dirty="0"/>
              <a:t>Core installatie: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4294967295"/>
          </p:nvPr>
        </p:nvSpPr>
        <p:spPr>
          <a:xfrm>
            <a:off x="0" y="1370013"/>
            <a:ext cx="7637463" cy="1201737"/>
          </a:xfrm>
        </p:spPr>
        <p:txBody>
          <a:bodyPr/>
          <a:lstStyle/>
          <a:p>
            <a:pPr>
              <a:spcBef>
                <a:spcPts val="450"/>
              </a:spcBef>
            </a:pPr>
            <a:endParaRPr lang="en-US" altLang="nl-NL"/>
          </a:p>
          <a:p>
            <a:endParaRPr lang="nl-NL" altLang="nl-N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91370" y="1324271"/>
            <a:ext cx="4557713" cy="34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48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1800" dirty="0"/>
              <a:t>Task Manager;</a:t>
            </a:r>
          </a:p>
          <a:p>
            <a:r>
              <a:rPr lang="en-GB" sz="1800" dirty="0"/>
              <a:t>Command prompt &amp; PowerShell;</a:t>
            </a:r>
          </a:p>
          <a:p>
            <a:r>
              <a:rPr lang="en-GB" sz="1800" dirty="0"/>
              <a:t>File Shares: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50" dirty="0">
                <a:latin typeface="Consolas" panose="020B0609020204030204" pitchFamily="49" charset="0"/>
              </a:rPr>
              <a:t>net view \\Server1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50" dirty="0">
                <a:latin typeface="Consolas" panose="020B0609020204030204" pitchFamily="49" charset="0"/>
              </a:rPr>
              <a:t>net use D:</a:t>
            </a:r>
            <a:r>
              <a:rPr lang="nl-NL" sz="1650" dirty="0">
                <a:latin typeface="Consolas" panose="020B0609020204030204" pitchFamily="49" charset="0"/>
              </a:rPr>
              <a:t> \\Server1\Data</a:t>
            </a:r>
          </a:p>
          <a:p>
            <a:r>
              <a:rPr lang="nl-NL" sz="1800" dirty="0"/>
              <a:t>Reboot / </a:t>
            </a:r>
            <a:r>
              <a:rPr lang="nl-NL" sz="1800" dirty="0" err="1"/>
              <a:t>shutdown</a:t>
            </a:r>
            <a:r>
              <a:rPr lang="nl-NL" sz="1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800" dirty="0"/>
              <a:t>PS: </a:t>
            </a:r>
            <a:r>
              <a:rPr lang="nl-NL" sz="1650" dirty="0" err="1">
                <a:latin typeface="Consolas" panose="020B0609020204030204" pitchFamily="49" charset="0"/>
              </a:rPr>
              <a:t>Restart</a:t>
            </a:r>
            <a:r>
              <a:rPr lang="nl-NL" sz="1650" dirty="0">
                <a:latin typeface="Consolas" panose="020B0609020204030204" pitchFamily="49" charset="0"/>
              </a:rPr>
              <a:t>-Computer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50" dirty="0" err="1">
                <a:latin typeface="Consolas" panose="020B0609020204030204" pitchFamily="49" charset="0"/>
              </a:rPr>
              <a:t>shutdown</a:t>
            </a:r>
            <a:r>
              <a:rPr lang="nl-NL" sz="1650" dirty="0">
                <a:latin typeface="Consolas" panose="020B0609020204030204" pitchFamily="49" charset="0"/>
              </a:rPr>
              <a:t> -r </a:t>
            </a:r>
            <a:r>
              <a:rPr lang="nl-NL" sz="1800" dirty="0"/>
              <a:t>[</a:t>
            </a:r>
            <a:r>
              <a:rPr lang="nl-NL" sz="1650" dirty="0">
                <a:latin typeface="Consolas" panose="020B0609020204030204" pitchFamily="49" charset="0"/>
              </a:rPr>
              <a:t>-s</a:t>
            </a:r>
            <a:r>
              <a:rPr lang="nl-NL" sz="1800" dirty="0"/>
              <a:t>]</a:t>
            </a:r>
            <a:r>
              <a:rPr lang="nl-NL" sz="1650" dirty="0"/>
              <a:t> </a:t>
            </a:r>
            <a:r>
              <a:rPr lang="nl-NL" sz="1650" dirty="0">
                <a:latin typeface="Consolas" panose="020B0609020204030204" pitchFamily="49" charset="0"/>
              </a:rPr>
              <a:t>-t 0</a:t>
            </a:r>
            <a:endParaRPr lang="en-GB" sz="1650" dirty="0"/>
          </a:p>
          <a:p>
            <a:r>
              <a:rPr lang="en-GB" sz="1650" dirty="0" err="1">
                <a:latin typeface="Consolas" panose="020B0609020204030204" pitchFamily="49" charset="0"/>
              </a:rPr>
              <a:t>sconfig</a:t>
            </a:r>
            <a:endParaRPr lang="en-GB" sz="1650" dirty="0"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 Core “Survival guide”</a:t>
            </a:r>
          </a:p>
        </p:txBody>
      </p:sp>
    </p:spTree>
    <p:extLst>
      <p:ext uri="{BB962C8B-B14F-4D97-AF65-F5344CB8AC3E}">
        <p14:creationId xmlns:p14="http://schemas.microsoft.com/office/powerpoint/2010/main" val="1967529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Product ID;</a:t>
            </a:r>
          </a:p>
          <a:p>
            <a:r>
              <a:rPr lang="nl-NL" dirty="0"/>
              <a:t>Tijd Zone;</a:t>
            </a:r>
          </a:p>
          <a:p>
            <a:r>
              <a:rPr lang="nl-NL" dirty="0"/>
              <a:t>Netwerk;</a:t>
            </a:r>
          </a:p>
          <a:p>
            <a:r>
              <a:rPr lang="nl-NL" dirty="0"/>
              <a:t>Computernaam;</a:t>
            </a:r>
          </a:p>
          <a:p>
            <a:r>
              <a:rPr lang="nl-NL" dirty="0"/>
              <a:t>Domein;</a:t>
            </a:r>
          </a:p>
          <a:p>
            <a:r>
              <a:rPr lang="nl-NL" dirty="0"/>
              <a:t>Updates.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Initiële configuratie van Server Core</a:t>
            </a:r>
          </a:p>
        </p:txBody>
      </p:sp>
    </p:spTree>
    <p:extLst>
      <p:ext uri="{BB962C8B-B14F-4D97-AF65-F5344CB8AC3E}">
        <p14:creationId xmlns:p14="http://schemas.microsoft.com/office/powerpoint/2010/main" val="161683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Remote Desktop;</a:t>
            </a:r>
          </a:p>
          <a:p>
            <a:r>
              <a:rPr lang="nl-NL" dirty="0"/>
              <a:t>MMC met Snap-ins (onderdeel van RSAT);</a:t>
            </a:r>
          </a:p>
          <a:p>
            <a:r>
              <a:rPr lang="nl-NL" dirty="0"/>
              <a:t>Remote </a:t>
            </a:r>
            <a:r>
              <a:rPr lang="nl-NL" dirty="0" err="1"/>
              <a:t>PowerShell</a:t>
            </a:r>
            <a:r>
              <a:rPr lang="nl-NL" dirty="0"/>
              <a:t>;</a:t>
            </a:r>
          </a:p>
          <a:p>
            <a:r>
              <a:rPr lang="nl-NL" dirty="0"/>
              <a:t>Server Manager.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Remote </a:t>
            </a:r>
            <a:r>
              <a:rPr lang="en-GB" dirty="0" err="1"/>
              <a:t>beheren</a:t>
            </a:r>
            <a:r>
              <a:rPr lang="en-GB" dirty="0"/>
              <a:t> Server Core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794" y="1870898"/>
            <a:ext cx="5386527" cy="286339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24840" y="2690990"/>
            <a:ext cx="2711385" cy="1950668"/>
            <a:chOff x="624840" y="2690990"/>
            <a:chExt cx="2711385" cy="195066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840" y="2690990"/>
              <a:ext cx="2711385" cy="1950668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423932" y="2994660"/>
              <a:ext cx="205740" cy="121920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021175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ea typeface="MS PGothic" pitchFamily="34" charset="-128"/>
              </a:rPr>
              <a:t>Configuratie</a:t>
            </a:r>
            <a:r>
              <a:rPr lang="en-US" altLang="ja-JP" dirty="0">
                <a:ea typeface="MS PGothic" pitchFamily="34" charset="-128"/>
              </a:rPr>
              <a:t> </a:t>
            </a:r>
            <a:r>
              <a:rPr lang="en-US" altLang="ja-JP" dirty="0" err="1">
                <a:ea typeface="MS PGothic" pitchFamily="34" charset="-128"/>
              </a:rPr>
              <a:t>Netwerk</a:t>
            </a:r>
            <a:r>
              <a:rPr lang="en-US" altLang="ja-JP" dirty="0">
                <a:ea typeface="MS PGothic" pitchFamily="34" charset="-128"/>
              </a:rPr>
              <a:t> &amp; Firewall </a:t>
            </a:r>
            <a:endParaRPr lang="en-US" altLang="en-US" dirty="0"/>
          </a:p>
        </p:txBody>
      </p:sp>
      <p:pic>
        <p:nvPicPr>
          <p:cNvPr id="2765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91" y="1208485"/>
            <a:ext cx="6437709" cy="384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00474" y="1545636"/>
            <a:ext cx="5943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net user Administrator</a:t>
            </a: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interface ipv4 set address name=&lt;id&gt; source=static address=&lt;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staticip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mask=&lt;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sub.mask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gateway=&lt;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ip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interface ipv4 add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dnsserver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name=&lt;id&gt; address=&lt;IPDNS&gt; index=&lt;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nr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1500474" y="3705877"/>
            <a:ext cx="609586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netsh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advfirewall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firewall set rule group="windows remote management" new enable=yes</a:t>
            </a:r>
          </a:p>
          <a:p>
            <a:pPr>
              <a:lnSpc>
                <a:spcPct val="90000"/>
              </a:lnSpc>
            </a:pPr>
            <a:endParaRPr lang="en-US" altLang="en-US" sz="15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netsh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advfirewall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set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currentprofile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settings </a:t>
            </a:r>
            <a:r>
              <a:rPr lang="en-US" altLang="en-US" sz="15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remotemanagement</a:t>
            </a:r>
            <a:r>
              <a:rPr lang="en-US" altLang="en-US" sz="15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enable</a:t>
            </a:r>
          </a:p>
        </p:txBody>
      </p:sp>
    </p:spTree>
    <p:extLst>
      <p:ext uri="{BB962C8B-B14F-4D97-AF65-F5344CB8AC3E}">
        <p14:creationId xmlns:p14="http://schemas.microsoft.com/office/powerpoint/2010/main" val="184465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MS PGothic" pitchFamily="34" charset="-128"/>
              </a:rPr>
              <a:t>System Settings</a:t>
            </a:r>
            <a:endParaRPr lang="en-US" altLang="en-US" dirty="0"/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766" y="891779"/>
            <a:ext cx="6224588" cy="366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724025" y="1334691"/>
            <a:ext cx="5511404" cy="233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Slmgr.vbs /</a:t>
            </a:r>
            <a:r>
              <a:rPr lang="en-US" altLang="en-US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ato</a:t>
            </a: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control </a:t>
            </a:r>
            <a:r>
              <a:rPr lang="en-US" altLang="en-US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timedate.cpl</a:t>
            </a: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control </a:t>
            </a:r>
            <a:r>
              <a:rPr lang="en-US" altLang="en-US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intl.cpl</a:t>
            </a: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28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0F8C94-85FE-48CD-85F7-5C833D3B2B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nl-NL" sz="1800" dirty="0" err="1">
                <a:latin typeface="Consolas" panose="020B0609020204030204" pitchFamily="49" charset="0"/>
              </a:rPr>
              <a:t>Install-WindowsFeature</a:t>
            </a:r>
            <a:r>
              <a:rPr lang="nl-NL" sz="1800" dirty="0">
                <a:latin typeface="Consolas" panose="020B0609020204030204" pitchFamily="49" charset="0"/>
              </a:rPr>
              <a:t> AD-Domain-Services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						-</a:t>
            </a:r>
            <a:r>
              <a:rPr lang="nl-NL" sz="1800" dirty="0" err="1">
                <a:latin typeface="Consolas" panose="020B0609020204030204" pitchFamily="49" charset="0"/>
              </a:rPr>
              <a:t>IncludeManagementTools</a:t>
            </a:r>
            <a:endParaRPr lang="nl-NL" sz="18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nl-NL" sz="1800" dirty="0"/>
              <a:t>New </a:t>
            </a:r>
            <a:r>
              <a:rPr lang="nl-NL" sz="1800" dirty="0" err="1"/>
              <a:t>Forest</a:t>
            </a:r>
            <a:r>
              <a:rPr lang="nl-NL" sz="1800" dirty="0"/>
              <a:t>: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 err="1">
                <a:latin typeface="Consolas" panose="020B0609020204030204" pitchFamily="49" charset="0"/>
              </a:rPr>
              <a:t>Install-ADDSForest</a:t>
            </a:r>
            <a:r>
              <a:rPr lang="nl-NL" sz="1800" dirty="0">
                <a:latin typeface="Consolas" panose="020B0609020204030204" pitchFamily="49" charset="0"/>
              </a:rPr>
              <a:t> -</a:t>
            </a:r>
            <a:r>
              <a:rPr lang="nl-NL" sz="1800" dirty="0" err="1">
                <a:latin typeface="Consolas" panose="020B0609020204030204" pitchFamily="49" charset="0"/>
              </a:rPr>
              <a:t>DomainName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i="1" dirty="0">
                <a:latin typeface="Consolas" panose="020B0609020204030204" pitchFamily="49" charset="0"/>
              </a:rPr>
              <a:t>domainname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1800" dirty="0">
                <a:latin typeface="Consolas" panose="020B0609020204030204" pitchFamily="49" charset="0"/>
              </a:rPr>
              <a:t>Install-</a:t>
            </a:r>
            <a:r>
              <a:rPr lang="en-GB" sz="1800" dirty="0" err="1">
                <a:latin typeface="Consolas" panose="020B0609020204030204" pitchFamily="49" charset="0"/>
              </a:rPr>
              <a:t>ADDSDomainController</a:t>
            </a:r>
            <a:r>
              <a:rPr lang="en-GB" sz="1800" dirty="0">
                <a:latin typeface="Consolas" panose="020B0609020204030204" pitchFamily="49" charset="0"/>
              </a:rPr>
              <a:t>  -</a:t>
            </a:r>
            <a:r>
              <a:rPr lang="en-GB" sz="1800" dirty="0" err="1">
                <a:latin typeface="Consolas" panose="020B0609020204030204" pitchFamily="49" charset="0"/>
              </a:rPr>
              <a:t>DomainName</a:t>
            </a:r>
            <a:r>
              <a:rPr lang="en-GB" sz="1800" dirty="0">
                <a:latin typeface="Consolas" panose="020B0609020204030204" pitchFamily="49" charset="0"/>
              </a:rPr>
              <a:t> "</a:t>
            </a:r>
            <a:r>
              <a:rPr lang="en-GB" sz="1800" i="1" dirty="0" err="1">
                <a:latin typeface="Consolas" panose="020B0609020204030204" pitchFamily="49" charset="0"/>
              </a:rPr>
              <a:t>domainname</a:t>
            </a:r>
            <a:r>
              <a:rPr lang="en-GB" sz="1800" dirty="0">
                <a:latin typeface="Consolas" panose="020B0609020204030204" pitchFamily="49" charset="0"/>
              </a:rPr>
              <a:t>"</a:t>
            </a:r>
            <a:br>
              <a:rPr lang="en-GB" sz="1800" i="1" dirty="0">
                <a:latin typeface="Consolas" panose="020B0609020204030204" pitchFamily="49" charset="0"/>
              </a:rPr>
            </a:br>
            <a:r>
              <a:rPr lang="en-GB" sz="1800" i="1" dirty="0">
                <a:latin typeface="Consolas" panose="020B0609020204030204" pitchFamily="49" charset="0"/>
              </a:rPr>
              <a:t>								</a:t>
            </a:r>
            <a:r>
              <a:rPr lang="en-GB" sz="1800" dirty="0">
                <a:latin typeface="Consolas" panose="020B0609020204030204" pitchFamily="49" charset="0"/>
              </a:rPr>
              <a:t>-credential $(get-credential)</a:t>
            </a:r>
            <a:endParaRPr lang="nl-NL" dirty="0">
              <a:latin typeface="Consolas" panose="020B0609020204030204" pitchFamily="49" charset="0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MS PGothic" pitchFamily="34" charset="-128"/>
              </a:rPr>
              <a:t>Active Directory Domain Services Role on Server Core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2499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ea typeface="MS PGothic" pitchFamily="34" charset="-128"/>
              </a:rPr>
              <a:t>Configureren</a:t>
            </a:r>
            <a:r>
              <a:rPr lang="en-US" altLang="ja-JP" dirty="0">
                <a:ea typeface="MS PGothic" pitchFamily="34" charset="-128"/>
              </a:rPr>
              <a:t> DHCP Server Core (command prompt)</a:t>
            </a:r>
            <a:endParaRPr lang="en-US" altLang="en-US" dirty="0"/>
          </a:p>
        </p:txBody>
      </p:sp>
      <p:pic>
        <p:nvPicPr>
          <p:cNvPr id="378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931" y="937023"/>
            <a:ext cx="6505575" cy="3898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91879" y="1451373"/>
            <a:ext cx="5817394" cy="320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algn="ctr" defTabSz="457200"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dism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/online /enable-feature /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featurename:DHCPServer</a:t>
            </a: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sc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config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dhcpserver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start=auto</a:t>
            </a: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net start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dhcpserver</a:t>
            </a: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dhcp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add server srv1.school.test 10.2.2.2</a:t>
            </a: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</a:rPr>
              <a:t>dhcp</a:t>
            </a:r>
            <a:r>
              <a:rPr lang="en-US" altLang="en-US" sz="1500" b="0" dirty="0">
                <a:solidFill>
                  <a:schemeClr val="bg1"/>
                </a:solidFill>
              </a:rPr>
              <a:t> server add scope 10.2.2.0 255.255.255.0 </a:t>
            </a:r>
            <a:r>
              <a:rPr lang="en-US" altLang="en-US" sz="1500" b="0" dirty="0" err="1">
                <a:solidFill>
                  <a:schemeClr val="bg1"/>
                </a:solidFill>
              </a:rPr>
              <a:t>MyS</a:t>
            </a:r>
            <a:r>
              <a:rPr lang="en-US" altLang="en-US" sz="1500" b="0" dirty="0">
                <a:solidFill>
                  <a:schemeClr val="bg1"/>
                </a:solidFill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</a:rPr>
              <a:t>MyC</a:t>
            </a:r>
            <a:endParaRPr lang="en-US" altLang="en-US" sz="1500" b="0" dirty="0">
              <a:solidFill>
                <a:schemeClr val="bg1"/>
              </a:solidFill>
            </a:endParaRPr>
          </a:p>
          <a:p>
            <a:pPr algn="l">
              <a:lnSpc>
                <a:spcPct val="90000"/>
              </a:lnSpc>
            </a:pPr>
            <a:endParaRPr lang="en-US" altLang="en-US" sz="1500" b="0" dirty="0">
              <a:solidFill>
                <a:schemeClr val="bg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</a:rPr>
              <a:t>dhcp</a:t>
            </a:r>
            <a:r>
              <a:rPr lang="en-US" altLang="en-US" sz="1500" b="0" dirty="0">
                <a:solidFill>
                  <a:schemeClr val="bg1"/>
                </a:solidFill>
              </a:rPr>
              <a:t> server set </a:t>
            </a:r>
            <a:r>
              <a:rPr lang="en-US" altLang="en-US" sz="1500" b="0" dirty="0" err="1">
                <a:solidFill>
                  <a:schemeClr val="bg1"/>
                </a:solidFill>
              </a:rPr>
              <a:t>optionvalue</a:t>
            </a:r>
            <a:r>
              <a:rPr lang="en-US" altLang="en-US" sz="1500" b="0" dirty="0">
                <a:solidFill>
                  <a:schemeClr val="bg1"/>
                </a:solidFill>
              </a:rPr>
              <a:t> 003 IPADDRESS 10.1.1.1 </a:t>
            </a:r>
          </a:p>
          <a:p>
            <a:pPr algn="l">
              <a:lnSpc>
                <a:spcPct val="90000"/>
              </a:lnSpc>
            </a:pPr>
            <a:r>
              <a:rPr lang="en-US" altLang="en-US" sz="1500" b="0" dirty="0">
                <a:solidFill>
                  <a:schemeClr val="bg1"/>
                </a:solidFill>
              </a:rPr>
              <a:t>&gt; </a:t>
            </a:r>
            <a:r>
              <a:rPr lang="en-US" altLang="en-US" sz="1500" b="0" dirty="0" err="1">
                <a:solidFill>
                  <a:schemeClr val="bg1"/>
                </a:solidFill>
              </a:rPr>
              <a:t>netsh</a:t>
            </a:r>
            <a:r>
              <a:rPr lang="en-US" altLang="en-US" sz="1500" b="0" dirty="0">
                <a:solidFill>
                  <a:schemeClr val="bg1"/>
                </a:solidFill>
              </a:rPr>
              <a:t> </a:t>
            </a:r>
            <a:r>
              <a:rPr lang="en-US" altLang="en-US" sz="1500" b="0" dirty="0" err="1">
                <a:solidFill>
                  <a:schemeClr val="bg1"/>
                </a:solidFill>
              </a:rPr>
              <a:t>dhcp</a:t>
            </a:r>
            <a:r>
              <a:rPr lang="en-US" altLang="en-US" sz="1500" b="0" dirty="0">
                <a:solidFill>
                  <a:schemeClr val="bg1"/>
                </a:solidFill>
              </a:rPr>
              <a:t> server s</a:t>
            </a:r>
            <a:r>
              <a:rPr lang="en-US" altLang="en-US" sz="1500" b="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how scope /</a:t>
            </a:r>
            <a:r>
              <a:rPr lang="en-US" altLang="en-US" sz="1500" b="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optionvalue</a:t>
            </a:r>
            <a:endParaRPr lang="en-US" altLang="en-US" sz="1500" b="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43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A7451B1-203F-428E-87FC-4B491A9D1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nl-NL" dirty="0"/>
              <a:t>Met </a:t>
            </a:r>
            <a:r>
              <a:rPr lang="nl-NL" dirty="0" err="1"/>
              <a:t>PowerShell</a:t>
            </a:r>
            <a:r>
              <a:rPr lang="nl-NL" dirty="0"/>
              <a:t>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nl-NL" sz="1800" dirty="0" err="1">
                <a:latin typeface="Consolas" panose="020B0609020204030204" pitchFamily="49" charset="0"/>
              </a:rPr>
              <a:t>Install-WindowsFeature</a:t>
            </a:r>
            <a:r>
              <a:rPr lang="nl-NL" sz="1800" dirty="0">
                <a:latin typeface="Consolas" panose="020B0609020204030204" pitchFamily="49" charset="0"/>
              </a:rPr>
              <a:t> -Name 'DHCP'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						-</a:t>
            </a:r>
            <a:r>
              <a:rPr lang="nl-NL" sz="1800" dirty="0" err="1">
                <a:latin typeface="Consolas" panose="020B0609020204030204" pitchFamily="49" charset="0"/>
              </a:rPr>
              <a:t>IncludeManagementTools</a:t>
            </a:r>
            <a:endParaRPr lang="nl-NL" sz="18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nl-NL" sz="1800" dirty="0">
                <a:latin typeface="Consolas" panose="020B0609020204030204" pitchFamily="49" charset="0"/>
              </a:rPr>
              <a:t>Add-DhcpServerV4Scope -Name "DHCP Scope</a:t>
            </a:r>
            <a:r>
              <a:rPr lang="en-GB" sz="1800" dirty="0">
                <a:latin typeface="Consolas" panose="020B0609020204030204" pitchFamily="49" charset="0"/>
              </a:rPr>
              <a:t>"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-</a:t>
            </a:r>
            <a:r>
              <a:rPr lang="nl-NL" sz="1800" dirty="0" err="1">
                <a:latin typeface="Consolas" panose="020B0609020204030204" pitchFamily="49" charset="0"/>
              </a:rPr>
              <a:t>StartRange</a:t>
            </a:r>
            <a:r>
              <a:rPr lang="nl-NL" sz="1800" dirty="0">
                <a:latin typeface="Consolas" panose="020B0609020204030204" pitchFamily="49" charset="0"/>
              </a:rPr>
              <a:t> 192.168.1.150 -</a:t>
            </a:r>
            <a:r>
              <a:rPr lang="nl-NL" sz="1800" dirty="0" err="1">
                <a:latin typeface="Consolas" panose="020B0609020204030204" pitchFamily="49" charset="0"/>
              </a:rPr>
              <a:t>EndRange</a:t>
            </a:r>
            <a:r>
              <a:rPr lang="nl-NL" sz="1800" dirty="0">
                <a:latin typeface="Consolas" panose="020B0609020204030204" pitchFamily="49" charset="0"/>
              </a:rPr>
              <a:t> 192.168.1.200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-</a:t>
            </a:r>
            <a:r>
              <a:rPr lang="nl-NL" sz="1800" dirty="0" err="1">
                <a:latin typeface="Consolas" panose="020B0609020204030204" pitchFamily="49" charset="0"/>
              </a:rPr>
              <a:t>SubnetMask</a:t>
            </a:r>
            <a:r>
              <a:rPr lang="nl-NL" sz="1800" dirty="0">
                <a:latin typeface="Consolas" panose="020B0609020204030204" pitchFamily="49" charset="0"/>
              </a:rPr>
              <a:t> 255.255.255.0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nl-NL" sz="1800" dirty="0">
                <a:latin typeface="Consolas" panose="020B0609020204030204" pitchFamily="49" charset="0"/>
              </a:rPr>
              <a:t>Set-DhcpServerV4OptionValue -</a:t>
            </a:r>
            <a:r>
              <a:rPr lang="nl-NL" sz="1800" dirty="0" err="1">
                <a:latin typeface="Consolas" panose="020B0609020204030204" pitchFamily="49" charset="0"/>
              </a:rPr>
              <a:t>DnsServer</a:t>
            </a:r>
            <a:r>
              <a:rPr lang="nl-NL" sz="1800" dirty="0">
                <a:latin typeface="Consolas" panose="020B0609020204030204" pitchFamily="49" charset="0"/>
              </a:rPr>
              <a:t> 192.168.1.10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						-Router 192.168.1.1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nl-NL" sz="1800" dirty="0">
                <a:latin typeface="Consolas" panose="020B0609020204030204" pitchFamily="49" charset="0"/>
              </a:rPr>
              <a:t>Set-DhcpServerv4Scope -</a:t>
            </a:r>
            <a:r>
              <a:rPr lang="nl-NL" sz="1800" dirty="0" err="1">
                <a:latin typeface="Consolas" panose="020B0609020204030204" pitchFamily="49" charset="0"/>
              </a:rPr>
              <a:t>ScopeId</a:t>
            </a:r>
            <a:r>
              <a:rPr lang="nl-NL" sz="1800" dirty="0">
                <a:latin typeface="Consolas" panose="020B0609020204030204" pitchFamily="49" charset="0"/>
              </a:rPr>
              <a:t> 192.168.1.10</a:t>
            </a:r>
            <a:br>
              <a:rPr lang="nl-NL" sz="1800" dirty="0">
                <a:latin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</a:rPr>
              <a:t>									-</a:t>
            </a:r>
            <a:r>
              <a:rPr lang="nl-NL" sz="1800" dirty="0" err="1">
                <a:latin typeface="Consolas" panose="020B0609020204030204" pitchFamily="49" charset="0"/>
              </a:rPr>
              <a:t>LeaseDuration</a:t>
            </a:r>
            <a:r>
              <a:rPr lang="nl-NL" sz="1800" dirty="0">
                <a:latin typeface="Consolas" panose="020B0609020204030204" pitchFamily="49" charset="0"/>
              </a:rPr>
              <a:t> 1.00:00:00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ea typeface="MS PGothic" pitchFamily="34" charset="-128"/>
              </a:rPr>
              <a:t>Configureren</a:t>
            </a:r>
            <a:r>
              <a:rPr lang="en-US" altLang="ja-JP" dirty="0">
                <a:ea typeface="MS PGothic" pitchFamily="34" charset="-128"/>
              </a:rPr>
              <a:t> DHCP Server Core (PowerShell)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6763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nl-NL" dirty="0">
                <a:latin typeface="Consolas" panose="020B0609020204030204" pitchFamily="49" charset="0"/>
              </a:rPr>
              <a:t>Get-</a:t>
            </a:r>
            <a:r>
              <a:rPr lang="nl-NL" dirty="0" err="1">
                <a:latin typeface="Consolas" panose="020B0609020204030204" pitchFamily="49" charset="0"/>
              </a:rPr>
              <a:t>WindowsFeature</a:t>
            </a:r>
            <a:endParaRPr lang="nl-NL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</a:rPr>
              <a:t>Add-WindowsFeature</a:t>
            </a:r>
            <a:r>
              <a:rPr lang="nl-NL" dirty="0">
                <a:latin typeface="Consolas" panose="020B0609020204030204" pitchFamily="49" charset="0"/>
              </a:rPr>
              <a:t> AD-Domain-Services</a:t>
            </a:r>
            <a:endParaRPr lang="en-GB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</a:rPr>
              <a:t>Add-WindowsFeature</a:t>
            </a:r>
            <a:r>
              <a:rPr lang="nl-NL" dirty="0">
                <a:latin typeface="Consolas" panose="020B0609020204030204" pitchFamily="49" charset="0"/>
              </a:rPr>
              <a:t> DNS, DHCP</a:t>
            </a:r>
          </a:p>
          <a:p>
            <a:pPr>
              <a:spcBef>
                <a:spcPts val="1200"/>
              </a:spcBef>
            </a:pPr>
            <a:endParaRPr lang="nl-NL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</a:rPr>
              <a:t>netsh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</a:rPr>
              <a:t>advfirewall</a:t>
            </a:r>
            <a:r>
              <a:rPr lang="nl-NL" dirty="0">
                <a:latin typeface="Consolas" panose="020B0609020204030204" pitchFamily="49" charset="0"/>
              </a:rPr>
              <a:t> set </a:t>
            </a:r>
            <a:r>
              <a:rPr lang="nl-NL" dirty="0" err="1">
                <a:latin typeface="Consolas" panose="020B0609020204030204" pitchFamily="49" charset="0"/>
              </a:rPr>
              <a:t>currentprofile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</a:rPr>
              <a:t>settings</a:t>
            </a:r>
            <a:r>
              <a:rPr lang="nl-NL" dirty="0">
                <a:latin typeface="Consolas" panose="020B0609020204030204" pitchFamily="49" charset="0"/>
              </a:rPr>
              <a:t> 											</a:t>
            </a:r>
            <a:r>
              <a:rPr lang="nl-NL" dirty="0" err="1">
                <a:latin typeface="Consolas" panose="020B0609020204030204" pitchFamily="49" charset="0"/>
              </a:rPr>
              <a:t>remotemanagement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</a:rPr>
              <a:t>enable</a:t>
            </a:r>
            <a:endParaRPr lang="nl-NL" dirty="0"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nl-NL" dirty="0" err="1">
                <a:latin typeface="Consolas" panose="020B0609020204030204" pitchFamily="49" charset="0"/>
              </a:rPr>
              <a:t>netsh</a:t>
            </a:r>
            <a:r>
              <a:rPr lang="nl-NL" dirty="0">
                <a:latin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</a:rPr>
              <a:t>advfirewall</a:t>
            </a:r>
            <a:r>
              <a:rPr lang="nl-NL" dirty="0">
                <a:latin typeface="Consolas" panose="020B0609020204030204" pitchFamily="49" charset="0"/>
              </a:rPr>
              <a:t> set </a:t>
            </a:r>
            <a:r>
              <a:rPr lang="nl-NL" dirty="0" err="1">
                <a:latin typeface="Consolas" panose="020B0609020204030204" pitchFamily="49" charset="0"/>
              </a:rPr>
              <a:t>allprofiles</a:t>
            </a:r>
            <a:r>
              <a:rPr lang="nl-NL" dirty="0">
                <a:latin typeface="Consolas" panose="020B0609020204030204" pitchFamily="49" charset="0"/>
              </a:rPr>
              <a:t> state on/off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PowerShell en </a:t>
            </a:r>
            <a:r>
              <a:rPr lang="en-GB" dirty="0" err="1"/>
              <a:t>Netshell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9087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Windows Remote Management Service (</a:t>
            </a:r>
            <a:r>
              <a:rPr lang="nl-NL" dirty="0" err="1">
                <a:solidFill>
                  <a:srgbClr val="000000"/>
                </a:solidFill>
              </a:rPr>
              <a:t>WinRM</a:t>
            </a:r>
            <a:r>
              <a:rPr lang="nl-NL" dirty="0">
                <a:solidFill>
                  <a:srgbClr val="000000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Dit is de Microsoft implementatie van WS-MAN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Geen RPC, 1 poort, goed voor de firewall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TLS/SSL is mogelijk (Port 5986/TCP).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Active Directory </a:t>
            </a:r>
            <a:r>
              <a:rPr lang="nl-NL" dirty="0" err="1">
                <a:solidFill>
                  <a:srgbClr val="000000"/>
                </a:solidFill>
              </a:rPr>
              <a:t>Kerberos</a:t>
            </a:r>
            <a:r>
              <a:rPr lang="nl-NL" dirty="0">
                <a:solidFill>
                  <a:srgbClr val="000000"/>
                </a:solidFill>
              </a:rPr>
              <a:t> wordt gebruikt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srgbClr val="000000"/>
                </a:solidFill>
              </a:rPr>
              <a:t>Port 5985/TCP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nl-NL" dirty="0">
              <a:solidFill>
                <a:srgbClr val="000000"/>
              </a:solidFill>
            </a:endParaRPr>
          </a:p>
          <a:p>
            <a:endParaRPr lang="nl-N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5679044" y="2463404"/>
            <a:ext cx="41433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/>
          <p:cNvSpPr/>
          <p:nvPr/>
        </p:nvSpPr>
        <p:spPr bwMode="auto">
          <a:xfrm>
            <a:off x="1251348" y="4443413"/>
            <a:ext cx="6668690" cy="504825"/>
          </a:xfrm>
          <a:prstGeom prst="round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nl-NL" sz="2100" dirty="0">
                <a:solidFill>
                  <a:srgbClr val="000000"/>
                </a:solidFill>
              </a:rPr>
              <a:t>Enter-</a:t>
            </a:r>
            <a:r>
              <a:rPr lang="nl-NL" sz="2100" dirty="0" err="1">
                <a:solidFill>
                  <a:srgbClr val="000000"/>
                </a:solidFill>
              </a:rPr>
              <a:t>PSSession</a:t>
            </a:r>
            <a:r>
              <a:rPr lang="nl-NL" sz="2100" dirty="0">
                <a:solidFill>
                  <a:srgbClr val="000000"/>
                </a:solidFill>
              </a:rPr>
              <a:t> -</a:t>
            </a:r>
            <a:r>
              <a:rPr lang="nl-NL" sz="2100" dirty="0" err="1">
                <a:solidFill>
                  <a:srgbClr val="000000"/>
                </a:solidFill>
              </a:rPr>
              <a:t>computername</a:t>
            </a:r>
            <a:r>
              <a:rPr lang="nl-NL" sz="2100" dirty="0">
                <a:solidFill>
                  <a:srgbClr val="000000"/>
                </a:solidFill>
              </a:rPr>
              <a:t> WIN-TA6752QV18G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PowerShell</a:t>
            </a:r>
            <a:r>
              <a:rPr lang="nl-NL" dirty="0"/>
              <a:t> </a:t>
            </a:r>
            <a:r>
              <a:rPr lang="nl-NL" dirty="0" err="1"/>
              <a:t>Remoting</a:t>
            </a:r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9459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Vragen?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7701" y="316186"/>
            <a:ext cx="243207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7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4153175"/>
      </p:ext>
    </p:extLst>
  </p:cSld>
  <p:clrMapOvr>
    <a:masterClrMapping/>
  </p:clrMapOvr>
</p:sld>
</file>

<file path=ppt/theme/theme1.xml><?xml version="1.0" encoding="utf-8"?>
<a:theme xmlns:a="http://schemas.openxmlformats.org/drawingml/2006/main" name="HU_powerpoint_breed">
  <a:themeElements>
    <a:clrScheme name="Custom 1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005070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1D63E0F2-FB9A-49BF-84FF-B4AE7725241B}" vid="{2C3128D6-C568-4DA5-98E6-FC04C224662D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HU_powerpoint_breed aanpassing Martijn</Template>
  <TotalTime>78</TotalTime>
  <Words>2816</Words>
  <Application>Microsoft Office PowerPoint</Application>
  <PresentationFormat>On-screen Show (16:9)</PresentationFormat>
  <Paragraphs>351</Paragraphs>
  <Slides>37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MS PGothic</vt:lpstr>
      <vt:lpstr>Arial</vt:lpstr>
      <vt:lpstr>Calibri</vt:lpstr>
      <vt:lpstr>Consolas</vt:lpstr>
      <vt:lpstr>Courier New</vt:lpstr>
      <vt:lpstr>Lucida Sans Typewriter</vt:lpstr>
      <vt:lpstr>Times New Roman</vt:lpstr>
      <vt:lpstr>Wingdings</vt:lpstr>
      <vt:lpstr>HU_powerpoint_breed</vt:lpstr>
      <vt:lpstr>PowerPoint Presentation</vt:lpstr>
      <vt:lpstr>Platformen: command line</vt:lpstr>
      <vt:lpstr>Shell – Wat is dat?</vt:lpstr>
      <vt:lpstr>Shell – Typen</vt:lpstr>
      <vt:lpstr>Shell – Login/non-login</vt:lpstr>
      <vt:lpstr>Intermezzo - File structuur onder Linux (1)</vt:lpstr>
      <vt:lpstr>Intermezzo - File structuur onder Linux (2)</vt:lpstr>
      <vt:lpstr>Commandline – navigeren</vt:lpstr>
      <vt:lpstr>Commandline – navigeren</vt:lpstr>
      <vt:lpstr>Commandline – basis filemanagement</vt:lpstr>
      <vt:lpstr>Commandline – basis filemanagement</vt:lpstr>
      <vt:lpstr>Commandline – output redirection</vt:lpstr>
      <vt:lpstr>Commandline – output redirection</vt:lpstr>
      <vt:lpstr>Commandline – output redirection</vt:lpstr>
      <vt:lpstr>Commandline – zoeken in en weergeven van bestanden</vt:lpstr>
      <vt:lpstr>Commandline – basis filemanagement</vt:lpstr>
      <vt:lpstr>Commandline – zoeken in en weergeven van bestanden</vt:lpstr>
      <vt:lpstr>Commandline – environment-variabelen (1)</vt:lpstr>
      <vt:lpstr>Commandline – environment-variabelen (2)</vt:lpstr>
      <vt:lpstr>Commandline – help!</vt:lpstr>
      <vt:lpstr>Zelfstudie</vt:lpstr>
      <vt:lpstr>Platformen: command line</vt:lpstr>
      <vt:lpstr>Wat is Server Core? </vt:lpstr>
      <vt:lpstr>Verschillende soorten Windows installaties</vt:lpstr>
      <vt:lpstr>Core Architecture</vt:lpstr>
      <vt:lpstr>Core installatie:</vt:lpstr>
      <vt:lpstr>Server Core “Survival guide”</vt:lpstr>
      <vt:lpstr>Initiële configuratie van Server Core</vt:lpstr>
      <vt:lpstr>Remote beheren Server Core</vt:lpstr>
      <vt:lpstr>Configuratie Netwerk &amp; Firewall </vt:lpstr>
      <vt:lpstr>System Settings</vt:lpstr>
      <vt:lpstr>Active Directory Domain Services Role on Server Core</vt:lpstr>
      <vt:lpstr>Configureren DHCP Server Core (command prompt)</vt:lpstr>
      <vt:lpstr>Configureren DHCP Server Core (PowerShell)</vt:lpstr>
      <vt:lpstr>PowerShell en Netshell</vt:lpstr>
      <vt:lpstr>PowerShell Remoting </vt:lpstr>
      <vt:lpstr>Vragen?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van den Boogaard</dc:creator>
  <cp:lastModifiedBy>Marco van den Boogaard</cp:lastModifiedBy>
  <cp:revision>1</cp:revision>
  <dcterms:created xsi:type="dcterms:W3CDTF">2025-01-31T13:46:14Z</dcterms:created>
  <dcterms:modified xsi:type="dcterms:W3CDTF">2025-01-31T15:04:34Z</dcterms:modified>
</cp:coreProperties>
</file>