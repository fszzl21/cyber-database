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1"/>
  </p:sldMasterIdLst>
  <p:notesMasterIdLst>
    <p:notesMasterId r:id="rId49"/>
  </p:notesMasterIdLst>
  <p:sldIdLst>
    <p:sldId id="256" r:id="rId2"/>
    <p:sldId id="257"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75" r:id="rId18"/>
    <p:sldId id="276" r:id="rId19"/>
    <p:sldId id="277" r:id="rId20"/>
    <p:sldId id="278" r:id="rId21"/>
    <p:sldId id="279" r:id="rId22"/>
    <p:sldId id="377" r:id="rId23"/>
    <p:sldId id="378" r:id="rId24"/>
    <p:sldId id="380" r:id="rId25"/>
    <p:sldId id="381" r:id="rId26"/>
    <p:sldId id="382" r:id="rId27"/>
    <p:sldId id="357" r:id="rId28"/>
    <p:sldId id="374" r:id="rId29"/>
    <p:sldId id="369" r:id="rId30"/>
    <p:sldId id="370" r:id="rId31"/>
    <p:sldId id="371" r:id="rId32"/>
    <p:sldId id="375" r:id="rId33"/>
    <p:sldId id="376" r:id="rId34"/>
    <p:sldId id="387" r:id="rId35"/>
    <p:sldId id="388" r:id="rId36"/>
    <p:sldId id="389" r:id="rId37"/>
    <p:sldId id="390" r:id="rId38"/>
    <p:sldId id="391" r:id="rId39"/>
    <p:sldId id="392" r:id="rId40"/>
    <p:sldId id="393" r:id="rId41"/>
    <p:sldId id="394" r:id="rId42"/>
    <p:sldId id="395" r:id="rId43"/>
    <p:sldId id="352" r:id="rId44"/>
    <p:sldId id="356" r:id="rId45"/>
    <p:sldId id="354" r:id="rId46"/>
    <p:sldId id="355" r:id="rId47"/>
    <p:sldId id="259" r:id="rId48"/>
  </p:sldIdLst>
  <p:sldSz cx="9144000" cy="5143500" type="screen16x9"/>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6">
          <p15:clr>
            <a:srgbClr val="A4A3A4"/>
          </p15:clr>
        </p15:guide>
        <p15:guide id="4" pos="28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0" autoAdjust="0"/>
    <p:restoredTop sz="69549" autoAdjust="0"/>
  </p:normalViewPr>
  <p:slideViewPr>
    <p:cSldViewPr snapToGrid="0" snapToObjects="1" showGuides="1">
      <p:cViewPr varScale="1">
        <p:scale>
          <a:sx n="96" d="100"/>
          <a:sy n="96" d="100"/>
        </p:scale>
        <p:origin x="1620" y="78"/>
      </p:cViewPr>
      <p:guideLst>
        <p:guide orient="horz" pos="2160"/>
        <p:guide pos="2880"/>
        <p:guide orient="horz" pos="1626"/>
        <p:guide pos="2881"/>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o van den Boogaard" userId="22347987-6598-45a0-9cef-8489ec81de00" providerId="ADAL" clId="{A48A1250-0854-4E7D-83EE-855B023817EE}"/>
    <pc:docChg chg="undo redo custSel modSld">
      <pc:chgData name="Marco van den Boogaard" userId="22347987-6598-45a0-9cef-8489ec81de00" providerId="ADAL" clId="{A48A1250-0854-4E7D-83EE-855B023817EE}" dt="2025-04-02T16:09:31.975" v="319" actId="114"/>
      <pc:docMkLst>
        <pc:docMk/>
      </pc:docMkLst>
      <pc:sldChg chg="addSp delSp modSp mod modNotesTx">
        <pc:chgData name="Marco van den Boogaard" userId="22347987-6598-45a0-9cef-8489ec81de00" providerId="ADAL" clId="{A48A1250-0854-4E7D-83EE-855B023817EE}" dt="2025-04-02T16:09:31.975" v="319" actId="114"/>
        <pc:sldMkLst>
          <pc:docMk/>
          <pc:sldMk cId="344040396" sldId="291"/>
        </pc:sldMkLst>
        <pc:spChg chg="mod">
          <ac:chgData name="Marco van den Boogaard" userId="22347987-6598-45a0-9cef-8489ec81de00" providerId="ADAL" clId="{A48A1250-0854-4E7D-83EE-855B023817EE}" dt="2025-04-02T16:03:02.161" v="150" actId="1076"/>
          <ac:spMkLst>
            <pc:docMk/>
            <pc:sldMk cId="344040396" sldId="291"/>
            <ac:spMk id="3" creationId="{00000000-0000-0000-0000-000000000000}"/>
          </ac:spMkLst>
        </pc:spChg>
        <pc:spChg chg="add mod">
          <ac:chgData name="Marco van den Boogaard" userId="22347987-6598-45a0-9cef-8489ec81de00" providerId="ADAL" clId="{A48A1250-0854-4E7D-83EE-855B023817EE}" dt="2025-04-02T16:05:05.719" v="186" actId="1076"/>
          <ac:spMkLst>
            <pc:docMk/>
            <pc:sldMk cId="344040396" sldId="291"/>
            <ac:spMk id="4" creationId="{7648FAD8-3B60-B304-2FD2-1AFD402C2D84}"/>
          </ac:spMkLst>
        </pc:spChg>
        <pc:spChg chg="del">
          <ac:chgData name="Marco van den Boogaard" userId="22347987-6598-45a0-9cef-8489ec81de00" providerId="ADAL" clId="{A48A1250-0854-4E7D-83EE-855B023817EE}" dt="2025-04-02T16:00:05.746" v="96" actId="478"/>
          <ac:spMkLst>
            <pc:docMk/>
            <pc:sldMk cId="344040396" sldId="291"/>
            <ac:spMk id="10" creationId="{00000000-0000-0000-0000-000000000000}"/>
          </ac:spMkLst>
        </pc:spChg>
        <pc:spChg chg="del">
          <ac:chgData name="Marco van den Boogaard" userId="22347987-6598-45a0-9cef-8489ec81de00" providerId="ADAL" clId="{A48A1250-0854-4E7D-83EE-855B023817EE}" dt="2025-04-02T16:00:08.666" v="97" actId="478"/>
          <ac:spMkLst>
            <pc:docMk/>
            <pc:sldMk cId="344040396" sldId="291"/>
            <ac:spMk id="11" creationId="{00000000-0000-0000-0000-000000000000}"/>
          </ac:spMkLst>
        </pc:spChg>
        <pc:spChg chg="del">
          <ac:chgData name="Marco van den Boogaard" userId="22347987-6598-45a0-9cef-8489ec81de00" providerId="ADAL" clId="{A48A1250-0854-4E7D-83EE-855B023817EE}" dt="2025-04-02T16:00:05.746" v="96" actId="478"/>
          <ac:spMkLst>
            <pc:docMk/>
            <pc:sldMk cId="344040396" sldId="291"/>
            <ac:spMk id="12" creationId="{00000000-0000-0000-0000-000000000000}"/>
          </ac:spMkLst>
        </pc:spChg>
        <pc:spChg chg="del mod">
          <ac:chgData name="Marco van den Boogaard" userId="22347987-6598-45a0-9cef-8489ec81de00" providerId="ADAL" clId="{A48A1250-0854-4E7D-83EE-855B023817EE}" dt="2025-04-02T16:01:50.344" v="136" actId="478"/>
          <ac:spMkLst>
            <pc:docMk/>
            <pc:sldMk cId="344040396" sldId="291"/>
            <ac:spMk id="13" creationId="{00000000-0000-0000-0000-000000000000}"/>
          </ac:spMkLst>
        </pc:spChg>
        <pc:spChg chg="del">
          <ac:chgData name="Marco van den Boogaard" userId="22347987-6598-45a0-9cef-8489ec81de00" providerId="ADAL" clId="{A48A1250-0854-4E7D-83EE-855B023817EE}" dt="2025-04-02T16:01:46.407" v="132" actId="478"/>
          <ac:spMkLst>
            <pc:docMk/>
            <pc:sldMk cId="344040396" sldId="291"/>
            <ac:spMk id="14" creationId="{00000000-0000-0000-0000-000000000000}"/>
          </ac:spMkLst>
        </pc:spChg>
        <pc:spChg chg="del mod">
          <ac:chgData name="Marco van den Boogaard" userId="22347987-6598-45a0-9cef-8489ec81de00" providerId="ADAL" clId="{A48A1250-0854-4E7D-83EE-855B023817EE}" dt="2025-04-02T16:01:47.874" v="134" actId="478"/>
          <ac:spMkLst>
            <pc:docMk/>
            <pc:sldMk cId="344040396" sldId="291"/>
            <ac:spMk id="15" creationId="{00000000-0000-0000-0000-000000000000}"/>
          </ac:spMkLst>
        </pc:spChg>
        <pc:spChg chg="del mod">
          <ac:chgData name="Marco van den Boogaard" userId="22347987-6598-45a0-9cef-8489ec81de00" providerId="ADAL" clId="{A48A1250-0854-4E7D-83EE-855B023817EE}" dt="2025-04-02T16:00:42.185" v="109" actId="478"/>
          <ac:spMkLst>
            <pc:docMk/>
            <pc:sldMk cId="344040396" sldId="291"/>
            <ac:spMk id="16" creationId="{00000000-0000-0000-0000-000000000000}"/>
          </ac:spMkLst>
        </pc:spChg>
        <pc:spChg chg="del mod">
          <ac:chgData name="Marco van den Boogaard" userId="22347987-6598-45a0-9cef-8489ec81de00" providerId="ADAL" clId="{A48A1250-0854-4E7D-83EE-855B023817EE}" dt="2025-04-02T16:01:45.451" v="131" actId="478"/>
          <ac:spMkLst>
            <pc:docMk/>
            <pc:sldMk cId="344040396" sldId="291"/>
            <ac:spMk id="17" creationId="{00000000-0000-0000-0000-000000000000}"/>
          </ac:spMkLst>
        </pc:spChg>
        <pc:spChg chg="del">
          <ac:chgData name="Marco van den Boogaard" userId="22347987-6598-45a0-9cef-8489ec81de00" providerId="ADAL" clId="{A48A1250-0854-4E7D-83EE-855B023817EE}" dt="2025-04-02T16:01:09.427" v="123" actId="478"/>
          <ac:spMkLst>
            <pc:docMk/>
            <pc:sldMk cId="344040396" sldId="291"/>
            <ac:spMk id="18" creationId="{00000000-0000-0000-0000-000000000000}"/>
          </ac:spMkLst>
        </pc:spChg>
        <pc:spChg chg="add del mod">
          <ac:chgData name="Marco van den Boogaard" userId="22347987-6598-45a0-9cef-8489ec81de00" providerId="ADAL" clId="{A48A1250-0854-4E7D-83EE-855B023817EE}" dt="2025-04-02T15:57:42.149" v="73" actId="478"/>
          <ac:spMkLst>
            <pc:docMk/>
            <pc:sldMk cId="344040396" sldId="291"/>
            <ac:spMk id="22" creationId="{7DA3DA07-05F2-DEC8-5B2E-7229EDDF0050}"/>
          </ac:spMkLst>
        </pc:spChg>
        <pc:spChg chg="add mod">
          <ac:chgData name="Marco van den Boogaard" userId="22347987-6598-45a0-9cef-8489ec81de00" providerId="ADAL" clId="{A48A1250-0854-4E7D-83EE-855B023817EE}" dt="2025-04-02T16:03:15.586" v="153" actId="20577"/>
          <ac:spMkLst>
            <pc:docMk/>
            <pc:sldMk cId="344040396" sldId="291"/>
            <ac:spMk id="23" creationId="{64714A53-0BBD-8E2C-4B88-D9CD3D0164A3}"/>
          </ac:spMkLst>
        </pc:spChg>
        <pc:spChg chg="add mod">
          <ac:chgData name="Marco van den Boogaard" userId="22347987-6598-45a0-9cef-8489ec81de00" providerId="ADAL" clId="{A48A1250-0854-4E7D-83EE-855B023817EE}" dt="2025-04-02T16:04:12.994" v="164" actId="207"/>
          <ac:spMkLst>
            <pc:docMk/>
            <pc:sldMk cId="344040396" sldId="291"/>
            <ac:spMk id="28" creationId="{C0623D34-6485-3E6C-EDE6-B697366AF24D}"/>
          </ac:spMkLst>
        </pc:spChg>
        <pc:spChg chg="add mod">
          <ac:chgData name="Marco van den Boogaard" userId="22347987-6598-45a0-9cef-8489ec81de00" providerId="ADAL" clId="{A48A1250-0854-4E7D-83EE-855B023817EE}" dt="2025-04-02T16:06:10.865" v="207" actId="1076"/>
          <ac:spMkLst>
            <pc:docMk/>
            <pc:sldMk cId="344040396" sldId="291"/>
            <ac:spMk id="29" creationId="{48923BF2-78A8-B0AD-CAE5-CF6D92382536}"/>
          </ac:spMkLst>
        </pc:spChg>
        <pc:spChg chg="add mod">
          <ac:chgData name="Marco van den Boogaard" userId="22347987-6598-45a0-9cef-8489ec81de00" providerId="ADAL" clId="{A48A1250-0854-4E7D-83EE-855B023817EE}" dt="2025-04-02T16:05:57.093" v="204" actId="14100"/>
          <ac:spMkLst>
            <pc:docMk/>
            <pc:sldMk cId="344040396" sldId="291"/>
            <ac:spMk id="30" creationId="{70F0EE95-2ACE-EB06-F4F9-F1EE0F1D4DC6}"/>
          </ac:spMkLst>
        </pc:spChg>
        <pc:grpChg chg="del">
          <ac:chgData name="Marco van den Boogaard" userId="22347987-6598-45a0-9cef-8489ec81de00" providerId="ADAL" clId="{A48A1250-0854-4E7D-83EE-855B023817EE}" dt="2025-04-02T16:00:05.746" v="96" actId="478"/>
          <ac:grpSpMkLst>
            <pc:docMk/>
            <pc:sldMk cId="344040396" sldId="291"/>
            <ac:grpSpMk id="6" creationId="{00000000-0000-0000-0000-000000000000}"/>
          </ac:grpSpMkLst>
        </pc:grpChg>
        <pc:picChg chg="del mod">
          <ac:chgData name="Marco van den Boogaard" userId="22347987-6598-45a0-9cef-8489ec81de00" providerId="ADAL" clId="{A48A1250-0854-4E7D-83EE-855B023817EE}" dt="2025-04-02T16:00:08.666" v="97" actId="478"/>
          <ac:picMkLst>
            <pc:docMk/>
            <pc:sldMk cId="344040396" sldId="291"/>
            <ac:picMk id="9" creationId="{00000000-0000-0000-0000-000000000000}"/>
          </ac:picMkLst>
        </pc:picChg>
        <pc:picChg chg="add del mod">
          <ac:chgData name="Marco van den Boogaard" userId="22347987-6598-45a0-9cef-8489ec81de00" providerId="ADAL" clId="{A48A1250-0854-4E7D-83EE-855B023817EE}" dt="2025-04-02T14:55:16.488" v="18" actId="478"/>
          <ac:picMkLst>
            <pc:docMk/>
            <pc:sldMk cId="344040396" sldId="291"/>
            <ac:picMk id="19" creationId="{F8203DDF-AB24-E08C-AF61-63BCB9060A81}"/>
          </ac:picMkLst>
        </pc:picChg>
        <pc:picChg chg="add mod">
          <ac:chgData name="Marco van den Boogaard" userId="22347987-6598-45a0-9cef-8489ec81de00" providerId="ADAL" clId="{A48A1250-0854-4E7D-83EE-855B023817EE}" dt="2025-04-02T16:03:28.465" v="155" actId="1076"/>
          <ac:picMkLst>
            <pc:docMk/>
            <pc:sldMk cId="344040396" sldId="291"/>
            <ac:picMk id="21" creationId="{9587F677-5C22-B078-C5A7-899026B47A5F}"/>
          </ac:picMkLst>
        </pc:picChg>
        <pc:picChg chg="add mod">
          <ac:chgData name="Marco van den Boogaard" userId="22347987-6598-45a0-9cef-8489ec81de00" providerId="ADAL" clId="{A48A1250-0854-4E7D-83EE-855B023817EE}" dt="2025-04-02T16:03:52.193" v="161" actId="1076"/>
          <ac:picMkLst>
            <pc:docMk/>
            <pc:sldMk cId="344040396" sldId="291"/>
            <ac:picMk id="25" creationId="{10ECDBF5-0487-BFDD-81DF-2E74E040FB9D}"/>
          </ac:picMkLst>
        </pc:picChg>
        <pc:picChg chg="add mod">
          <ac:chgData name="Marco van den Boogaard" userId="22347987-6598-45a0-9cef-8489ec81de00" providerId="ADAL" clId="{A48A1250-0854-4E7D-83EE-855B023817EE}" dt="2025-04-02T16:05:41.182" v="192" actId="1076"/>
          <ac:picMkLst>
            <pc:docMk/>
            <pc:sldMk cId="344040396" sldId="291"/>
            <ac:picMk id="26" creationId="{89407337-FA49-0D16-DF97-2348E608388D}"/>
          </ac:picMkLst>
        </pc:picChg>
        <pc:picChg chg="add del mod">
          <ac:chgData name="Marco van den Boogaard" userId="22347987-6598-45a0-9cef-8489ec81de00" providerId="ADAL" clId="{A48A1250-0854-4E7D-83EE-855B023817EE}" dt="2025-04-02T16:06:34.034" v="209" actId="478"/>
          <ac:picMkLst>
            <pc:docMk/>
            <pc:sldMk cId="344040396" sldId="291"/>
            <ac:picMk id="27" creationId="{99D7C263-5575-307F-18D8-190D6891A080}"/>
          </ac:picMkLst>
        </pc:picChg>
        <pc:picChg chg="add del mod">
          <ac:chgData name="Marco van den Boogaard" userId="22347987-6598-45a0-9cef-8489ec81de00" providerId="ADAL" clId="{A48A1250-0854-4E7D-83EE-855B023817EE}" dt="2025-04-02T16:08:02.010" v="261" actId="478"/>
          <ac:picMkLst>
            <pc:docMk/>
            <pc:sldMk cId="344040396" sldId="291"/>
            <ac:picMk id="31" creationId="{8F338A26-0C4D-D1F5-34AF-C5FC4FEC444C}"/>
          </ac:picMkLst>
        </pc:picChg>
        <pc:picChg chg="add mod">
          <ac:chgData name="Marco van den Boogaard" userId="22347987-6598-45a0-9cef-8489ec81de00" providerId="ADAL" clId="{A48A1250-0854-4E7D-83EE-855B023817EE}" dt="2025-04-02T16:08:14.474" v="264" actId="1076"/>
          <ac:picMkLst>
            <pc:docMk/>
            <pc:sldMk cId="344040396" sldId="291"/>
            <ac:picMk id="32" creationId="{D907B6BC-0BDC-E57A-8CB9-A495787DA39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A605D3-16DF-DF43-AE35-A9E379D47CEE}" type="datetimeFigureOut">
              <a:rPr lang="nl-NL" smtClean="0"/>
              <a:t>30-9-2025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AFEC66-6BFA-9A4F-8C14-93D2FB19A680}" type="slidenum">
              <a:rPr lang="nl-NL" smtClean="0"/>
              <a:t>‹#›</a:t>
            </a:fld>
            <a:endParaRPr lang="nl-NL"/>
          </a:p>
        </p:txBody>
      </p:sp>
    </p:spTree>
    <p:extLst>
      <p:ext uri="{BB962C8B-B14F-4D97-AF65-F5344CB8AC3E}">
        <p14:creationId xmlns:p14="http://schemas.microsoft.com/office/powerpoint/2010/main" val="1690198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Illustratie</a:t>
            </a:r>
            <a:r>
              <a:rPr lang="en-US" dirty="0"/>
              <a:t>:</a:t>
            </a:r>
            <a:r>
              <a:rPr lang="en-US" baseline="0" dirty="0"/>
              <a:t> </a:t>
            </a:r>
            <a:r>
              <a:rPr lang="en-US" baseline="0" dirty="0" err="1"/>
              <a:t>eigen</a:t>
            </a:r>
            <a:r>
              <a:rPr lang="en-US" baseline="0" dirty="0"/>
              <a:t> screenshot</a:t>
            </a:r>
            <a:endParaRPr lang="nl-NL" dirty="0"/>
          </a:p>
          <a:p>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3</a:t>
            </a:fld>
            <a:endParaRPr lang="nl-NL"/>
          </a:p>
        </p:txBody>
      </p:sp>
    </p:spTree>
    <p:extLst>
      <p:ext uri="{BB962C8B-B14F-4D97-AF65-F5344CB8AC3E}">
        <p14:creationId xmlns:p14="http://schemas.microsoft.com/office/powerpoint/2010/main" val="1378123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err="1"/>
              <a:t>Illustratie</a:t>
            </a:r>
            <a:r>
              <a:rPr lang="en-US" dirty="0"/>
              <a:t>:</a:t>
            </a:r>
            <a:r>
              <a:rPr lang="en-US" baseline="0" dirty="0"/>
              <a:t> </a:t>
            </a:r>
            <a:r>
              <a:rPr lang="en-US" baseline="0" dirty="0" err="1"/>
              <a:t>eigen</a:t>
            </a:r>
            <a:r>
              <a:rPr lang="en-US" baseline="0" dirty="0"/>
              <a:t> screenshot</a:t>
            </a:r>
            <a:endParaRPr lang="nl-NL" dirty="0"/>
          </a:p>
        </p:txBody>
      </p:sp>
      <p:sp>
        <p:nvSpPr>
          <p:cNvPr id="4" name="Tijdelijke aanduiding voor dianummer 3"/>
          <p:cNvSpPr>
            <a:spLocks noGrp="1"/>
          </p:cNvSpPr>
          <p:nvPr>
            <p:ph type="sldNum" sz="quarter" idx="10"/>
          </p:nvPr>
        </p:nvSpPr>
        <p:spPr/>
        <p:txBody>
          <a:bodyPr/>
          <a:lstStyle/>
          <a:p>
            <a:fld id="{DC453195-7159-4D2C-ACF3-89CAA3D9884F}" type="slidenum">
              <a:rPr lang="nl-NL" smtClean="0"/>
              <a:pPr/>
              <a:t>4</a:t>
            </a:fld>
            <a:endParaRPr lang="nl-NL"/>
          </a:p>
        </p:txBody>
      </p:sp>
    </p:spTree>
    <p:extLst>
      <p:ext uri="{BB962C8B-B14F-4D97-AF65-F5344CB8AC3E}">
        <p14:creationId xmlns:p14="http://schemas.microsoft.com/office/powerpoint/2010/main" val="1731366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Illustratie</a:t>
            </a:r>
            <a:r>
              <a:rPr lang="en-US" dirty="0"/>
              <a:t>:</a:t>
            </a:r>
            <a:r>
              <a:rPr lang="en-US" baseline="0" dirty="0"/>
              <a:t> </a:t>
            </a:r>
            <a:r>
              <a:rPr lang="en-US" baseline="0" dirty="0" err="1"/>
              <a:t>eigen</a:t>
            </a:r>
            <a:r>
              <a:rPr lang="en-US" baseline="0" dirty="0"/>
              <a:t> screenshot</a:t>
            </a:r>
            <a:endParaRPr lang="nl-NL" dirty="0"/>
          </a:p>
          <a:p>
            <a:endParaRPr lang="nl-NL" dirty="0"/>
          </a:p>
        </p:txBody>
      </p:sp>
      <p:sp>
        <p:nvSpPr>
          <p:cNvPr id="4" name="Tijdelijke aanduiding voor dianummer 3"/>
          <p:cNvSpPr>
            <a:spLocks noGrp="1"/>
          </p:cNvSpPr>
          <p:nvPr>
            <p:ph type="sldNum" sz="quarter" idx="10"/>
          </p:nvPr>
        </p:nvSpPr>
        <p:spPr/>
        <p:txBody>
          <a:bodyPr/>
          <a:lstStyle/>
          <a:p>
            <a:fld id="{DC453195-7159-4D2C-ACF3-89CAA3D9884F}" type="slidenum">
              <a:rPr lang="nl-NL" smtClean="0"/>
              <a:pPr/>
              <a:t>5</a:t>
            </a:fld>
            <a:endParaRPr lang="nl-NL"/>
          </a:p>
        </p:txBody>
      </p:sp>
    </p:spTree>
    <p:extLst>
      <p:ext uri="{BB962C8B-B14F-4D97-AF65-F5344CB8AC3E}">
        <p14:creationId xmlns:p14="http://schemas.microsoft.com/office/powerpoint/2010/main" val="491315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err="1"/>
              <a:t>Bron</a:t>
            </a:r>
            <a:r>
              <a:rPr lang="en-US" dirty="0"/>
              <a:t> </a:t>
            </a:r>
            <a:r>
              <a:rPr lang="en-US" dirty="0" err="1"/>
              <a:t>illustratie</a:t>
            </a:r>
            <a:r>
              <a:rPr lang="en-US" dirty="0"/>
              <a:t>: </a:t>
            </a:r>
            <a:r>
              <a:rPr lang="en-US" dirty="0" err="1"/>
              <a:t>eigen</a:t>
            </a:r>
            <a:r>
              <a:rPr lang="en-US" dirty="0"/>
              <a:t> screenshot</a:t>
            </a:r>
            <a:endParaRPr lang="nl-NL" dirty="0"/>
          </a:p>
        </p:txBody>
      </p:sp>
      <p:sp>
        <p:nvSpPr>
          <p:cNvPr id="4" name="Tijdelijke aanduiding voor dianummer 3"/>
          <p:cNvSpPr>
            <a:spLocks noGrp="1"/>
          </p:cNvSpPr>
          <p:nvPr>
            <p:ph type="sldNum" sz="quarter" idx="10"/>
          </p:nvPr>
        </p:nvSpPr>
        <p:spPr/>
        <p:txBody>
          <a:bodyPr/>
          <a:lstStyle/>
          <a:p>
            <a:fld id="{DC453195-7159-4D2C-ACF3-89CAA3D9884F}" type="slidenum">
              <a:rPr lang="nl-NL" smtClean="0"/>
              <a:pPr/>
              <a:t>6</a:t>
            </a:fld>
            <a:endParaRPr lang="nl-NL"/>
          </a:p>
        </p:txBody>
      </p:sp>
    </p:spTree>
    <p:extLst>
      <p:ext uri="{BB962C8B-B14F-4D97-AF65-F5344CB8AC3E}">
        <p14:creationId xmlns:p14="http://schemas.microsoft.com/office/powerpoint/2010/main" val="1421250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security subsystem then steps through the DACL until it finds any ACEs that allow or deny access to the user or to one of the user's groups. The subsystem does this by first examining ACEs that have been explicitly assigned to the object and then examining ones that have been inherited by the object. </a:t>
            </a:r>
          </a:p>
          <a:p>
            <a:r>
              <a:rPr lang="en-US" sz="1200" b="0" i="0" kern="1200" dirty="0" err="1">
                <a:solidFill>
                  <a:schemeClr val="tx1"/>
                </a:solidFill>
                <a:effectLst/>
                <a:latin typeface="+mn-lt"/>
                <a:ea typeface="+mn-ea"/>
                <a:cs typeface="+mn-cs"/>
              </a:rPr>
              <a:t>Moraal</a:t>
            </a:r>
            <a:r>
              <a:rPr lang="en-US" sz="1200" b="0" i="0" kern="1200" dirty="0">
                <a:solidFill>
                  <a:schemeClr val="tx1"/>
                </a:solidFill>
                <a:effectLst/>
                <a:latin typeface="+mn-lt"/>
                <a:ea typeface="+mn-ea"/>
                <a:cs typeface="+mn-cs"/>
              </a:rPr>
              <a:t>: doe </a:t>
            </a:r>
            <a:r>
              <a:rPr lang="en-US" sz="1200" b="0" i="0" kern="1200" dirty="0" err="1">
                <a:solidFill>
                  <a:schemeClr val="tx1"/>
                </a:solidFill>
                <a:effectLst/>
                <a:latin typeface="+mn-lt"/>
                <a:ea typeface="+mn-ea"/>
                <a:cs typeface="+mn-cs"/>
              </a:rPr>
              <a:t>geen</a:t>
            </a:r>
            <a:r>
              <a:rPr lang="en-US" sz="1200" b="0" i="0" kern="1200" dirty="0">
                <a:solidFill>
                  <a:schemeClr val="tx1"/>
                </a:solidFill>
                <a:effectLst/>
                <a:latin typeface="+mn-lt"/>
                <a:ea typeface="+mn-ea"/>
                <a:cs typeface="+mn-cs"/>
              </a:rPr>
              <a:t> “deny”.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Bron</a:t>
            </a:r>
            <a:r>
              <a:rPr lang="en-US" baseline="0" dirty="0"/>
              <a:t> </a:t>
            </a:r>
            <a:r>
              <a:rPr lang="en-US" baseline="0" dirty="0" err="1"/>
              <a:t>illustratie</a:t>
            </a:r>
            <a:r>
              <a:rPr lang="en-US" baseline="0" dirty="0"/>
              <a:t>: copyright Microsoft, </a:t>
            </a:r>
            <a:r>
              <a:rPr lang="en-US" baseline="0" dirty="0" err="1"/>
              <a:t>cursusmateriaal</a:t>
            </a:r>
            <a:r>
              <a:rPr lang="en-US" baseline="0" dirty="0"/>
              <a:t> via docent met Instructor </a:t>
            </a:r>
            <a:r>
              <a:rPr lang="en-US" baseline="0" dirty="0" err="1"/>
              <a:t>registratie</a:t>
            </a:r>
            <a:endParaRPr lang="nl-NL" dirty="0"/>
          </a:p>
          <a:p>
            <a:endParaRPr lang="nl-NL" dirty="0"/>
          </a:p>
        </p:txBody>
      </p:sp>
      <p:sp>
        <p:nvSpPr>
          <p:cNvPr id="4" name="Slide Number Placeholder 3"/>
          <p:cNvSpPr>
            <a:spLocks noGrp="1"/>
          </p:cNvSpPr>
          <p:nvPr>
            <p:ph type="sldNum" sz="quarter" idx="10"/>
          </p:nvPr>
        </p:nvSpPr>
        <p:spPr/>
        <p:txBody>
          <a:bodyPr/>
          <a:lstStyle/>
          <a:p>
            <a:fld id="{DC453195-7159-4D2C-ACF3-89CAA3D9884F}" type="slidenum">
              <a:rPr lang="nl-NL" smtClean="0"/>
              <a:pPr/>
              <a:t>7</a:t>
            </a:fld>
            <a:endParaRPr lang="nl-NL"/>
          </a:p>
        </p:txBody>
      </p:sp>
    </p:spTree>
    <p:extLst>
      <p:ext uri="{BB962C8B-B14F-4D97-AF65-F5344CB8AC3E}">
        <p14:creationId xmlns:p14="http://schemas.microsoft.com/office/powerpoint/2010/main" val="3311969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DC453195-7159-4D2C-ACF3-89CAA3D9884F}" type="slidenum">
              <a:rPr lang="nl-NL" smtClean="0"/>
              <a:pPr/>
              <a:t>8</a:t>
            </a:fld>
            <a:endParaRPr lang="nl-NL"/>
          </a:p>
        </p:txBody>
      </p:sp>
    </p:spTree>
    <p:extLst>
      <p:ext uri="{BB962C8B-B14F-4D97-AF65-F5344CB8AC3E}">
        <p14:creationId xmlns:p14="http://schemas.microsoft.com/office/powerpoint/2010/main" val="3782564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DC453195-7159-4D2C-ACF3-89CAA3D9884F}" type="slidenum">
              <a:rPr lang="nl-NL" smtClean="0"/>
              <a:pPr/>
              <a:t>9</a:t>
            </a:fld>
            <a:endParaRPr lang="nl-NL"/>
          </a:p>
        </p:txBody>
      </p:sp>
    </p:spTree>
    <p:extLst>
      <p:ext uri="{BB962C8B-B14F-4D97-AF65-F5344CB8AC3E}">
        <p14:creationId xmlns:p14="http://schemas.microsoft.com/office/powerpoint/2010/main" val="1663880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SACL: system access control</a:t>
            </a:r>
            <a:r>
              <a:rPr lang="en-US" baseline="0" dirty="0"/>
              <a:t> list: </a:t>
            </a:r>
            <a:r>
              <a:rPr lang="en-US" baseline="0" dirty="0" err="1"/>
              <a:t>welke</a:t>
            </a:r>
            <a:r>
              <a:rPr lang="en-US" baseline="0" dirty="0"/>
              <a:t> </a:t>
            </a:r>
            <a:r>
              <a:rPr lang="en-US" baseline="0" dirty="0" err="1"/>
              <a:t>soorten</a:t>
            </a:r>
            <a:r>
              <a:rPr lang="en-US" baseline="0" dirty="0"/>
              <a:t> </a:t>
            </a:r>
            <a:r>
              <a:rPr lang="en-US" baseline="0" dirty="0" err="1"/>
              <a:t>toegangspogingen</a:t>
            </a:r>
            <a:r>
              <a:rPr lang="en-US" baseline="0" dirty="0"/>
              <a:t> </a:t>
            </a:r>
            <a:r>
              <a:rPr lang="en-US" baseline="0" dirty="0" err="1"/>
              <a:t>veroorzaken</a:t>
            </a:r>
            <a:r>
              <a:rPr lang="en-US" baseline="0" dirty="0"/>
              <a:t> logging</a:t>
            </a:r>
            <a:endParaRPr lang="en-US" dirty="0"/>
          </a:p>
          <a:p>
            <a:r>
              <a:rPr lang="en-US" dirty="0"/>
              <a:t>DACL: discretionary</a:t>
            </a:r>
            <a:r>
              <a:rPr lang="en-US" baseline="0" dirty="0"/>
              <a:t> access control list: </a:t>
            </a:r>
            <a:r>
              <a:rPr lang="en-US" baseline="0" dirty="0" err="1"/>
              <a:t>wie</a:t>
            </a:r>
            <a:r>
              <a:rPr lang="en-US" baseline="0" dirty="0"/>
              <a:t> </a:t>
            </a:r>
            <a:r>
              <a:rPr lang="en-US" baseline="0" dirty="0" err="1"/>
              <a:t>heeft</a:t>
            </a:r>
            <a:r>
              <a:rPr lang="en-US" baseline="0" dirty="0"/>
              <a:t> </a:t>
            </a:r>
            <a:r>
              <a:rPr lang="en-US" baseline="0" dirty="0" err="1"/>
              <a:t>toegang</a:t>
            </a:r>
            <a:r>
              <a:rPr lang="en-US" baseline="0" dirty="0"/>
              <a:t> tot het </a:t>
            </a:r>
            <a:r>
              <a:rPr lang="en-US" baseline="0" dirty="0" err="1"/>
              <a:t>beveiligde</a:t>
            </a:r>
            <a:r>
              <a:rPr lang="en-US" baseline="0" dirty="0"/>
              <a:t> object</a:t>
            </a:r>
          </a:p>
          <a:p>
            <a:r>
              <a:rPr lang="en-US" baseline="0" dirty="0"/>
              <a:t>ACE: access control entry: </a:t>
            </a:r>
            <a:r>
              <a:rPr lang="en-US" baseline="0" dirty="0" err="1"/>
              <a:t>een</a:t>
            </a:r>
            <a:r>
              <a:rPr lang="en-US" baseline="0" dirty="0"/>
              <a:t> </a:t>
            </a:r>
            <a:r>
              <a:rPr lang="en-US" baseline="0" dirty="0" err="1"/>
              <a:t>enkele</a:t>
            </a:r>
            <a:r>
              <a:rPr lang="en-US" baseline="0" dirty="0"/>
              <a:t> regel die </a:t>
            </a:r>
            <a:r>
              <a:rPr lang="en-US" baseline="0" dirty="0" err="1"/>
              <a:t>een</a:t>
            </a:r>
            <a:r>
              <a:rPr lang="en-US" baseline="0" dirty="0"/>
              <a:t> </a:t>
            </a:r>
            <a:r>
              <a:rPr lang="en-US" baseline="0" dirty="0" err="1"/>
              <a:t>specifieke</a:t>
            </a:r>
            <a:r>
              <a:rPr lang="en-US" baseline="0" dirty="0"/>
              <a:t> </a:t>
            </a:r>
            <a:r>
              <a:rPr lang="en-US" baseline="0" dirty="0" err="1"/>
              <a:t>gebruiker</a:t>
            </a:r>
            <a:r>
              <a:rPr lang="en-US" baseline="0" dirty="0"/>
              <a:t> </a:t>
            </a:r>
            <a:r>
              <a:rPr lang="en-US" baseline="0" dirty="0" err="1"/>
              <a:t>toegang</a:t>
            </a:r>
            <a:r>
              <a:rPr lang="en-US" baseline="0" dirty="0"/>
              <a:t> (of </a:t>
            </a:r>
            <a:r>
              <a:rPr lang="en-US" baseline="0" dirty="0" err="1"/>
              <a:t>niet</a:t>
            </a:r>
            <a:r>
              <a:rPr lang="en-US" baseline="0" dirty="0"/>
              <a:t>) </a:t>
            </a:r>
            <a:r>
              <a:rPr lang="en-US" baseline="0" dirty="0" err="1"/>
              <a:t>geeft</a:t>
            </a:r>
            <a:r>
              <a:rPr lang="en-US" baseline="0" dirty="0"/>
              <a:t> tot het </a:t>
            </a:r>
            <a:r>
              <a:rPr lang="en-US" baseline="0" dirty="0" err="1"/>
              <a:t>beveiligde</a:t>
            </a:r>
            <a:r>
              <a:rPr lang="en-US" baseline="0" dirty="0"/>
              <a:t> object</a:t>
            </a:r>
          </a:p>
          <a:p>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Bron</a:t>
            </a:r>
            <a:r>
              <a:rPr lang="en-US" baseline="0" dirty="0"/>
              <a:t> </a:t>
            </a:r>
            <a:r>
              <a:rPr lang="en-US" baseline="0" dirty="0" err="1"/>
              <a:t>illustratie</a:t>
            </a:r>
            <a:r>
              <a:rPr lang="en-US" baseline="0" dirty="0"/>
              <a:t>: copyright Microsoft, </a:t>
            </a:r>
            <a:r>
              <a:rPr lang="en-US" baseline="0" dirty="0" err="1"/>
              <a:t>cursusmateriaal</a:t>
            </a:r>
            <a:r>
              <a:rPr lang="en-US" baseline="0" dirty="0"/>
              <a:t> via docent met Instructor </a:t>
            </a:r>
            <a:r>
              <a:rPr lang="en-US" baseline="0" dirty="0" err="1"/>
              <a:t>registratie</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C41B7890-C643-460B-88D9-77F9E61E1546}" type="datetime1">
              <a:rPr lang="en-US" altLang="nl-NL" smtClean="0"/>
              <a:pPr>
                <a:defRPr/>
              </a:pPr>
              <a:t>9/30/2025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BF7D06B2-5EAB-4995-A0F5-6691DB0AC2A8}" type="slidenum">
              <a:rPr lang="en-US" altLang="nl-NL" smtClean="0"/>
              <a:pPr>
                <a:defRPr/>
              </a:pPr>
              <a:t>10</a:t>
            </a:fld>
            <a:endParaRPr lang="en-US" altLang="nl-NL"/>
          </a:p>
        </p:txBody>
      </p:sp>
    </p:spTree>
    <p:extLst>
      <p:ext uri="{BB962C8B-B14F-4D97-AF65-F5344CB8AC3E}">
        <p14:creationId xmlns:p14="http://schemas.microsoft.com/office/powerpoint/2010/main" val="4229391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DC453195-7159-4D2C-ACF3-89CAA3D9884F}" type="slidenum">
              <a:rPr lang="nl-NL" smtClean="0"/>
              <a:pPr/>
              <a:t>11</a:t>
            </a:fld>
            <a:endParaRPr lang="nl-NL"/>
          </a:p>
        </p:txBody>
      </p:sp>
    </p:spTree>
    <p:extLst>
      <p:ext uri="{BB962C8B-B14F-4D97-AF65-F5344CB8AC3E}">
        <p14:creationId xmlns:p14="http://schemas.microsoft.com/office/powerpoint/2010/main" val="34013927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Bronnen</a:t>
            </a:r>
            <a:r>
              <a:rPr lang="en-US" baseline="0" dirty="0"/>
              <a:t> </a:t>
            </a:r>
            <a:r>
              <a:rPr lang="en-US" baseline="0" dirty="0" err="1"/>
              <a:t>illustraties</a:t>
            </a:r>
            <a:r>
              <a:rPr lang="en-US" baseline="0" dirty="0"/>
              <a:t>: copyright Microsoft, </a:t>
            </a:r>
            <a:r>
              <a:rPr lang="en-US" baseline="0" dirty="0" err="1"/>
              <a:t>cursusmateriaal</a:t>
            </a:r>
            <a:r>
              <a:rPr lang="en-US" baseline="0" dirty="0"/>
              <a:t> via docent met Instructor </a:t>
            </a:r>
            <a:r>
              <a:rPr lang="en-US" baseline="0" dirty="0" err="1"/>
              <a:t>registratie</a:t>
            </a:r>
            <a:endParaRPr lang="nl-NL" dirty="0"/>
          </a:p>
        </p:txBody>
      </p:sp>
      <p:sp>
        <p:nvSpPr>
          <p:cNvPr id="4" name="Slide Number Placeholder 3"/>
          <p:cNvSpPr>
            <a:spLocks noGrp="1"/>
          </p:cNvSpPr>
          <p:nvPr>
            <p:ph type="sldNum" sz="quarter" idx="10"/>
          </p:nvPr>
        </p:nvSpPr>
        <p:spPr/>
        <p:txBody>
          <a:bodyPr/>
          <a:lstStyle/>
          <a:p>
            <a:fld id="{DC453195-7159-4D2C-ACF3-89CAA3D9884F}" type="slidenum">
              <a:rPr lang="nl-NL" smtClean="0"/>
              <a:pPr/>
              <a:t>12</a:t>
            </a:fld>
            <a:endParaRPr lang="nl-NL"/>
          </a:p>
        </p:txBody>
      </p:sp>
    </p:spTree>
    <p:extLst>
      <p:ext uri="{BB962C8B-B14F-4D97-AF65-F5344CB8AC3E}">
        <p14:creationId xmlns:p14="http://schemas.microsoft.com/office/powerpoint/2010/main" val="504365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Bronnen</a:t>
            </a:r>
            <a:r>
              <a:rPr lang="en-US" baseline="0" dirty="0"/>
              <a:t> </a:t>
            </a:r>
            <a:r>
              <a:rPr lang="en-US" baseline="0" dirty="0" err="1"/>
              <a:t>illustraties</a:t>
            </a:r>
            <a:r>
              <a:rPr lang="en-US" baseline="0" dirty="0"/>
              <a:t>: links copyright Microsoft, https://docs.microsoft.com/en-us/windows/security/identity-protection/access-control/security-identifiers </a:t>
            </a:r>
            <a:r>
              <a:rPr lang="en-US" baseline="0" dirty="0" err="1"/>
              <a:t>onder</a:t>
            </a:r>
            <a:r>
              <a:rPr lang="en-US" baseline="0" dirty="0"/>
              <a:t> fair use; </a:t>
            </a:r>
            <a:r>
              <a:rPr lang="en-US" baseline="0" dirty="0" err="1"/>
              <a:t>rechtsonder</a:t>
            </a:r>
            <a:r>
              <a:rPr lang="en-US" baseline="0" dirty="0"/>
              <a:t> copyright Microsoft, </a:t>
            </a:r>
            <a:r>
              <a:rPr lang="en-US" baseline="0" dirty="0" err="1"/>
              <a:t>cursusmateriaal</a:t>
            </a:r>
            <a:r>
              <a:rPr lang="en-US" baseline="0" dirty="0"/>
              <a:t> via docent met Instructor </a:t>
            </a:r>
            <a:r>
              <a:rPr lang="en-US" baseline="0" dirty="0" err="1"/>
              <a:t>registratie</a:t>
            </a:r>
            <a:r>
              <a:rPr lang="en-US" baseline="0" dirty="0"/>
              <a:t>; overlay “Administrator Properties” </a:t>
            </a:r>
            <a:r>
              <a:rPr lang="en-US" baseline="0" dirty="0" err="1"/>
              <a:t>eigen</a:t>
            </a:r>
            <a:r>
              <a:rPr lang="en-US" baseline="0" dirty="0"/>
              <a:t> screenshot</a:t>
            </a:r>
            <a:endParaRPr lang="nl-NL" dirty="0"/>
          </a:p>
          <a:p>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13</a:t>
            </a:fld>
            <a:endParaRPr lang="nl-NL"/>
          </a:p>
        </p:txBody>
      </p:sp>
    </p:spTree>
    <p:extLst>
      <p:ext uri="{BB962C8B-B14F-4D97-AF65-F5344CB8AC3E}">
        <p14:creationId xmlns:p14="http://schemas.microsoft.com/office/powerpoint/2010/main" val="1135369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Bron</a:t>
            </a:r>
            <a:r>
              <a:rPr lang="en-US" baseline="0" dirty="0"/>
              <a:t> </a:t>
            </a:r>
            <a:r>
              <a:rPr lang="en-US" baseline="0" dirty="0" err="1"/>
              <a:t>illustratie</a:t>
            </a:r>
            <a:r>
              <a:rPr lang="en-US" baseline="0" dirty="0"/>
              <a:t>: eigen </a:t>
            </a:r>
            <a:r>
              <a:rPr lang="en-US" baseline="0" dirty="0" err="1"/>
              <a:t>werk</a:t>
            </a:r>
            <a:r>
              <a:rPr lang="en-US" baseline="0" dirty="0"/>
              <a:t> op basis van </a:t>
            </a:r>
            <a:r>
              <a:rPr lang="nl-NL" dirty="0"/>
              <a:t>https://learn.microsoft.com/en-us/troubleshoot/windows-client/windows-security/permissions-on-copying-moving-files</a:t>
            </a:r>
            <a:r>
              <a:rPr lang="en-US" baseline="0" dirty="0"/>
              <a:t>: “</a:t>
            </a:r>
            <a:r>
              <a:rPr lang="en-US" dirty="0"/>
              <a:t>By default, an object inherits permissions from its parent object, either at the time of creation or when it is copied or moved to its parent folder. The only exception to this rule occurs when you move an object to a different folder on the same volume. In this case, the original permissions are retained.</a:t>
            </a:r>
            <a:r>
              <a:rPr lang="en-US" baseline="0" dirty="0"/>
              <a:t>”</a:t>
            </a:r>
          </a:p>
          <a:p>
            <a:r>
              <a:rPr lang="en-US" baseline="0" dirty="0"/>
              <a:t>Folder icons: </a:t>
            </a:r>
            <a:r>
              <a:rPr lang="en-US" i="1" baseline="0" dirty="0"/>
              <a:t>Fair Use</a:t>
            </a:r>
            <a:r>
              <a:rPr lang="en-US" i="0" baseline="0" dirty="0"/>
              <a:t>, Microsoft OneDrive</a:t>
            </a:r>
            <a:r>
              <a:rPr lang="en-US" baseline="0" dirty="0"/>
              <a:t>.exe</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5F005BA0-0FE4-4D79-836B-AE940A26628C}" type="datetime1">
              <a:rPr lang="en-US" smtClean="0"/>
              <a:pPr>
                <a:defRPr/>
              </a:pPr>
              <a:t>9/30/2025</a:t>
            </a:fld>
            <a:endParaRPr lang="en-US"/>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34F5281B-1C67-4439-94E8-F5D69AE70750}" type="slidenum">
              <a:rPr lang="en-US" smtClean="0"/>
              <a:pPr>
                <a:defRPr/>
              </a:pPr>
              <a:t>14</a:t>
            </a:fld>
            <a:endParaRPr lang="en-US"/>
          </a:p>
        </p:txBody>
      </p:sp>
    </p:spTree>
    <p:extLst>
      <p:ext uri="{BB962C8B-B14F-4D97-AF65-F5344CB8AC3E}">
        <p14:creationId xmlns:p14="http://schemas.microsoft.com/office/powerpoint/2010/main" val="2358879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NL" dirty="0"/>
              <a:t>Studenten</a:t>
            </a:r>
            <a:r>
              <a:rPr lang="nl-NL" baseline="0" dirty="0"/>
              <a:t> moeten zowel de symbolische als de numerieke notatie kunnen gebruiken</a:t>
            </a:r>
          </a:p>
          <a:p>
            <a:endParaRPr lang="en-US" baseline="0" dirty="0"/>
          </a:p>
          <a:p>
            <a:r>
              <a:rPr lang="en-US" baseline="0" dirty="0" err="1"/>
              <a:t>Illustratie</a:t>
            </a:r>
            <a:r>
              <a:rPr lang="en-US" baseline="0" dirty="0"/>
              <a:t>: </a:t>
            </a:r>
            <a:r>
              <a:rPr lang="en-US" baseline="0" dirty="0" err="1"/>
              <a:t>eigen</a:t>
            </a:r>
            <a:r>
              <a:rPr lang="en-US" baseline="0" dirty="0"/>
              <a:t> </a:t>
            </a:r>
            <a:r>
              <a:rPr lang="en-US" baseline="0" dirty="0" err="1"/>
              <a:t>werk</a:t>
            </a:r>
            <a:r>
              <a:rPr lang="en-US" baseline="0" dirty="0"/>
              <a:t>, © </a:t>
            </a:r>
            <a:r>
              <a:rPr lang="en-US" baseline="0" dirty="0" err="1"/>
              <a:t>Hogeschool</a:t>
            </a:r>
            <a:r>
              <a:rPr lang="en-US" baseline="0" dirty="0"/>
              <a:t> Utrecht, 2016</a:t>
            </a:r>
            <a:endParaRPr lang="nl-NL" dirty="0"/>
          </a:p>
        </p:txBody>
      </p:sp>
      <p:sp>
        <p:nvSpPr>
          <p:cNvPr id="4" name="Tijdelijke aanduiding voor dianummer 3"/>
          <p:cNvSpPr>
            <a:spLocks noGrp="1"/>
          </p:cNvSpPr>
          <p:nvPr>
            <p:ph type="sldNum" sz="quarter" idx="10"/>
          </p:nvPr>
        </p:nvSpPr>
        <p:spPr/>
        <p:txBody>
          <a:bodyPr/>
          <a:lstStyle/>
          <a:p>
            <a:fld id="{4BF9318E-11B4-4637-91FD-939BD4A48B75}" type="slidenum">
              <a:rPr lang="nl-NL" smtClean="0"/>
              <a:pPr/>
              <a:t>17</a:t>
            </a:fld>
            <a:endParaRPr lang="nl-NL"/>
          </a:p>
        </p:txBody>
      </p:sp>
    </p:spTree>
    <p:extLst>
      <p:ext uri="{BB962C8B-B14F-4D97-AF65-F5344CB8AC3E}">
        <p14:creationId xmlns:p14="http://schemas.microsoft.com/office/powerpoint/2010/main" val="3656575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18</a:t>
            </a:fld>
            <a:endParaRPr lang="nl-NL"/>
          </a:p>
        </p:txBody>
      </p:sp>
    </p:spTree>
    <p:extLst>
      <p:ext uri="{BB962C8B-B14F-4D97-AF65-F5344CB8AC3E}">
        <p14:creationId xmlns:p14="http://schemas.microsoft.com/office/powerpoint/2010/main" val="386005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25AFEC66-6BFA-9A4F-8C14-93D2FB19A680}" type="slidenum">
              <a:rPr lang="nl-NL" smtClean="0"/>
              <a:t>20</a:t>
            </a:fld>
            <a:endParaRPr lang="nl-NL"/>
          </a:p>
        </p:txBody>
      </p:sp>
    </p:spTree>
    <p:extLst>
      <p:ext uri="{BB962C8B-B14F-4D97-AF65-F5344CB8AC3E}">
        <p14:creationId xmlns:p14="http://schemas.microsoft.com/office/powerpoint/2010/main" val="267812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3.3 van het nieuwe boek!</a:t>
            </a:r>
            <a:endParaRPr lang="en-GB" dirty="0"/>
          </a:p>
        </p:txBody>
      </p:sp>
      <p:sp>
        <p:nvSpPr>
          <p:cNvPr id="4" name="Slide Number Placeholder 3"/>
          <p:cNvSpPr>
            <a:spLocks noGrp="1"/>
          </p:cNvSpPr>
          <p:nvPr>
            <p:ph type="sldNum" sz="quarter" idx="5"/>
          </p:nvPr>
        </p:nvSpPr>
        <p:spPr/>
        <p:txBody>
          <a:bodyPr/>
          <a:lstStyle/>
          <a:p>
            <a:fld id="{4BF9318E-11B4-4637-91FD-939BD4A48B75}" type="slidenum">
              <a:rPr lang="nl-NL" smtClean="0"/>
              <a:pPr/>
              <a:t>22</a:t>
            </a:fld>
            <a:endParaRPr lang="nl-NL"/>
          </a:p>
        </p:txBody>
      </p:sp>
    </p:spTree>
    <p:extLst>
      <p:ext uri="{BB962C8B-B14F-4D97-AF65-F5344CB8AC3E}">
        <p14:creationId xmlns:p14="http://schemas.microsoft.com/office/powerpoint/2010/main" val="32368522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a:t>3.4 van het boek</a:t>
            </a:r>
            <a:endParaRPr lang="en-GB"/>
          </a:p>
        </p:txBody>
      </p:sp>
      <p:sp>
        <p:nvSpPr>
          <p:cNvPr id="4" name="Slide Number Placeholder 3"/>
          <p:cNvSpPr>
            <a:spLocks noGrp="1"/>
          </p:cNvSpPr>
          <p:nvPr>
            <p:ph type="sldNum" sz="quarter" idx="5"/>
          </p:nvPr>
        </p:nvSpPr>
        <p:spPr/>
        <p:txBody>
          <a:bodyPr/>
          <a:lstStyle/>
          <a:p>
            <a:fld id="{4BF9318E-11B4-4637-91FD-939BD4A48B75}" type="slidenum">
              <a:rPr lang="nl-NL" smtClean="0"/>
              <a:pPr/>
              <a:t>25</a:t>
            </a:fld>
            <a:endParaRPr lang="nl-NL"/>
          </a:p>
        </p:txBody>
      </p:sp>
    </p:spTree>
    <p:extLst>
      <p:ext uri="{BB962C8B-B14F-4D97-AF65-F5344CB8AC3E}">
        <p14:creationId xmlns:p14="http://schemas.microsoft.com/office/powerpoint/2010/main" val="3058426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BF9318E-11B4-4637-91FD-939BD4A48B75}" type="slidenum">
              <a:rPr lang="nl-NL" smtClean="0"/>
              <a:pPr/>
              <a:t>26</a:t>
            </a:fld>
            <a:endParaRPr lang="nl-NL"/>
          </a:p>
        </p:txBody>
      </p:sp>
    </p:spTree>
    <p:extLst>
      <p:ext uri="{BB962C8B-B14F-4D97-AF65-F5344CB8AC3E}">
        <p14:creationId xmlns:p14="http://schemas.microsoft.com/office/powerpoint/2010/main" val="28739758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nl-NL" dirty="0"/>
              <a:t>MAC wordt</a:t>
            </a:r>
            <a:r>
              <a:rPr lang="nl-NL" baseline="0" dirty="0"/>
              <a:t> gebruikt naast </a:t>
            </a:r>
            <a:r>
              <a:rPr lang="nl-NL" baseline="0" dirty="0" err="1"/>
              <a:t>Discretionary</a:t>
            </a:r>
            <a:r>
              <a:rPr lang="nl-NL" baseline="0" dirty="0"/>
              <a:t> Access Control (DAC), het welbekende systeem van UNIX permissies of </a:t>
            </a:r>
            <a:r>
              <a:rPr lang="nl-NL" baseline="0" dirty="0" err="1"/>
              <a:t>ACL’s</a:t>
            </a:r>
            <a:r>
              <a:rPr lang="nl-NL" baseline="0" dirty="0"/>
              <a:t>, waarbij een willekeurige gebruiker of proces de hele wereld rechten kan geven op een resource waar hij of zij de controle over heeft</a:t>
            </a:r>
            <a:endParaRPr lang="nl-NL" dirty="0"/>
          </a:p>
        </p:txBody>
      </p:sp>
      <p:sp>
        <p:nvSpPr>
          <p:cNvPr id="4" name="Slide Number Placeholder 3"/>
          <p:cNvSpPr>
            <a:spLocks noGrp="1"/>
          </p:cNvSpPr>
          <p:nvPr>
            <p:ph type="sldNum" sz="quarter" idx="10"/>
          </p:nvPr>
        </p:nvSpPr>
        <p:spPr/>
        <p:txBody>
          <a:bodyPr/>
          <a:lstStyle/>
          <a:p>
            <a:fld id="{4BF9318E-11B4-4637-91FD-939BD4A48B75}" type="slidenum">
              <a:rPr lang="nl-NL" smtClean="0"/>
              <a:pPr/>
              <a:t>27</a:t>
            </a:fld>
            <a:endParaRPr lang="nl-NL"/>
          </a:p>
        </p:txBody>
      </p:sp>
    </p:spTree>
    <p:extLst>
      <p:ext uri="{BB962C8B-B14F-4D97-AF65-F5344CB8AC3E}">
        <p14:creationId xmlns:p14="http://schemas.microsoft.com/office/powerpoint/2010/main" val="3949861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nl-NL" dirty="0"/>
              <a:t>Policy MLS status:</a:t>
            </a:r>
          </a:p>
          <a:p>
            <a:r>
              <a:rPr lang="nl-NL" dirty="0"/>
              <a:t>Policy </a:t>
            </a:r>
            <a:r>
              <a:rPr lang="nl-NL" dirty="0" err="1"/>
              <a:t>deny_unknown</a:t>
            </a:r>
            <a:r>
              <a:rPr lang="nl-NL" dirty="0"/>
              <a:t> status:</a:t>
            </a:r>
          </a:p>
        </p:txBody>
      </p:sp>
      <p:sp>
        <p:nvSpPr>
          <p:cNvPr id="4" name="Slide Number Placeholder 3"/>
          <p:cNvSpPr>
            <a:spLocks noGrp="1"/>
          </p:cNvSpPr>
          <p:nvPr>
            <p:ph type="sldNum" sz="quarter" idx="10"/>
          </p:nvPr>
        </p:nvSpPr>
        <p:spPr/>
        <p:txBody>
          <a:bodyPr/>
          <a:lstStyle/>
          <a:p>
            <a:fld id="{4BF9318E-11B4-4637-91FD-939BD4A48B75}" type="slidenum">
              <a:rPr lang="nl-NL" smtClean="0"/>
              <a:pPr/>
              <a:t>29</a:t>
            </a:fld>
            <a:endParaRPr lang="nl-NL"/>
          </a:p>
        </p:txBody>
      </p:sp>
    </p:spTree>
    <p:extLst>
      <p:ext uri="{BB962C8B-B14F-4D97-AF65-F5344CB8AC3E}">
        <p14:creationId xmlns:p14="http://schemas.microsoft.com/office/powerpoint/2010/main" val="466036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nl-NL" dirty="0" err="1"/>
              <a:t>SELinux</a:t>
            </a:r>
            <a:r>
              <a:rPr lang="nl-NL" dirty="0"/>
              <a:t> is er niet voor niets,</a:t>
            </a:r>
            <a:r>
              <a:rPr lang="nl-NL" baseline="0" dirty="0"/>
              <a:t> dus op een productiesysteem is het niet verstandig om in </a:t>
            </a:r>
            <a:r>
              <a:rPr lang="nl-NL" i="1" baseline="0" dirty="0" err="1"/>
              <a:t>permissive</a:t>
            </a:r>
            <a:r>
              <a:rPr lang="nl-NL" i="1" baseline="0" dirty="0"/>
              <a:t> mode</a:t>
            </a:r>
            <a:r>
              <a:rPr lang="nl-NL" i="0" baseline="0" dirty="0"/>
              <a:t> te draaien. Om te testen of een ervaren issue een gevolg is van een te beperkende </a:t>
            </a:r>
            <a:r>
              <a:rPr lang="nl-NL" i="0" baseline="0" dirty="0" err="1"/>
              <a:t>SELinux</a:t>
            </a:r>
            <a:r>
              <a:rPr lang="nl-NL" i="0" baseline="0" dirty="0"/>
              <a:t> configuratie is </a:t>
            </a:r>
            <a:r>
              <a:rPr lang="nl-NL" i="0" baseline="0" dirty="0" err="1">
                <a:latin typeface="Consolas" panose="020B0609020204030204" pitchFamily="49" charset="0"/>
                <a:cs typeface="Consolas" panose="020B0609020204030204" pitchFamily="49" charset="0"/>
              </a:rPr>
              <a:t>setenforce</a:t>
            </a:r>
            <a:r>
              <a:rPr lang="nl-NL" i="0" baseline="0" dirty="0"/>
              <a:t> echter zeer handig.</a:t>
            </a:r>
          </a:p>
          <a:p>
            <a:r>
              <a:rPr lang="nl-NL" i="0" baseline="0" dirty="0"/>
              <a:t>“</a:t>
            </a:r>
            <a:r>
              <a:rPr lang="nl-NL" i="0" baseline="0" dirty="0" err="1"/>
              <a:t>setenforce</a:t>
            </a:r>
            <a:r>
              <a:rPr lang="nl-NL" i="0" baseline="0" dirty="0"/>
              <a:t> </a:t>
            </a:r>
            <a:r>
              <a:rPr lang="nl-NL" i="0" baseline="0" dirty="0" err="1"/>
              <a:t>Permissive</a:t>
            </a:r>
            <a:r>
              <a:rPr lang="nl-NL" i="0" baseline="0" dirty="0"/>
              <a:t>” is ook een geldige syntax, maar dat gebruikt niemand aangezien UNIX/Linux beheerders notoire zuinige </a:t>
            </a:r>
            <a:r>
              <a:rPr lang="nl-NL" i="0" baseline="0" dirty="0" err="1"/>
              <a:t>typers</a:t>
            </a:r>
            <a:r>
              <a:rPr lang="nl-NL" i="0" baseline="0" dirty="0"/>
              <a:t> zijn (zie de standaard commando’s zoals </a:t>
            </a:r>
            <a:r>
              <a:rPr lang="nl-NL" i="0" baseline="0" dirty="0" err="1"/>
              <a:t>ls</a:t>
            </a:r>
            <a:r>
              <a:rPr lang="nl-NL" i="0" baseline="0" dirty="0"/>
              <a:t> en </a:t>
            </a:r>
            <a:r>
              <a:rPr lang="nl-NL" i="0" baseline="0" dirty="0" err="1"/>
              <a:t>cp</a:t>
            </a:r>
            <a:r>
              <a:rPr lang="nl-NL" i="0" baseline="0" dirty="0"/>
              <a:t>)</a:t>
            </a:r>
            <a:endParaRPr lang="nl-NL" dirty="0"/>
          </a:p>
        </p:txBody>
      </p:sp>
      <p:sp>
        <p:nvSpPr>
          <p:cNvPr id="4" name="Slide Number Placeholder 3"/>
          <p:cNvSpPr>
            <a:spLocks noGrp="1"/>
          </p:cNvSpPr>
          <p:nvPr>
            <p:ph type="sldNum" sz="quarter" idx="10"/>
          </p:nvPr>
        </p:nvSpPr>
        <p:spPr/>
        <p:txBody>
          <a:bodyPr/>
          <a:lstStyle/>
          <a:p>
            <a:fld id="{4BF9318E-11B4-4637-91FD-939BD4A48B75}" type="slidenum">
              <a:rPr lang="nl-NL" smtClean="0"/>
              <a:pPr/>
              <a:t>30</a:t>
            </a:fld>
            <a:endParaRPr lang="nl-NL"/>
          </a:p>
        </p:txBody>
      </p:sp>
    </p:spTree>
    <p:extLst>
      <p:ext uri="{BB962C8B-B14F-4D97-AF65-F5344CB8AC3E}">
        <p14:creationId xmlns:p14="http://schemas.microsoft.com/office/powerpoint/2010/main" val="35409647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4BF9318E-11B4-4637-91FD-939BD4A48B75}" type="slidenum">
              <a:rPr lang="nl-NL" smtClean="0"/>
              <a:pPr/>
              <a:t>33</a:t>
            </a:fld>
            <a:endParaRPr lang="nl-NL"/>
          </a:p>
        </p:txBody>
      </p:sp>
    </p:spTree>
    <p:extLst>
      <p:ext uri="{BB962C8B-B14F-4D97-AF65-F5344CB8AC3E}">
        <p14:creationId xmlns:p14="http://schemas.microsoft.com/office/powerpoint/2010/main" val="3633504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27.7 en 27.8 boek 1016</a:t>
            </a:r>
            <a:endParaRPr lang="en-GB" dirty="0"/>
          </a:p>
        </p:txBody>
      </p:sp>
      <p:sp>
        <p:nvSpPr>
          <p:cNvPr id="4" name="Slide Number Placeholder 3"/>
          <p:cNvSpPr>
            <a:spLocks noGrp="1"/>
          </p:cNvSpPr>
          <p:nvPr>
            <p:ph type="sldNum" sz="quarter" idx="5"/>
          </p:nvPr>
        </p:nvSpPr>
        <p:spPr/>
        <p:txBody>
          <a:bodyPr/>
          <a:lstStyle/>
          <a:p>
            <a:fld id="{4BF9318E-11B4-4637-91FD-939BD4A48B75}" type="slidenum">
              <a:rPr lang="nl-NL" smtClean="0"/>
              <a:pPr/>
              <a:t>34</a:t>
            </a:fld>
            <a:endParaRPr lang="nl-NL"/>
          </a:p>
        </p:txBody>
      </p:sp>
    </p:spTree>
    <p:extLst>
      <p:ext uri="{BB962C8B-B14F-4D97-AF65-F5344CB8AC3E}">
        <p14:creationId xmlns:p14="http://schemas.microsoft.com/office/powerpoint/2010/main" val="6407391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Boek 1019 &gt;</a:t>
            </a:r>
            <a:endParaRPr lang="en-GB" dirty="0"/>
          </a:p>
        </p:txBody>
      </p:sp>
      <p:sp>
        <p:nvSpPr>
          <p:cNvPr id="4" name="Slide Number Placeholder 3"/>
          <p:cNvSpPr>
            <a:spLocks noGrp="1"/>
          </p:cNvSpPr>
          <p:nvPr>
            <p:ph type="sldNum" sz="quarter" idx="5"/>
          </p:nvPr>
        </p:nvSpPr>
        <p:spPr/>
        <p:txBody>
          <a:bodyPr/>
          <a:lstStyle/>
          <a:p>
            <a:fld id="{4BF9318E-11B4-4637-91FD-939BD4A48B75}" type="slidenum">
              <a:rPr lang="nl-NL" smtClean="0"/>
              <a:pPr/>
              <a:t>37</a:t>
            </a:fld>
            <a:endParaRPr lang="nl-NL"/>
          </a:p>
        </p:txBody>
      </p:sp>
    </p:spTree>
    <p:extLst>
      <p:ext uri="{BB962C8B-B14F-4D97-AF65-F5344CB8AC3E}">
        <p14:creationId xmlns:p14="http://schemas.microsoft.com/office/powerpoint/2010/main" val="8578237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nl-NL" dirty="0"/>
              <a:t>Herhaling</a:t>
            </a:r>
            <a:r>
              <a:rPr lang="nl-NL" baseline="0" dirty="0"/>
              <a:t> van CS&amp;N</a:t>
            </a:r>
            <a:endParaRPr lang="nl-NL" dirty="0"/>
          </a:p>
        </p:txBody>
      </p:sp>
      <p:sp>
        <p:nvSpPr>
          <p:cNvPr id="4" name="Slide Number Placeholder 3"/>
          <p:cNvSpPr>
            <a:spLocks noGrp="1"/>
          </p:cNvSpPr>
          <p:nvPr>
            <p:ph type="sldNum" sz="quarter" idx="10"/>
          </p:nvPr>
        </p:nvSpPr>
        <p:spPr/>
        <p:txBody>
          <a:bodyPr/>
          <a:lstStyle/>
          <a:p>
            <a:fld id="{4BF9318E-11B4-4637-91FD-939BD4A48B75}" type="slidenum">
              <a:rPr lang="nl-NL" smtClean="0"/>
              <a:pPr/>
              <a:t>45</a:t>
            </a:fld>
            <a:endParaRPr lang="nl-NL"/>
          </a:p>
        </p:txBody>
      </p:sp>
    </p:spTree>
    <p:extLst>
      <p:ext uri="{BB962C8B-B14F-4D97-AF65-F5344CB8AC3E}">
        <p14:creationId xmlns:p14="http://schemas.microsoft.com/office/powerpoint/2010/main" val="1916516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nl-NL" dirty="0"/>
              <a:t>Herhaling van CS&amp;N; door SSH wordt</a:t>
            </a:r>
            <a:r>
              <a:rPr lang="nl-NL" baseline="0" dirty="0"/>
              <a:t> dit mechanisme gebruikt bij de authenticatie van zowel remote host als optioneel door de gebruiker (in plaats van login + password); het communicatiekanaal is symmetrisch versleuteld </a:t>
            </a:r>
            <a:r>
              <a:rPr lang="nl-NL" b="1" baseline="0" dirty="0"/>
              <a:t>inclusief de authenticatie</a:t>
            </a:r>
            <a:endParaRPr lang="nl-NL" b="1" dirty="0"/>
          </a:p>
        </p:txBody>
      </p:sp>
      <p:sp>
        <p:nvSpPr>
          <p:cNvPr id="4" name="Slide Number Placeholder 3"/>
          <p:cNvSpPr>
            <a:spLocks noGrp="1"/>
          </p:cNvSpPr>
          <p:nvPr>
            <p:ph type="sldNum" sz="quarter" idx="10"/>
          </p:nvPr>
        </p:nvSpPr>
        <p:spPr/>
        <p:txBody>
          <a:bodyPr/>
          <a:lstStyle/>
          <a:p>
            <a:fld id="{4BF9318E-11B4-4637-91FD-939BD4A48B75}" type="slidenum">
              <a:rPr lang="nl-NL" smtClean="0"/>
              <a:pPr/>
              <a:t>46</a:t>
            </a:fld>
            <a:endParaRPr lang="nl-NL"/>
          </a:p>
        </p:txBody>
      </p:sp>
    </p:spTree>
    <p:extLst>
      <p:ext uri="{BB962C8B-B14F-4D97-AF65-F5344CB8AC3E}">
        <p14:creationId xmlns:p14="http://schemas.microsoft.com/office/powerpoint/2010/main" val="19852609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C41B7890-C643-460B-88D9-77F9E61E1546}" type="datetime1">
              <a:rPr lang="en-US" altLang="nl-NL" smtClean="0"/>
              <a:pPr>
                <a:defRPr/>
              </a:pPr>
              <a:t>9/30/2025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BF7D06B2-5EAB-4995-A0F5-6691DB0AC2A8}" type="slidenum">
              <a:rPr lang="en-US" altLang="nl-NL" smtClean="0"/>
              <a:pPr>
                <a:defRPr/>
              </a:pPr>
              <a:t>47</a:t>
            </a:fld>
            <a:endParaRPr lang="en-US" altLang="nl-NL"/>
          </a:p>
        </p:txBody>
      </p:sp>
    </p:spTree>
    <p:extLst>
      <p:ext uri="{BB962C8B-B14F-4D97-AF65-F5344CB8AC3E}">
        <p14:creationId xmlns:p14="http://schemas.microsoft.com/office/powerpoint/2010/main" val="14181576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Voorblad">
    <p:spTree>
      <p:nvGrpSpPr>
        <p:cNvPr id="1" name=""/>
        <p:cNvGrpSpPr/>
        <p:nvPr/>
      </p:nvGrpSpPr>
      <p:grpSpPr>
        <a:xfrm>
          <a:off x="0" y="0"/>
          <a:ext cx="0" cy="0"/>
          <a:chOff x="0" y="0"/>
          <a:chExt cx="0" cy="0"/>
        </a:xfrm>
      </p:grpSpPr>
      <p:sp>
        <p:nvSpPr>
          <p:cNvPr id="4" name="Rechthoek 3"/>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12" name="Afbeelding 11" descr="hu voluit.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5414" y="300471"/>
            <a:ext cx="4042858" cy="987270"/>
          </a:xfrm>
          <a:prstGeom prst="rect">
            <a:avLst/>
          </a:prstGeom>
        </p:spPr>
      </p:pic>
    </p:spTree>
    <p:extLst>
      <p:ext uri="{BB962C8B-B14F-4D97-AF65-F5344CB8AC3E}">
        <p14:creationId xmlns:p14="http://schemas.microsoft.com/office/powerpoint/2010/main" val="1471704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eldia">
    <p:spTree>
      <p:nvGrpSpPr>
        <p:cNvPr id="1" name=""/>
        <p:cNvGrpSpPr/>
        <p:nvPr/>
      </p:nvGrpSpPr>
      <p:grpSpPr>
        <a:xfrm>
          <a:off x="0" y="0"/>
          <a:ext cx="0" cy="0"/>
          <a:chOff x="0" y="0"/>
          <a:chExt cx="0" cy="0"/>
        </a:xfrm>
      </p:grpSpPr>
      <p:sp>
        <p:nvSpPr>
          <p:cNvPr id="18" name="Rechthoek 17"/>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15" name="Afbeelding 14" descr="HU logo payoff wit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0" name="Rechthoek 9"/>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8" name="Tekstvak 7"/>
          <p:cNvSpPr txBox="1"/>
          <p:nvPr/>
        </p:nvSpPr>
        <p:spPr>
          <a:xfrm>
            <a:off x="720000" y="594001"/>
            <a:ext cx="7551298" cy="484748"/>
          </a:xfrm>
          <a:prstGeom prst="rect">
            <a:avLst/>
          </a:prstGeom>
          <a:noFill/>
        </p:spPr>
        <p:txBody>
          <a:bodyPr wrap="none" lIns="0" tIns="0" rIns="0" bIns="0" rtlCol="0">
            <a:noAutofit/>
          </a:bodyPr>
          <a:lstStyle/>
          <a:p>
            <a:endParaRPr lang="nl-NL" sz="4200" b="1" dirty="0">
              <a:solidFill>
                <a:schemeClr val="bg1"/>
              </a:solidFill>
            </a:endParaRPr>
          </a:p>
        </p:txBody>
      </p:sp>
      <p:sp>
        <p:nvSpPr>
          <p:cNvPr id="7" name="Rechthoek 6"/>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solidFill>
                <a:schemeClr val="bg1">
                  <a:lumMod val="95000"/>
                </a:schemeClr>
              </a:solidFill>
            </a:endParaRPr>
          </a:p>
        </p:txBody>
      </p:sp>
      <p:pic>
        <p:nvPicPr>
          <p:cNvPr id="9" name="Afbeelding 8" descr="HU logo payoff wit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1" name="Rechthoek 10"/>
          <p:cNvSpPr/>
          <p:nvPr userDrawn="1"/>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2" name="Tekstvak 11"/>
          <p:cNvSpPr txBox="1"/>
          <p:nvPr userDrawn="1"/>
        </p:nvSpPr>
        <p:spPr>
          <a:xfrm>
            <a:off x="720000" y="594001"/>
            <a:ext cx="7551298" cy="484748"/>
          </a:xfrm>
          <a:prstGeom prst="rect">
            <a:avLst/>
          </a:prstGeom>
          <a:noFill/>
        </p:spPr>
        <p:txBody>
          <a:bodyPr wrap="none" lIns="0" tIns="0" rIns="0" bIns="0" rtlCol="0">
            <a:noAutofit/>
          </a:bodyPr>
          <a:lstStyle/>
          <a:p>
            <a:endParaRPr lang="nl-NL" sz="4200" b="1" dirty="0">
              <a:solidFill>
                <a:schemeClr val="bg1"/>
              </a:solidFill>
            </a:endParaRPr>
          </a:p>
        </p:txBody>
      </p:sp>
      <p:sp>
        <p:nvSpPr>
          <p:cNvPr id="2" name="Titel 1">
            <a:extLst>
              <a:ext uri="{FF2B5EF4-FFF2-40B4-BE49-F238E27FC236}">
                <a16:creationId xmlns:a16="http://schemas.microsoft.com/office/drawing/2014/main" id="{70028473-4BE8-43EC-93F5-C09C596FD5B2}"/>
              </a:ext>
            </a:extLst>
          </p:cNvPr>
          <p:cNvSpPr>
            <a:spLocks noGrp="1"/>
          </p:cNvSpPr>
          <p:nvPr>
            <p:ph type="title"/>
          </p:nvPr>
        </p:nvSpPr>
        <p:spPr/>
        <p:txBody>
          <a:bodyPr/>
          <a:lstStyle>
            <a:lvl1pPr>
              <a:defRPr sz="2200">
                <a:solidFill>
                  <a:schemeClr val="bg1">
                    <a:lumMod val="95000"/>
                  </a:schemeClr>
                </a:solidFill>
              </a:defRPr>
            </a:lvl1pPr>
          </a:lstStyle>
          <a:p>
            <a:r>
              <a:rPr lang="en-US"/>
              <a:t>Click to edit Master title style</a:t>
            </a:r>
            <a:endParaRPr lang="nl-NL" dirty="0"/>
          </a:p>
        </p:txBody>
      </p:sp>
      <p:sp>
        <p:nvSpPr>
          <p:cNvPr id="4" name="Tijdelijke aanduiding voor tekst 3">
            <a:extLst>
              <a:ext uri="{FF2B5EF4-FFF2-40B4-BE49-F238E27FC236}">
                <a16:creationId xmlns:a16="http://schemas.microsoft.com/office/drawing/2014/main" id="{07800962-39D7-4A2F-877C-C0B248DA24E8}"/>
              </a:ext>
            </a:extLst>
          </p:cNvPr>
          <p:cNvSpPr>
            <a:spLocks noGrp="1"/>
          </p:cNvSpPr>
          <p:nvPr>
            <p:ph type="body" sz="quarter" idx="10" hasCustomPrompt="1"/>
          </p:nvPr>
        </p:nvSpPr>
        <p:spPr>
          <a:xfrm>
            <a:off x="750888" y="1166813"/>
            <a:ext cx="7150100" cy="458787"/>
          </a:xfrm>
        </p:spPr>
        <p:txBody>
          <a:bodyPr/>
          <a:lstStyle>
            <a:lvl1pPr marL="0" indent="0">
              <a:buNone/>
              <a:defRPr>
                <a:solidFill>
                  <a:schemeClr val="bg1">
                    <a:lumMod val="95000"/>
                  </a:schemeClr>
                </a:solidFill>
              </a:defRPr>
            </a:lvl1pPr>
          </a:lstStyle>
          <a:p>
            <a:pPr lvl="0"/>
            <a:r>
              <a:rPr lang="nl-NL" dirty="0"/>
              <a:t>Subtitel</a:t>
            </a:r>
          </a:p>
        </p:txBody>
      </p:sp>
    </p:spTree>
    <p:extLst>
      <p:ext uri="{BB962C8B-B14F-4D97-AF65-F5344CB8AC3E}">
        <p14:creationId xmlns:p14="http://schemas.microsoft.com/office/powerpoint/2010/main" val="227877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eldia">
    <p:spTree>
      <p:nvGrpSpPr>
        <p:cNvPr id="1" name=""/>
        <p:cNvGrpSpPr/>
        <p:nvPr/>
      </p:nvGrpSpPr>
      <p:grpSpPr>
        <a:xfrm>
          <a:off x="0" y="0"/>
          <a:ext cx="0" cy="0"/>
          <a:chOff x="0" y="0"/>
          <a:chExt cx="0" cy="0"/>
        </a:xfrm>
      </p:grpSpPr>
      <p:sp>
        <p:nvSpPr>
          <p:cNvPr id="18" name="Rechthoek 17"/>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15" name="Afbeelding 14" descr="HU logo payoff wit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0" name="Rechthoek 9"/>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8" name="Tekstvak 7"/>
          <p:cNvSpPr txBox="1"/>
          <p:nvPr/>
        </p:nvSpPr>
        <p:spPr>
          <a:xfrm>
            <a:off x="720000" y="594001"/>
            <a:ext cx="7551298" cy="484748"/>
          </a:xfrm>
          <a:prstGeom prst="rect">
            <a:avLst/>
          </a:prstGeom>
          <a:noFill/>
        </p:spPr>
        <p:txBody>
          <a:bodyPr wrap="none" lIns="0" tIns="0" rIns="0" bIns="0" rtlCol="0">
            <a:noAutofit/>
          </a:bodyPr>
          <a:lstStyle/>
          <a:p>
            <a:endParaRPr lang="nl-NL" sz="4200" b="1" dirty="0">
              <a:solidFill>
                <a:schemeClr val="bg1"/>
              </a:solidFill>
            </a:endParaRPr>
          </a:p>
        </p:txBody>
      </p:sp>
      <p:sp>
        <p:nvSpPr>
          <p:cNvPr id="7" name="Rechthoek 6"/>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solidFill>
                <a:schemeClr val="bg1">
                  <a:lumMod val="95000"/>
                </a:schemeClr>
              </a:solidFill>
            </a:endParaRPr>
          </a:p>
        </p:txBody>
      </p:sp>
      <p:pic>
        <p:nvPicPr>
          <p:cNvPr id="9" name="Afbeelding 8" descr="HU logo payoff wit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1" name="Rechthoek 10"/>
          <p:cNvSpPr/>
          <p:nvPr userDrawn="1"/>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2" name="Tekstvak 11"/>
          <p:cNvSpPr txBox="1"/>
          <p:nvPr userDrawn="1"/>
        </p:nvSpPr>
        <p:spPr>
          <a:xfrm>
            <a:off x="720000" y="594001"/>
            <a:ext cx="7551298" cy="484748"/>
          </a:xfrm>
          <a:prstGeom prst="rect">
            <a:avLst/>
          </a:prstGeom>
          <a:noFill/>
        </p:spPr>
        <p:txBody>
          <a:bodyPr wrap="none" lIns="0" tIns="0" rIns="0" bIns="0" rtlCol="0">
            <a:noAutofit/>
          </a:bodyPr>
          <a:lstStyle/>
          <a:p>
            <a:endParaRPr lang="nl-NL" sz="4200" b="1" dirty="0">
              <a:solidFill>
                <a:schemeClr val="bg1"/>
              </a:solidFill>
            </a:endParaRPr>
          </a:p>
        </p:txBody>
      </p:sp>
      <p:sp>
        <p:nvSpPr>
          <p:cNvPr id="2" name="Titel 1">
            <a:extLst>
              <a:ext uri="{FF2B5EF4-FFF2-40B4-BE49-F238E27FC236}">
                <a16:creationId xmlns:a16="http://schemas.microsoft.com/office/drawing/2014/main" id="{70028473-4BE8-43EC-93F5-C09C596FD5B2}"/>
              </a:ext>
            </a:extLst>
          </p:cNvPr>
          <p:cNvSpPr>
            <a:spLocks noGrp="1"/>
          </p:cNvSpPr>
          <p:nvPr>
            <p:ph type="title"/>
          </p:nvPr>
        </p:nvSpPr>
        <p:spPr/>
        <p:txBody>
          <a:bodyPr/>
          <a:lstStyle>
            <a:lvl1pPr>
              <a:defRPr sz="2200">
                <a:solidFill>
                  <a:schemeClr val="bg1">
                    <a:lumMod val="95000"/>
                  </a:schemeClr>
                </a:solidFill>
              </a:defRPr>
            </a:lvl1pPr>
          </a:lstStyle>
          <a:p>
            <a:r>
              <a:rPr lang="en-US"/>
              <a:t>Click to edit Master title style</a:t>
            </a:r>
            <a:endParaRPr lang="nl-NL" dirty="0"/>
          </a:p>
        </p:txBody>
      </p:sp>
      <p:sp>
        <p:nvSpPr>
          <p:cNvPr id="4" name="Tijdelijke aanduiding voor inhoud 3">
            <a:extLst>
              <a:ext uri="{FF2B5EF4-FFF2-40B4-BE49-F238E27FC236}">
                <a16:creationId xmlns:a16="http://schemas.microsoft.com/office/drawing/2014/main" id="{D6827B49-8514-4B4D-93BE-DF1EBC133081}"/>
              </a:ext>
            </a:extLst>
          </p:cNvPr>
          <p:cNvSpPr>
            <a:spLocks noGrp="1"/>
          </p:cNvSpPr>
          <p:nvPr>
            <p:ph sz="quarter" idx="10"/>
          </p:nvPr>
        </p:nvSpPr>
        <p:spPr>
          <a:xfrm>
            <a:off x="0" y="1729589"/>
            <a:ext cx="9144000" cy="3413911"/>
          </a:xfrm>
        </p:spPr>
        <p:txBody>
          <a:bodyPr/>
          <a:lstStyle>
            <a:lvl1pPr>
              <a:defRPr>
                <a:solidFill>
                  <a:schemeClr val="bg1">
                    <a:lumMod val="95000"/>
                  </a:schemeClr>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4" name="Tijdelijke aanduiding voor tekst 3">
            <a:extLst>
              <a:ext uri="{FF2B5EF4-FFF2-40B4-BE49-F238E27FC236}">
                <a16:creationId xmlns:a16="http://schemas.microsoft.com/office/drawing/2014/main" id="{142AF5AF-6D65-499C-A5ED-F3C429D05A5A}"/>
              </a:ext>
            </a:extLst>
          </p:cNvPr>
          <p:cNvSpPr>
            <a:spLocks noGrp="1"/>
          </p:cNvSpPr>
          <p:nvPr>
            <p:ph type="body" sz="quarter" idx="11" hasCustomPrompt="1"/>
          </p:nvPr>
        </p:nvSpPr>
        <p:spPr>
          <a:xfrm>
            <a:off x="750888" y="1166813"/>
            <a:ext cx="7150100" cy="458787"/>
          </a:xfrm>
        </p:spPr>
        <p:txBody>
          <a:bodyPr/>
          <a:lstStyle>
            <a:lvl1pPr marL="0" indent="0">
              <a:buNone/>
              <a:defRPr>
                <a:solidFill>
                  <a:schemeClr val="bg1">
                    <a:lumMod val="95000"/>
                  </a:schemeClr>
                </a:solidFill>
              </a:defRPr>
            </a:lvl1pPr>
          </a:lstStyle>
          <a:p>
            <a:pPr lvl="0"/>
            <a:r>
              <a:rPr lang="nl-NL" dirty="0"/>
              <a:t>Subtitel</a:t>
            </a:r>
          </a:p>
        </p:txBody>
      </p:sp>
    </p:spTree>
    <p:extLst>
      <p:ext uri="{BB962C8B-B14F-4D97-AF65-F5344CB8AC3E}">
        <p14:creationId xmlns:p14="http://schemas.microsoft.com/office/powerpoint/2010/main" val="2757719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Inhoud">
    <p:spTree>
      <p:nvGrpSpPr>
        <p:cNvPr id="1" name=""/>
        <p:cNvGrpSpPr/>
        <p:nvPr/>
      </p:nvGrpSpPr>
      <p:grpSpPr>
        <a:xfrm>
          <a:off x="0" y="0"/>
          <a:ext cx="0" cy="0"/>
          <a:chOff x="0" y="0"/>
          <a:chExt cx="0" cy="0"/>
        </a:xfrm>
      </p:grpSpPr>
      <p:sp>
        <p:nvSpPr>
          <p:cNvPr id="5" name="Rechthoek 4"/>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Tijdelijke aanduiding voor tekst 10"/>
          <p:cNvSpPr>
            <a:spLocks noGrp="1"/>
          </p:cNvSpPr>
          <p:nvPr>
            <p:ph type="body" sz="quarter" idx="11" hasCustomPrompt="1"/>
          </p:nvPr>
        </p:nvSpPr>
        <p:spPr>
          <a:xfrm>
            <a:off x="718219" y="1196341"/>
            <a:ext cx="7553716" cy="3292316"/>
          </a:xfrm>
        </p:spPr>
        <p:txBody>
          <a:bodyPr vert="horz" wrap="square" lIns="0" tIns="0" rIns="0" bIns="0" rtlCol="0" anchor="t" anchorCtr="0">
            <a:noAutofit/>
          </a:bodyPr>
          <a:lstStyle>
            <a:lvl1pPr>
              <a:defRPr lang="en-US" dirty="0" smtClean="0"/>
            </a:lvl1pPr>
            <a:lvl2pPr marL="457200" indent="0">
              <a:buNone/>
              <a:defRPr lang="en-US" dirty="0"/>
            </a:lvl2pPr>
          </a:lstStyle>
          <a:p>
            <a:pPr lvl="0"/>
            <a:r>
              <a:rPr lang="en-US" dirty="0"/>
              <a:t>Click to edit Master text styles</a:t>
            </a:r>
          </a:p>
          <a:p>
            <a:pPr lvl="1"/>
            <a:endParaRPr lang="en-US" dirty="0"/>
          </a:p>
        </p:txBody>
      </p:sp>
      <p:sp>
        <p:nvSpPr>
          <p:cNvPr id="6" name="Rechthoek 5"/>
          <p:cNvSpPr/>
          <p:nvPr userDrawn="1"/>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3" name="Title 2"/>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494338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Artikel_vervolg">
    <p:spTree>
      <p:nvGrpSpPr>
        <p:cNvPr id="1" name=""/>
        <p:cNvGrpSpPr/>
        <p:nvPr/>
      </p:nvGrpSpPr>
      <p:grpSpPr>
        <a:xfrm>
          <a:off x="0" y="0"/>
          <a:ext cx="0" cy="0"/>
          <a:chOff x="0" y="0"/>
          <a:chExt cx="0" cy="0"/>
        </a:xfrm>
      </p:grpSpPr>
      <p:sp>
        <p:nvSpPr>
          <p:cNvPr id="7" name="Tijdelijke aanduiding voor tekst 6"/>
          <p:cNvSpPr>
            <a:spLocks noGrp="1"/>
          </p:cNvSpPr>
          <p:nvPr>
            <p:ph type="body" sz="quarter" idx="13" hasCustomPrompt="1"/>
          </p:nvPr>
        </p:nvSpPr>
        <p:spPr>
          <a:xfrm>
            <a:off x="718218" y="594516"/>
            <a:ext cx="7670132" cy="3894143"/>
          </a:xfrm>
          <a:prstGeom prst="rect">
            <a:avLst/>
          </a:prstGeom>
        </p:spPr>
        <p:txBody>
          <a:bodyPr vert="horz" wrap="square">
            <a:noAutofit/>
          </a:bodyPr>
          <a:lstStyle>
            <a:lvl1pPr marL="0" indent="0">
              <a:buFont typeface="Arial"/>
              <a:buNone/>
              <a:defRPr sz="2000" b="0"/>
            </a:lvl1pPr>
            <a:lvl2pPr marL="457200" indent="0">
              <a:buNone/>
              <a:defRPr sz="2000" b="1"/>
            </a:lvl2pPr>
            <a:lvl3pPr marL="914400" indent="0">
              <a:buNone/>
              <a:defRPr sz="2000" b="1"/>
            </a:lvl3pPr>
            <a:lvl4pPr marL="1371600" indent="0">
              <a:buNone/>
              <a:defRPr sz="2000" b="1"/>
            </a:lvl4pPr>
            <a:lvl5pPr marL="1828800" indent="0">
              <a:buNone/>
              <a:defRPr sz="2000" b="1"/>
            </a:lvl5pPr>
          </a:lstStyle>
          <a:p>
            <a:pPr lvl="0"/>
            <a:r>
              <a:rPr lang="nl-NL" dirty="0"/>
              <a:t>Vervolg</a:t>
            </a:r>
          </a:p>
        </p:txBody>
      </p:sp>
    </p:spTree>
    <p:extLst>
      <p:ext uri="{BB962C8B-B14F-4D97-AF65-F5344CB8AC3E}">
        <p14:creationId xmlns:p14="http://schemas.microsoft.com/office/powerpoint/2010/main" val="1980861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Artikel_foto">
    <p:spTree>
      <p:nvGrpSpPr>
        <p:cNvPr id="1" name=""/>
        <p:cNvGrpSpPr/>
        <p:nvPr/>
      </p:nvGrpSpPr>
      <p:grpSpPr>
        <a:xfrm>
          <a:off x="0" y="0"/>
          <a:ext cx="0" cy="0"/>
          <a:chOff x="0" y="0"/>
          <a:chExt cx="0" cy="0"/>
        </a:xfrm>
      </p:grpSpPr>
      <p:sp>
        <p:nvSpPr>
          <p:cNvPr id="12" name="Tijdelijke aanduiding voor afbeelding 5"/>
          <p:cNvSpPr>
            <a:spLocks noGrp="1"/>
          </p:cNvSpPr>
          <p:nvPr>
            <p:ph type="pic" sz="quarter" idx="13"/>
          </p:nvPr>
        </p:nvSpPr>
        <p:spPr>
          <a:xfrm>
            <a:off x="5" y="-1512"/>
            <a:ext cx="4570483"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13" name="Tijdelijke aanduiding voor afbeelding 5"/>
          <p:cNvSpPr>
            <a:spLocks noGrp="1"/>
          </p:cNvSpPr>
          <p:nvPr>
            <p:ph type="pic" sz="quarter" idx="15"/>
          </p:nvPr>
        </p:nvSpPr>
        <p:spPr>
          <a:xfrm>
            <a:off x="4570488" y="-1512"/>
            <a:ext cx="4570483"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a:p>
        </p:txBody>
      </p:sp>
      <p:sp>
        <p:nvSpPr>
          <p:cNvPr id="9" name="Tekstvak 8"/>
          <p:cNvSpPr txBox="1"/>
          <p:nvPr/>
        </p:nvSpPr>
        <p:spPr>
          <a:xfrm>
            <a:off x="453006" y="4811317"/>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23" name="Rechthoek 22"/>
          <p:cNvSpPr/>
          <p:nvPr/>
        </p:nvSpPr>
        <p:spPr>
          <a:xfrm>
            <a:off x="531064" y="290226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4" name="Tekstvak 23"/>
          <p:cNvSpPr txBox="1"/>
          <p:nvPr/>
        </p:nvSpPr>
        <p:spPr>
          <a:xfrm>
            <a:off x="453006" y="7028737"/>
            <a:ext cx="3672565" cy="215444"/>
          </a:xfrm>
          <a:prstGeom prst="rect">
            <a:avLst/>
          </a:prstGeom>
          <a:noFill/>
        </p:spPr>
        <p:txBody>
          <a:bodyPr wrap="square" rtlCol="0">
            <a:spAutoFit/>
          </a:bodyPr>
          <a:lstStyle/>
          <a:p>
            <a:fld id="{314644ED-88FD-4C4D-9D4F-18215A7BD5D3}" type="slidenum">
              <a:rPr lang="nl-NL" sz="800" smtClean="0"/>
              <a:t>‹#›</a:t>
            </a:fld>
            <a:endParaRPr lang="nl-NL" sz="800" dirty="0"/>
          </a:p>
        </p:txBody>
      </p:sp>
      <p:sp>
        <p:nvSpPr>
          <p:cNvPr id="28" name="Tijdelijke aanduiding voor tekst 10"/>
          <p:cNvSpPr>
            <a:spLocks noGrp="1"/>
          </p:cNvSpPr>
          <p:nvPr>
            <p:ph type="body" sz="quarter" idx="17"/>
          </p:nvPr>
        </p:nvSpPr>
        <p:spPr>
          <a:xfrm flipH="1">
            <a:off x="718284" y="3414474"/>
            <a:ext cx="7670066" cy="1074185"/>
          </a:xfrm>
        </p:spPr>
        <p:txBody>
          <a:bodyPr wrap="square">
            <a:noAutofit/>
          </a:bodyPr>
          <a:lstStyle>
            <a:lvl1pPr>
              <a:defRPr/>
            </a:lvl1pPr>
          </a:lstStyle>
          <a:p>
            <a:pPr lvl="0"/>
            <a:r>
              <a:rPr lang="en-US"/>
              <a:t>Click to edit Master text styles</a:t>
            </a:r>
          </a:p>
        </p:txBody>
      </p:sp>
      <p:sp>
        <p:nvSpPr>
          <p:cNvPr id="2" name="Titel 1">
            <a:extLst>
              <a:ext uri="{FF2B5EF4-FFF2-40B4-BE49-F238E27FC236}">
                <a16:creationId xmlns:a16="http://schemas.microsoft.com/office/drawing/2014/main" id="{5DBE96C8-0802-4DEF-9B61-78DAF4830893}"/>
              </a:ext>
            </a:extLst>
          </p:cNvPr>
          <p:cNvSpPr>
            <a:spLocks noGrp="1"/>
          </p:cNvSpPr>
          <p:nvPr>
            <p:ph type="title"/>
          </p:nvPr>
        </p:nvSpPr>
        <p:spPr>
          <a:xfrm>
            <a:off x="718283" y="2905077"/>
            <a:ext cx="7725727"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2049112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Artikel_foto">
    <p:spTree>
      <p:nvGrpSpPr>
        <p:cNvPr id="1" name=""/>
        <p:cNvGrpSpPr/>
        <p:nvPr/>
      </p:nvGrpSpPr>
      <p:grpSpPr>
        <a:xfrm>
          <a:off x="0" y="0"/>
          <a:ext cx="0" cy="0"/>
          <a:chOff x="0" y="0"/>
          <a:chExt cx="0" cy="0"/>
        </a:xfrm>
      </p:grpSpPr>
      <p:sp>
        <p:nvSpPr>
          <p:cNvPr id="9" name="Tijdelijke aanduiding voor afbeelding 5"/>
          <p:cNvSpPr>
            <a:spLocks noGrp="1"/>
          </p:cNvSpPr>
          <p:nvPr>
            <p:ph type="pic" sz="quarter" idx="15"/>
          </p:nvPr>
        </p:nvSpPr>
        <p:spPr>
          <a:xfrm>
            <a:off x="6084002" y="2576512"/>
            <a:ext cx="3059999" cy="2566988"/>
          </a:xfrm>
          <a:prstGeom prst="rect">
            <a:avLst/>
          </a:prstGeom>
          <a:solidFill>
            <a:schemeClr val="bg1">
              <a:lumMod val="75000"/>
            </a:schemeClr>
          </a:solidFill>
        </p:spPr>
        <p:txBody>
          <a:bodyPr vert="horz"/>
          <a:lstStyle>
            <a:lvl1pPr marL="0" indent="0">
              <a:buNone/>
              <a:defRPr sz="2000"/>
            </a:lvl1pPr>
          </a:lstStyle>
          <a:p>
            <a:r>
              <a:rPr lang="en-US"/>
              <a:t>Click icon to add picture</a:t>
            </a:r>
            <a:endParaRPr lang="nl-NL" dirty="0"/>
          </a:p>
        </p:txBody>
      </p:sp>
      <p:pic>
        <p:nvPicPr>
          <p:cNvPr id="31" name="Afbeelding 30"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8" name="Tijdelijke aanduiding voor afbeelding 5"/>
          <p:cNvSpPr>
            <a:spLocks noGrp="1"/>
          </p:cNvSpPr>
          <p:nvPr>
            <p:ph type="pic" sz="quarter" idx="13"/>
          </p:nvPr>
        </p:nvSpPr>
        <p:spPr>
          <a:xfrm>
            <a:off x="5" y="2576512"/>
            <a:ext cx="3059999" cy="2566988"/>
          </a:xfrm>
          <a:prstGeom prst="rect">
            <a:avLst/>
          </a:prstGeom>
          <a:solidFill>
            <a:schemeClr val="bg1">
              <a:lumMod val="75000"/>
            </a:schemeClr>
          </a:solidFill>
        </p:spPr>
        <p:txBody>
          <a:bodyPr vert="horz"/>
          <a:lstStyle>
            <a:lvl1pPr marL="0" indent="0">
              <a:buNone/>
              <a:defRPr sz="2000"/>
            </a:lvl1pPr>
          </a:lstStyle>
          <a:p>
            <a:r>
              <a:rPr lang="en-US"/>
              <a:t>Click icon to add picture</a:t>
            </a:r>
            <a:endParaRPr lang="nl-NL" dirty="0"/>
          </a:p>
        </p:txBody>
      </p:sp>
      <p:sp>
        <p:nvSpPr>
          <p:cNvPr id="10" name="Tijdelijke aanduiding voor afbeelding 5"/>
          <p:cNvSpPr>
            <a:spLocks noGrp="1"/>
          </p:cNvSpPr>
          <p:nvPr>
            <p:ph type="pic" sz="quarter" idx="16"/>
          </p:nvPr>
        </p:nvSpPr>
        <p:spPr>
          <a:xfrm>
            <a:off x="3063645" y="2576512"/>
            <a:ext cx="3023998" cy="2566988"/>
          </a:xfrm>
          <a:prstGeom prst="rect">
            <a:avLst/>
          </a:prstGeom>
          <a:solidFill>
            <a:schemeClr val="bg1">
              <a:lumMod val="75000"/>
            </a:schemeClr>
          </a:solidFill>
        </p:spPr>
        <p:txBody>
          <a:bodyPr vert="horz"/>
          <a:lstStyle>
            <a:lvl1pPr marL="0" indent="0">
              <a:buNone/>
              <a:defRPr sz="2000"/>
            </a:lvl1pPr>
          </a:lstStyle>
          <a:p>
            <a:r>
              <a:rPr lang="en-US"/>
              <a:t>Click icon to add picture</a:t>
            </a:r>
            <a:endParaRPr lang="nl-NL" dirty="0"/>
          </a:p>
        </p:txBody>
      </p:sp>
      <p:sp>
        <p:nvSpPr>
          <p:cNvPr id="16" name="Rechthoek 15"/>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Tijdelijke aanduiding voor tekst 10"/>
          <p:cNvSpPr>
            <a:spLocks noGrp="1"/>
          </p:cNvSpPr>
          <p:nvPr>
            <p:ph type="body" sz="quarter" idx="11"/>
          </p:nvPr>
        </p:nvSpPr>
        <p:spPr>
          <a:xfrm flipH="1">
            <a:off x="718284" y="1196341"/>
            <a:ext cx="7670066" cy="1104300"/>
          </a:xfrm>
        </p:spPr>
        <p:txBody>
          <a:bodyPr wrap="square">
            <a:noAutofit/>
          </a:bodyPr>
          <a:lstStyle>
            <a:lvl1pPr>
              <a:defRPr/>
            </a:lvl1pPr>
          </a:lstStyle>
          <a:p>
            <a:pPr lvl="0"/>
            <a:r>
              <a:rPr lang="en-US"/>
              <a:t>Click to edit Master text styles</a:t>
            </a:r>
          </a:p>
        </p:txBody>
      </p:sp>
      <p:sp>
        <p:nvSpPr>
          <p:cNvPr id="14" name="Tekstvak 13"/>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pic>
        <p:nvPicPr>
          <p:cNvPr id="12" name="Afbeelding 11"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15" name="Tekstvak 14"/>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2" name="Titel 1">
            <a:extLst>
              <a:ext uri="{FF2B5EF4-FFF2-40B4-BE49-F238E27FC236}">
                <a16:creationId xmlns:a16="http://schemas.microsoft.com/office/drawing/2014/main" id="{3889D279-AE2A-4F81-B9FC-573B4F8950FF}"/>
              </a:ext>
            </a:extLst>
          </p:cNvPr>
          <p:cNvSpPr>
            <a:spLocks noGrp="1"/>
          </p:cNvSpPr>
          <p:nvPr>
            <p:ph type="title"/>
          </p:nvPr>
        </p:nvSpPr>
        <p:spPr>
          <a:xfrm>
            <a:off x="718284" y="581675"/>
            <a:ext cx="7670066"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244927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Artikel_foto">
    <p:spTree>
      <p:nvGrpSpPr>
        <p:cNvPr id="1" name=""/>
        <p:cNvGrpSpPr/>
        <p:nvPr/>
      </p:nvGrpSpPr>
      <p:grpSpPr>
        <a:xfrm>
          <a:off x="0" y="0"/>
          <a:ext cx="0" cy="0"/>
          <a:chOff x="0" y="0"/>
          <a:chExt cx="0" cy="0"/>
        </a:xfrm>
      </p:grpSpPr>
      <p:sp>
        <p:nvSpPr>
          <p:cNvPr id="8" name="Tijdelijke aanduiding voor afbeelding 5"/>
          <p:cNvSpPr>
            <a:spLocks noGrp="1"/>
          </p:cNvSpPr>
          <p:nvPr>
            <p:ph type="pic" sz="quarter" idx="13"/>
          </p:nvPr>
        </p:nvSpPr>
        <p:spPr>
          <a:xfrm>
            <a:off x="5" y="1408"/>
            <a:ext cx="3059999"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9" name="Tijdelijke aanduiding voor afbeelding 5"/>
          <p:cNvSpPr>
            <a:spLocks noGrp="1"/>
          </p:cNvSpPr>
          <p:nvPr>
            <p:ph type="pic" sz="quarter" idx="15"/>
          </p:nvPr>
        </p:nvSpPr>
        <p:spPr>
          <a:xfrm>
            <a:off x="6084002" y="1408"/>
            <a:ext cx="3059999"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10" name="Tijdelijke aanduiding voor afbeelding 5"/>
          <p:cNvSpPr>
            <a:spLocks noGrp="1"/>
          </p:cNvSpPr>
          <p:nvPr>
            <p:ph type="pic" sz="quarter" idx="16"/>
          </p:nvPr>
        </p:nvSpPr>
        <p:spPr>
          <a:xfrm>
            <a:off x="3063645" y="1408"/>
            <a:ext cx="3023998"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26" name="Rechthoek 25"/>
          <p:cNvSpPr/>
          <p:nvPr/>
        </p:nvSpPr>
        <p:spPr>
          <a:xfrm>
            <a:off x="531064" y="290226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8" name="Tijdelijke aanduiding voor tekst 10"/>
          <p:cNvSpPr>
            <a:spLocks noGrp="1"/>
          </p:cNvSpPr>
          <p:nvPr>
            <p:ph type="body" sz="quarter" idx="18"/>
          </p:nvPr>
        </p:nvSpPr>
        <p:spPr>
          <a:xfrm flipH="1">
            <a:off x="718284" y="3414474"/>
            <a:ext cx="7670066" cy="1074185"/>
          </a:xfrm>
        </p:spPr>
        <p:txBody>
          <a:bodyPr wrap="square">
            <a:noAutofit/>
          </a:bodyPr>
          <a:lstStyle>
            <a:lvl1pPr>
              <a:defRPr/>
            </a:lvl1pPr>
          </a:lstStyle>
          <a:p>
            <a:pPr lvl="0"/>
            <a:r>
              <a:rPr lang="en-US"/>
              <a:t>Click to edit Master text styles</a:t>
            </a:r>
          </a:p>
        </p:txBody>
      </p:sp>
      <p:sp>
        <p:nvSpPr>
          <p:cNvPr id="2" name="Titel 1">
            <a:extLst>
              <a:ext uri="{FF2B5EF4-FFF2-40B4-BE49-F238E27FC236}">
                <a16:creationId xmlns:a16="http://schemas.microsoft.com/office/drawing/2014/main" id="{C5CD6AF1-FC9F-4D85-84FA-79A0AD542E46}"/>
              </a:ext>
            </a:extLst>
          </p:cNvPr>
          <p:cNvSpPr>
            <a:spLocks noGrp="1"/>
          </p:cNvSpPr>
          <p:nvPr>
            <p:ph type="title"/>
          </p:nvPr>
        </p:nvSpPr>
        <p:spPr>
          <a:xfrm>
            <a:off x="718284" y="2762106"/>
            <a:ext cx="7670066"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1913135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Artikel_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3"/>
          </p:nvPr>
        </p:nvSpPr>
        <p:spPr>
          <a:xfrm>
            <a:off x="5" y="0"/>
            <a:ext cx="4570483" cy="5143500"/>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11" name="Rechthoek 10"/>
          <p:cNvSpPr/>
          <p:nvPr/>
        </p:nvSpPr>
        <p:spPr>
          <a:xfrm>
            <a:off x="5104925"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Tijdelijke aanduiding voor tekst 10"/>
          <p:cNvSpPr>
            <a:spLocks noGrp="1"/>
          </p:cNvSpPr>
          <p:nvPr>
            <p:ph type="body" sz="quarter" idx="11"/>
          </p:nvPr>
        </p:nvSpPr>
        <p:spPr>
          <a:xfrm flipH="1">
            <a:off x="5292148" y="1196341"/>
            <a:ext cx="3568072" cy="3292316"/>
          </a:xfrm>
        </p:spPr>
        <p:txBody>
          <a:bodyPr wrap="square">
            <a:noAutofit/>
          </a:bodyPr>
          <a:lstStyle>
            <a:lvl1pPr>
              <a:defRPr/>
            </a:lvl1pPr>
          </a:lstStyle>
          <a:p>
            <a:pPr lvl="0"/>
            <a:r>
              <a:rPr lang="en-US"/>
              <a:t>Click to edit Master text styles</a:t>
            </a:r>
          </a:p>
        </p:txBody>
      </p:sp>
      <p:sp>
        <p:nvSpPr>
          <p:cNvPr id="7" name="Tekstvak 6"/>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8" name="Tekstvak 7"/>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2" name="Titel 1">
            <a:extLst>
              <a:ext uri="{FF2B5EF4-FFF2-40B4-BE49-F238E27FC236}">
                <a16:creationId xmlns:a16="http://schemas.microsoft.com/office/drawing/2014/main" id="{7A9F7ADF-4FD4-440E-B278-2B96AD709AE9}"/>
              </a:ext>
            </a:extLst>
          </p:cNvPr>
          <p:cNvSpPr>
            <a:spLocks noGrp="1"/>
          </p:cNvSpPr>
          <p:nvPr>
            <p:ph type="title"/>
          </p:nvPr>
        </p:nvSpPr>
        <p:spPr>
          <a:xfrm>
            <a:off x="5292148" y="581675"/>
            <a:ext cx="3568072"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1946462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Artikel_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3"/>
          </p:nvPr>
        </p:nvSpPr>
        <p:spPr>
          <a:xfrm>
            <a:off x="4573522" y="0"/>
            <a:ext cx="4570483" cy="5143500"/>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11" name="Rechthoek 10"/>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4" name="Tijdelijke aanduiding voor tekst 10"/>
          <p:cNvSpPr>
            <a:spLocks noGrp="1"/>
          </p:cNvSpPr>
          <p:nvPr>
            <p:ph type="body" sz="quarter" idx="11"/>
          </p:nvPr>
        </p:nvSpPr>
        <p:spPr>
          <a:xfrm flipH="1">
            <a:off x="718284" y="1196341"/>
            <a:ext cx="3493676" cy="3292316"/>
          </a:xfrm>
        </p:spPr>
        <p:txBody>
          <a:bodyPr wrap="square">
            <a:noAutofit/>
          </a:bodyPr>
          <a:lstStyle>
            <a:lvl1pPr>
              <a:defRPr/>
            </a:lvl1pPr>
          </a:lstStyle>
          <a:p>
            <a:pPr lvl="0"/>
            <a:r>
              <a:rPr lang="en-US"/>
              <a:t>Click to edit Master text styles</a:t>
            </a:r>
          </a:p>
        </p:txBody>
      </p:sp>
      <p:pic>
        <p:nvPicPr>
          <p:cNvPr id="7" name="Afbeelding 6"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pic>
        <p:nvPicPr>
          <p:cNvPr id="8" name="Afbeelding 7"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2" name="Titel 1">
            <a:extLst>
              <a:ext uri="{FF2B5EF4-FFF2-40B4-BE49-F238E27FC236}">
                <a16:creationId xmlns:a16="http://schemas.microsoft.com/office/drawing/2014/main" id="{15EA1F60-581A-4678-83E6-545DB57C332C}"/>
              </a:ext>
            </a:extLst>
          </p:cNvPr>
          <p:cNvSpPr>
            <a:spLocks noGrp="1"/>
          </p:cNvSpPr>
          <p:nvPr>
            <p:ph type="title"/>
          </p:nvPr>
        </p:nvSpPr>
        <p:spPr>
          <a:xfrm>
            <a:off x="750572" y="581675"/>
            <a:ext cx="3461388"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1584926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Quote">
    <p:spTree>
      <p:nvGrpSpPr>
        <p:cNvPr id="1" name=""/>
        <p:cNvGrpSpPr/>
        <p:nvPr/>
      </p:nvGrpSpPr>
      <p:grpSpPr>
        <a:xfrm>
          <a:off x="0" y="0"/>
          <a:ext cx="0" cy="0"/>
          <a:chOff x="0" y="0"/>
          <a:chExt cx="0" cy="0"/>
        </a:xfrm>
      </p:grpSpPr>
      <p:sp>
        <p:nvSpPr>
          <p:cNvPr id="10" name="Rechthoek 9"/>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4" name="Rechthoek 13"/>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1" name="Rechthoek 10"/>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2" name="Rechthoek 11"/>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9" name="Afbeelding 8"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15" name="Tekstvak 14"/>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pic>
        <p:nvPicPr>
          <p:cNvPr id="13" name="Afbeelding 12"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16" name="Tekstvak 15"/>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2" name="Titel 1">
            <a:extLst>
              <a:ext uri="{FF2B5EF4-FFF2-40B4-BE49-F238E27FC236}">
                <a16:creationId xmlns:a16="http://schemas.microsoft.com/office/drawing/2014/main" id="{B7A25B72-A285-45B6-B8DA-EA310278836E}"/>
              </a:ext>
            </a:extLst>
          </p:cNvPr>
          <p:cNvSpPr>
            <a:spLocks noGrp="1"/>
          </p:cNvSpPr>
          <p:nvPr>
            <p:ph type="title"/>
          </p:nvPr>
        </p:nvSpPr>
        <p:spPr>
          <a:xfrm>
            <a:off x="750571" y="581675"/>
            <a:ext cx="7207861" cy="461665"/>
          </a:xfrm>
        </p:spPr>
        <p:txBody>
          <a:bodyPr/>
          <a:lstStyle>
            <a:lvl1pPr>
              <a:defRPr>
                <a:solidFill>
                  <a:schemeClr val="bg1">
                    <a:lumMod val="95000"/>
                  </a:schemeClr>
                </a:solidFill>
              </a:defRPr>
            </a:lvl1pPr>
          </a:lstStyle>
          <a:p>
            <a:r>
              <a:rPr lang="en-US"/>
              <a:t>Click to edit Master title style</a:t>
            </a:r>
            <a:endParaRPr lang="nl-NL" dirty="0"/>
          </a:p>
        </p:txBody>
      </p:sp>
    </p:spTree>
    <p:extLst>
      <p:ext uri="{BB962C8B-B14F-4D97-AF65-F5344CB8AC3E}">
        <p14:creationId xmlns:p14="http://schemas.microsoft.com/office/powerpoint/2010/main" val="4795198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Tabel">
    <p:spTree>
      <p:nvGrpSpPr>
        <p:cNvPr id="1" name=""/>
        <p:cNvGrpSpPr/>
        <p:nvPr/>
      </p:nvGrpSpPr>
      <p:grpSpPr>
        <a:xfrm>
          <a:off x="0" y="0"/>
          <a:ext cx="0" cy="0"/>
          <a:chOff x="0" y="0"/>
          <a:chExt cx="0" cy="0"/>
        </a:xfrm>
      </p:grpSpPr>
      <p:sp>
        <p:nvSpPr>
          <p:cNvPr id="10" name="Rechthoek 9"/>
          <p:cNvSpPr/>
          <p:nvPr/>
        </p:nvSpPr>
        <p:spPr>
          <a:xfrm>
            <a:off x="0" y="2"/>
            <a:ext cx="9144000" cy="18323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9" name="Rechthoek 8"/>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353DB5DD-F031-4348-AE63-F011E5030580}"/>
              </a:ext>
            </a:extLst>
          </p:cNvPr>
          <p:cNvSpPr>
            <a:spLocks noGrp="1"/>
          </p:cNvSpPr>
          <p:nvPr>
            <p:ph type="title"/>
          </p:nvPr>
        </p:nvSpPr>
        <p:spPr/>
        <p:txBody>
          <a:bodyPr/>
          <a:lstStyle>
            <a:lvl1pPr>
              <a:defRPr sz="2200">
                <a:solidFill>
                  <a:schemeClr val="bg1">
                    <a:lumMod val="95000"/>
                  </a:schemeClr>
                </a:solidFill>
              </a:defRPr>
            </a:lvl1pPr>
          </a:lstStyle>
          <a:p>
            <a:r>
              <a:rPr lang="en-US"/>
              <a:t>Click to edit Master title style</a:t>
            </a:r>
            <a:endParaRPr lang="nl-NL" dirty="0"/>
          </a:p>
        </p:txBody>
      </p:sp>
    </p:spTree>
    <p:extLst>
      <p:ext uri="{BB962C8B-B14F-4D97-AF65-F5344CB8AC3E}">
        <p14:creationId xmlns:p14="http://schemas.microsoft.com/office/powerpoint/2010/main" val="19310384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abel">
    <p:spTree>
      <p:nvGrpSpPr>
        <p:cNvPr id="1" name=""/>
        <p:cNvGrpSpPr/>
        <p:nvPr/>
      </p:nvGrpSpPr>
      <p:grpSpPr>
        <a:xfrm>
          <a:off x="0" y="0"/>
          <a:ext cx="0" cy="0"/>
          <a:chOff x="0" y="0"/>
          <a:chExt cx="0" cy="0"/>
        </a:xfrm>
      </p:grpSpPr>
      <p:sp>
        <p:nvSpPr>
          <p:cNvPr id="9" name="Rechthoek 8"/>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95BDEEBC-F862-428A-BC14-C55F21938EE0}"/>
              </a:ext>
            </a:extLst>
          </p:cNvPr>
          <p:cNvSpPr>
            <a:spLocks noGrp="1"/>
          </p:cNvSpPr>
          <p:nvPr>
            <p:ph type="title"/>
          </p:nvPr>
        </p:nvSpPr>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42435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Tabel">
    <p:spTree>
      <p:nvGrpSpPr>
        <p:cNvPr id="1" name=""/>
        <p:cNvGrpSpPr/>
        <p:nvPr/>
      </p:nvGrpSpPr>
      <p:grpSpPr>
        <a:xfrm>
          <a:off x="0" y="0"/>
          <a:ext cx="0" cy="0"/>
          <a:chOff x="0" y="0"/>
          <a:chExt cx="0" cy="0"/>
        </a:xfrm>
      </p:grpSpPr>
      <p:sp>
        <p:nvSpPr>
          <p:cNvPr id="21" name="Rechthoek 20"/>
          <p:cNvSpPr/>
          <p:nvPr/>
        </p:nvSpPr>
        <p:spPr>
          <a:xfrm>
            <a:off x="0" y="0"/>
            <a:ext cx="4572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8" name="Rechthoek 17"/>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9" name="Tijdelijke aanduiding voor tekst 10"/>
          <p:cNvSpPr>
            <a:spLocks noGrp="1"/>
          </p:cNvSpPr>
          <p:nvPr>
            <p:ph type="body" sz="quarter" idx="10" hasCustomPrompt="1"/>
          </p:nvPr>
        </p:nvSpPr>
        <p:spPr>
          <a:xfrm>
            <a:off x="718224" y="623650"/>
            <a:ext cx="3493741" cy="312906"/>
          </a:xfrm>
        </p:spPr>
        <p:txBody>
          <a:bodyPr wrap="square">
            <a:spAutoFit/>
          </a:bodyPr>
          <a:lstStyle>
            <a:lvl1pPr>
              <a:defRPr sz="2200" b="1">
                <a:solidFill>
                  <a:schemeClr val="bg1"/>
                </a:solidFill>
              </a:defRPr>
            </a:lvl1pPr>
          </a:lstStyle>
          <a:p>
            <a:pPr lvl="0"/>
            <a:r>
              <a:rPr lang="nl-NL" dirty="0"/>
              <a:t>Tabelkop</a:t>
            </a:r>
          </a:p>
        </p:txBody>
      </p:sp>
      <p:sp>
        <p:nvSpPr>
          <p:cNvPr id="20" name="Tijdelijke aanduiding voor tekst 10"/>
          <p:cNvSpPr>
            <a:spLocks noGrp="1"/>
          </p:cNvSpPr>
          <p:nvPr>
            <p:ph type="body" sz="quarter" idx="11"/>
          </p:nvPr>
        </p:nvSpPr>
        <p:spPr>
          <a:xfrm flipH="1">
            <a:off x="718284" y="1196341"/>
            <a:ext cx="3493676" cy="3292316"/>
          </a:xfrm>
        </p:spPr>
        <p:txBody>
          <a:bodyPr wrap="square">
            <a:noAutofit/>
          </a:bodyPr>
          <a:lstStyle>
            <a:lvl1pPr>
              <a:defRPr/>
            </a:lvl1pPr>
          </a:lstStyle>
          <a:p>
            <a:pPr lvl="0"/>
            <a:r>
              <a:rPr lang="en-US"/>
              <a:t>Click to edit Master text styles</a:t>
            </a:r>
          </a:p>
        </p:txBody>
      </p:sp>
      <p:sp>
        <p:nvSpPr>
          <p:cNvPr id="16" name="Tekstvak 15"/>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7" name="Tekstvak 6"/>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3" name="Tijdelijke aanduiding voor inhoud 2">
            <a:extLst>
              <a:ext uri="{FF2B5EF4-FFF2-40B4-BE49-F238E27FC236}">
                <a16:creationId xmlns:a16="http://schemas.microsoft.com/office/drawing/2014/main" id="{9D387718-F286-4F2E-8A56-4A663086FBB2}"/>
              </a:ext>
            </a:extLst>
          </p:cNvPr>
          <p:cNvSpPr>
            <a:spLocks noGrp="1"/>
          </p:cNvSpPr>
          <p:nvPr>
            <p:ph sz="quarter" idx="12"/>
          </p:nvPr>
        </p:nvSpPr>
        <p:spPr>
          <a:xfrm>
            <a:off x="4572000" y="0"/>
            <a:ext cx="4572000"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241432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_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3"/>
          </p:nvPr>
        </p:nvSpPr>
        <p:spPr>
          <a:xfrm>
            <a:off x="0" y="0"/>
            <a:ext cx="9144000" cy="5143500"/>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pic>
        <p:nvPicPr>
          <p:cNvPr id="5" name="Afbeelding 4"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9" name="Tekstvak 8"/>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pic>
        <p:nvPicPr>
          <p:cNvPr id="7" name="Afbeelding 6"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8" name="Tekstvak 7"/>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Tree>
    <p:extLst>
      <p:ext uri="{BB962C8B-B14F-4D97-AF65-F5344CB8AC3E}">
        <p14:creationId xmlns:p14="http://schemas.microsoft.com/office/powerpoint/2010/main" val="1154292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3_Foto">
    <p:spTree>
      <p:nvGrpSpPr>
        <p:cNvPr id="1" name=""/>
        <p:cNvGrpSpPr/>
        <p:nvPr/>
      </p:nvGrpSpPr>
      <p:grpSpPr>
        <a:xfrm>
          <a:off x="0" y="0"/>
          <a:ext cx="0" cy="0"/>
          <a:chOff x="0" y="0"/>
          <a:chExt cx="0" cy="0"/>
        </a:xfrm>
      </p:grpSpPr>
      <p:sp>
        <p:nvSpPr>
          <p:cNvPr id="7" name="Tijdelijke aanduiding voor afbeelding 14"/>
          <p:cNvSpPr>
            <a:spLocks noGrp="1"/>
          </p:cNvSpPr>
          <p:nvPr>
            <p:ph type="pic" sz="quarter" idx="13"/>
          </p:nvPr>
        </p:nvSpPr>
        <p:spPr>
          <a:xfrm>
            <a:off x="0" y="6362"/>
            <a:ext cx="9144000" cy="3323034"/>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9" name="Tijdelijke aanduiding voor tekst 6"/>
          <p:cNvSpPr>
            <a:spLocks noGrp="1"/>
          </p:cNvSpPr>
          <p:nvPr>
            <p:ph type="body" sz="quarter" idx="12" hasCustomPrompt="1"/>
          </p:nvPr>
        </p:nvSpPr>
        <p:spPr>
          <a:xfrm>
            <a:off x="531064" y="3695965"/>
            <a:ext cx="7857286" cy="792692"/>
          </a:xfrm>
          <a:prstGeom prst="rect">
            <a:avLst/>
          </a:prstGeom>
        </p:spPr>
        <p:txBody>
          <a:bodyPr vert="horz" wrap="square">
            <a:noAutofit/>
          </a:bodyPr>
          <a:lstStyle>
            <a:lvl1pPr marL="0" indent="0">
              <a:buNone/>
              <a:defRPr sz="2000" b="0"/>
            </a:lvl1pPr>
            <a:lvl2pPr marL="457200" indent="0">
              <a:buNone/>
              <a:defRPr sz="2000" b="1"/>
            </a:lvl2pPr>
            <a:lvl3pPr marL="914400" indent="0">
              <a:buNone/>
              <a:defRPr sz="2000" b="1"/>
            </a:lvl3pPr>
            <a:lvl4pPr marL="1371600" indent="0">
              <a:buNone/>
              <a:defRPr sz="2000" b="1"/>
            </a:lvl4pPr>
            <a:lvl5pPr marL="1828800" indent="0">
              <a:buNone/>
              <a:defRPr sz="2000" b="1"/>
            </a:lvl5pPr>
          </a:lstStyle>
          <a:p>
            <a:pPr lvl="0"/>
            <a:r>
              <a:rPr lang="en-US" dirty="0" err="1"/>
              <a:t>Bijschrift</a:t>
            </a:r>
            <a:endParaRPr lang="nl-NL" dirty="0"/>
          </a:p>
        </p:txBody>
      </p:sp>
    </p:spTree>
    <p:extLst>
      <p:ext uri="{BB962C8B-B14F-4D97-AF65-F5344CB8AC3E}">
        <p14:creationId xmlns:p14="http://schemas.microsoft.com/office/powerpoint/2010/main" val="19689195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8"/>
          <p:cNvSpPr>
            <a:spLocks noGrp="1" noChangeArrowheads="1"/>
          </p:cNvSpPr>
          <p:nvPr>
            <p:ph type="dt" sz="half" idx="10"/>
          </p:nvPr>
        </p:nvSpPr>
        <p:spPr>
          <a:ln/>
        </p:spPr>
        <p:txBody>
          <a:bodyPr/>
          <a:lstStyle>
            <a:lvl1pPr>
              <a:defRPr/>
            </a:lvl1pPr>
          </a:lstStyle>
          <a:p>
            <a:fld id="{92940D98-7F8B-4881-ACD5-36FE2AF041C3}" type="datetime1">
              <a:rPr lang="nl-NL" smtClean="0"/>
              <a:pPr/>
              <a:t>30-9-2025</a:t>
            </a:fld>
            <a:endParaRPr lang="nl-NL"/>
          </a:p>
        </p:txBody>
      </p:sp>
      <p:sp>
        <p:nvSpPr>
          <p:cNvPr id="5" name="Rectangle 49"/>
          <p:cNvSpPr>
            <a:spLocks noGrp="1" noChangeArrowheads="1"/>
          </p:cNvSpPr>
          <p:nvPr>
            <p:ph type="sldNum" sz="quarter" idx="11"/>
          </p:nvPr>
        </p:nvSpPr>
        <p:spPr>
          <a:ln/>
        </p:spPr>
        <p:txBody>
          <a:bodyPr/>
          <a:lstStyle>
            <a:lvl1pPr>
              <a:defRPr/>
            </a:lvl1pPr>
          </a:lstStyle>
          <a:p>
            <a:fld id="{A9096D49-DAE3-40DE-93E0-41688E0A5016}" type="slidenum">
              <a:rPr lang="nl-NL" smtClean="0"/>
              <a:pPr/>
              <a:t>‹#›</a:t>
            </a:fld>
            <a:endParaRPr lang="nl-NL"/>
          </a:p>
        </p:txBody>
      </p:sp>
      <p:sp>
        <p:nvSpPr>
          <p:cNvPr id="6" name="Rectangle 50"/>
          <p:cNvSpPr>
            <a:spLocks noGrp="1" noChangeArrowheads="1"/>
          </p:cNvSpPr>
          <p:nvPr>
            <p:ph type="ftr" sz="quarter" idx="12"/>
          </p:nvPr>
        </p:nvSpPr>
        <p:spPr>
          <a:ln/>
        </p:spPr>
        <p:txBody>
          <a:bodyPr/>
          <a:lstStyle>
            <a:lvl1pPr>
              <a:defRPr/>
            </a:lvl1pPr>
          </a:lstStyle>
          <a:p>
            <a:endParaRPr lang="nl-NL"/>
          </a:p>
        </p:txBody>
      </p:sp>
    </p:spTree>
    <p:extLst>
      <p:ext uri="{BB962C8B-B14F-4D97-AF65-F5344CB8AC3E}">
        <p14:creationId xmlns:p14="http://schemas.microsoft.com/office/powerpoint/2010/main" val="303350611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jdelijke aanduiding voor tekst 3"/>
          <p:cNvSpPr>
            <a:spLocks noGrp="1"/>
          </p:cNvSpPr>
          <p:nvPr>
            <p:ph type="body" idx="1"/>
          </p:nvPr>
        </p:nvSpPr>
        <p:spPr>
          <a:xfrm>
            <a:off x="750570" y="1369219"/>
            <a:ext cx="7637780" cy="1202252"/>
          </a:xfrm>
          <a:prstGeom prst="rect">
            <a:avLst/>
          </a:prstGeom>
        </p:spPr>
        <p:txBody>
          <a:bodyPr vert="horz" wrap="square" lIns="0" tIns="0" rIns="0" bIns="0" rtlCol="0" anchor="t" anchorCtr="0">
            <a:noAutofit/>
          </a:bodyPr>
          <a:lstStyle/>
          <a:p>
            <a:pPr lvl="0"/>
            <a:r>
              <a:rPr lang="nl-NL" dirty="0"/>
              <a:t>Niveau 1</a:t>
            </a:r>
          </a:p>
          <a:p>
            <a:pPr lvl="1"/>
            <a:r>
              <a:rPr lang="nl-NL" dirty="0"/>
              <a:t>Niveau 2</a:t>
            </a:r>
          </a:p>
          <a:p>
            <a:pPr lvl="2"/>
            <a:r>
              <a:rPr lang="nl-NL" dirty="0"/>
              <a:t>Niveau 3</a:t>
            </a:r>
          </a:p>
        </p:txBody>
      </p:sp>
      <p:sp>
        <p:nvSpPr>
          <p:cNvPr id="5" name="Tijdelijke aanduiding voor titel 4"/>
          <p:cNvSpPr>
            <a:spLocks noGrp="1"/>
          </p:cNvSpPr>
          <p:nvPr>
            <p:ph type="title"/>
          </p:nvPr>
        </p:nvSpPr>
        <p:spPr>
          <a:xfrm>
            <a:off x="750572" y="581675"/>
            <a:ext cx="7637778" cy="461665"/>
          </a:xfrm>
          <a:prstGeom prst="rect">
            <a:avLst/>
          </a:prstGeom>
        </p:spPr>
        <p:txBody>
          <a:bodyPr vert="horz" wrap="square" lIns="0" tIns="0" rIns="0" bIns="0" rtlCol="0" anchor="t" anchorCtr="0">
            <a:noAutofit/>
          </a:bodyPr>
          <a:lstStyle/>
          <a:p>
            <a:r>
              <a:rPr lang="nl-NL" dirty="0"/>
              <a:t>Titelstijl van model bewerken</a:t>
            </a:r>
          </a:p>
        </p:txBody>
      </p:sp>
      <p:pic>
        <p:nvPicPr>
          <p:cNvPr id="13" name="Afbeelding 12" descr="hu logo.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8435218" y="4608939"/>
            <a:ext cx="432000" cy="369461"/>
          </a:xfrm>
          <a:prstGeom prst="rect">
            <a:avLst/>
          </a:prstGeom>
        </p:spPr>
      </p:pic>
      <p:sp>
        <p:nvSpPr>
          <p:cNvPr id="14" name="Tekstvak 13"/>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t>‹#›</a:t>
            </a:fld>
            <a:endParaRPr lang="nl-NL" sz="800" dirty="0"/>
          </a:p>
        </p:txBody>
      </p:sp>
      <p:pic>
        <p:nvPicPr>
          <p:cNvPr id="6" name="Afbeelding 5" descr="hu logo.png"/>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8435218" y="4608939"/>
            <a:ext cx="432000" cy="369461"/>
          </a:xfrm>
          <a:prstGeom prst="rect">
            <a:avLst/>
          </a:prstGeom>
        </p:spPr>
      </p:pic>
      <p:sp>
        <p:nvSpPr>
          <p:cNvPr id="7" name="Tekstvak 6"/>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t>‹#›</a:t>
            </a:fld>
            <a:endParaRPr lang="nl-NL" sz="800" dirty="0"/>
          </a:p>
        </p:txBody>
      </p:sp>
    </p:spTree>
    <p:extLst>
      <p:ext uri="{BB962C8B-B14F-4D97-AF65-F5344CB8AC3E}">
        <p14:creationId xmlns:p14="http://schemas.microsoft.com/office/powerpoint/2010/main" val="93525938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710" r:id="rId3"/>
    <p:sldLayoutId id="2147483695"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1" r:id="rId17"/>
  </p:sldLayoutIdLst>
  <p:hf hdr="0" ftr="0" dt="0"/>
  <p:txStyles>
    <p:titleStyle>
      <a:lvl1pPr algn="l" defTabSz="457200" rtl="0" eaLnBrk="1" latinLnBrk="0" hangingPunct="1">
        <a:spcBef>
          <a:spcPct val="0"/>
        </a:spcBef>
        <a:buNone/>
        <a:defRPr sz="2200" b="1" kern="1200">
          <a:solidFill>
            <a:schemeClr val="accent1"/>
          </a:solidFill>
          <a:latin typeface="+mj-lt"/>
          <a:ea typeface="+mj-ea"/>
          <a:cs typeface="+mj-cs"/>
        </a:defRPr>
      </a:lvl1pPr>
    </p:titleStyle>
    <p:bodyStyle>
      <a:lvl1pPr marL="342900" indent="-342900" algn="l" defTabSz="457200" rtl="0" eaLnBrk="1" latinLnBrk="0" hangingPunct="1">
        <a:lnSpc>
          <a:spcPts val="2400"/>
        </a:lnSpc>
        <a:spcBef>
          <a:spcPts val="0"/>
        </a:spcBef>
        <a:buClr>
          <a:schemeClr val="accent1"/>
        </a:buClr>
        <a:buFont typeface="Arial" panose="020B0604020202020204" pitchFamily="34" charset="0"/>
        <a:buChar char="•"/>
        <a:defRPr sz="2000" b="0" kern="1200">
          <a:solidFill>
            <a:schemeClr val="tx1"/>
          </a:solidFill>
          <a:latin typeface="+mn-lt"/>
          <a:ea typeface="+mn-ea"/>
          <a:cs typeface="+mn-cs"/>
        </a:defRPr>
      </a:lvl1pPr>
      <a:lvl2pPr marL="800100" indent="-342900" algn="l" defTabSz="457200" rtl="0" eaLnBrk="1" latinLnBrk="0" hangingPunct="1">
        <a:lnSpc>
          <a:spcPts val="2400"/>
        </a:lnSpc>
        <a:spcBef>
          <a:spcPts val="0"/>
        </a:spcBef>
        <a:buClr>
          <a:schemeClr val="accent1"/>
        </a:buClr>
        <a:buFont typeface="Courier New" panose="02070309020205020404" pitchFamily="49" charset="0"/>
        <a:buChar char="o"/>
        <a:defRPr sz="2000" b="0" kern="1200">
          <a:solidFill>
            <a:schemeClr val="tx1"/>
          </a:solidFill>
          <a:latin typeface="+mn-lt"/>
          <a:ea typeface="+mn-ea"/>
          <a:cs typeface="+mn-cs"/>
        </a:defRPr>
      </a:lvl2pPr>
      <a:lvl3pPr marL="1257300" indent="-342900" algn="l" defTabSz="457200" rtl="0" eaLnBrk="1" latinLnBrk="0" hangingPunct="1">
        <a:lnSpc>
          <a:spcPts val="2400"/>
        </a:lnSpc>
        <a:spcBef>
          <a:spcPts val="0"/>
        </a:spcBef>
        <a:buClr>
          <a:schemeClr val="accent1"/>
        </a:buClr>
        <a:buFont typeface="Wingdings" panose="05000000000000000000" pitchFamily="2" charset="2"/>
        <a:buChar char="§"/>
        <a:defRPr sz="2000" b="0" kern="1200">
          <a:solidFill>
            <a:schemeClr val="tx1"/>
          </a:solidFill>
          <a:latin typeface="+mn-lt"/>
          <a:ea typeface="+mn-ea"/>
          <a:cs typeface="+mn-cs"/>
        </a:defRPr>
      </a:lvl3pPr>
      <a:lvl4pPr marL="13716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4pPr>
      <a:lvl5pPr marL="18288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pos="5284">
          <p15:clr>
            <a:srgbClr val="F26B43"/>
          </p15:clr>
        </p15:guide>
        <p15:guide id="4" orient="horz" pos="377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www.ns.nl/" TargetMode="Externa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288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Platformen</a:t>
            </a:r>
            <a:endParaRPr lang="nl-NL" dirty="0"/>
          </a:p>
        </p:txBody>
      </p:sp>
      <p:sp>
        <p:nvSpPr>
          <p:cNvPr id="3" name="Text Placeholder 2"/>
          <p:cNvSpPr>
            <a:spLocks noGrp="1"/>
          </p:cNvSpPr>
          <p:nvPr>
            <p:ph type="body" sz="quarter" idx="10"/>
          </p:nvPr>
        </p:nvSpPr>
        <p:spPr/>
        <p:txBody>
          <a:bodyPr/>
          <a:lstStyle/>
          <a:p>
            <a:pPr marL="0" indent="0">
              <a:buNone/>
            </a:pPr>
            <a:r>
              <a:rPr lang="en-US" dirty="0" err="1"/>
              <a:t>Inleiding</a:t>
            </a:r>
            <a:r>
              <a:rPr lang="en-US" dirty="0"/>
              <a:t> </a:t>
            </a:r>
            <a:r>
              <a:rPr lang="en-US" dirty="0" err="1"/>
              <a:t>systeembeveiliging</a:t>
            </a:r>
            <a:endParaRPr lang="nl-NL" dirty="0"/>
          </a:p>
        </p:txBody>
      </p:sp>
    </p:spTree>
    <p:extLst>
      <p:ext uri="{BB962C8B-B14F-4D97-AF65-F5344CB8AC3E}">
        <p14:creationId xmlns:p14="http://schemas.microsoft.com/office/powerpoint/2010/main" val="559557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p:txBody>
          <a:bodyPr/>
          <a:lstStyle/>
          <a:p>
            <a:r>
              <a:rPr lang="nl-NL" dirty="0"/>
              <a:t>Worden behandeld op basis van NTFS</a:t>
            </a:r>
          </a:p>
          <a:p>
            <a:r>
              <a:rPr lang="en-US" dirty="0" err="1"/>
              <a:t>Permissies</a:t>
            </a:r>
            <a:r>
              <a:rPr lang="en-US" dirty="0"/>
              <a:t> (permissions)</a:t>
            </a:r>
          </a:p>
          <a:p>
            <a:pPr marL="800100" lvl="1" indent="-342900">
              <a:buFont typeface="Courier New" panose="02070309020205020404" pitchFamily="49" charset="0"/>
              <a:buChar char="o"/>
            </a:pPr>
            <a:r>
              <a:rPr lang="en-US" dirty="0"/>
              <a:t>Files</a:t>
            </a:r>
          </a:p>
          <a:p>
            <a:pPr marL="800100" lvl="1" indent="-342900">
              <a:buFont typeface="Courier New" panose="02070309020205020404" pitchFamily="49" charset="0"/>
              <a:buChar char="o"/>
            </a:pPr>
            <a:r>
              <a:rPr lang="en-US" dirty="0"/>
              <a:t>Folders</a:t>
            </a:r>
          </a:p>
          <a:p>
            <a:pPr marL="800100" lvl="1" indent="-342900">
              <a:buFont typeface="Courier New" panose="02070309020205020404" pitchFamily="49" charset="0"/>
              <a:buChar char="o"/>
            </a:pPr>
            <a:r>
              <a:rPr lang="en-US" dirty="0"/>
              <a:t>Printers</a:t>
            </a:r>
          </a:p>
          <a:p>
            <a:pPr marL="800100" lvl="1" indent="-342900">
              <a:buFont typeface="Courier New" panose="02070309020205020404" pitchFamily="49" charset="0"/>
              <a:buChar char="o"/>
            </a:pPr>
            <a:r>
              <a:rPr lang="en-US" dirty="0"/>
              <a:t>AD </a:t>
            </a:r>
            <a:r>
              <a:rPr lang="en-US" dirty="0" err="1"/>
              <a:t>objecten</a:t>
            </a:r>
            <a:endParaRPr lang="en-US" dirty="0"/>
          </a:p>
          <a:p>
            <a:r>
              <a:rPr lang="en-US" dirty="0" err="1"/>
              <a:t>Rechten</a:t>
            </a:r>
            <a:r>
              <a:rPr lang="en-US" dirty="0"/>
              <a:t> (rights)</a:t>
            </a:r>
          </a:p>
          <a:p>
            <a:endParaRPr lang="nl-NL" dirty="0"/>
          </a:p>
        </p:txBody>
      </p:sp>
      <p:sp>
        <p:nvSpPr>
          <p:cNvPr id="2" name="Title 1"/>
          <p:cNvSpPr>
            <a:spLocks noGrp="1"/>
          </p:cNvSpPr>
          <p:nvPr>
            <p:ph type="title"/>
          </p:nvPr>
        </p:nvSpPr>
        <p:spPr/>
        <p:txBody>
          <a:bodyPr/>
          <a:lstStyle/>
          <a:p>
            <a:r>
              <a:rPr lang="nl-NL" dirty="0"/>
              <a:t>Permissies en rechten Windows</a:t>
            </a:r>
          </a:p>
        </p:txBody>
      </p:sp>
      <p:pic>
        <p:nvPicPr>
          <p:cNvPr id="6" name="Picture 5"/>
          <p:cNvPicPr>
            <a:picLocks noChangeAspect="1"/>
          </p:cNvPicPr>
          <p:nvPr/>
        </p:nvPicPr>
        <p:blipFill>
          <a:blip r:embed="rId3"/>
          <a:stretch>
            <a:fillRect/>
          </a:stretch>
        </p:blipFill>
        <p:spPr>
          <a:xfrm>
            <a:off x="5741519" y="1196341"/>
            <a:ext cx="2530415" cy="3652720"/>
          </a:xfrm>
          <a:prstGeom prst="rect">
            <a:avLst/>
          </a:prstGeom>
        </p:spPr>
      </p:pic>
    </p:spTree>
    <p:extLst>
      <p:ext uri="{BB962C8B-B14F-4D97-AF65-F5344CB8AC3E}">
        <p14:creationId xmlns:p14="http://schemas.microsoft.com/office/powerpoint/2010/main" val="532934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pPr marL="0" indent="0">
              <a:spcBef>
                <a:spcPts val="600"/>
              </a:spcBef>
              <a:buNone/>
            </a:pPr>
            <a:r>
              <a:rPr lang="en-US" dirty="0"/>
              <a:t>2 types: </a:t>
            </a:r>
          </a:p>
          <a:p>
            <a:pPr>
              <a:spcBef>
                <a:spcPts val="600"/>
              </a:spcBef>
            </a:pPr>
            <a:r>
              <a:rPr lang="en-US" dirty="0" err="1"/>
              <a:t>Standaard</a:t>
            </a:r>
            <a:endParaRPr lang="en-US" dirty="0"/>
          </a:p>
          <a:p>
            <a:pPr marL="800100" lvl="1" indent="-342900">
              <a:spcBef>
                <a:spcPts val="600"/>
              </a:spcBef>
              <a:buFont typeface="Courier New" panose="02070309020205020404" pitchFamily="49" charset="0"/>
              <a:buChar char="o"/>
            </a:pPr>
            <a:r>
              <a:rPr lang="en-US" dirty="0" err="1"/>
              <a:t>Samenvoeging</a:t>
            </a:r>
            <a:r>
              <a:rPr lang="en-US" dirty="0"/>
              <a:t> detail </a:t>
            </a:r>
            <a:r>
              <a:rPr lang="en-US" dirty="0" err="1"/>
              <a:t>permissies</a:t>
            </a:r>
            <a:endParaRPr lang="en-US" dirty="0"/>
          </a:p>
          <a:p>
            <a:pPr marL="800100" lvl="1" indent="-342900">
              <a:spcBef>
                <a:spcPts val="600"/>
              </a:spcBef>
              <a:buFont typeface="Courier New" panose="02070309020205020404" pitchFamily="49" charset="0"/>
              <a:buChar char="o"/>
            </a:pPr>
            <a:r>
              <a:rPr lang="en-US" dirty="0"/>
              <a:t>Full Control</a:t>
            </a:r>
          </a:p>
          <a:p>
            <a:pPr marL="800100" lvl="1" indent="-342900">
              <a:spcBef>
                <a:spcPts val="600"/>
              </a:spcBef>
              <a:buFont typeface="Courier New" panose="02070309020205020404" pitchFamily="49" charset="0"/>
              <a:buChar char="o"/>
            </a:pPr>
            <a:r>
              <a:rPr lang="en-US" dirty="0"/>
              <a:t>Modify</a:t>
            </a:r>
          </a:p>
          <a:p>
            <a:pPr marL="800100" lvl="1" indent="-342900">
              <a:spcBef>
                <a:spcPts val="600"/>
              </a:spcBef>
              <a:buFont typeface="Courier New" panose="02070309020205020404" pitchFamily="49" charset="0"/>
              <a:buChar char="o"/>
            </a:pPr>
            <a:r>
              <a:rPr lang="en-US" dirty="0"/>
              <a:t>Read &amp; Execute</a:t>
            </a:r>
          </a:p>
          <a:p>
            <a:pPr marL="800100" lvl="1" indent="-342900">
              <a:spcBef>
                <a:spcPts val="600"/>
              </a:spcBef>
              <a:buFont typeface="Courier New" panose="02070309020205020404" pitchFamily="49" charset="0"/>
              <a:buChar char="o"/>
            </a:pPr>
            <a:r>
              <a:rPr lang="en-US" dirty="0"/>
              <a:t>Read </a:t>
            </a:r>
          </a:p>
          <a:p>
            <a:pPr marL="800100" lvl="1" indent="-342900">
              <a:spcBef>
                <a:spcPts val="600"/>
              </a:spcBef>
              <a:buFont typeface="Courier New" panose="02070309020205020404" pitchFamily="49" charset="0"/>
              <a:buChar char="o"/>
            </a:pPr>
            <a:r>
              <a:rPr lang="en-US" dirty="0"/>
              <a:t>Write</a:t>
            </a:r>
          </a:p>
          <a:p>
            <a:pPr marL="800100" lvl="1" indent="-342900">
              <a:spcBef>
                <a:spcPts val="600"/>
              </a:spcBef>
              <a:buFont typeface="Courier New" panose="02070309020205020404" pitchFamily="49" charset="0"/>
              <a:buChar char="o"/>
            </a:pPr>
            <a:r>
              <a:rPr lang="en-US" dirty="0"/>
              <a:t>List Folder Contents </a:t>
            </a:r>
          </a:p>
          <a:p>
            <a:pPr>
              <a:spcBef>
                <a:spcPts val="600"/>
              </a:spcBef>
            </a:pPr>
            <a:endParaRPr lang="nl-NL" dirty="0"/>
          </a:p>
        </p:txBody>
      </p:sp>
      <p:sp>
        <p:nvSpPr>
          <p:cNvPr id="2" name="Title 1"/>
          <p:cNvSpPr>
            <a:spLocks noGrp="1"/>
          </p:cNvSpPr>
          <p:nvPr>
            <p:ph type="title"/>
          </p:nvPr>
        </p:nvSpPr>
        <p:spPr/>
        <p:txBody>
          <a:bodyPr vert="horz" wrap="square" lIns="0" tIns="0" rIns="0" bIns="0" rtlCol="0" anchor="t" anchorCtr="0">
            <a:noAutofit/>
          </a:bodyPr>
          <a:lstStyle/>
          <a:p>
            <a:r>
              <a:rPr lang="en-US" dirty="0"/>
              <a:t>Permissions </a:t>
            </a:r>
            <a:r>
              <a:rPr lang="nl-NL" dirty="0"/>
              <a:t>Windows </a:t>
            </a:r>
            <a:r>
              <a:rPr lang="en-US" dirty="0"/>
              <a:t>(1)</a:t>
            </a:r>
          </a:p>
        </p:txBody>
      </p:sp>
      <p:pic>
        <p:nvPicPr>
          <p:cNvPr id="5" name="Picture 4"/>
          <p:cNvPicPr>
            <a:picLocks noChangeAspect="1"/>
          </p:cNvPicPr>
          <p:nvPr/>
        </p:nvPicPr>
        <p:blipFill>
          <a:blip r:embed="rId3"/>
          <a:stretch>
            <a:fillRect/>
          </a:stretch>
        </p:blipFill>
        <p:spPr>
          <a:xfrm>
            <a:off x="3929062" y="2395537"/>
            <a:ext cx="4410991" cy="1976438"/>
          </a:xfrm>
          <a:prstGeom prst="rect">
            <a:avLst/>
          </a:prstGeom>
        </p:spPr>
      </p:pic>
    </p:spTree>
    <p:extLst>
      <p:ext uri="{BB962C8B-B14F-4D97-AF65-F5344CB8AC3E}">
        <p14:creationId xmlns:p14="http://schemas.microsoft.com/office/powerpoint/2010/main" val="4118943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vert="horz" wrap="square" lIns="0" tIns="0" rIns="0" bIns="0" rtlCol="0" anchor="t" anchorCtr="0">
            <a:noAutofit/>
          </a:bodyPr>
          <a:lstStyle/>
          <a:p>
            <a:pPr marL="0" indent="0">
              <a:spcBef>
                <a:spcPts val="600"/>
              </a:spcBef>
              <a:buNone/>
            </a:pPr>
            <a:r>
              <a:rPr lang="en-US" dirty="0"/>
              <a:t>2 types: </a:t>
            </a:r>
          </a:p>
          <a:p>
            <a:pPr>
              <a:spcBef>
                <a:spcPts val="600"/>
              </a:spcBef>
            </a:pPr>
            <a:r>
              <a:rPr lang="en-US" dirty="0"/>
              <a:t>Advanced</a:t>
            </a:r>
          </a:p>
          <a:p>
            <a:pPr marL="800100" lvl="1" indent="-342900">
              <a:spcBef>
                <a:spcPts val="600"/>
              </a:spcBef>
              <a:buFont typeface="Courier New" panose="02070309020205020404" pitchFamily="49" charset="0"/>
              <a:buChar char="o"/>
            </a:pPr>
            <a:r>
              <a:rPr lang="en-US" dirty="0"/>
              <a:t>Detail </a:t>
            </a:r>
            <a:r>
              <a:rPr lang="en-US" dirty="0" err="1"/>
              <a:t>permissies</a:t>
            </a:r>
            <a:endParaRPr lang="en-US" dirty="0"/>
          </a:p>
          <a:p>
            <a:pPr>
              <a:spcBef>
                <a:spcPts val="600"/>
              </a:spcBef>
            </a:pPr>
            <a:r>
              <a:rPr lang="en-US" dirty="0" err="1"/>
              <a:t>Standaard</a:t>
            </a:r>
            <a:r>
              <a:rPr lang="en-US" dirty="0"/>
              <a:t> “Read”</a:t>
            </a:r>
          </a:p>
          <a:p>
            <a:pPr marL="800100" lvl="1" indent="-342900">
              <a:spcBef>
                <a:spcPts val="600"/>
              </a:spcBef>
              <a:buFont typeface="Arial" panose="020B0604020202020204" pitchFamily="34" charset="0"/>
              <a:buChar char="•"/>
            </a:pPr>
            <a:endParaRPr lang="en-US" dirty="0"/>
          </a:p>
          <a:p>
            <a:pPr marL="0" indent="0">
              <a:spcBef>
                <a:spcPts val="600"/>
              </a:spcBef>
              <a:buNone/>
            </a:pPr>
            <a:endParaRPr lang="nl-NL" dirty="0"/>
          </a:p>
        </p:txBody>
      </p:sp>
      <p:sp>
        <p:nvSpPr>
          <p:cNvPr id="2" name="Title 1"/>
          <p:cNvSpPr>
            <a:spLocks noGrp="1"/>
          </p:cNvSpPr>
          <p:nvPr>
            <p:ph type="title"/>
          </p:nvPr>
        </p:nvSpPr>
        <p:spPr/>
        <p:txBody>
          <a:bodyPr vert="horz" wrap="square" lIns="0" tIns="0" rIns="0" bIns="0" rtlCol="0" anchor="t" anchorCtr="0">
            <a:noAutofit/>
          </a:bodyPr>
          <a:lstStyle/>
          <a:p>
            <a:r>
              <a:rPr lang="en-US" dirty="0"/>
              <a:t>Permissions </a:t>
            </a:r>
            <a:r>
              <a:rPr lang="nl-NL" dirty="0"/>
              <a:t>Windows </a:t>
            </a:r>
            <a:r>
              <a:rPr lang="en-US" dirty="0"/>
              <a:t>(2)</a:t>
            </a:r>
          </a:p>
        </p:txBody>
      </p:sp>
      <p:pic>
        <p:nvPicPr>
          <p:cNvPr id="5" name="Picture 4"/>
          <p:cNvPicPr>
            <a:picLocks noChangeAspect="1"/>
          </p:cNvPicPr>
          <p:nvPr/>
        </p:nvPicPr>
        <p:blipFill>
          <a:blip r:embed="rId3"/>
          <a:stretch>
            <a:fillRect/>
          </a:stretch>
        </p:blipFill>
        <p:spPr>
          <a:xfrm>
            <a:off x="4068317" y="931280"/>
            <a:ext cx="3771736" cy="3931973"/>
          </a:xfrm>
          <a:prstGeom prst="rect">
            <a:avLst/>
          </a:prstGeom>
        </p:spPr>
      </p:pic>
    </p:spTree>
    <p:extLst>
      <p:ext uri="{BB962C8B-B14F-4D97-AF65-F5344CB8AC3E}">
        <p14:creationId xmlns:p14="http://schemas.microsoft.com/office/powerpoint/2010/main" val="1368085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r>
              <a:rPr lang="en-US" dirty="0"/>
              <a:t>Inherited</a:t>
            </a:r>
          </a:p>
          <a:p>
            <a:r>
              <a:rPr lang="en-US" dirty="0"/>
              <a:t>Explicit</a:t>
            </a:r>
          </a:p>
          <a:p>
            <a:r>
              <a:rPr lang="en-US" dirty="0"/>
              <a:t>Cumulative</a:t>
            </a:r>
          </a:p>
          <a:p>
            <a:r>
              <a:rPr lang="en-US" dirty="0"/>
              <a:t>Effective Permissions</a:t>
            </a:r>
          </a:p>
          <a:p>
            <a:r>
              <a:rPr lang="en-US" dirty="0"/>
              <a:t>Share permissions</a:t>
            </a:r>
          </a:p>
          <a:p>
            <a:pPr marL="800100" lvl="1" indent="-342900">
              <a:buFont typeface="Courier New" panose="02070309020205020404" pitchFamily="49" charset="0"/>
              <a:buChar char="o"/>
            </a:pPr>
            <a:r>
              <a:rPr lang="en-US" dirty="0"/>
              <a:t>Default Read</a:t>
            </a:r>
          </a:p>
          <a:p>
            <a:endParaRPr lang="nl-NL" dirty="0"/>
          </a:p>
        </p:txBody>
      </p:sp>
      <p:sp>
        <p:nvSpPr>
          <p:cNvPr id="2" name="Title 1"/>
          <p:cNvSpPr>
            <a:spLocks noGrp="1"/>
          </p:cNvSpPr>
          <p:nvPr>
            <p:ph type="title"/>
          </p:nvPr>
        </p:nvSpPr>
        <p:spPr/>
        <p:txBody>
          <a:bodyPr vert="horz" wrap="square" lIns="0" tIns="0" rIns="0" bIns="0" rtlCol="0" anchor="t" anchorCtr="0">
            <a:noAutofit/>
          </a:bodyPr>
          <a:lstStyle/>
          <a:p>
            <a:r>
              <a:rPr lang="en-US" dirty="0"/>
              <a:t>Permissions </a:t>
            </a:r>
            <a:r>
              <a:rPr lang="nl-NL" dirty="0"/>
              <a:t>Windows</a:t>
            </a:r>
            <a:r>
              <a:rPr lang="en-US" dirty="0"/>
              <a:t>(3)</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32928" y="920229"/>
            <a:ext cx="5116513" cy="3468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Arrow Connector 5"/>
          <p:cNvCxnSpPr/>
          <p:nvPr/>
        </p:nvCxnSpPr>
        <p:spPr>
          <a:xfrm>
            <a:off x="3351953" y="3777079"/>
            <a:ext cx="342900"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5" name="TextBox 4"/>
          <p:cNvSpPr txBox="1"/>
          <p:nvPr/>
        </p:nvSpPr>
        <p:spPr>
          <a:xfrm>
            <a:off x="3532927" y="4389051"/>
            <a:ext cx="5116513" cy="338554"/>
          </a:xfrm>
          <a:prstGeom prst="rect">
            <a:avLst/>
          </a:prstGeom>
          <a:noFill/>
        </p:spPr>
        <p:txBody>
          <a:bodyPr wrap="square" rtlCol="0">
            <a:spAutoFit/>
          </a:bodyPr>
          <a:lstStyle/>
          <a:p>
            <a:pPr algn="ctr"/>
            <a:r>
              <a:rPr lang="en-US" sz="1600" dirty="0"/>
              <a:t>Inheritance </a:t>
            </a:r>
            <a:r>
              <a:rPr lang="en-US" sz="1600" dirty="0" err="1"/>
              <a:t>kan</a:t>
            </a:r>
            <a:r>
              <a:rPr lang="en-US" sz="1600" dirty="0"/>
              <a:t> </a:t>
            </a:r>
            <a:r>
              <a:rPr lang="en-US" sz="1600" dirty="0" err="1"/>
              <a:t>voor</a:t>
            </a:r>
            <a:r>
              <a:rPr lang="en-US" sz="1600" dirty="0"/>
              <a:t> elk object </a:t>
            </a:r>
            <a:r>
              <a:rPr lang="en-US" sz="1600" dirty="0" err="1"/>
              <a:t>aangepast</a:t>
            </a:r>
            <a:r>
              <a:rPr lang="en-US" sz="1600" dirty="0"/>
              <a:t> </a:t>
            </a:r>
            <a:r>
              <a:rPr lang="en-US" sz="1600" dirty="0" err="1"/>
              <a:t>worden</a:t>
            </a:r>
            <a:endParaRPr lang="nl-NL" sz="1600" dirty="0"/>
          </a:p>
        </p:txBody>
      </p:sp>
    </p:spTree>
    <p:extLst>
      <p:ext uri="{BB962C8B-B14F-4D97-AF65-F5344CB8AC3E}">
        <p14:creationId xmlns:p14="http://schemas.microsoft.com/office/powerpoint/2010/main" val="1918755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p:txBody>
          <a:bodyPr/>
          <a:lstStyle/>
          <a:p>
            <a:r>
              <a:rPr lang="en-US" dirty="0"/>
              <a:t>Allow</a:t>
            </a:r>
          </a:p>
          <a:p>
            <a:r>
              <a:rPr lang="en-US" dirty="0"/>
              <a:t>Deny</a:t>
            </a:r>
          </a:p>
          <a:p>
            <a:r>
              <a:rPr lang="en-US" dirty="0"/>
              <a:t>Deny </a:t>
            </a:r>
            <a:r>
              <a:rPr lang="en-US" dirty="0" err="1"/>
              <a:t>heeft</a:t>
            </a:r>
            <a:r>
              <a:rPr lang="en-US" dirty="0"/>
              <a:t> “default” </a:t>
            </a:r>
            <a:r>
              <a:rPr lang="en-US" dirty="0" err="1"/>
              <a:t>voorrang</a:t>
            </a:r>
            <a:r>
              <a:rPr lang="en-US" dirty="0"/>
              <a:t> op allow! </a:t>
            </a:r>
            <a:r>
              <a:rPr lang="en-US" sz="1500" dirty="0"/>
              <a:t>(maar….)</a:t>
            </a:r>
          </a:p>
          <a:p>
            <a:pPr marL="800100" lvl="1" indent="-342900">
              <a:buFont typeface="Courier New" panose="02070309020205020404" pitchFamily="49" charset="0"/>
              <a:buChar char="o"/>
            </a:pPr>
            <a:r>
              <a:rPr lang="en-US" dirty="0"/>
              <a:t>Explicit deny</a:t>
            </a:r>
          </a:p>
          <a:p>
            <a:pPr marL="800100" lvl="1" indent="-342900">
              <a:buFont typeface="Courier New" panose="02070309020205020404" pitchFamily="49" charset="0"/>
              <a:buChar char="o"/>
            </a:pPr>
            <a:r>
              <a:rPr lang="en-US" dirty="0"/>
              <a:t>Explicit allow</a:t>
            </a:r>
          </a:p>
          <a:p>
            <a:pPr marL="800100" lvl="1" indent="-342900">
              <a:buFont typeface="Courier New" panose="02070309020205020404" pitchFamily="49" charset="0"/>
              <a:buChar char="o"/>
            </a:pPr>
            <a:r>
              <a:rPr lang="en-US" dirty="0"/>
              <a:t>Inherited deny</a:t>
            </a:r>
          </a:p>
          <a:p>
            <a:pPr marL="800100" lvl="1" indent="-342900">
              <a:buFont typeface="Courier New" panose="02070309020205020404" pitchFamily="49" charset="0"/>
              <a:buChar char="o"/>
            </a:pPr>
            <a:r>
              <a:rPr lang="en-US" dirty="0"/>
              <a:t>Inherited allow</a:t>
            </a:r>
          </a:p>
          <a:p>
            <a:pPr marL="471488" lvl="1" indent="-128588"/>
            <a:endParaRPr lang="en-US" sz="750" dirty="0"/>
          </a:p>
          <a:p>
            <a:pPr marL="471488" lvl="1" indent="-128588"/>
            <a:endParaRPr lang="en-US" sz="750" dirty="0"/>
          </a:p>
          <a:p>
            <a:pPr marL="471488" lvl="1" indent="-128588"/>
            <a:endParaRPr lang="en-US" sz="750" dirty="0"/>
          </a:p>
          <a:p>
            <a:r>
              <a:rPr lang="en-US" sz="1800" dirty="0"/>
              <a:t>(How it works 1 /2 best practice!!)</a:t>
            </a:r>
          </a:p>
          <a:p>
            <a:pPr>
              <a:buFont typeface="Wingdings" panose="05000000000000000000" pitchFamily="2" charset="2"/>
              <a:buChar char="§"/>
            </a:pPr>
            <a:endParaRPr lang="en-US" dirty="0"/>
          </a:p>
          <a:p>
            <a:endParaRPr lang="nl-NL" dirty="0"/>
          </a:p>
        </p:txBody>
      </p:sp>
      <p:sp>
        <p:nvSpPr>
          <p:cNvPr id="2" name="Title 1"/>
          <p:cNvSpPr>
            <a:spLocks noGrp="1"/>
          </p:cNvSpPr>
          <p:nvPr>
            <p:ph type="title"/>
          </p:nvPr>
        </p:nvSpPr>
        <p:spPr/>
        <p:txBody>
          <a:bodyPr vert="horz" wrap="square" lIns="0" tIns="0" rIns="0" bIns="0" rtlCol="0" anchor="t" anchorCtr="0">
            <a:noAutofit/>
          </a:bodyPr>
          <a:lstStyle/>
          <a:p>
            <a:r>
              <a:rPr lang="en-US" dirty="0"/>
              <a:t>Allow &amp; Deny </a:t>
            </a:r>
            <a:r>
              <a:rPr lang="nl-NL" dirty="0"/>
              <a:t>Windows</a:t>
            </a:r>
            <a:endParaRPr lang="en-US" dirty="0"/>
          </a:p>
        </p:txBody>
      </p:sp>
      <p:sp>
        <p:nvSpPr>
          <p:cNvPr id="4" name="TextBox 3"/>
          <p:cNvSpPr txBox="1"/>
          <p:nvPr/>
        </p:nvSpPr>
        <p:spPr>
          <a:xfrm>
            <a:off x="2711815" y="1407296"/>
            <a:ext cx="1040670" cy="300082"/>
          </a:xfrm>
          <a:prstGeom prst="rect">
            <a:avLst/>
          </a:prstGeom>
          <a:noFill/>
        </p:spPr>
        <p:txBody>
          <a:bodyPr wrap="none" rtlCol="0">
            <a:spAutoFit/>
          </a:bodyPr>
          <a:lstStyle/>
          <a:p>
            <a:r>
              <a:rPr lang="en-US" sz="1350" dirty="0"/>
              <a:t>Inheritance</a:t>
            </a:r>
          </a:p>
        </p:txBody>
      </p:sp>
      <p:cxnSp>
        <p:nvCxnSpPr>
          <p:cNvPr id="6" name="Straight Arrow Connector 5"/>
          <p:cNvCxnSpPr/>
          <p:nvPr/>
        </p:nvCxnSpPr>
        <p:spPr>
          <a:xfrm>
            <a:off x="2667000" y="1314450"/>
            <a:ext cx="0" cy="48577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1305" y="2600325"/>
            <a:ext cx="5629161" cy="167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Arrow Connector 7"/>
          <p:cNvCxnSpPr/>
          <p:nvPr/>
        </p:nvCxnSpPr>
        <p:spPr>
          <a:xfrm>
            <a:off x="7972425" y="3029904"/>
            <a:ext cx="0" cy="1049177"/>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4764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pPr marL="0" indent="0">
              <a:lnSpc>
                <a:spcPct val="150000"/>
              </a:lnSpc>
              <a:buNone/>
            </a:pPr>
            <a:r>
              <a:rPr lang="nl-NL" sz="2400" dirty="0"/>
              <a:t>Bob: 									Read</a:t>
            </a:r>
          </a:p>
          <a:p>
            <a:pPr marL="0" indent="0">
              <a:lnSpc>
                <a:spcPct val="150000"/>
              </a:lnSpc>
              <a:buNone/>
            </a:pPr>
            <a:r>
              <a:rPr lang="nl-NL" sz="2400" dirty="0"/>
              <a:t>Bob is lid van </a:t>
            </a:r>
            <a:r>
              <a:rPr lang="nl-NL" sz="2400" dirty="0" err="1"/>
              <a:t>group</a:t>
            </a:r>
            <a:r>
              <a:rPr lang="nl-NL" sz="2400" dirty="0"/>
              <a:t> Users: 		Write</a:t>
            </a:r>
          </a:p>
          <a:p>
            <a:pPr marL="0" indent="0">
              <a:lnSpc>
                <a:spcPct val="150000"/>
              </a:lnSpc>
              <a:buNone/>
            </a:pPr>
            <a:r>
              <a:rPr lang="nl-NL" sz="2400" dirty="0" err="1"/>
              <a:t>Everyone</a:t>
            </a:r>
            <a:r>
              <a:rPr lang="nl-NL" sz="2400" dirty="0"/>
              <a:t>: 							Full Control</a:t>
            </a:r>
          </a:p>
          <a:p>
            <a:pPr marL="0" indent="0">
              <a:lnSpc>
                <a:spcPct val="150000"/>
              </a:lnSpc>
              <a:buNone/>
            </a:pPr>
            <a:endParaRPr lang="nl-NL" sz="2400" dirty="0"/>
          </a:p>
          <a:p>
            <a:pPr marL="0" indent="0">
              <a:lnSpc>
                <a:spcPct val="150000"/>
              </a:lnSpc>
              <a:buNone/>
            </a:pPr>
            <a:r>
              <a:rPr lang="nl-NL" sz="2400" dirty="0"/>
              <a:t>Wat mag Bob?</a:t>
            </a:r>
          </a:p>
          <a:p>
            <a:pPr>
              <a:lnSpc>
                <a:spcPct val="150000"/>
              </a:lnSpc>
            </a:pPr>
            <a:endParaRPr lang="nl-NL" sz="2400" dirty="0"/>
          </a:p>
        </p:txBody>
      </p:sp>
      <p:sp>
        <p:nvSpPr>
          <p:cNvPr id="2" name="Title 1"/>
          <p:cNvSpPr>
            <a:spLocks noGrp="1"/>
          </p:cNvSpPr>
          <p:nvPr>
            <p:ph type="title"/>
          </p:nvPr>
        </p:nvSpPr>
        <p:spPr/>
        <p:txBody>
          <a:bodyPr vert="horz" wrap="square" lIns="0" tIns="0" rIns="0" bIns="0" rtlCol="0" anchor="t" anchorCtr="0">
            <a:noAutofit/>
          </a:bodyPr>
          <a:lstStyle/>
          <a:p>
            <a:r>
              <a:rPr lang="en-US" dirty="0" err="1"/>
              <a:t>Wat</a:t>
            </a:r>
            <a:r>
              <a:rPr lang="en-US" dirty="0"/>
              <a:t> mag Bob?</a:t>
            </a:r>
          </a:p>
        </p:txBody>
      </p:sp>
      <p:sp>
        <p:nvSpPr>
          <p:cNvPr id="8" name="TextBox 7"/>
          <p:cNvSpPr txBox="1"/>
          <p:nvPr/>
        </p:nvSpPr>
        <p:spPr>
          <a:xfrm>
            <a:off x="5199855" y="3467902"/>
            <a:ext cx="1907895" cy="461665"/>
          </a:xfrm>
          <a:prstGeom prst="rect">
            <a:avLst/>
          </a:prstGeom>
          <a:noFill/>
        </p:spPr>
        <p:txBody>
          <a:bodyPr wrap="none" rtlCol="0">
            <a:spAutoFit/>
          </a:bodyPr>
          <a:lstStyle/>
          <a:p>
            <a:r>
              <a:rPr lang="nl-NL" sz="2400" b="1" dirty="0">
                <a:solidFill>
                  <a:srgbClr val="FF0000"/>
                </a:solidFill>
              </a:rPr>
              <a:t>Full Control</a:t>
            </a:r>
          </a:p>
        </p:txBody>
      </p:sp>
    </p:spTree>
    <p:extLst>
      <p:ext uri="{BB962C8B-B14F-4D97-AF65-F5344CB8AC3E}">
        <p14:creationId xmlns:p14="http://schemas.microsoft.com/office/powerpoint/2010/main" val="389284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pPr marL="0" indent="0">
              <a:lnSpc>
                <a:spcPct val="150000"/>
              </a:lnSpc>
              <a:buNone/>
            </a:pPr>
            <a:r>
              <a:rPr lang="nl-NL" sz="2400" dirty="0"/>
              <a:t>Bob: 									Read</a:t>
            </a:r>
          </a:p>
          <a:p>
            <a:pPr marL="0" indent="0">
              <a:lnSpc>
                <a:spcPct val="150000"/>
              </a:lnSpc>
              <a:buNone/>
            </a:pPr>
            <a:r>
              <a:rPr lang="nl-NL" sz="2400" dirty="0"/>
              <a:t>Bob is lid van </a:t>
            </a:r>
            <a:r>
              <a:rPr lang="nl-NL" sz="2400" dirty="0" err="1"/>
              <a:t>group</a:t>
            </a:r>
            <a:r>
              <a:rPr lang="nl-NL" sz="2400" dirty="0"/>
              <a:t> Users: 		Write</a:t>
            </a:r>
          </a:p>
          <a:p>
            <a:pPr marL="0" indent="0">
              <a:lnSpc>
                <a:spcPct val="150000"/>
              </a:lnSpc>
              <a:buNone/>
            </a:pPr>
            <a:r>
              <a:rPr lang="nl-NL" sz="2400" dirty="0"/>
              <a:t>Share: 								Read</a:t>
            </a:r>
          </a:p>
          <a:p>
            <a:pPr marL="0" indent="0">
              <a:lnSpc>
                <a:spcPct val="150000"/>
              </a:lnSpc>
              <a:buNone/>
            </a:pPr>
            <a:endParaRPr lang="nl-NL" sz="2400" dirty="0"/>
          </a:p>
          <a:p>
            <a:pPr marL="0" indent="0">
              <a:lnSpc>
                <a:spcPct val="150000"/>
              </a:lnSpc>
              <a:buNone/>
            </a:pPr>
            <a:r>
              <a:rPr lang="nl-NL" sz="2400" dirty="0"/>
              <a:t>Wat mag Bob lokaal?</a:t>
            </a:r>
          </a:p>
          <a:p>
            <a:pPr marL="0" indent="0">
              <a:lnSpc>
                <a:spcPct val="150000"/>
              </a:lnSpc>
              <a:buNone/>
            </a:pPr>
            <a:r>
              <a:rPr lang="nl-NL" sz="2400" dirty="0"/>
              <a:t>Wat mag Bob over het netwerk?</a:t>
            </a:r>
          </a:p>
          <a:p>
            <a:pPr marL="0" indent="0">
              <a:lnSpc>
                <a:spcPct val="150000"/>
              </a:lnSpc>
              <a:buNone/>
            </a:pPr>
            <a:endParaRPr lang="nl-NL" sz="2400" dirty="0"/>
          </a:p>
        </p:txBody>
      </p:sp>
      <p:sp>
        <p:nvSpPr>
          <p:cNvPr id="2" name="Title 1"/>
          <p:cNvSpPr>
            <a:spLocks noGrp="1"/>
          </p:cNvSpPr>
          <p:nvPr>
            <p:ph type="title"/>
          </p:nvPr>
        </p:nvSpPr>
        <p:spPr/>
        <p:txBody>
          <a:bodyPr vert="horz" wrap="square" lIns="0" tIns="0" rIns="0" bIns="0" rtlCol="0" anchor="t" anchorCtr="0">
            <a:noAutofit/>
          </a:bodyPr>
          <a:lstStyle/>
          <a:p>
            <a:r>
              <a:rPr lang="en-US" dirty="0" err="1"/>
              <a:t>Wat</a:t>
            </a:r>
            <a:r>
              <a:rPr lang="en-US" dirty="0"/>
              <a:t> mag Bob?</a:t>
            </a:r>
          </a:p>
        </p:txBody>
      </p:sp>
      <p:sp>
        <p:nvSpPr>
          <p:cNvPr id="6" name="TextBox 5"/>
          <p:cNvSpPr txBox="1"/>
          <p:nvPr/>
        </p:nvSpPr>
        <p:spPr>
          <a:xfrm>
            <a:off x="5198064" y="4007318"/>
            <a:ext cx="2664512" cy="461665"/>
          </a:xfrm>
          <a:prstGeom prst="rect">
            <a:avLst/>
          </a:prstGeom>
          <a:noFill/>
        </p:spPr>
        <p:txBody>
          <a:bodyPr wrap="none" rtlCol="0">
            <a:spAutoFit/>
          </a:bodyPr>
          <a:lstStyle/>
          <a:p>
            <a:r>
              <a:rPr lang="nl-NL" sz="2400" b="1" dirty="0">
                <a:solidFill>
                  <a:srgbClr val="FF0000"/>
                </a:solidFill>
              </a:rPr>
              <a:t>Read</a:t>
            </a:r>
            <a:r>
              <a:rPr lang="nl-NL" sz="1600" b="1" dirty="0">
                <a:solidFill>
                  <a:srgbClr val="FF0000"/>
                </a:solidFill>
              </a:rPr>
              <a:t> (most </a:t>
            </a:r>
            <a:r>
              <a:rPr lang="nl-NL" sz="1600" b="1" dirty="0" err="1">
                <a:solidFill>
                  <a:srgbClr val="FF0000"/>
                </a:solidFill>
              </a:rPr>
              <a:t>restrictive</a:t>
            </a:r>
            <a:r>
              <a:rPr lang="nl-NL" sz="1600" b="1" dirty="0">
                <a:solidFill>
                  <a:srgbClr val="FF0000"/>
                </a:solidFill>
              </a:rPr>
              <a:t>)</a:t>
            </a:r>
            <a:endParaRPr lang="nl-NL" sz="3200" b="1" dirty="0">
              <a:solidFill>
                <a:srgbClr val="FF0000"/>
              </a:solidFill>
            </a:endParaRPr>
          </a:p>
        </p:txBody>
      </p:sp>
      <p:sp>
        <p:nvSpPr>
          <p:cNvPr id="9" name="TextBox 8"/>
          <p:cNvSpPr txBox="1"/>
          <p:nvPr/>
        </p:nvSpPr>
        <p:spPr>
          <a:xfrm>
            <a:off x="5188539" y="3469152"/>
            <a:ext cx="1931170" cy="461665"/>
          </a:xfrm>
          <a:prstGeom prst="rect">
            <a:avLst/>
          </a:prstGeom>
          <a:noFill/>
        </p:spPr>
        <p:txBody>
          <a:bodyPr wrap="none" rtlCol="0">
            <a:spAutoFit/>
          </a:bodyPr>
          <a:lstStyle/>
          <a:p>
            <a:r>
              <a:rPr lang="nl-NL" sz="2400" b="1" dirty="0">
                <a:solidFill>
                  <a:srgbClr val="FF0000"/>
                </a:solidFill>
              </a:rPr>
              <a:t>Write</a:t>
            </a:r>
            <a:r>
              <a:rPr lang="nl-NL" sz="1600" b="1" dirty="0">
                <a:solidFill>
                  <a:srgbClr val="FF0000"/>
                </a:solidFill>
              </a:rPr>
              <a:t> (optellen)</a:t>
            </a:r>
            <a:endParaRPr lang="nl-NL" sz="3200" b="1" dirty="0">
              <a:solidFill>
                <a:srgbClr val="FF0000"/>
              </a:solidFill>
            </a:endParaRPr>
          </a:p>
        </p:txBody>
      </p:sp>
    </p:spTree>
    <p:extLst>
      <p:ext uri="{BB962C8B-B14F-4D97-AF65-F5344CB8AC3E}">
        <p14:creationId xmlns:p14="http://schemas.microsoft.com/office/powerpoint/2010/main" val="115813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0" tIns="0" rIns="0" bIns="0" rtlCol="0" anchor="t" anchorCtr="0">
            <a:noAutofit/>
          </a:bodyPr>
          <a:lstStyle/>
          <a:p>
            <a:r>
              <a:rPr lang="en-US" dirty="0"/>
              <a:t>ACL &amp; ACE </a:t>
            </a:r>
            <a:r>
              <a:rPr lang="nl-NL" dirty="0"/>
              <a:t>Windows</a:t>
            </a:r>
            <a:endParaRPr lang="en-US" dirty="0"/>
          </a:p>
        </p:txBody>
      </p:sp>
      <p:pic>
        <p:nvPicPr>
          <p:cNvPr id="2050" name="Picture 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bwMode="auto">
          <a:xfrm>
            <a:off x="2492375" y="925378"/>
            <a:ext cx="5514975" cy="4218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6569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en-US" dirty="0"/>
              <a:t>48 bit ID (281.474.976.710.656)</a:t>
            </a:r>
          </a:p>
          <a:p>
            <a:r>
              <a:rPr lang="en-US" dirty="0" err="1"/>
              <a:t>Identificeert</a:t>
            </a:r>
            <a:r>
              <a:rPr lang="en-US" dirty="0"/>
              <a:t> </a:t>
            </a:r>
            <a:r>
              <a:rPr lang="en-US" dirty="0" err="1"/>
              <a:t>een</a:t>
            </a:r>
            <a:r>
              <a:rPr lang="en-US" dirty="0"/>
              <a:t> object met </a:t>
            </a:r>
            <a:r>
              <a:rPr lang="en-US" dirty="0" err="1"/>
              <a:t>uniek</a:t>
            </a:r>
            <a:r>
              <a:rPr lang="en-US" dirty="0"/>
              <a:t> </a:t>
            </a:r>
            <a:r>
              <a:rPr lang="en-US" dirty="0" err="1"/>
              <a:t>nummer</a:t>
            </a:r>
            <a:endParaRPr lang="en-US" dirty="0"/>
          </a:p>
          <a:p>
            <a:r>
              <a:rPr lang="en-US" dirty="0"/>
              <a:t>Local Security Authority (LSA) </a:t>
            </a:r>
            <a:r>
              <a:rPr lang="en-US" dirty="0" err="1"/>
              <a:t>genereert</a:t>
            </a:r>
            <a:r>
              <a:rPr lang="en-US" dirty="0"/>
              <a:t> local SID</a:t>
            </a:r>
          </a:p>
          <a:p>
            <a:r>
              <a:rPr lang="en-US" dirty="0"/>
              <a:t>SID </a:t>
            </a:r>
            <a:r>
              <a:rPr lang="en-US" dirty="0" err="1"/>
              <a:t>moet</a:t>
            </a:r>
            <a:r>
              <a:rPr lang="en-US" dirty="0"/>
              <a:t> in </a:t>
            </a:r>
            <a:r>
              <a:rPr lang="en-US" dirty="0" err="1"/>
              <a:t>domein</a:t>
            </a:r>
            <a:r>
              <a:rPr lang="en-US" dirty="0"/>
              <a:t> </a:t>
            </a:r>
            <a:r>
              <a:rPr lang="en-US" dirty="0" err="1"/>
              <a:t>uniek</a:t>
            </a:r>
            <a:r>
              <a:rPr lang="en-US" dirty="0"/>
              <a:t> </a:t>
            </a:r>
            <a:r>
              <a:rPr lang="en-US" dirty="0" err="1"/>
              <a:t>zijn</a:t>
            </a:r>
            <a:endParaRPr lang="en-US" dirty="0"/>
          </a:p>
          <a:p>
            <a:r>
              <a:rPr lang="en-US" dirty="0"/>
              <a:t>RID master </a:t>
            </a:r>
            <a:r>
              <a:rPr lang="en-US" dirty="0" err="1"/>
              <a:t>deelt</a:t>
            </a:r>
            <a:r>
              <a:rPr lang="en-US" dirty="0"/>
              <a:t> </a:t>
            </a:r>
            <a:r>
              <a:rPr lang="en-US" dirty="0" err="1"/>
              <a:t>blokken</a:t>
            </a:r>
            <a:r>
              <a:rPr lang="en-US" dirty="0"/>
              <a:t> SID’s </a:t>
            </a:r>
            <a:r>
              <a:rPr lang="en-US" dirty="0" err="1"/>
              <a:t>uit</a:t>
            </a:r>
            <a:r>
              <a:rPr lang="en-US" dirty="0"/>
              <a:t> om </a:t>
            </a:r>
            <a:r>
              <a:rPr lang="en-US" dirty="0" err="1"/>
              <a:t>deze</a:t>
            </a:r>
            <a:r>
              <a:rPr lang="en-US" dirty="0"/>
              <a:t> </a:t>
            </a:r>
            <a:r>
              <a:rPr lang="en-US" dirty="0" err="1"/>
              <a:t>uniek</a:t>
            </a:r>
            <a:r>
              <a:rPr lang="en-US" dirty="0"/>
              <a:t> </a:t>
            </a:r>
            <a:r>
              <a:rPr lang="en-US" dirty="0" err="1"/>
              <a:t>te</a:t>
            </a:r>
            <a:r>
              <a:rPr lang="en-US" dirty="0"/>
              <a:t> </a:t>
            </a:r>
            <a:r>
              <a:rPr lang="en-US" dirty="0" err="1"/>
              <a:t>houden</a:t>
            </a:r>
            <a:endParaRPr lang="en-US" dirty="0"/>
          </a:p>
          <a:p>
            <a:endParaRPr lang="en-US" dirty="0"/>
          </a:p>
          <a:p>
            <a:endParaRPr lang="nl-NL" dirty="0"/>
          </a:p>
        </p:txBody>
      </p:sp>
      <p:sp>
        <p:nvSpPr>
          <p:cNvPr id="2" name="Title 1"/>
          <p:cNvSpPr>
            <a:spLocks noGrp="1"/>
          </p:cNvSpPr>
          <p:nvPr>
            <p:ph type="title"/>
          </p:nvPr>
        </p:nvSpPr>
        <p:spPr/>
        <p:txBody>
          <a:bodyPr vert="horz" wrap="square" lIns="0" tIns="0" rIns="0" bIns="0" rtlCol="0" anchor="t" anchorCtr="0">
            <a:noAutofit/>
          </a:bodyPr>
          <a:lstStyle/>
          <a:p>
            <a:r>
              <a:rPr lang="en-US" dirty="0"/>
              <a:t>Security Identifiers (SID)</a:t>
            </a:r>
          </a:p>
        </p:txBody>
      </p:sp>
    </p:spTree>
    <p:extLst>
      <p:ext uri="{BB962C8B-B14F-4D97-AF65-F5344CB8AC3E}">
        <p14:creationId xmlns:p14="http://schemas.microsoft.com/office/powerpoint/2010/main" val="2189673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0" tIns="0" rIns="0" bIns="0" rtlCol="0" anchor="t" anchorCtr="0">
            <a:noAutofit/>
          </a:bodyPr>
          <a:lstStyle/>
          <a:p>
            <a:r>
              <a:rPr lang="en-US" dirty="0"/>
              <a:t>SID structure</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0393" y="951030"/>
            <a:ext cx="4625340" cy="1863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4118" y="2714627"/>
            <a:ext cx="2192655" cy="634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3586" y="2814638"/>
            <a:ext cx="3244014" cy="2175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Table 3"/>
          <p:cNvGraphicFramePr>
            <a:graphicFrameLocks noGrp="1"/>
          </p:cNvGraphicFramePr>
          <p:nvPr/>
        </p:nvGraphicFramePr>
        <p:xfrm>
          <a:off x="1635543" y="3271839"/>
          <a:ext cx="2526030" cy="1303020"/>
        </p:xfrm>
        <a:graphic>
          <a:graphicData uri="http://schemas.openxmlformats.org/drawingml/2006/table">
            <a:tbl>
              <a:tblPr/>
              <a:tblGrid>
                <a:gridCol w="727710">
                  <a:extLst>
                    <a:ext uri="{9D8B030D-6E8A-4147-A177-3AD203B41FA5}">
                      <a16:colId xmlns:a16="http://schemas.microsoft.com/office/drawing/2014/main" val="20000"/>
                    </a:ext>
                  </a:extLst>
                </a:gridCol>
                <a:gridCol w="1798320">
                  <a:extLst>
                    <a:ext uri="{9D8B030D-6E8A-4147-A177-3AD203B41FA5}">
                      <a16:colId xmlns:a16="http://schemas.microsoft.com/office/drawing/2014/main" val="20001"/>
                    </a:ext>
                  </a:extLst>
                </a:gridCol>
              </a:tblGrid>
              <a:tr h="342900">
                <a:tc>
                  <a:txBody>
                    <a:bodyPr/>
                    <a:lstStyle/>
                    <a:p>
                      <a:pPr rtl="0"/>
                      <a:r>
                        <a:rPr lang="en-US" sz="900" dirty="0"/>
                        <a:t>Component </a:t>
                      </a:r>
                    </a:p>
                  </a:txBody>
                  <a:tcPr marL="68580" marR="68580" marT="34290" marB="34290" anchor="ctr">
                    <a:lnL>
                      <a:noFill/>
                    </a:lnL>
                    <a:lnR>
                      <a:noFill/>
                    </a:lnR>
                    <a:lnT>
                      <a:noFill/>
                    </a:lnT>
                    <a:lnB>
                      <a:noFill/>
                    </a:lnB>
                  </a:tcPr>
                </a:tc>
                <a:tc>
                  <a:txBody>
                    <a:bodyPr/>
                    <a:lstStyle/>
                    <a:p>
                      <a:pPr rtl="0"/>
                      <a:r>
                        <a:rPr lang="en-US" sz="900" dirty="0"/>
                        <a:t>Definition </a:t>
                      </a:r>
                    </a:p>
                  </a:txBody>
                  <a:tcPr marL="68580" marR="68580" marT="34290" marB="34290" anchor="ctr">
                    <a:lnL>
                      <a:noFill/>
                    </a:lnL>
                    <a:lnR>
                      <a:noFill/>
                    </a:lnR>
                    <a:lnT>
                      <a:noFill/>
                    </a:lnT>
                    <a:lnB>
                      <a:noFill/>
                    </a:lnB>
                  </a:tcPr>
                </a:tc>
                <a:extLst>
                  <a:ext uri="{0D108BD9-81ED-4DB2-BD59-A6C34878D82A}">
                    <a16:rowId xmlns:a16="http://schemas.microsoft.com/office/drawing/2014/main" val="10000"/>
                  </a:ext>
                </a:extLst>
              </a:tr>
              <a:tr h="205740">
                <a:tc>
                  <a:txBody>
                    <a:bodyPr/>
                    <a:lstStyle/>
                    <a:p>
                      <a:pPr rtl="0"/>
                      <a:r>
                        <a:rPr lang="en-US" sz="900"/>
                        <a:t>S</a:t>
                      </a:r>
                    </a:p>
                  </a:txBody>
                  <a:tcPr marL="68580" marR="68580" marT="34290" marB="34290" anchor="ctr">
                    <a:lnL>
                      <a:noFill/>
                    </a:lnL>
                    <a:lnR>
                      <a:noFill/>
                    </a:lnR>
                    <a:lnT>
                      <a:noFill/>
                    </a:lnT>
                    <a:lnB>
                      <a:noFill/>
                    </a:lnB>
                  </a:tcPr>
                </a:tc>
                <a:tc>
                  <a:txBody>
                    <a:bodyPr/>
                    <a:lstStyle/>
                    <a:p>
                      <a:pPr rtl="0"/>
                      <a:r>
                        <a:rPr lang="en-US" sz="900" dirty="0"/>
                        <a:t>Indicates that the string is a SID</a:t>
                      </a:r>
                    </a:p>
                  </a:txBody>
                  <a:tcPr marL="68580" marR="68580" marT="34290" marB="34290" anchor="ctr">
                    <a:lnL>
                      <a:noFill/>
                    </a:lnL>
                    <a:lnR>
                      <a:noFill/>
                    </a:lnR>
                    <a:lnT>
                      <a:noFill/>
                    </a:lnT>
                    <a:lnB>
                      <a:noFill/>
                    </a:lnB>
                  </a:tcPr>
                </a:tc>
                <a:extLst>
                  <a:ext uri="{0D108BD9-81ED-4DB2-BD59-A6C34878D82A}">
                    <a16:rowId xmlns:a16="http://schemas.microsoft.com/office/drawing/2014/main" val="10001"/>
                  </a:ext>
                </a:extLst>
              </a:tr>
              <a:tr h="205740">
                <a:tc>
                  <a:txBody>
                    <a:bodyPr/>
                    <a:lstStyle/>
                    <a:p>
                      <a:pPr rtl="0"/>
                      <a:r>
                        <a:rPr lang="en-US" sz="900"/>
                        <a:t>R</a:t>
                      </a:r>
                    </a:p>
                  </a:txBody>
                  <a:tcPr marL="68580" marR="68580" marT="34290" marB="34290" anchor="ctr">
                    <a:lnL>
                      <a:noFill/>
                    </a:lnL>
                    <a:lnR>
                      <a:noFill/>
                    </a:lnR>
                    <a:lnT>
                      <a:noFill/>
                    </a:lnT>
                    <a:lnB>
                      <a:noFill/>
                    </a:lnB>
                  </a:tcPr>
                </a:tc>
                <a:tc>
                  <a:txBody>
                    <a:bodyPr/>
                    <a:lstStyle/>
                    <a:p>
                      <a:pPr rtl="0"/>
                      <a:r>
                        <a:rPr lang="en-US" sz="900"/>
                        <a:t>Revision level</a:t>
                      </a:r>
                    </a:p>
                  </a:txBody>
                  <a:tcPr marL="68580" marR="68580" marT="34290" marB="34290" anchor="ctr">
                    <a:lnL>
                      <a:noFill/>
                    </a:lnL>
                    <a:lnR>
                      <a:noFill/>
                    </a:lnR>
                    <a:lnT>
                      <a:noFill/>
                    </a:lnT>
                    <a:lnB>
                      <a:noFill/>
                    </a:lnB>
                  </a:tcPr>
                </a:tc>
                <a:extLst>
                  <a:ext uri="{0D108BD9-81ED-4DB2-BD59-A6C34878D82A}">
                    <a16:rowId xmlns:a16="http://schemas.microsoft.com/office/drawing/2014/main" val="10002"/>
                  </a:ext>
                </a:extLst>
              </a:tr>
              <a:tr h="205740">
                <a:tc>
                  <a:txBody>
                    <a:bodyPr/>
                    <a:lstStyle/>
                    <a:p>
                      <a:pPr rtl="0"/>
                      <a:r>
                        <a:rPr lang="en-US" sz="900"/>
                        <a:t>X</a:t>
                      </a:r>
                    </a:p>
                  </a:txBody>
                  <a:tcPr marL="68580" marR="68580" marT="34290" marB="34290" anchor="ctr">
                    <a:lnL>
                      <a:noFill/>
                    </a:lnL>
                    <a:lnR>
                      <a:noFill/>
                    </a:lnR>
                    <a:lnT>
                      <a:noFill/>
                    </a:lnT>
                    <a:lnB>
                      <a:noFill/>
                    </a:lnB>
                  </a:tcPr>
                </a:tc>
                <a:tc>
                  <a:txBody>
                    <a:bodyPr/>
                    <a:lstStyle/>
                    <a:p>
                      <a:pPr rtl="0"/>
                      <a:r>
                        <a:rPr lang="en-US" sz="900"/>
                        <a:t>Identifier authority value</a:t>
                      </a:r>
                    </a:p>
                  </a:txBody>
                  <a:tcPr marL="68580" marR="68580" marT="34290" marB="34290" anchor="ctr">
                    <a:lnL>
                      <a:noFill/>
                    </a:lnL>
                    <a:lnR>
                      <a:noFill/>
                    </a:lnR>
                    <a:lnT>
                      <a:noFill/>
                    </a:lnT>
                    <a:lnB>
                      <a:noFill/>
                    </a:lnB>
                  </a:tcPr>
                </a:tc>
                <a:extLst>
                  <a:ext uri="{0D108BD9-81ED-4DB2-BD59-A6C34878D82A}">
                    <a16:rowId xmlns:a16="http://schemas.microsoft.com/office/drawing/2014/main" val="10003"/>
                  </a:ext>
                </a:extLst>
              </a:tr>
              <a:tr h="342900">
                <a:tc>
                  <a:txBody>
                    <a:bodyPr/>
                    <a:lstStyle/>
                    <a:p>
                      <a:pPr rtl="0"/>
                      <a:r>
                        <a:rPr lang="en-US" sz="900" dirty="0"/>
                        <a:t>Y</a:t>
                      </a:r>
                    </a:p>
                  </a:txBody>
                  <a:tcPr marL="68580" marR="68580" marT="34290" marB="34290" anchor="ctr">
                    <a:lnL>
                      <a:noFill/>
                    </a:lnL>
                    <a:lnR>
                      <a:noFill/>
                    </a:lnR>
                    <a:lnT>
                      <a:noFill/>
                    </a:lnT>
                    <a:lnB>
                      <a:noFill/>
                    </a:lnB>
                  </a:tcPr>
                </a:tc>
                <a:tc>
                  <a:txBody>
                    <a:bodyPr/>
                    <a:lstStyle/>
                    <a:p>
                      <a:pPr rtl="0"/>
                      <a:r>
                        <a:rPr lang="en-US" sz="900" dirty="0"/>
                        <a:t>A series of </a:t>
                      </a:r>
                      <a:r>
                        <a:rPr lang="en-US" sz="900" dirty="0" err="1"/>
                        <a:t>subauthority</a:t>
                      </a:r>
                      <a:r>
                        <a:rPr lang="en-US" sz="900" dirty="0"/>
                        <a:t> values, where </a:t>
                      </a:r>
                      <a:r>
                        <a:rPr lang="en-US" sz="900" i="1" dirty="0"/>
                        <a:t>n</a:t>
                      </a:r>
                      <a:r>
                        <a:rPr lang="en-US" sz="900" dirty="0"/>
                        <a:t> is the number of values </a:t>
                      </a:r>
                    </a:p>
                  </a:txBody>
                  <a:tcPr marL="68580" marR="68580" marT="34290" marB="34290" anchor="ctr">
                    <a:lnL>
                      <a:noFill/>
                    </a:lnL>
                    <a:lnR>
                      <a:noFill/>
                    </a:lnR>
                    <a:lnT>
                      <a:noFill/>
                    </a:lnT>
                    <a:lnB>
                      <a:noFill/>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90519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750571" y="2919112"/>
            <a:ext cx="7553716" cy="1348438"/>
          </a:xfrm>
        </p:spPr>
        <p:txBody>
          <a:bodyPr/>
          <a:lstStyle/>
          <a:p>
            <a:r>
              <a:rPr lang="en-US" dirty="0"/>
              <a:t>GUID = Global unique ID</a:t>
            </a:r>
          </a:p>
          <a:p>
            <a:r>
              <a:rPr lang="en-US" dirty="0"/>
              <a:t>128 bit</a:t>
            </a:r>
          </a:p>
          <a:p>
            <a:r>
              <a:rPr lang="en-US" dirty="0" err="1"/>
              <a:t>Opgenomen</a:t>
            </a:r>
            <a:r>
              <a:rPr lang="en-US" dirty="0"/>
              <a:t> in GC</a:t>
            </a:r>
          </a:p>
          <a:p>
            <a:r>
              <a:rPr lang="en-US" dirty="0" err="1"/>
              <a:t>SIDHistory</a:t>
            </a:r>
            <a:endParaRPr lang="en-US" dirty="0"/>
          </a:p>
          <a:p>
            <a:endParaRPr lang="nl-NL" dirty="0"/>
          </a:p>
        </p:txBody>
      </p:sp>
      <p:sp>
        <p:nvSpPr>
          <p:cNvPr id="2" name="Title 1"/>
          <p:cNvSpPr>
            <a:spLocks noGrp="1"/>
          </p:cNvSpPr>
          <p:nvPr>
            <p:ph type="title"/>
          </p:nvPr>
        </p:nvSpPr>
        <p:spPr/>
        <p:txBody>
          <a:bodyPr vert="horz" wrap="square" lIns="0" tIns="0" rIns="0" bIns="0" rtlCol="0" anchor="t" anchorCtr="0">
            <a:noAutofit/>
          </a:bodyPr>
          <a:lstStyle/>
          <a:p>
            <a:r>
              <a:rPr lang="en-US" dirty="0"/>
              <a:t>SID Structure &amp; GUID</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571" y="1028699"/>
            <a:ext cx="4064794" cy="189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1396"/>
          <a:stretch/>
        </p:blipFill>
        <p:spPr bwMode="auto">
          <a:xfrm>
            <a:off x="4444808" y="2919112"/>
            <a:ext cx="3832239" cy="179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4527429" y="116149"/>
            <a:ext cx="3641249" cy="49258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6301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Effect op NTFS permissies bij kopiëren en verplaatsen</a:t>
            </a:r>
            <a:br>
              <a:rPr lang="nl-NL" dirty="0"/>
            </a:br>
            <a:endParaRPr lang="nl-NL" dirty="0"/>
          </a:p>
        </p:txBody>
      </p:sp>
      <p:sp>
        <p:nvSpPr>
          <p:cNvPr id="3" name="Text Placeholder 2"/>
          <p:cNvSpPr>
            <a:spLocks noGrp="1"/>
          </p:cNvSpPr>
          <p:nvPr>
            <p:ph type="body" sz="quarter" idx="11"/>
          </p:nvPr>
        </p:nvSpPr>
        <p:spPr>
          <a:xfrm>
            <a:off x="718219" y="3043668"/>
            <a:ext cx="7553716" cy="1725841"/>
          </a:xfrm>
        </p:spPr>
        <p:txBody>
          <a:bodyPr/>
          <a:lstStyle/>
          <a:p>
            <a:pPr>
              <a:lnSpc>
                <a:spcPct val="90000"/>
              </a:lnSpc>
              <a:spcBef>
                <a:spcPct val="20000"/>
              </a:spcBef>
              <a:buClr>
                <a:schemeClr val="bg2"/>
              </a:buClr>
              <a:buSzPct val="100000"/>
              <a:buFont typeface="Arial" panose="020B0604020202020204" pitchFamily="34" charset="0"/>
              <a:buChar char="•"/>
            </a:pPr>
            <a:r>
              <a:rPr lang="nl-NL" dirty="0">
                <a:solidFill>
                  <a:srgbClr val="000000"/>
                </a:solidFill>
              </a:rPr>
              <a:t>Verplaatsen van bestanden en directories binnen dezelfde partitie: behoud van permissies</a:t>
            </a:r>
          </a:p>
          <a:p>
            <a:pPr>
              <a:lnSpc>
                <a:spcPct val="90000"/>
              </a:lnSpc>
              <a:spcBef>
                <a:spcPct val="20000"/>
              </a:spcBef>
              <a:buClr>
                <a:schemeClr val="bg2"/>
              </a:buClr>
              <a:buSzPct val="100000"/>
              <a:buFont typeface="Arial" panose="020B0604020202020204" pitchFamily="34" charset="0"/>
              <a:buChar char="•"/>
            </a:pPr>
            <a:r>
              <a:rPr lang="nl-NL" dirty="0">
                <a:solidFill>
                  <a:srgbClr val="000000"/>
                </a:solidFill>
              </a:rPr>
              <a:t>Verplaatsen van bestanden en directories naar andere partitie: permissies worden overgenomen van doeldirectory</a:t>
            </a:r>
          </a:p>
          <a:p>
            <a:pPr>
              <a:lnSpc>
                <a:spcPct val="90000"/>
              </a:lnSpc>
              <a:spcBef>
                <a:spcPct val="20000"/>
              </a:spcBef>
              <a:buClr>
                <a:schemeClr val="bg2"/>
              </a:buClr>
              <a:buSzPct val="100000"/>
              <a:buFont typeface="Arial" panose="020B0604020202020204" pitchFamily="34" charset="0"/>
              <a:buChar char="•"/>
            </a:pPr>
            <a:r>
              <a:rPr lang="nl-NL" dirty="0">
                <a:solidFill>
                  <a:srgbClr val="000000"/>
                </a:solidFill>
              </a:rPr>
              <a:t>Kopiëren van bestanden en directories: permissies worden overgenomen van doeldirectory</a:t>
            </a:r>
            <a:endParaRPr lang="nl-NL" sz="2800" dirty="0">
              <a:solidFill>
                <a:srgbClr val="000000"/>
              </a:solidFill>
            </a:endParaRPr>
          </a:p>
        </p:txBody>
      </p:sp>
      <p:sp>
        <p:nvSpPr>
          <p:cNvPr id="4" name="Flowchart: Magnetic Disk 3">
            <a:extLst>
              <a:ext uri="{FF2B5EF4-FFF2-40B4-BE49-F238E27FC236}">
                <a16:creationId xmlns:a16="http://schemas.microsoft.com/office/drawing/2014/main" id="{7648FAD8-3B60-B304-2FD2-1AFD402C2D84}"/>
              </a:ext>
            </a:extLst>
          </p:cNvPr>
          <p:cNvSpPr/>
          <p:nvPr/>
        </p:nvSpPr>
        <p:spPr>
          <a:xfrm>
            <a:off x="1059522" y="1159394"/>
            <a:ext cx="3095035" cy="1884273"/>
          </a:xfrm>
          <a:prstGeom prst="flowChartMagneticDisk">
            <a:avLst/>
          </a:prstGeom>
          <a:gradFill>
            <a:gsLst>
              <a:gs pos="30000">
                <a:schemeClr val="dk1">
                  <a:tint val="50000"/>
                  <a:satMod val="300000"/>
                </a:schemeClr>
              </a:gs>
              <a:gs pos="35000">
                <a:schemeClr val="dk1">
                  <a:tint val="37000"/>
                  <a:satMod val="300000"/>
                </a:schemeClr>
              </a:gs>
              <a:gs pos="100000">
                <a:schemeClr val="dk1">
                  <a:tint val="15000"/>
                  <a:satMod val="350000"/>
                </a:schemeClr>
              </a:gs>
            </a:gsLst>
          </a:gradFill>
        </p:spPr>
        <p:style>
          <a:lnRef idx="1">
            <a:schemeClr val="dk1"/>
          </a:lnRef>
          <a:fillRef idx="2">
            <a:schemeClr val="dk1"/>
          </a:fillRef>
          <a:effectRef idx="1">
            <a:schemeClr val="dk1"/>
          </a:effectRef>
          <a:fontRef idx="minor">
            <a:schemeClr val="dk1"/>
          </a:fontRef>
        </p:style>
        <p:txBody>
          <a:bodyPr rtlCol="0" anchor="b" anchorCtr="0"/>
          <a:lstStyle/>
          <a:p>
            <a:pPr algn="ctr"/>
            <a:r>
              <a:rPr lang="en-US" sz="1400" dirty="0"/>
              <a:t>NTFS</a:t>
            </a:r>
            <a:br>
              <a:rPr lang="en-US" sz="1400" dirty="0"/>
            </a:br>
            <a:r>
              <a:rPr lang="en-US" sz="1400" dirty="0"/>
              <a:t>C:\</a:t>
            </a:r>
          </a:p>
          <a:p>
            <a:pPr algn="ctr"/>
            <a:endParaRPr lang="en-US" sz="1400" dirty="0"/>
          </a:p>
          <a:p>
            <a:pPr algn="ctr"/>
            <a:endParaRPr lang="en-US" sz="1400" dirty="0"/>
          </a:p>
          <a:p>
            <a:pPr algn="ctr"/>
            <a:endParaRPr lang="en-US" dirty="0"/>
          </a:p>
          <a:p>
            <a:pPr algn="ctr"/>
            <a:endParaRPr lang="en-US" dirty="0"/>
          </a:p>
        </p:txBody>
      </p:sp>
      <p:pic>
        <p:nvPicPr>
          <p:cNvPr id="21" name="Picture 20">
            <a:extLst>
              <a:ext uri="{FF2B5EF4-FFF2-40B4-BE49-F238E27FC236}">
                <a16:creationId xmlns:a16="http://schemas.microsoft.com/office/drawing/2014/main" id="{9587F677-5C22-B078-C5A7-899026B47A5F}"/>
              </a:ext>
            </a:extLst>
          </p:cNvPr>
          <p:cNvPicPr>
            <a:picLocks noChangeAspect="1"/>
          </p:cNvPicPr>
          <p:nvPr/>
        </p:nvPicPr>
        <p:blipFill>
          <a:blip r:embed="rId3"/>
          <a:stretch>
            <a:fillRect/>
          </a:stretch>
        </p:blipFill>
        <p:spPr>
          <a:xfrm>
            <a:off x="2301027" y="1758902"/>
            <a:ext cx="609600" cy="609600"/>
          </a:xfrm>
          <a:prstGeom prst="rect">
            <a:avLst/>
          </a:prstGeom>
        </p:spPr>
      </p:pic>
      <p:sp>
        <p:nvSpPr>
          <p:cNvPr id="23" name="Flowchart: Magnetic Disk 22">
            <a:extLst>
              <a:ext uri="{FF2B5EF4-FFF2-40B4-BE49-F238E27FC236}">
                <a16:creationId xmlns:a16="http://schemas.microsoft.com/office/drawing/2014/main" id="{64714A53-0BBD-8E2C-4B88-D9CD3D0164A3}"/>
              </a:ext>
            </a:extLst>
          </p:cNvPr>
          <p:cNvSpPr/>
          <p:nvPr/>
        </p:nvSpPr>
        <p:spPr>
          <a:xfrm>
            <a:off x="4989445" y="1133506"/>
            <a:ext cx="3095035" cy="1910162"/>
          </a:xfrm>
          <a:prstGeom prst="flowChartMagneticDisk">
            <a:avLst/>
          </a:prstGeom>
          <a:gradFill>
            <a:gsLst>
              <a:gs pos="30000">
                <a:schemeClr val="dk1">
                  <a:tint val="50000"/>
                  <a:satMod val="300000"/>
                </a:schemeClr>
              </a:gs>
              <a:gs pos="35000">
                <a:schemeClr val="dk1">
                  <a:tint val="37000"/>
                  <a:satMod val="300000"/>
                </a:schemeClr>
              </a:gs>
              <a:gs pos="100000">
                <a:schemeClr val="dk1">
                  <a:tint val="15000"/>
                  <a:satMod val="350000"/>
                </a:schemeClr>
              </a:gs>
            </a:gsLst>
          </a:gradFill>
        </p:spPr>
        <p:style>
          <a:lnRef idx="1">
            <a:schemeClr val="dk1"/>
          </a:lnRef>
          <a:fillRef idx="2">
            <a:schemeClr val="dk1"/>
          </a:fillRef>
          <a:effectRef idx="1">
            <a:schemeClr val="dk1"/>
          </a:effectRef>
          <a:fontRef idx="minor">
            <a:schemeClr val="dk1"/>
          </a:fontRef>
        </p:style>
        <p:txBody>
          <a:bodyPr rtlCol="0" anchor="b" anchorCtr="0"/>
          <a:lstStyle/>
          <a:p>
            <a:pPr algn="ctr"/>
            <a:r>
              <a:rPr lang="en-US" sz="1400" dirty="0"/>
              <a:t>NTFS</a:t>
            </a:r>
            <a:br>
              <a:rPr lang="en-US" sz="1400" dirty="0"/>
            </a:br>
            <a:r>
              <a:rPr lang="en-US" sz="1400" dirty="0"/>
              <a:t>D:\</a:t>
            </a:r>
          </a:p>
          <a:p>
            <a:pPr algn="ctr"/>
            <a:endParaRPr lang="en-US" sz="1400" dirty="0"/>
          </a:p>
          <a:p>
            <a:pPr algn="ctr"/>
            <a:endParaRPr lang="en-US" sz="1400" dirty="0"/>
          </a:p>
          <a:p>
            <a:pPr algn="ctr"/>
            <a:endParaRPr lang="en-US" dirty="0"/>
          </a:p>
          <a:p>
            <a:pPr algn="ctr"/>
            <a:endParaRPr lang="en-US" dirty="0"/>
          </a:p>
        </p:txBody>
      </p:sp>
      <p:pic>
        <p:nvPicPr>
          <p:cNvPr id="25" name="Picture 24">
            <a:extLst>
              <a:ext uri="{FF2B5EF4-FFF2-40B4-BE49-F238E27FC236}">
                <a16:creationId xmlns:a16="http://schemas.microsoft.com/office/drawing/2014/main" id="{10ECDBF5-0487-BFDD-81DF-2E74E040FB9D}"/>
              </a:ext>
            </a:extLst>
          </p:cNvPr>
          <p:cNvPicPr>
            <a:picLocks noChangeAspect="1"/>
          </p:cNvPicPr>
          <p:nvPr/>
        </p:nvPicPr>
        <p:blipFill>
          <a:blip r:embed="rId4"/>
          <a:stretch>
            <a:fillRect/>
          </a:stretch>
        </p:blipFill>
        <p:spPr>
          <a:xfrm>
            <a:off x="1167713" y="2368502"/>
            <a:ext cx="609600" cy="609600"/>
          </a:xfrm>
          <a:prstGeom prst="rect">
            <a:avLst/>
          </a:prstGeom>
        </p:spPr>
      </p:pic>
      <p:pic>
        <p:nvPicPr>
          <p:cNvPr id="26" name="Picture 25">
            <a:extLst>
              <a:ext uri="{FF2B5EF4-FFF2-40B4-BE49-F238E27FC236}">
                <a16:creationId xmlns:a16="http://schemas.microsoft.com/office/drawing/2014/main" id="{89407337-FA49-0D16-DF97-2348E608388D}"/>
              </a:ext>
            </a:extLst>
          </p:cNvPr>
          <p:cNvPicPr>
            <a:picLocks noChangeAspect="1"/>
          </p:cNvPicPr>
          <p:nvPr/>
        </p:nvPicPr>
        <p:blipFill>
          <a:blip r:embed="rId3"/>
          <a:stretch>
            <a:fillRect/>
          </a:stretch>
        </p:blipFill>
        <p:spPr>
          <a:xfrm>
            <a:off x="3478733" y="2367740"/>
            <a:ext cx="609600" cy="609600"/>
          </a:xfrm>
          <a:prstGeom prst="rect">
            <a:avLst/>
          </a:prstGeom>
        </p:spPr>
      </p:pic>
      <p:sp>
        <p:nvSpPr>
          <p:cNvPr id="28" name="Arrow: Right 27">
            <a:extLst>
              <a:ext uri="{FF2B5EF4-FFF2-40B4-BE49-F238E27FC236}">
                <a16:creationId xmlns:a16="http://schemas.microsoft.com/office/drawing/2014/main" id="{C0623D34-6485-3E6C-EDE6-B697366AF24D}"/>
              </a:ext>
            </a:extLst>
          </p:cNvPr>
          <p:cNvSpPr/>
          <p:nvPr/>
        </p:nvSpPr>
        <p:spPr>
          <a:xfrm rot="320455">
            <a:off x="2955885" y="1924564"/>
            <a:ext cx="3232231" cy="453428"/>
          </a:xfrm>
          <a:prstGeom prst="rightArrow">
            <a:avLst/>
          </a:prstGeom>
          <a:solidFill>
            <a:srgbClr val="FF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err="1"/>
              <a:t>kopieer</a:t>
            </a:r>
            <a:r>
              <a:rPr lang="en-US" sz="1800" dirty="0"/>
              <a:t> of </a:t>
            </a:r>
            <a:r>
              <a:rPr lang="en-US" sz="1800" dirty="0" err="1"/>
              <a:t>verplaats</a:t>
            </a:r>
            <a:endParaRPr lang="en-US" sz="1800" dirty="0"/>
          </a:p>
        </p:txBody>
      </p:sp>
      <p:sp>
        <p:nvSpPr>
          <p:cNvPr id="29" name="Arrow: Right 28">
            <a:extLst>
              <a:ext uri="{FF2B5EF4-FFF2-40B4-BE49-F238E27FC236}">
                <a16:creationId xmlns:a16="http://schemas.microsoft.com/office/drawing/2014/main" id="{48923BF2-78A8-B0AD-CAE5-CF6D92382536}"/>
              </a:ext>
            </a:extLst>
          </p:cNvPr>
          <p:cNvSpPr/>
          <p:nvPr/>
        </p:nvSpPr>
        <p:spPr>
          <a:xfrm rot="19207234" flipH="1">
            <a:off x="1640139" y="2269913"/>
            <a:ext cx="785724" cy="286517"/>
          </a:xfrm>
          <a:prstGeom prst="rightArrow">
            <a:avLst/>
          </a:prstGeom>
          <a:solidFill>
            <a:srgbClr val="FF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err="1"/>
              <a:t>kopieer</a:t>
            </a:r>
            <a:endParaRPr lang="en-US" sz="1050" dirty="0"/>
          </a:p>
        </p:txBody>
      </p:sp>
      <p:sp>
        <p:nvSpPr>
          <p:cNvPr id="30" name="Arrow: Right 29">
            <a:extLst>
              <a:ext uri="{FF2B5EF4-FFF2-40B4-BE49-F238E27FC236}">
                <a16:creationId xmlns:a16="http://schemas.microsoft.com/office/drawing/2014/main" id="{70F0EE95-2ACE-EB06-F4F9-F1EE0F1D4DC6}"/>
              </a:ext>
            </a:extLst>
          </p:cNvPr>
          <p:cNvSpPr/>
          <p:nvPr/>
        </p:nvSpPr>
        <p:spPr>
          <a:xfrm rot="2033593">
            <a:off x="2788855" y="2313647"/>
            <a:ext cx="802341" cy="286517"/>
          </a:xfrm>
          <a:prstGeom prst="rightArrow">
            <a:avLst/>
          </a:prstGeom>
          <a:solidFill>
            <a:srgbClr val="FF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err="1"/>
              <a:t>verplaats</a:t>
            </a:r>
            <a:endParaRPr lang="en-US" sz="1050" dirty="0"/>
          </a:p>
        </p:txBody>
      </p:sp>
      <p:pic>
        <p:nvPicPr>
          <p:cNvPr id="32" name="Picture 31">
            <a:extLst>
              <a:ext uri="{FF2B5EF4-FFF2-40B4-BE49-F238E27FC236}">
                <a16:creationId xmlns:a16="http://schemas.microsoft.com/office/drawing/2014/main" id="{D907B6BC-0BDC-E57A-8CB9-A495787DA39A}"/>
              </a:ext>
            </a:extLst>
          </p:cNvPr>
          <p:cNvPicPr>
            <a:picLocks noChangeAspect="1"/>
          </p:cNvPicPr>
          <p:nvPr/>
        </p:nvPicPr>
        <p:blipFill>
          <a:blip r:embed="rId4"/>
          <a:stretch>
            <a:fillRect/>
          </a:stretch>
        </p:blipFill>
        <p:spPr>
          <a:xfrm>
            <a:off x="6228941" y="2063702"/>
            <a:ext cx="609600" cy="609600"/>
          </a:xfrm>
          <a:prstGeom prst="rect">
            <a:avLst/>
          </a:prstGeom>
        </p:spPr>
      </p:pic>
    </p:spTree>
    <p:extLst>
      <p:ext uri="{BB962C8B-B14F-4D97-AF65-F5344CB8AC3E}">
        <p14:creationId xmlns:p14="http://schemas.microsoft.com/office/powerpoint/2010/main" val="344040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1F5F2877-D477-43BD-96E6-529D86DF94F7}"/>
              </a:ext>
            </a:extLst>
          </p:cNvPr>
          <p:cNvSpPr>
            <a:spLocks noGrp="1"/>
          </p:cNvSpPr>
          <p:nvPr>
            <p:ph type="body" sz="quarter" idx="11"/>
          </p:nvPr>
        </p:nvSpPr>
        <p:spPr>
          <a:xfrm>
            <a:off x="718218" y="939567"/>
            <a:ext cx="7553716" cy="3387366"/>
          </a:xfrm>
        </p:spPr>
        <p:txBody>
          <a:bodyPr/>
          <a:lstStyle/>
          <a:p>
            <a:r>
              <a:rPr lang="en-US" dirty="0">
                <a:solidFill>
                  <a:srgbClr val="FF0000"/>
                </a:solidFill>
              </a:rPr>
              <a:t>CMD</a:t>
            </a:r>
            <a:r>
              <a:rPr lang="en-US" dirty="0"/>
              <a:t>: </a:t>
            </a:r>
            <a:r>
              <a:rPr lang="en-US" dirty="0" err="1"/>
              <a:t>Mkdir</a:t>
            </a:r>
            <a:endParaRPr lang="en-US" dirty="0"/>
          </a:p>
          <a:p>
            <a:r>
              <a:rPr lang="en-US" dirty="0" err="1">
                <a:solidFill>
                  <a:srgbClr val="FF0000"/>
                </a:solidFill>
              </a:rPr>
              <a:t>Powershell</a:t>
            </a:r>
            <a:r>
              <a:rPr lang="en-US" dirty="0">
                <a:solidFill>
                  <a:srgbClr val="FF0000"/>
                </a:solidFill>
              </a:rPr>
              <a:t>:</a:t>
            </a:r>
            <a:r>
              <a:rPr lang="en-US" dirty="0"/>
              <a:t> new-item -Name &lt;</a:t>
            </a:r>
            <a:r>
              <a:rPr lang="en-US" dirty="0" err="1"/>
              <a:t>foldername</a:t>
            </a:r>
            <a:r>
              <a:rPr lang="en-US" dirty="0"/>
              <a:t>&gt; -ItemType directory</a:t>
            </a:r>
          </a:p>
          <a:p>
            <a:r>
              <a:rPr lang="en-US" dirty="0"/>
              <a:t>Share ….. (New-</a:t>
            </a:r>
            <a:r>
              <a:rPr lang="en-US" dirty="0" err="1"/>
              <a:t>SMBshare</a:t>
            </a:r>
            <a:r>
              <a:rPr lang="en-US" dirty="0"/>
              <a:t> ……) + (NTFS: set-</a:t>
            </a:r>
            <a:r>
              <a:rPr lang="en-US" dirty="0" err="1"/>
              <a:t>acl</a:t>
            </a:r>
            <a:r>
              <a:rPr lang="en-US" dirty="0"/>
              <a:t>…….)</a:t>
            </a:r>
          </a:p>
          <a:p>
            <a:endParaRPr lang="en-US" dirty="0"/>
          </a:p>
          <a:p>
            <a:endParaRPr lang="en-US" dirty="0"/>
          </a:p>
          <a:p>
            <a:endParaRPr lang="en-US" dirty="0"/>
          </a:p>
          <a:p>
            <a:endParaRPr lang="en-US" dirty="0"/>
          </a:p>
          <a:p>
            <a:r>
              <a:rPr lang="en-US" dirty="0" err="1"/>
              <a:t>Makkelijker</a:t>
            </a:r>
            <a:r>
              <a:rPr lang="en-US" dirty="0"/>
              <a:t> (</a:t>
            </a:r>
            <a:r>
              <a:rPr lang="en-US" dirty="0" err="1"/>
              <a:t>voor</a:t>
            </a:r>
            <a:r>
              <a:rPr lang="en-US" dirty="0"/>
              <a:t> nu)</a:t>
            </a:r>
          </a:p>
          <a:p>
            <a:endParaRPr lang="nl-NL" dirty="0"/>
          </a:p>
          <a:p>
            <a:endParaRPr lang="nl-NL" dirty="0"/>
          </a:p>
          <a:p>
            <a:endParaRPr lang="nl-NL" dirty="0"/>
          </a:p>
          <a:p>
            <a:endParaRPr lang="nl-NL" dirty="0"/>
          </a:p>
          <a:p>
            <a:endParaRPr lang="nl-NL" dirty="0"/>
          </a:p>
          <a:p>
            <a:endParaRPr lang="nl-NL" dirty="0"/>
          </a:p>
          <a:p>
            <a:endParaRPr lang="nl-NL" dirty="0"/>
          </a:p>
        </p:txBody>
      </p:sp>
      <p:sp>
        <p:nvSpPr>
          <p:cNvPr id="3" name="Titel 2">
            <a:extLst>
              <a:ext uri="{FF2B5EF4-FFF2-40B4-BE49-F238E27FC236}">
                <a16:creationId xmlns:a16="http://schemas.microsoft.com/office/drawing/2014/main" id="{3253BCF2-CE96-4EEA-AFEE-451438A15CA0}"/>
              </a:ext>
            </a:extLst>
          </p:cNvPr>
          <p:cNvSpPr>
            <a:spLocks noGrp="1"/>
          </p:cNvSpPr>
          <p:nvPr>
            <p:ph type="title"/>
          </p:nvPr>
        </p:nvSpPr>
        <p:spPr>
          <a:xfrm>
            <a:off x="734394" y="354902"/>
            <a:ext cx="7521363" cy="461665"/>
          </a:xfrm>
        </p:spPr>
        <p:txBody>
          <a:bodyPr/>
          <a:lstStyle/>
          <a:p>
            <a:r>
              <a:rPr lang="en-US" dirty="0" err="1"/>
              <a:t>FileShare</a:t>
            </a:r>
            <a:r>
              <a:rPr lang="en-US" dirty="0"/>
              <a:t> op </a:t>
            </a:r>
            <a:r>
              <a:rPr lang="nl-NL" dirty="0"/>
              <a:t>Windows Server </a:t>
            </a:r>
            <a:r>
              <a:rPr lang="en-US" dirty="0"/>
              <a:t>Core</a:t>
            </a:r>
            <a:endParaRPr lang="nl-NL" dirty="0"/>
          </a:p>
        </p:txBody>
      </p:sp>
      <p:pic>
        <p:nvPicPr>
          <p:cNvPr id="4" name="Afbeelding 3">
            <a:extLst>
              <a:ext uri="{FF2B5EF4-FFF2-40B4-BE49-F238E27FC236}">
                <a16:creationId xmlns:a16="http://schemas.microsoft.com/office/drawing/2014/main" id="{1B38360E-12FF-46EE-B975-30D4F184684D}"/>
              </a:ext>
            </a:extLst>
          </p:cNvPr>
          <p:cNvPicPr>
            <a:picLocks noChangeAspect="1"/>
          </p:cNvPicPr>
          <p:nvPr/>
        </p:nvPicPr>
        <p:blipFill>
          <a:blip r:embed="rId2"/>
          <a:stretch>
            <a:fillRect/>
          </a:stretch>
        </p:blipFill>
        <p:spPr>
          <a:xfrm>
            <a:off x="734394" y="3379195"/>
            <a:ext cx="3514725" cy="1895475"/>
          </a:xfrm>
          <a:prstGeom prst="rect">
            <a:avLst/>
          </a:prstGeom>
        </p:spPr>
      </p:pic>
      <p:pic>
        <p:nvPicPr>
          <p:cNvPr id="5" name="Afbeelding 4">
            <a:extLst>
              <a:ext uri="{FF2B5EF4-FFF2-40B4-BE49-F238E27FC236}">
                <a16:creationId xmlns:a16="http://schemas.microsoft.com/office/drawing/2014/main" id="{3BFDBBCD-05B2-4BF2-815B-F8E3FF685B15}"/>
              </a:ext>
            </a:extLst>
          </p:cNvPr>
          <p:cNvPicPr>
            <a:picLocks noChangeAspect="1"/>
          </p:cNvPicPr>
          <p:nvPr/>
        </p:nvPicPr>
        <p:blipFill>
          <a:blip r:embed="rId3"/>
          <a:stretch>
            <a:fillRect/>
          </a:stretch>
        </p:blipFill>
        <p:spPr>
          <a:xfrm>
            <a:off x="0" y="2002308"/>
            <a:ext cx="9144000" cy="1014137"/>
          </a:xfrm>
          <a:prstGeom prst="rect">
            <a:avLst/>
          </a:prstGeom>
        </p:spPr>
      </p:pic>
      <p:pic>
        <p:nvPicPr>
          <p:cNvPr id="7" name="Afbeelding 6">
            <a:extLst>
              <a:ext uri="{FF2B5EF4-FFF2-40B4-BE49-F238E27FC236}">
                <a16:creationId xmlns:a16="http://schemas.microsoft.com/office/drawing/2014/main" id="{6ED7F0B2-5CF3-4605-9C90-A0294966DD67}"/>
              </a:ext>
            </a:extLst>
          </p:cNvPr>
          <p:cNvPicPr>
            <a:picLocks noChangeAspect="1"/>
          </p:cNvPicPr>
          <p:nvPr/>
        </p:nvPicPr>
        <p:blipFill>
          <a:blip r:embed="rId4"/>
          <a:stretch>
            <a:fillRect/>
          </a:stretch>
        </p:blipFill>
        <p:spPr>
          <a:xfrm>
            <a:off x="4362275" y="3141192"/>
            <a:ext cx="4781725" cy="1744423"/>
          </a:xfrm>
          <a:prstGeom prst="rect">
            <a:avLst/>
          </a:prstGeom>
        </p:spPr>
      </p:pic>
    </p:spTree>
    <p:extLst>
      <p:ext uri="{BB962C8B-B14F-4D97-AF65-F5344CB8AC3E}">
        <p14:creationId xmlns:p14="http://schemas.microsoft.com/office/powerpoint/2010/main" val="3737426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7BB4BA03-4ECC-4E75-8EC3-5706BDDC2329}"/>
              </a:ext>
            </a:extLst>
          </p:cNvPr>
          <p:cNvSpPr>
            <a:spLocks noGrp="1"/>
          </p:cNvSpPr>
          <p:nvPr>
            <p:ph type="body" sz="quarter" idx="11"/>
          </p:nvPr>
        </p:nvSpPr>
        <p:spPr>
          <a:xfrm>
            <a:off x="265213" y="1269509"/>
            <a:ext cx="4592013" cy="3292316"/>
          </a:xfrm>
        </p:spPr>
        <p:txBody>
          <a:bodyPr/>
          <a:lstStyle/>
          <a:p>
            <a:r>
              <a:rPr lang="en-US" dirty="0" err="1"/>
              <a:t>Gebruikers</a:t>
            </a:r>
            <a:r>
              <a:rPr lang="en-US" dirty="0"/>
              <a:t> en </a:t>
            </a:r>
            <a:r>
              <a:rPr lang="en-US" dirty="0" err="1"/>
              <a:t>groepen</a:t>
            </a:r>
            <a:r>
              <a:rPr lang="en-US" dirty="0"/>
              <a:t>: Via AGDLP, AGLP of AGUDLP Principe.</a:t>
            </a:r>
          </a:p>
          <a:p>
            <a:pPr lvl="1"/>
            <a:r>
              <a:rPr lang="en-US" dirty="0"/>
              <a:t>(</a:t>
            </a:r>
            <a:r>
              <a:rPr lang="en-US" b="1" dirty="0">
                <a:solidFill>
                  <a:srgbClr val="FF0000"/>
                </a:solidFill>
              </a:rPr>
              <a:t>A</a:t>
            </a:r>
            <a:r>
              <a:rPr lang="en-US" dirty="0"/>
              <a:t>ccount, </a:t>
            </a:r>
            <a:r>
              <a:rPr lang="en-US" b="1" dirty="0">
                <a:solidFill>
                  <a:srgbClr val="FF0000"/>
                </a:solidFill>
              </a:rPr>
              <a:t>G</a:t>
            </a:r>
            <a:r>
              <a:rPr lang="en-US" dirty="0"/>
              <a:t>lobal, </a:t>
            </a:r>
            <a:r>
              <a:rPr lang="en-US" b="1" dirty="0">
                <a:solidFill>
                  <a:srgbClr val="FF0000"/>
                </a:solidFill>
              </a:rPr>
              <a:t>D</a:t>
            </a:r>
            <a:r>
              <a:rPr lang="en-US" dirty="0"/>
              <a:t>omain </a:t>
            </a:r>
            <a:r>
              <a:rPr lang="en-US" b="1" dirty="0">
                <a:solidFill>
                  <a:srgbClr val="FF0000"/>
                </a:solidFill>
              </a:rPr>
              <a:t>L</a:t>
            </a:r>
            <a:r>
              <a:rPr lang="en-US" dirty="0"/>
              <a:t>ocal, </a:t>
            </a:r>
            <a:r>
              <a:rPr lang="en-US" b="1" dirty="0">
                <a:solidFill>
                  <a:srgbClr val="FF0000"/>
                </a:solidFill>
              </a:rPr>
              <a:t>U</a:t>
            </a:r>
            <a:r>
              <a:rPr lang="en-US" dirty="0"/>
              <a:t>niversal group, </a:t>
            </a:r>
            <a:r>
              <a:rPr lang="en-US" b="1" dirty="0">
                <a:solidFill>
                  <a:srgbClr val="FF0000"/>
                </a:solidFill>
              </a:rPr>
              <a:t>P</a:t>
            </a:r>
            <a:r>
              <a:rPr lang="en-US" dirty="0"/>
              <a:t>ermissions)</a:t>
            </a:r>
          </a:p>
          <a:p>
            <a:r>
              <a:rPr lang="en-US" dirty="0"/>
              <a:t>Domain Local Group: </a:t>
            </a:r>
            <a:r>
              <a:rPr lang="en-US" dirty="0" err="1"/>
              <a:t>Permissies</a:t>
            </a:r>
            <a:r>
              <a:rPr lang="en-US" dirty="0"/>
              <a:t> in </a:t>
            </a:r>
            <a:r>
              <a:rPr lang="en-US" dirty="0" err="1"/>
              <a:t>lokaal</a:t>
            </a:r>
            <a:r>
              <a:rPr lang="en-US" dirty="0"/>
              <a:t> </a:t>
            </a:r>
            <a:r>
              <a:rPr lang="en-US" dirty="0" err="1"/>
              <a:t>domein</a:t>
            </a:r>
            <a:r>
              <a:rPr lang="en-US" dirty="0"/>
              <a:t>.</a:t>
            </a:r>
          </a:p>
          <a:p>
            <a:r>
              <a:rPr lang="en-US" dirty="0"/>
              <a:t>Global Group: </a:t>
            </a:r>
            <a:r>
              <a:rPr lang="en-US" dirty="0" err="1"/>
              <a:t>Permissies</a:t>
            </a:r>
            <a:r>
              <a:rPr lang="en-US" dirty="0"/>
              <a:t> </a:t>
            </a:r>
            <a:r>
              <a:rPr lang="en-US" dirty="0" err="1"/>
              <a:t>vanuit</a:t>
            </a:r>
            <a:r>
              <a:rPr lang="en-US" dirty="0"/>
              <a:t> elk (sub) </a:t>
            </a:r>
            <a:r>
              <a:rPr lang="en-US" dirty="0" err="1"/>
              <a:t>domein</a:t>
            </a:r>
            <a:r>
              <a:rPr lang="en-US" dirty="0"/>
              <a:t>.</a:t>
            </a:r>
          </a:p>
          <a:p>
            <a:r>
              <a:rPr lang="en-US" dirty="0"/>
              <a:t>Universal Group: </a:t>
            </a:r>
            <a:r>
              <a:rPr lang="en-US" dirty="0" err="1"/>
              <a:t>Permissies</a:t>
            </a:r>
            <a:r>
              <a:rPr lang="en-US" dirty="0"/>
              <a:t> </a:t>
            </a:r>
            <a:r>
              <a:rPr lang="en-US" dirty="0" err="1"/>
              <a:t>vanuit</a:t>
            </a:r>
            <a:r>
              <a:rPr lang="en-US" dirty="0"/>
              <a:t> elk (sub)</a:t>
            </a:r>
            <a:r>
              <a:rPr lang="en-US" dirty="0" err="1"/>
              <a:t>domein</a:t>
            </a:r>
            <a:r>
              <a:rPr lang="en-US" dirty="0"/>
              <a:t> + GC.</a:t>
            </a:r>
            <a:endParaRPr lang="nl-NL" dirty="0"/>
          </a:p>
        </p:txBody>
      </p:sp>
      <p:sp>
        <p:nvSpPr>
          <p:cNvPr id="3" name="Titel 2">
            <a:extLst>
              <a:ext uri="{FF2B5EF4-FFF2-40B4-BE49-F238E27FC236}">
                <a16:creationId xmlns:a16="http://schemas.microsoft.com/office/drawing/2014/main" id="{46952E66-7299-4602-93A2-6D90A939ED4B}"/>
              </a:ext>
            </a:extLst>
          </p:cNvPr>
          <p:cNvSpPr>
            <a:spLocks noGrp="1"/>
          </p:cNvSpPr>
          <p:nvPr>
            <p:ph type="title"/>
          </p:nvPr>
        </p:nvSpPr>
        <p:spPr/>
        <p:txBody>
          <a:bodyPr/>
          <a:lstStyle/>
          <a:p>
            <a:r>
              <a:rPr lang="en-US" dirty="0"/>
              <a:t>Windows </a:t>
            </a:r>
            <a:r>
              <a:rPr lang="en-US" dirty="0" err="1"/>
              <a:t>permissies</a:t>
            </a:r>
            <a:r>
              <a:rPr lang="en-US" dirty="0"/>
              <a:t> </a:t>
            </a:r>
            <a:r>
              <a:rPr lang="en-US" dirty="0" err="1"/>
              <a:t>toekennen</a:t>
            </a:r>
            <a:endParaRPr lang="nl-NL" dirty="0"/>
          </a:p>
        </p:txBody>
      </p:sp>
      <p:pic>
        <p:nvPicPr>
          <p:cNvPr id="4" name="Afbeelding 3">
            <a:extLst>
              <a:ext uri="{FF2B5EF4-FFF2-40B4-BE49-F238E27FC236}">
                <a16:creationId xmlns:a16="http://schemas.microsoft.com/office/drawing/2014/main" id="{1CD9A911-87E8-49F8-9A67-DCD857732D1E}"/>
              </a:ext>
            </a:extLst>
          </p:cNvPr>
          <p:cNvPicPr>
            <a:picLocks noChangeAspect="1"/>
          </p:cNvPicPr>
          <p:nvPr/>
        </p:nvPicPr>
        <p:blipFill>
          <a:blip r:embed="rId2"/>
          <a:stretch>
            <a:fillRect/>
          </a:stretch>
        </p:blipFill>
        <p:spPr>
          <a:xfrm>
            <a:off x="4681057" y="1194393"/>
            <a:ext cx="4357917" cy="2958158"/>
          </a:xfrm>
          <a:prstGeom prst="rect">
            <a:avLst/>
          </a:prstGeom>
        </p:spPr>
      </p:pic>
    </p:spTree>
    <p:extLst>
      <p:ext uri="{BB962C8B-B14F-4D97-AF65-F5344CB8AC3E}">
        <p14:creationId xmlns:p14="http://schemas.microsoft.com/office/powerpoint/2010/main" val="100836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bwMode="auto">
          <a:xfrm>
            <a:off x="1438642" y="1494082"/>
            <a:ext cx="1916261" cy="1754789"/>
          </a:xfrm>
          <a:prstGeom prst="roundRect">
            <a:avLst/>
          </a:prstGeom>
          <a:solidFill>
            <a:schemeClr val="accent1">
              <a:lumMod val="20000"/>
              <a:lumOff val="80000"/>
            </a:schemeClr>
          </a:solidFill>
          <a:ln>
            <a:headEnd type="none" w="med" len="med"/>
            <a:tailEnd type="none" w="med" len="med"/>
          </a:ln>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style>
          <a:lnRef idx="1">
            <a:schemeClr val="accent5"/>
          </a:lnRef>
          <a:fillRef idx="2">
            <a:schemeClr val="accent5"/>
          </a:fillRef>
          <a:effectRef idx="1">
            <a:schemeClr val="accent5"/>
          </a:effectRef>
          <a:fontRef idx="minor">
            <a:schemeClr val="dk1"/>
          </a:fontRef>
        </p:style>
        <p:txBody>
          <a:bodyPr vert="horz" wrap="none" lIns="68580" tIns="34290" rIns="68580" bIns="34290" numCol="1" rtlCol="0" anchor="ctr" anchorCtr="0" compatLnSpc="1">
            <a:prstTxWarp prst="textNoShape">
              <a:avLst/>
            </a:prstTxWarp>
          </a:bodyPr>
          <a:lstStyle/>
          <a:p>
            <a:pPr algn="ctr" defTabSz="685800" fontAlgn="base">
              <a:spcBef>
                <a:spcPct val="0"/>
              </a:spcBef>
              <a:spcAft>
                <a:spcPct val="0"/>
              </a:spcAft>
            </a:pPr>
            <a:r>
              <a:rPr lang="en-US" sz="1400" b="1" dirty="0">
                <a:solidFill>
                  <a:schemeClr val="tx1"/>
                </a:solidFill>
                <a:latin typeface="Arial" charset="0"/>
                <a:ea typeface="ＭＳ Ｐゴシック" charset="0"/>
              </a:rPr>
              <a:t>Type</a:t>
            </a:r>
          </a:p>
          <a:p>
            <a:pPr defTabSz="685800" fontAlgn="base">
              <a:spcBef>
                <a:spcPct val="0"/>
              </a:spcBef>
              <a:spcAft>
                <a:spcPct val="0"/>
              </a:spcAft>
              <a:tabLst>
                <a:tab pos="216000" algn="l"/>
              </a:tabLst>
            </a:pPr>
            <a:r>
              <a:rPr lang="en-US" sz="1400" dirty="0">
                <a:latin typeface="Consolas" panose="020B0609020204030204" pitchFamily="49" charset="0"/>
                <a:ea typeface="ＭＳ Ｐゴシック" charset="0"/>
                <a:cs typeface="Consolas" panose="020B0609020204030204" pitchFamily="49" charset="0"/>
              </a:rPr>
              <a:t>-</a:t>
            </a:r>
            <a:r>
              <a:rPr lang="en-US" sz="1400" dirty="0">
                <a:latin typeface="Arial" charset="0"/>
                <a:ea typeface="ＭＳ Ｐゴシック" charset="0"/>
              </a:rPr>
              <a:t>	files</a:t>
            </a:r>
          </a:p>
          <a:p>
            <a:pPr defTabSz="685800" fontAlgn="base">
              <a:spcBef>
                <a:spcPct val="0"/>
              </a:spcBef>
              <a:spcAft>
                <a:spcPct val="0"/>
              </a:spcAft>
              <a:tabLst>
                <a:tab pos="216000" algn="l"/>
              </a:tabLst>
            </a:pPr>
            <a:r>
              <a:rPr lang="en-US" sz="1400" dirty="0">
                <a:latin typeface="Consolas" panose="020B0609020204030204" pitchFamily="49" charset="0"/>
                <a:ea typeface="ＭＳ Ｐゴシック" charset="0"/>
                <a:cs typeface="Consolas" panose="020B0609020204030204" pitchFamily="49" charset="0"/>
              </a:rPr>
              <a:t>d</a:t>
            </a:r>
            <a:r>
              <a:rPr lang="en-US" sz="1400" dirty="0">
                <a:latin typeface="Arial" charset="0"/>
                <a:ea typeface="ＭＳ Ｐゴシック" charset="0"/>
              </a:rPr>
              <a:t>	directories</a:t>
            </a:r>
          </a:p>
          <a:p>
            <a:pPr defTabSz="685800" fontAlgn="base">
              <a:spcBef>
                <a:spcPct val="0"/>
              </a:spcBef>
              <a:spcAft>
                <a:spcPct val="0"/>
              </a:spcAft>
              <a:tabLst>
                <a:tab pos="216000" algn="l"/>
              </a:tabLst>
            </a:pPr>
            <a:r>
              <a:rPr lang="en-US" sz="1400" dirty="0">
                <a:solidFill>
                  <a:schemeClr val="tx1"/>
                </a:solidFill>
                <a:latin typeface="Consolas" panose="020B0609020204030204" pitchFamily="49" charset="0"/>
                <a:ea typeface="ＭＳ Ｐゴシック" charset="0"/>
                <a:cs typeface="Consolas" panose="020B0609020204030204" pitchFamily="49" charset="0"/>
              </a:rPr>
              <a:t>l</a:t>
            </a:r>
            <a:r>
              <a:rPr lang="en-US" sz="1400" dirty="0">
                <a:solidFill>
                  <a:schemeClr val="tx1"/>
                </a:solidFill>
                <a:latin typeface="Arial" charset="0"/>
                <a:ea typeface="ＭＳ Ｐゴシック" charset="0"/>
              </a:rPr>
              <a:t>	links</a:t>
            </a:r>
          </a:p>
          <a:p>
            <a:pPr defTabSz="685800" fontAlgn="base">
              <a:spcBef>
                <a:spcPct val="0"/>
              </a:spcBef>
              <a:spcAft>
                <a:spcPct val="0"/>
              </a:spcAft>
              <a:tabLst>
                <a:tab pos="216000" algn="l"/>
              </a:tabLst>
            </a:pPr>
            <a:r>
              <a:rPr lang="en-US" sz="1400" dirty="0">
                <a:latin typeface="Consolas" panose="020B0609020204030204" pitchFamily="49" charset="0"/>
                <a:ea typeface="ＭＳ Ｐゴシック" charset="0"/>
                <a:cs typeface="Consolas" panose="020B0609020204030204" pitchFamily="49" charset="0"/>
              </a:rPr>
              <a:t>p</a:t>
            </a:r>
            <a:r>
              <a:rPr lang="en-US" sz="1400" dirty="0">
                <a:latin typeface="Arial" charset="0"/>
                <a:ea typeface="ＭＳ Ｐゴシック" charset="0"/>
              </a:rPr>
              <a:t>	process files</a:t>
            </a:r>
          </a:p>
          <a:p>
            <a:pPr defTabSz="685800" fontAlgn="base">
              <a:spcBef>
                <a:spcPct val="0"/>
              </a:spcBef>
              <a:spcAft>
                <a:spcPct val="0"/>
              </a:spcAft>
              <a:tabLst>
                <a:tab pos="216000" algn="l"/>
              </a:tabLst>
            </a:pPr>
            <a:r>
              <a:rPr lang="en-US" sz="1400" dirty="0">
                <a:solidFill>
                  <a:schemeClr val="tx1"/>
                </a:solidFill>
                <a:latin typeface="Consolas" panose="020B0609020204030204" pitchFamily="49" charset="0"/>
                <a:ea typeface="ＭＳ Ｐゴシック" charset="0"/>
                <a:cs typeface="Consolas" panose="020B0609020204030204" pitchFamily="49" charset="0"/>
              </a:rPr>
              <a:t>s</a:t>
            </a:r>
            <a:r>
              <a:rPr lang="en-US" sz="1400" dirty="0">
                <a:latin typeface="Arial" charset="0"/>
                <a:ea typeface="ＭＳ Ｐゴシック" charset="0"/>
              </a:rPr>
              <a:t>	socket files</a:t>
            </a:r>
          </a:p>
          <a:p>
            <a:pPr defTabSz="685800" fontAlgn="base">
              <a:spcBef>
                <a:spcPct val="0"/>
              </a:spcBef>
              <a:spcAft>
                <a:spcPct val="0"/>
              </a:spcAft>
              <a:tabLst>
                <a:tab pos="216000" algn="l"/>
              </a:tabLst>
            </a:pPr>
            <a:r>
              <a:rPr lang="en-US" sz="1400" dirty="0">
                <a:solidFill>
                  <a:schemeClr val="tx1"/>
                </a:solidFill>
                <a:latin typeface="Consolas" panose="020B0609020204030204" pitchFamily="49" charset="0"/>
                <a:ea typeface="ＭＳ Ｐゴシック" charset="0"/>
                <a:cs typeface="Consolas" panose="020B0609020204030204" pitchFamily="49" charset="0"/>
              </a:rPr>
              <a:t>b</a:t>
            </a:r>
            <a:r>
              <a:rPr lang="en-US" sz="1400" dirty="0">
                <a:solidFill>
                  <a:schemeClr val="tx1"/>
                </a:solidFill>
                <a:latin typeface="Arial" charset="0"/>
                <a:ea typeface="ＭＳ Ｐゴシック" charset="0"/>
              </a:rPr>
              <a:t>	block devices</a:t>
            </a:r>
          </a:p>
          <a:p>
            <a:pPr defTabSz="685800" fontAlgn="base">
              <a:spcBef>
                <a:spcPct val="0"/>
              </a:spcBef>
              <a:spcAft>
                <a:spcPct val="0"/>
              </a:spcAft>
              <a:tabLst>
                <a:tab pos="216000" algn="l"/>
              </a:tabLst>
            </a:pPr>
            <a:r>
              <a:rPr lang="en-US" sz="1400" dirty="0">
                <a:latin typeface="Consolas" panose="020B0609020204030204" pitchFamily="49" charset="0"/>
                <a:ea typeface="ＭＳ Ｐゴシック" charset="0"/>
                <a:cs typeface="Consolas" panose="020B0609020204030204" pitchFamily="49" charset="0"/>
              </a:rPr>
              <a:t>c</a:t>
            </a:r>
            <a:r>
              <a:rPr lang="en-US" sz="1400" dirty="0">
                <a:latin typeface="Arial" charset="0"/>
                <a:ea typeface="ＭＳ Ｐゴシック" charset="0"/>
              </a:rPr>
              <a:t>	character devices</a:t>
            </a:r>
            <a:endParaRPr lang="en-US" sz="1400" dirty="0">
              <a:solidFill>
                <a:schemeClr val="tx1"/>
              </a:solidFill>
              <a:latin typeface="Arial" charset="0"/>
              <a:ea typeface="ＭＳ Ｐゴシック" charset="0"/>
            </a:endParaRPr>
          </a:p>
        </p:txBody>
      </p:sp>
      <p:sp>
        <p:nvSpPr>
          <p:cNvPr id="2" name="Titel 1"/>
          <p:cNvSpPr>
            <a:spLocks noGrp="1"/>
          </p:cNvSpPr>
          <p:nvPr>
            <p:ph type="title"/>
          </p:nvPr>
        </p:nvSpPr>
        <p:spPr/>
        <p:txBody>
          <a:bodyPr/>
          <a:lstStyle/>
          <a:p>
            <a:r>
              <a:rPr lang="nl-NL" dirty="0"/>
              <a:t>Bestandsrechten Linux (1)</a:t>
            </a:r>
          </a:p>
        </p:txBody>
      </p:sp>
      <p:pic>
        <p:nvPicPr>
          <p:cNvPr id="10" name="Tijdelijke aanduiding voor inhoud 9"/>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3199551" y="1301456"/>
            <a:ext cx="3086100" cy="1946275"/>
          </a:xfrm>
        </p:spPr>
      </p:pic>
      <p:grpSp>
        <p:nvGrpSpPr>
          <p:cNvPr id="15" name="Groep 14"/>
          <p:cNvGrpSpPr/>
          <p:nvPr/>
        </p:nvGrpSpPr>
        <p:grpSpPr>
          <a:xfrm>
            <a:off x="1994162" y="976516"/>
            <a:ext cx="3123008" cy="415498"/>
            <a:chOff x="1486593" y="1518623"/>
            <a:chExt cx="3656203" cy="553996"/>
          </a:xfrm>
        </p:grpSpPr>
        <p:sp>
          <p:nvSpPr>
            <p:cNvPr id="11" name="Tekstvak 10"/>
            <p:cNvSpPr txBox="1"/>
            <p:nvPr/>
          </p:nvSpPr>
          <p:spPr>
            <a:xfrm>
              <a:off x="3056319" y="1518623"/>
              <a:ext cx="2086477" cy="553996"/>
            </a:xfrm>
            <a:prstGeom prst="rect">
              <a:avLst/>
            </a:prstGeom>
            <a:noFill/>
          </p:spPr>
          <p:txBody>
            <a:bodyPr wrap="square" rtlCol="0">
              <a:spAutoFit/>
            </a:bodyPr>
            <a:lstStyle/>
            <a:p>
              <a:r>
                <a:rPr lang="nl-NL" sz="1500" dirty="0"/>
                <a:t>4</a:t>
              </a:r>
              <a:r>
                <a:rPr lang="nl-NL" dirty="0"/>
                <a:t> </a:t>
              </a:r>
              <a:r>
                <a:rPr lang="nl-NL" sz="1500" dirty="0"/>
                <a:t>2</a:t>
              </a:r>
              <a:r>
                <a:rPr lang="nl-NL" dirty="0"/>
                <a:t> </a:t>
              </a:r>
              <a:r>
                <a:rPr lang="nl-NL" sz="1500" dirty="0"/>
                <a:t>1</a:t>
              </a:r>
              <a:r>
                <a:rPr lang="nl-NL" sz="2100" dirty="0"/>
                <a:t> </a:t>
              </a:r>
              <a:r>
                <a:rPr lang="nl-NL" sz="1500" dirty="0"/>
                <a:t>4</a:t>
              </a:r>
              <a:r>
                <a:rPr lang="nl-NL" dirty="0"/>
                <a:t> </a:t>
              </a:r>
              <a:r>
                <a:rPr lang="nl-NL" sz="1500" dirty="0"/>
                <a:t>2</a:t>
              </a:r>
              <a:r>
                <a:rPr lang="nl-NL" dirty="0"/>
                <a:t> </a:t>
              </a:r>
              <a:r>
                <a:rPr lang="nl-NL" sz="1500" dirty="0"/>
                <a:t>1</a:t>
              </a:r>
              <a:r>
                <a:rPr lang="nl-NL" sz="2100" dirty="0"/>
                <a:t> </a:t>
              </a:r>
              <a:r>
                <a:rPr lang="nl-NL" sz="1500" dirty="0"/>
                <a:t>4</a:t>
              </a:r>
              <a:r>
                <a:rPr lang="nl-NL" dirty="0"/>
                <a:t> </a:t>
              </a:r>
              <a:r>
                <a:rPr lang="nl-NL" sz="1500" dirty="0"/>
                <a:t>2</a:t>
              </a:r>
              <a:r>
                <a:rPr lang="nl-NL" dirty="0"/>
                <a:t> </a:t>
              </a:r>
              <a:r>
                <a:rPr lang="nl-NL" sz="1500" dirty="0"/>
                <a:t>1</a:t>
              </a:r>
              <a:endParaRPr lang="nl-NL" sz="900" dirty="0"/>
            </a:p>
          </p:txBody>
        </p:sp>
        <p:sp>
          <p:nvSpPr>
            <p:cNvPr id="14" name="Tekstvak 13"/>
            <p:cNvSpPr txBox="1"/>
            <p:nvPr/>
          </p:nvSpPr>
          <p:spPr>
            <a:xfrm>
              <a:off x="1486593" y="1591999"/>
              <a:ext cx="1556148" cy="400108"/>
            </a:xfrm>
            <a:prstGeom prst="rect">
              <a:avLst/>
            </a:prstGeom>
            <a:noFill/>
          </p:spPr>
          <p:txBody>
            <a:bodyPr wrap="none" rtlCol="0">
              <a:spAutoFit/>
            </a:bodyPr>
            <a:lstStyle/>
            <a:p>
              <a:r>
                <a:rPr lang="nl-NL" sz="1350" dirty="0"/>
                <a:t>Bit”gewichten”:</a:t>
              </a:r>
            </a:p>
          </p:txBody>
        </p:sp>
      </p:grpSp>
      <p:graphicFrame>
        <p:nvGraphicFramePr>
          <p:cNvPr id="18" name="Tabel 17"/>
          <p:cNvGraphicFramePr>
            <a:graphicFrameLocks noGrp="1"/>
          </p:cNvGraphicFramePr>
          <p:nvPr/>
        </p:nvGraphicFramePr>
        <p:xfrm>
          <a:off x="750572" y="3548953"/>
          <a:ext cx="7637778" cy="1341120"/>
        </p:xfrm>
        <a:graphic>
          <a:graphicData uri="http://schemas.openxmlformats.org/drawingml/2006/table">
            <a:tbl>
              <a:tblPr firstRow="1" bandRow="1">
                <a:tableStyleId>{5C22544A-7EE6-4342-B048-85BDC9FD1C3A}</a:tableStyleId>
              </a:tblPr>
              <a:tblGrid>
                <a:gridCol w="1298945">
                  <a:extLst>
                    <a:ext uri="{9D8B030D-6E8A-4147-A177-3AD203B41FA5}">
                      <a16:colId xmlns:a16="http://schemas.microsoft.com/office/drawing/2014/main" val="20000"/>
                    </a:ext>
                  </a:extLst>
                </a:gridCol>
                <a:gridCol w="2617076">
                  <a:extLst>
                    <a:ext uri="{9D8B030D-6E8A-4147-A177-3AD203B41FA5}">
                      <a16:colId xmlns:a16="http://schemas.microsoft.com/office/drawing/2014/main" val="20001"/>
                    </a:ext>
                  </a:extLst>
                </a:gridCol>
                <a:gridCol w="3721757">
                  <a:extLst>
                    <a:ext uri="{9D8B030D-6E8A-4147-A177-3AD203B41FA5}">
                      <a16:colId xmlns:a16="http://schemas.microsoft.com/office/drawing/2014/main" val="20002"/>
                    </a:ext>
                  </a:extLst>
                </a:gridCol>
              </a:tblGrid>
              <a:tr h="278130">
                <a:tc>
                  <a:txBody>
                    <a:bodyPr/>
                    <a:lstStyle/>
                    <a:p>
                      <a:r>
                        <a:rPr lang="nl-NL" sz="1400" dirty="0"/>
                        <a:t>Access mode</a:t>
                      </a:r>
                    </a:p>
                  </a:txBody>
                  <a:tcPr marL="68580" marR="68580" marT="34290" marB="34290"/>
                </a:tc>
                <a:tc>
                  <a:txBody>
                    <a:bodyPr/>
                    <a:lstStyle/>
                    <a:p>
                      <a:r>
                        <a:rPr lang="nl-NL" sz="1400" dirty="0"/>
                        <a:t>File</a:t>
                      </a:r>
                    </a:p>
                  </a:txBody>
                  <a:tcPr marL="68580" marR="68580" marT="34290" marB="34290"/>
                </a:tc>
                <a:tc>
                  <a:txBody>
                    <a:bodyPr/>
                    <a:lstStyle/>
                    <a:p>
                      <a:r>
                        <a:rPr lang="nl-NL" sz="1400" dirty="0"/>
                        <a:t>Directory</a:t>
                      </a:r>
                    </a:p>
                  </a:txBody>
                  <a:tcPr marL="68580" marR="68580" marT="34290" marB="34290"/>
                </a:tc>
                <a:extLst>
                  <a:ext uri="{0D108BD9-81ED-4DB2-BD59-A6C34878D82A}">
                    <a16:rowId xmlns:a16="http://schemas.microsoft.com/office/drawing/2014/main" val="10000"/>
                  </a:ext>
                </a:extLst>
              </a:tr>
              <a:tr h="480060">
                <a:tc>
                  <a:txBody>
                    <a:bodyPr/>
                    <a:lstStyle/>
                    <a:p>
                      <a:pPr algn="ctr"/>
                      <a:r>
                        <a:rPr lang="nl-NL" sz="1400" dirty="0"/>
                        <a:t>R</a:t>
                      </a:r>
                    </a:p>
                  </a:txBody>
                  <a:tcPr marL="68580" marR="68580" marT="34290" marB="34290"/>
                </a:tc>
                <a:tc>
                  <a:txBody>
                    <a:bodyPr/>
                    <a:lstStyle/>
                    <a:p>
                      <a:r>
                        <a:rPr lang="nl-NL" sz="1400" dirty="0"/>
                        <a:t>Inhoud</a:t>
                      </a:r>
                      <a:r>
                        <a:rPr lang="nl-NL" sz="1400" baseline="0" dirty="0"/>
                        <a:t> van bestand weergeven</a:t>
                      </a:r>
                      <a:endParaRPr lang="nl-NL" sz="1400" dirty="0"/>
                    </a:p>
                  </a:txBody>
                  <a:tcPr marL="68580" marR="68580" marT="34290" marB="34290"/>
                </a:tc>
                <a:tc>
                  <a:txBody>
                    <a:bodyPr/>
                    <a:lstStyle/>
                    <a:p>
                      <a:r>
                        <a:rPr lang="nl-NL" sz="1400" dirty="0"/>
                        <a:t>De inhoud van de </a:t>
                      </a:r>
                      <a:r>
                        <a:rPr lang="nl-NL" sz="1400" dirty="0" err="1"/>
                        <a:t>dir</a:t>
                      </a:r>
                      <a:r>
                        <a:rPr lang="nl-NL" sz="1400" dirty="0"/>
                        <a:t> opvragen (bestandenlijst)</a:t>
                      </a:r>
                    </a:p>
                  </a:txBody>
                  <a:tcPr marL="68580" marR="68580" marT="34290" marB="34290"/>
                </a:tc>
                <a:extLst>
                  <a:ext uri="{0D108BD9-81ED-4DB2-BD59-A6C34878D82A}">
                    <a16:rowId xmlns:a16="http://schemas.microsoft.com/office/drawing/2014/main" val="10001"/>
                  </a:ext>
                </a:extLst>
              </a:tr>
              <a:tr h="269387">
                <a:tc>
                  <a:txBody>
                    <a:bodyPr/>
                    <a:lstStyle/>
                    <a:p>
                      <a:pPr algn="ctr"/>
                      <a:r>
                        <a:rPr lang="nl-NL" sz="1400" dirty="0"/>
                        <a:t>W</a:t>
                      </a:r>
                    </a:p>
                  </a:txBody>
                  <a:tcPr marL="68580" marR="68580" marT="34290" marB="34290"/>
                </a:tc>
                <a:tc>
                  <a:txBody>
                    <a:bodyPr/>
                    <a:lstStyle/>
                    <a:p>
                      <a:r>
                        <a:rPr lang="nl-NL" sz="1400" dirty="0"/>
                        <a:t>Inhoud wijzigen of verwijderen</a:t>
                      </a:r>
                    </a:p>
                  </a:txBody>
                  <a:tcPr marL="68580" marR="68580" marT="34290" marB="34290"/>
                </a:tc>
                <a:tc>
                  <a:txBody>
                    <a:bodyPr/>
                    <a:lstStyle/>
                    <a:p>
                      <a:r>
                        <a:rPr lang="nl-NL" sz="1400" dirty="0"/>
                        <a:t>Subdirectories &amp; bestanden aanmaken</a:t>
                      </a:r>
                    </a:p>
                  </a:txBody>
                  <a:tcPr marL="68580" marR="68580" marT="34290" marB="34290"/>
                </a:tc>
                <a:extLst>
                  <a:ext uri="{0D108BD9-81ED-4DB2-BD59-A6C34878D82A}">
                    <a16:rowId xmlns:a16="http://schemas.microsoft.com/office/drawing/2014/main" val="10002"/>
                  </a:ext>
                </a:extLst>
              </a:tr>
              <a:tr h="278130">
                <a:tc>
                  <a:txBody>
                    <a:bodyPr/>
                    <a:lstStyle/>
                    <a:p>
                      <a:pPr algn="ctr"/>
                      <a:r>
                        <a:rPr lang="nl-NL" sz="1400" dirty="0"/>
                        <a:t>X</a:t>
                      </a:r>
                    </a:p>
                  </a:txBody>
                  <a:tcPr marL="68580" marR="68580" marT="34290" marB="34290"/>
                </a:tc>
                <a:tc>
                  <a:txBody>
                    <a:bodyPr/>
                    <a:lstStyle/>
                    <a:p>
                      <a:r>
                        <a:rPr lang="nl-NL" sz="1400" dirty="0"/>
                        <a:t>Uitvoeren (bijv.</a:t>
                      </a:r>
                      <a:r>
                        <a:rPr lang="nl-NL" sz="1400" baseline="0" dirty="0"/>
                        <a:t> een script)</a:t>
                      </a:r>
                      <a:endParaRPr lang="nl-NL" sz="1400" dirty="0"/>
                    </a:p>
                  </a:txBody>
                  <a:tcPr marL="68580" marR="68580" marT="34290" marB="34290"/>
                </a:tc>
                <a:tc>
                  <a:txBody>
                    <a:bodyPr/>
                    <a:lstStyle/>
                    <a:p>
                      <a:r>
                        <a:rPr lang="nl-NL" sz="1400" dirty="0" err="1"/>
                        <a:t>CD’en</a:t>
                      </a:r>
                      <a:r>
                        <a:rPr lang="nl-NL" sz="1400" dirty="0"/>
                        <a:t> naar de directory</a:t>
                      </a:r>
                    </a:p>
                  </a:txBody>
                  <a:tcPr marL="68580" marR="68580" marT="34290" marB="34290"/>
                </a:tc>
                <a:extLst>
                  <a:ext uri="{0D108BD9-81ED-4DB2-BD59-A6C34878D82A}">
                    <a16:rowId xmlns:a16="http://schemas.microsoft.com/office/drawing/2014/main" val="10003"/>
                  </a:ext>
                </a:extLst>
              </a:tr>
            </a:tbl>
          </a:graphicData>
        </a:graphic>
      </p:graphicFrame>
      <p:sp>
        <p:nvSpPr>
          <p:cNvPr id="3" name="Rectangular Callout 2"/>
          <p:cNvSpPr/>
          <p:nvPr/>
        </p:nvSpPr>
        <p:spPr bwMode="auto">
          <a:xfrm>
            <a:off x="5793979" y="762810"/>
            <a:ext cx="1458160" cy="539673"/>
          </a:xfrm>
          <a:prstGeom prst="wedgeRectCallout">
            <a:avLst>
              <a:gd name="adj1" fmla="val -109433"/>
              <a:gd name="adj2" fmla="val 32917"/>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defTabSz="685800" fontAlgn="base">
              <a:spcBef>
                <a:spcPct val="0"/>
              </a:spcBef>
              <a:spcAft>
                <a:spcPct val="0"/>
              </a:spcAft>
            </a:pPr>
            <a:r>
              <a:rPr lang="en-US" sz="1350" dirty="0" err="1">
                <a:latin typeface="Arial" charset="0"/>
                <a:ea typeface="ＭＳ Ｐゴシック" charset="0"/>
              </a:rPr>
              <a:t>Numeriek</a:t>
            </a:r>
            <a:r>
              <a:rPr lang="en-US" sz="1350" dirty="0">
                <a:latin typeface="Arial" charset="0"/>
                <a:ea typeface="ＭＳ Ｐゴシック" charset="0"/>
              </a:rPr>
              <a:t> (</a:t>
            </a:r>
            <a:r>
              <a:rPr lang="en-US" sz="1350" dirty="0" err="1">
                <a:latin typeface="Arial" charset="0"/>
                <a:ea typeface="ＭＳ Ｐゴシック" charset="0"/>
              </a:rPr>
              <a:t>octaal</a:t>
            </a:r>
            <a:r>
              <a:rPr lang="en-US" sz="1350" dirty="0">
                <a:latin typeface="Arial" charset="0"/>
                <a:ea typeface="ＭＳ Ｐゴシック" charset="0"/>
              </a:rPr>
              <a:t>)</a:t>
            </a:r>
          </a:p>
        </p:txBody>
      </p:sp>
      <p:sp>
        <p:nvSpPr>
          <p:cNvPr id="5" name="Rectangular Callout 4"/>
          <p:cNvSpPr/>
          <p:nvPr/>
        </p:nvSpPr>
        <p:spPr bwMode="auto">
          <a:xfrm>
            <a:off x="5793979" y="1599541"/>
            <a:ext cx="1458160" cy="506350"/>
          </a:xfrm>
          <a:prstGeom prst="wedgeRectCallout">
            <a:avLst>
              <a:gd name="adj1" fmla="val -108470"/>
              <a:gd name="adj2" fmla="val 19503"/>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defTabSz="685800" fontAlgn="base">
              <a:spcBef>
                <a:spcPct val="0"/>
              </a:spcBef>
              <a:spcAft>
                <a:spcPct val="0"/>
              </a:spcAft>
            </a:pPr>
            <a:r>
              <a:rPr lang="en-US" sz="1350" dirty="0" err="1">
                <a:latin typeface="Arial" charset="0"/>
                <a:ea typeface="ＭＳ Ｐゴシック" charset="0"/>
              </a:rPr>
              <a:t>Symbolisch</a:t>
            </a:r>
            <a:endParaRPr lang="en-US" sz="1350" dirty="0">
              <a:latin typeface="Arial" charset="0"/>
              <a:ea typeface="ＭＳ Ｐゴシック" charset="0"/>
            </a:endParaRPr>
          </a:p>
        </p:txBody>
      </p:sp>
    </p:spTree>
    <p:extLst>
      <p:ext uri="{BB962C8B-B14F-4D97-AF65-F5344CB8AC3E}">
        <p14:creationId xmlns:p14="http://schemas.microsoft.com/office/powerpoint/2010/main" val="299702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500" fill="hold"/>
                                        <p:tgtEl>
                                          <p:spTgt spid="18"/>
                                        </p:tgtEl>
                                        <p:attrNameLst>
                                          <p:attrName>ppt_x</p:attrName>
                                        </p:attrNameLst>
                                      </p:cBhvr>
                                      <p:tavLst>
                                        <p:tav tm="0">
                                          <p:val>
                                            <p:strVal val="#ppt_x"/>
                                          </p:val>
                                        </p:tav>
                                        <p:tav tm="100000">
                                          <p:val>
                                            <p:strVal val="#ppt_x"/>
                                          </p:val>
                                        </p:tav>
                                      </p:tavLst>
                                    </p:anim>
                                    <p:anim calcmode="lin" valueType="num">
                                      <p:cBhvr additive="base">
                                        <p:cTn id="1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ppt_x"/>
                                          </p:val>
                                        </p:tav>
                                        <p:tav tm="100000">
                                          <p:val>
                                            <p:strVal val="#ppt_x"/>
                                          </p:val>
                                        </p:tav>
                                      </p:tavLst>
                                    </p:anim>
                                    <p:anim calcmode="lin" valueType="num">
                                      <p:cBhvr additive="base">
                                        <p:cTn id="2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en-US" sz="1500" dirty="0" err="1"/>
              <a:t>Bestandsrechten</a:t>
            </a:r>
            <a:r>
              <a:rPr lang="en-US" sz="1500" dirty="0"/>
              <a:t> </a:t>
            </a:r>
            <a:r>
              <a:rPr lang="en-US" sz="1500" dirty="0" err="1"/>
              <a:t>kunnen</a:t>
            </a:r>
            <a:r>
              <a:rPr lang="en-US" sz="1500" dirty="0"/>
              <a:t> met de </a:t>
            </a:r>
            <a:r>
              <a:rPr lang="en-US" sz="1500" dirty="0" err="1"/>
              <a:t>volgende</a:t>
            </a:r>
            <a:r>
              <a:rPr lang="en-US" sz="1500" dirty="0"/>
              <a:t> commando’s </a:t>
            </a:r>
            <a:r>
              <a:rPr lang="en-US" sz="1500" dirty="0" err="1"/>
              <a:t>worden</a:t>
            </a:r>
            <a:r>
              <a:rPr lang="en-US" sz="1500" dirty="0"/>
              <a:t> </a:t>
            </a:r>
            <a:r>
              <a:rPr lang="en-US" sz="1500" dirty="0" err="1"/>
              <a:t>aangepast</a:t>
            </a:r>
            <a:r>
              <a:rPr lang="en-US" sz="1500" dirty="0"/>
              <a:t>:</a:t>
            </a:r>
          </a:p>
          <a:p>
            <a:pPr marL="742950" lvl="1" indent="-285750">
              <a:buFont typeface="Arial" panose="020B0604020202020204" pitchFamily="34" charset="0"/>
              <a:buChar char="•"/>
            </a:pPr>
            <a:r>
              <a:rPr lang="en-US" sz="1500" dirty="0" err="1"/>
              <a:t>veranderen</a:t>
            </a:r>
            <a:r>
              <a:rPr lang="en-US" sz="1500" dirty="0"/>
              <a:t> </a:t>
            </a:r>
            <a:r>
              <a:rPr lang="en-US" sz="1500" dirty="0" err="1"/>
              <a:t>eigenaar</a:t>
            </a:r>
            <a:r>
              <a:rPr lang="en-US" sz="1500" dirty="0"/>
              <a:t>: </a:t>
            </a:r>
            <a:r>
              <a:rPr lang="en-US" sz="1500" dirty="0" err="1">
                <a:latin typeface="Consolas" panose="020B0609020204030204" pitchFamily="49" charset="0"/>
                <a:cs typeface="Consolas" panose="020B0609020204030204" pitchFamily="49" charset="0"/>
              </a:rPr>
              <a:t>chown</a:t>
            </a:r>
            <a:r>
              <a:rPr lang="en-US" sz="1500" dirty="0"/>
              <a:t> (</a:t>
            </a:r>
            <a:r>
              <a:rPr lang="en-US" sz="1500" b="1" dirty="0"/>
              <a:t>ch</a:t>
            </a:r>
            <a:r>
              <a:rPr lang="en-US" sz="1500" dirty="0"/>
              <a:t>ange </a:t>
            </a:r>
            <a:r>
              <a:rPr lang="en-US" sz="1500" b="1" dirty="0"/>
              <a:t>own</a:t>
            </a:r>
            <a:r>
              <a:rPr lang="en-US" sz="1500" dirty="0"/>
              <a:t>er)</a:t>
            </a:r>
          </a:p>
          <a:p>
            <a:pPr marL="800100" lvl="3"/>
            <a:r>
              <a:rPr lang="en-US" sz="1500" dirty="0" err="1"/>
              <a:t>Bijvoorbeeld</a:t>
            </a:r>
            <a:r>
              <a:rPr lang="en-US" sz="1500" dirty="0"/>
              <a:t>: </a:t>
            </a:r>
            <a:r>
              <a:rPr lang="en-US" sz="1500" dirty="0" err="1">
                <a:latin typeface="Consolas" panose="020B0609020204030204" pitchFamily="49" charset="0"/>
                <a:cs typeface="Consolas" panose="020B0609020204030204" pitchFamily="49" charset="0"/>
              </a:rPr>
              <a:t>chown</a:t>
            </a:r>
            <a:r>
              <a:rPr lang="en-US" sz="1500" dirty="0">
                <a:latin typeface="Consolas" panose="020B0609020204030204" pitchFamily="49" charset="0"/>
                <a:cs typeface="Consolas" panose="020B0609020204030204" pitchFamily="49" charset="0"/>
              </a:rPr>
              <a:t> root /</a:t>
            </a:r>
            <a:r>
              <a:rPr lang="en-US" sz="1500" dirty="0" err="1">
                <a:latin typeface="Consolas" panose="020B0609020204030204" pitchFamily="49" charset="0"/>
                <a:cs typeface="Consolas" panose="020B0609020204030204" pitchFamily="49" charset="0"/>
              </a:rPr>
              <a:t>etc</a:t>
            </a:r>
            <a:r>
              <a:rPr lang="en-US" sz="1500" dirty="0">
                <a:latin typeface="Consolas" panose="020B0609020204030204" pitchFamily="49" charset="0"/>
                <a:cs typeface="Consolas" panose="020B0609020204030204" pitchFamily="49" charset="0"/>
              </a:rPr>
              <a:t>/</a:t>
            </a:r>
            <a:r>
              <a:rPr lang="en-US" sz="1500" dirty="0" err="1">
                <a:latin typeface="Consolas" panose="020B0609020204030204" pitchFamily="49" charset="0"/>
                <a:cs typeface="Consolas" panose="020B0609020204030204" pitchFamily="49" charset="0"/>
              </a:rPr>
              <a:t>fstab</a:t>
            </a:r>
            <a:endParaRPr lang="en-US" sz="1500" dirty="0">
              <a:latin typeface="Consolas" panose="020B0609020204030204" pitchFamily="49" charset="0"/>
              <a:cs typeface="Consolas" panose="020B0609020204030204" pitchFamily="49" charset="0"/>
            </a:endParaRPr>
          </a:p>
          <a:p>
            <a:pPr marL="742950" lvl="1" indent="-285750">
              <a:buFont typeface="Arial" panose="020B0604020202020204" pitchFamily="34" charset="0"/>
              <a:buChar char="•"/>
            </a:pPr>
            <a:r>
              <a:rPr lang="en-US" sz="1500" dirty="0" err="1"/>
              <a:t>veranderen</a:t>
            </a:r>
            <a:r>
              <a:rPr lang="en-US" sz="1500" dirty="0"/>
              <a:t> </a:t>
            </a:r>
            <a:r>
              <a:rPr lang="en-US" sz="1500" dirty="0" err="1"/>
              <a:t>usergroup</a:t>
            </a:r>
            <a:r>
              <a:rPr lang="en-US" sz="1500" dirty="0"/>
              <a:t>: </a:t>
            </a:r>
            <a:r>
              <a:rPr lang="en-US" sz="1500" dirty="0" err="1">
                <a:latin typeface="Consolas" panose="020B0609020204030204" pitchFamily="49" charset="0"/>
                <a:cs typeface="Consolas" panose="020B0609020204030204" pitchFamily="49" charset="0"/>
              </a:rPr>
              <a:t>chgrp</a:t>
            </a:r>
            <a:r>
              <a:rPr lang="en-US" sz="1500" dirty="0"/>
              <a:t> (</a:t>
            </a:r>
            <a:r>
              <a:rPr lang="en-US" sz="1500" b="1" dirty="0"/>
              <a:t>ch</a:t>
            </a:r>
            <a:r>
              <a:rPr lang="en-US" sz="1500" dirty="0"/>
              <a:t>ange </a:t>
            </a:r>
            <a:r>
              <a:rPr lang="en-US" sz="1500" b="1" dirty="0"/>
              <a:t>gr</a:t>
            </a:r>
            <a:r>
              <a:rPr lang="en-US" sz="1500" dirty="0"/>
              <a:t>ou</a:t>
            </a:r>
            <a:r>
              <a:rPr lang="en-US" sz="1500" b="1" dirty="0"/>
              <a:t>p</a:t>
            </a:r>
            <a:r>
              <a:rPr lang="en-US" sz="1500" dirty="0"/>
              <a:t>)</a:t>
            </a:r>
          </a:p>
          <a:p>
            <a:pPr marL="800100" lvl="3"/>
            <a:r>
              <a:rPr lang="en-US" sz="1500" dirty="0" err="1"/>
              <a:t>Bijvoorbeeld</a:t>
            </a:r>
            <a:r>
              <a:rPr lang="en-US" sz="1500" dirty="0"/>
              <a:t>: </a:t>
            </a:r>
            <a:r>
              <a:rPr lang="en-US" sz="1500" dirty="0" err="1">
                <a:latin typeface="Consolas" panose="020B0609020204030204" pitchFamily="49" charset="0"/>
                <a:cs typeface="Consolas" panose="020B0609020204030204" pitchFamily="49" charset="0"/>
              </a:rPr>
              <a:t>chgrp</a:t>
            </a:r>
            <a:r>
              <a:rPr lang="en-US" sz="1500" dirty="0">
                <a:latin typeface="Consolas" panose="020B0609020204030204" pitchFamily="49" charset="0"/>
                <a:cs typeface="Consolas" panose="020B0609020204030204" pitchFamily="49" charset="0"/>
              </a:rPr>
              <a:t> users /home/</a:t>
            </a:r>
            <a:r>
              <a:rPr lang="en-US" sz="1500" dirty="0" err="1">
                <a:latin typeface="Consolas" panose="020B0609020204030204" pitchFamily="49" charset="0"/>
                <a:cs typeface="Consolas" panose="020B0609020204030204" pitchFamily="49" charset="0"/>
              </a:rPr>
              <a:t>rtorvalds</a:t>
            </a:r>
            <a:r>
              <a:rPr lang="en-US" sz="1500" dirty="0">
                <a:latin typeface="Consolas" panose="020B0609020204030204" pitchFamily="49" charset="0"/>
                <a:cs typeface="Consolas" panose="020B0609020204030204" pitchFamily="49" charset="0"/>
              </a:rPr>
              <a:t>/file</a:t>
            </a:r>
          </a:p>
          <a:p>
            <a:pPr marL="742950" lvl="1" indent="-285750">
              <a:buFont typeface="Arial" panose="020B0604020202020204" pitchFamily="34" charset="0"/>
              <a:buChar char="•"/>
            </a:pPr>
            <a:r>
              <a:rPr lang="en-US" sz="1500" dirty="0" err="1"/>
              <a:t>veranderen</a:t>
            </a:r>
            <a:r>
              <a:rPr lang="en-US" sz="1500" dirty="0"/>
              <a:t> </a:t>
            </a:r>
            <a:r>
              <a:rPr lang="en-US" sz="1500" dirty="0" err="1"/>
              <a:t>permissies</a:t>
            </a:r>
            <a:r>
              <a:rPr lang="en-US" sz="1500" dirty="0"/>
              <a:t>: </a:t>
            </a:r>
            <a:r>
              <a:rPr lang="en-US" sz="1500" dirty="0" err="1">
                <a:latin typeface="Consolas" panose="020B0609020204030204" pitchFamily="49" charset="0"/>
                <a:cs typeface="Consolas" panose="020B0609020204030204" pitchFamily="49" charset="0"/>
              </a:rPr>
              <a:t>chmod</a:t>
            </a:r>
            <a:r>
              <a:rPr lang="en-US" sz="1500" dirty="0"/>
              <a:t> (</a:t>
            </a:r>
            <a:r>
              <a:rPr lang="en-US" sz="1500" b="1" dirty="0"/>
              <a:t>ch</a:t>
            </a:r>
            <a:r>
              <a:rPr lang="en-US" sz="1500" dirty="0"/>
              <a:t>ange </a:t>
            </a:r>
            <a:r>
              <a:rPr lang="en-US" sz="1500" b="1" dirty="0"/>
              <a:t>mod</a:t>
            </a:r>
            <a:r>
              <a:rPr lang="en-US" sz="1500" dirty="0"/>
              <a:t>e)</a:t>
            </a:r>
            <a:br>
              <a:rPr lang="en-US" sz="1500" dirty="0"/>
            </a:br>
            <a:r>
              <a:rPr lang="en-US" sz="1500" dirty="0"/>
              <a:t>(</a:t>
            </a:r>
            <a:r>
              <a:rPr lang="en-US" sz="1500" i="1" dirty="0"/>
              <a:t>mode</a:t>
            </a:r>
            <a:r>
              <a:rPr lang="en-US" sz="1500" dirty="0"/>
              <a:t> is </a:t>
            </a:r>
            <a:r>
              <a:rPr lang="en-US" sz="1500" dirty="0" err="1"/>
              <a:t>een</a:t>
            </a:r>
            <a:r>
              <a:rPr lang="en-US" sz="1500" dirty="0"/>
              <a:t> </a:t>
            </a:r>
            <a:r>
              <a:rPr lang="en-US" sz="1500" dirty="0" err="1"/>
              <a:t>andere</a:t>
            </a:r>
            <a:r>
              <a:rPr lang="en-US" sz="1500" dirty="0"/>
              <a:t> term </a:t>
            </a:r>
            <a:r>
              <a:rPr lang="en-US" sz="1500" dirty="0" err="1"/>
              <a:t>voor</a:t>
            </a:r>
            <a:r>
              <a:rPr lang="en-US" sz="1500" dirty="0"/>
              <a:t> de </a:t>
            </a:r>
            <a:r>
              <a:rPr lang="en-US" sz="1500" dirty="0" err="1"/>
              <a:t>permissies</a:t>
            </a:r>
            <a:r>
              <a:rPr lang="en-US" sz="1500" dirty="0"/>
              <a:t>)</a:t>
            </a:r>
          </a:p>
          <a:p>
            <a:pPr lvl="2"/>
            <a:r>
              <a:rPr lang="en-US" sz="1500" dirty="0" err="1"/>
              <a:t>Numeriek</a:t>
            </a:r>
            <a:r>
              <a:rPr lang="en-US" sz="1500" dirty="0"/>
              <a:t>, </a:t>
            </a:r>
            <a:r>
              <a:rPr lang="en-US" sz="1500" dirty="0" err="1"/>
              <a:t>bijv</a:t>
            </a:r>
            <a:r>
              <a:rPr lang="en-US" sz="1500" dirty="0"/>
              <a:t>. </a:t>
            </a:r>
            <a:r>
              <a:rPr lang="en-US" sz="1500" dirty="0" err="1">
                <a:latin typeface="Consolas" panose="020B0609020204030204" pitchFamily="49" charset="0"/>
                <a:cs typeface="Consolas" panose="020B0609020204030204" pitchFamily="49" charset="0"/>
              </a:rPr>
              <a:t>chmod</a:t>
            </a:r>
            <a:r>
              <a:rPr lang="en-US" sz="1500" dirty="0">
                <a:latin typeface="Consolas" panose="020B0609020204030204" pitchFamily="49" charset="0"/>
                <a:cs typeface="Consolas" panose="020B0609020204030204" pitchFamily="49" charset="0"/>
              </a:rPr>
              <a:t> 755 file</a:t>
            </a:r>
          </a:p>
          <a:p>
            <a:pPr lvl="2"/>
            <a:r>
              <a:rPr lang="en-US" sz="1500" dirty="0" err="1"/>
              <a:t>Symbolisch</a:t>
            </a:r>
            <a:r>
              <a:rPr lang="en-US" sz="1500" dirty="0"/>
              <a:t>, </a:t>
            </a:r>
            <a:r>
              <a:rPr lang="en-US" sz="1500" dirty="0" err="1"/>
              <a:t>bijv</a:t>
            </a:r>
            <a:r>
              <a:rPr lang="en-US" sz="1500" dirty="0"/>
              <a:t>. </a:t>
            </a:r>
            <a:r>
              <a:rPr lang="en-US" sz="1500" dirty="0" err="1">
                <a:latin typeface="Consolas" panose="020B0609020204030204" pitchFamily="49" charset="0"/>
                <a:cs typeface="Consolas" panose="020B0609020204030204" pitchFamily="49" charset="0"/>
              </a:rPr>
              <a:t>chmod</a:t>
            </a:r>
            <a:r>
              <a:rPr lang="en-US" sz="1500" dirty="0">
                <a:latin typeface="Consolas" panose="020B0609020204030204" pitchFamily="49" charset="0"/>
                <a:cs typeface="Consolas" panose="020B0609020204030204" pitchFamily="49" charset="0"/>
              </a:rPr>
              <a:t> </a:t>
            </a:r>
            <a:r>
              <a:rPr lang="en-US" sz="1500" dirty="0" err="1">
                <a:latin typeface="Consolas" panose="020B0609020204030204" pitchFamily="49" charset="0"/>
                <a:cs typeface="Consolas" panose="020B0609020204030204" pitchFamily="49" charset="0"/>
              </a:rPr>
              <a:t>u+rw,og-w,a-x</a:t>
            </a:r>
            <a:r>
              <a:rPr lang="en-US" sz="1500" dirty="0">
                <a:latin typeface="Consolas" panose="020B0609020204030204" pitchFamily="49" charset="0"/>
                <a:cs typeface="Consolas" panose="020B0609020204030204" pitchFamily="49" charset="0"/>
              </a:rPr>
              <a:t> file</a:t>
            </a:r>
          </a:p>
          <a:p>
            <a:r>
              <a:rPr lang="en-US" sz="1500" dirty="0" err="1"/>
              <a:t>Bestandsrechten</a:t>
            </a:r>
            <a:r>
              <a:rPr lang="en-US" sz="1500" dirty="0"/>
              <a:t> </a:t>
            </a:r>
            <a:r>
              <a:rPr lang="en-US" sz="1500" dirty="0" err="1"/>
              <a:t>bekijken</a:t>
            </a:r>
            <a:r>
              <a:rPr lang="en-US" sz="1500" dirty="0"/>
              <a:t>: </a:t>
            </a:r>
            <a:r>
              <a:rPr lang="en-US" sz="1500" dirty="0">
                <a:latin typeface="Consolas" panose="020B0609020204030204" pitchFamily="49" charset="0"/>
                <a:cs typeface="Consolas" panose="020B0609020204030204" pitchFamily="49" charset="0"/>
              </a:rPr>
              <a:t>ls –l</a:t>
            </a:r>
            <a:r>
              <a:rPr lang="en-US" sz="1500" dirty="0">
                <a:cs typeface="Consolas" panose="020B0609020204030204" pitchFamily="49" charset="0"/>
              </a:rPr>
              <a:t> (</a:t>
            </a:r>
            <a:r>
              <a:rPr lang="en-US" sz="1500" b="1" dirty="0">
                <a:cs typeface="Consolas" panose="020B0609020204030204" pitchFamily="49" charset="0"/>
              </a:rPr>
              <a:t>l</a:t>
            </a:r>
            <a:r>
              <a:rPr lang="en-US" sz="1500" dirty="0">
                <a:cs typeface="Consolas" panose="020B0609020204030204" pitchFamily="49" charset="0"/>
              </a:rPr>
              <a:t>ong listing)</a:t>
            </a:r>
          </a:p>
          <a:p>
            <a:pPr marL="400050" lvl="1"/>
            <a:r>
              <a:rPr lang="pt-BR" sz="1500" dirty="0">
                <a:latin typeface="Consolas" panose="020B0609020204030204" pitchFamily="49" charset="0"/>
                <a:cs typeface="Consolas" panose="020B0609020204030204" pitchFamily="49" charset="0"/>
              </a:rPr>
              <a:t>-rw-r--r--  1 ltorvalds users    18 Dec 25 11:35 file</a:t>
            </a:r>
          </a:p>
          <a:p>
            <a:pPr lvl="1"/>
            <a:endParaRPr lang="en-US" sz="1650" dirty="0">
              <a:cs typeface="Consolas" panose="020B0609020204030204" pitchFamily="49" charset="0"/>
            </a:endParaRPr>
          </a:p>
          <a:p>
            <a:endParaRPr lang="nl-NL" dirty="0"/>
          </a:p>
        </p:txBody>
      </p:sp>
      <p:sp>
        <p:nvSpPr>
          <p:cNvPr id="2" name="Title 1"/>
          <p:cNvSpPr>
            <a:spLocks noGrp="1"/>
          </p:cNvSpPr>
          <p:nvPr>
            <p:ph type="title"/>
          </p:nvPr>
        </p:nvSpPr>
        <p:spPr/>
        <p:txBody>
          <a:bodyPr/>
          <a:lstStyle/>
          <a:p>
            <a:r>
              <a:rPr lang="en-US" dirty="0" err="1"/>
              <a:t>Bestandsrechten</a:t>
            </a:r>
            <a:r>
              <a:rPr lang="en-US" dirty="0"/>
              <a:t> </a:t>
            </a:r>
            <a:r>
              <a:rPr lang="nl-NL" dirty="0"/>
              <a:t>Linux</a:t>
            </a:r>
            <a:r>
              <a:rPr lang="en-US" dirty="0"/>
              <a:t> (2)</a:t>
            </a:r>
          </a:p>
        </p:txBody>
      </p:sp>
    </p:spTree>
    <p:extLst>
      <p:ext uri="{BB962C8B-B14F-4D97-AF65-F5344CB8AC3E}">
        <p14:creationId xmlns:p14="http://schemas.microsoft.com/office/powerpoint/2010/main" val="1730678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additive="base">
                                        <p:cTn id="2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 calcmode="lin" valueType="num">
                                      <p:cBhvr additive="base">
                                        <p:cTn id="3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anim calcmode="lin" valueType="num">
                                      <p:cBhvr additive="base">
                                        <p:cTn id="4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 calcmode="lin" valueType="num">
                                      <p:cBhvr additive="base">
                                        <p:cTn id="4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anim calcmode="lin" valueType="num">
                                      <p:cBhvr additive="base">
                                        <p:cTn id="5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pPr marL="0" indent="0">
              <a:buNone/>
            </a:pPr>
            <a:r>
              <a:rPr lang="en-US" sz="1800" dirty="0" err="1"/>
              <a:t>Bijzondere</a:t>
            </a:r>
            <a:r>
              <a:rPr lang="en-US" sz="1800" dirty="0"/>
              <a:t> </a:t>
            </a:r>
            <a:r>
              <a:rPr lang="en-US" sz="1800" dirty="0" err="1"/>
              <a:t>rechten</a:t>
            </a:r>
            <a:r>
              <a:rPr lang="en-US" sz="1800" dirty="0"/>
              <a:t>:</a:t>
            </a:r>
          </a:p>
          <a:p>
            <a:pPr marL="742950" lvl="1" indent="-285750">
              <a:buFont typeface="Arial" panose="020B0604020202020204" pitchFamily="34" charset="0"/>
              <a:buChar char="•"/>
            </a:pPr>
            <a:r>
              <a:rPr lang="en-US" sz="1800" dirty="0" err="1"/>
              <a:t>setuid</a:t>
            </a:r>
            <a:endParaRPr lang="en-US" sz="1800" dirty="0"/>
          </a:p>
          <a:p>
            <a:pPr lvl="2"/>
            <a:r>
              <a:rPr lang="en-US" sz="1500" dirty="0" err="1"/>
              <a:t>setuid</a:t>
            </a:r>
            <a:r>
              <a:rPr lang="en-US" sz="1500" dirty="0"/>
              <a:t> executables </a:t>
            </a:r>
            <a:r>
              <a:rPr lang="en-US" sz="1500" dirty="0" err="1"/>
              <a:t>worden</a:t>
            </a:r>
            <a:r>
              <a:rPr lang="en-US" sz="1500" dirty="0"/>
              <a:t> </a:t>
            </a:r>
            <a:r>
              <a:rPr lang="en-US" sz="1500" dirty="0" err="1"/>
              <a:t>uitgevoerd</a:t>
            </a:r>
            <a:r>
              <a:rPr lang="en-US" sz="1500" dirty="0"/>
              <a:t> </a:t>
            </a:r>
            <a:r>
              <a:rPr lang="en-US" sz="1500" dirty="0" err="1"/>
              <a:t>onder</a:t>
            </a:r>
            <a:r>
              <a:rPr lang="en-US" sz="1500" dirty="0"/>
              <a:t> het account van de </a:t>
            </a:r>
            <a:r>
              <a:rPr lang="en-US" sz="1500" i="1" dirty="0"/>
              <a:t>owner</a:t>
            </a:r>
            <a:r>
              <a:rPr lang="en-US" sz="1500" dirty="0"/>
              <a:t> van het </a:t>
            </a:r>
            <a:r>
              <a:rPr lang="en-US" sz="1500" dirty="0" err="1"/>
              <a:t>bestand</a:t>
            </a:r>
            <a:endParaRPr lang="en-US" sz="1500" dirty="0"/>
          </a:p>
          <a:p>
            <a:pPr lvl="2"/>
            <a:r>
              <a:rPr lang="en-US" sz="1500" dirty="0" err="1"/>
              <a:t>symbolisch</a:t>
            </a:r>
            <a:r>
              <a:rPr lang="en-US" sz="1500" dirty="0"/>
              <a:t> </a:t>
            </a:r>
            <a:r>
              <a:rPr lang="en-US" sz="1500" dirty="0" err="1"/>
              <a:t>u+s</a:t>
            </a:r>
            <a:r>
              <a:rPr lang="en-US" sz="1500" dirty="0"/>
              <a:t> (</a:t>
            </a:r>
            <a:r>
              <a:rPr lang="en-US" sz="1500" dirty="0" err="1"/>
              <a:t>bijv</a:t>
            </a:r>
            <a:r>
              <a:rPr lang="en-US" sz="1500" dirty="0"/>
              <a:t>. </a:t>
            </a:r>
            <a:r>
              <a:rPr lang="en-US" sz="1500" dirty="0" err="1">
                <a:latin typeface="Consolas" panose="020B0609020204030204" pitchFamily="49" charset="0"/>
                <a:cs typeface="Consolas" panose="020B0609020204030204" pitchFamily="49" charset="0"/>
              </a:rPr>
              <a:t>chmod</a:t>
            </a:r>
            <a:r>
              <a:rPr lang="en-US" sz="1500" dirty="0">
                <a:latin typeface="Consolas" panose="020B0609020204030204" pitchFamily="49" charset="0"/>
                <a:cs typeface="Consolas" panose="020B0609020204030204" pitchFamily="49" charset="0"/>
              </a:rPr>
              <a:t> </a:t>
            </a:r>
            <a:r>
              <a:rPr lang="en-US" sz="1500" dirty="0" err="1">
                <a:latin typeface="Consolas" panose="020B0609020204030204" pitchFamily="49" charset="0"/>
                <a:cs typeface="Consolas" panose="020B0609020204030204" pitchFamily="49" charset="0"/>
              </a:rPr>
              <a:t>u+s</a:t>
            </a:r>
            <a:r>
              <a:rPr lang="en-US" sz="1500" dirty="0">
                <a:latin typeface="Consolas" panose="020B0609020204030204" pitchFamily="49" charset="0"/>
                <a:cs typeface="Consolas" panose="020B0609020204030204" pitchFamily="49" charset="0"/>
              </a:rPr>
              <a:t> </a:t>
            </a:r>
            <a:r>
              <a:rPr lang="en-US" sz="1500" dirty="0" err="1">
                <a:latin typeface="Consolas" panose="020B0609020204030204" pitchFamily="49" charset="0"/>
                <a:cs typeface="Consolas" panose="020B0609020204030204" pitchFamily="49" charset="0"/>
              </a:rPr>
              <a:t>sudo</a:t>
            </a:r>
            <a:r>
              <a:rPr lang="en-US" sz="1500" dirty="0"/>
              <a:t>)</a:t>
            </a:r>
          </a:p>
          <a:p>
            <a:pPr lvl="2"/>
            <a:r>
              <a:rPr lang="en-US" sz="1500" dirty="0" err="1"/>
              <a:t>numeriek</a:t>
            </a:r>
            <a:r>
              <a:rPr lang="en-US" sz="1500" dirty="0"/>
              <a:t> +4000 (</a:t>
            </a:r>
            <a:r>
              <a:rPr lang="en-US" sz="1500" dirty="0" err="1"/>
              <a:t>bijv</a:t>
            </a:r>
            <a:r>
              <a:rPr lang="en-US" sz="1500" dirty="0"/>
              <a:t>. </a:t>
            </a:r>
            <a:r>
              <a:rPr lang="en-US" sz="1500" dirty="0" err="1">
                <a:latin typeface="Consolas" panose="020B0609020204030204" pitchFamily="49" charset="0"/>
                <a:cs typeface="Consolas" panose="020B0609020204030204" pitchFamily="49" charset="0"/>
              </a:rPr>
              <a:t>chmod</a:t>
            </a:r>
            <a:r>
              <a:rPr lang="en-US" sz="1500" dirty="0">
                <a:latin typeface="Consolas" panose="020B0609020204030204" pitchFamily="49" charset="0"/>
                <a:cs typeface="Consolas" panose="020B0609020204030204" pitchFamily="49" charset="0"/>
              </a:rPr>
              <a:t> 4111 </a:t>
            </a:r>
            <a:r>
              <a:rPr lang="en-US" sz="1500" dirty="0" err="1">
                <a:latin typeface="Consolas" panose="020B0609020204030204" pitchFamily="49" charset="0"/>
                <a:cs typeface="Consolas" panose="020B0609020204030204" pitchFamily="49" charset="0"/>
              </a:rPr>
              <a:t>sudo</a:t>
            </a:r>
            <a:r>
              <a:rPr lang="en-US" sz="1500" dirty="0">
                <a:cs typeface="Consolas" panose="020B0609020204030204" pitchFamily="49" charset="0"/>
              </a:rPr>
              <a:t>)</a:t>
            </a:r>
            <a:br>
              <a:rPr lang="en-US" sz="1500" dirty="0">
                <a:cs typeface="Consolas" panose="020B0609020204030204" pitchFamily="49" charset="0"/>
              </a:rPr>
            </a:br>
            <a:r>
              <a:rPr lang="nl-NL" sz="1500" dirty="0">
                <a:latin typeface="Consolas" panose="020B0609020204030204" pitchFamily="49" charset="0"/>
                <a:cs typeface="Consolas" panose="020B0609020204030204" pitchFamily="49" charset="0"/>
              </a:rPr>
              <a:t>---s--x--x. 1 root </a:t>
            </a:r>
            <a:r>
              <a:rPr lang="nl-NL" sz="1500" dirty="0" err="1">
                <a:latin typeface="Consolas" panose="020B0609020204030204" pitchFamily="49" charset="0"/>
                <a:cs typeface="Consolas" panose="020B0609020204030204" pitchFamily="49" charset="0"/>
              </a:rPr>
              <a:t>root</a:t>
            </a:r>
            <a:r>
              <a:rPr lang="nl-NL" sz="1500" dirty="0">
                <a:latin typeface="Consolas" panose="020B0609020204030204" pitchFamily="49" charset="0"/>
                <a:cs typeface="Consolas" panose="020B0609020204030204" pitchFamily="49" charset="0"/>
              </a:rPr>
              <a:t> 130720 Mar  6  2015 /</a:t>
            </a:r>
            <a:r>
              <a:rPr lang="nl-NL" sz="1500" dirty="0" err="1">
                <a:latin typeface="Consolas" panose="020B0609020204030204" pitchFamily="49" charset="0"/>
                <a:cs typeface="Consolas" panose="020B0609020204030204" pitchFamily="49" charset="0"/>
              </a:rPr>
              <a:t>usr</a:t>
            </a:r>
            <a:r>
              <a:rPr lang="nl-NL" sz="1500" dirty="0">
                <a:latin typeface="Consolas" panose="020B0609020204030204" pitchFamily="49" charset="0"/>
                <a:cs typeface="Consolas" panose="020B0609020204030204" pitchFamily="49" charset="0"/>
              </a:rPr>
              <a:t>/bin/</a:t>
            </a:r>
            <a:r>
              <a:rPr lang="nl-NL" sz="1500" dirty="0" err="1">
                <a:latin typeface="Consolas" panose="020B0609020204030204" pitchFamily="49" charset="0"/>
                <a:cs typeface="Consolas" panose="020B0609020204030204" pitchFamily="49" charset="0"/>
              </a:rPr>
              <a:t>sudo</a:t>
            </a:r>
            <a:endParaRPr lang="nl-NL" sz="1500" dirty="0">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US" dirty="0" err="1"/>
              <a:t>Bestandsrechten</a:t>
            </a:r>
            <a:r>
              <a:rPr lang="en-US" dirty="0"/>
              <a:t> </a:t>
            </a:r>
            <a:r>
              <a:rPr lang="nl-NL" dirty="0"/>
              <a:t>Linux </a:t>
            </a:r>
            <a:r>
              <a:rPr lang="en-US" dirty="0"/>
              <a:t>(3)</a:t>
            </a:r>
          </a:p>
        </p:txBody>
      </p:sp>
    </p:spTree>
    <p:extLst>
      <p:ext uri="{BB962C8B-B14F-4D97-AF65-F5344CB8AC3E}">
        <p14:creationId xmlns:p14="http://schemas.microsoft.com/office/powerpoint/2010/main" val="1706940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pPr marL="0" indent="0">
              <a:buNone/>
            </a:pPr>
            <a:r>
              <a:rPr lang="en-US" sz="1800" dirty="0" err="1"/>
              <a:t>Bijzondere</a:t>
            </a:r>
            <a:r>
              <a:rPr lang="en-US" sz="1800" dirty="0"/>
              <a:t> </a:t>
            </a:r>
            <a:r>
              <a:rPr lang="en-US" sz="1800" dirty="0" err="1"/>
              <a:t>rechten</a:t>
            </a:r>
            <a:r>
              <a:rPr lang="en-US" sz="1800" dirty="0"/>
              <a:t>:</a:t>
            </a:r>
          </a:p>
          <a:p>
            <a:pPr marL="742950" lvl="1" indent="-285750">
              <a:buFont typeface="Arial" panose="020B0604020202020204" pitchFamily="34" charset="0"/>
              <a:buChar char="•"/>
            </a:pPr>
            <a:r>
              <a:rPr lang="en-US" sz="1800" dirty="0" err="1"/>
              <a:t>setuid</a:t>
            </a:r>
            <a:endParaRPr lang="en-US" sz="1800" dirty="0"/>
          </a:p>
          <a:p>
            <a:pPr marL="742950" lvl="1" indent="-285750">
              <a:buFont typeface="Arial" panose="020B0604020202020204" pitchFamily="34" charset="0"/>
              <a:buChar char="•"/>
            </a:pPr>
            <a:r>
              <a:rPr lang="en-US" sz="1800" dirty="0" err="1"/>
              <a:t>setgid</a:t>
            </a:r>
            <a:endParaRPr lang="en-US" sz="1800" dirty="0"/>
          </a:p>
          <a:p>
            <a:pPr lvl="2"/>
            <a:r>
              <a:rPr lang="en-US" sz="1500" dirty="0" err="1"/>
              <a:t>setgid</a:t>
            </a:r>
            <a:r>
              <a:rPr lang="en-US" sz="1500" dirty="0"/>
              <a:t> executables </a:t>
            </a:r>
            <a:r>
              <a:rPr lang="en-US" sz="1500" dirty="0" err="1"/>
              <a:t>worden</a:t>
            </a:r>
            <a:r>
              <a:rPr lang="en-US" sz="1500" dirty="0"/>
              <a:t> </a:t>
            </a:r>
            <a:r>
              <a:rPr lang="en-US" sz="1500" dirty="0" err="1"/>
              <a:t>uitgevoerd</a:t>
            </a:r>
            <a:r>
              <a:rPr lang="en-US" sz="1500" dirty="0"/>
              <a:t> </a:t>
            </a:r>
            <a:r>
              <a:rPr lang="en-US" sz="1500" dirty="0" err="1"/>
              <a:t>onder</a:t>
            </a:r>
            <a:r>
              <a:rPr lang="en-US" sz="1500" dirty="0"/>
              <a:t> de </a:t>
            </a:r>
            <a:r>
              <a:rPr lang="en-US" sz="1500" dirty="0" err="1"/>
              <a:t>usergroup</a:t>
            </a:r>
            <a:r>
              <a:rPr lang="en-US" sz="1500" dirty="0"/>
              <a:t> die </a:t>
            </a:r>
            <a:r>
              <a:rPr lang="en-US" sz="1500" dirty="0" err="1"/>
              <a:t>aan</a:t>
            </a:r>
            <a:r>
              <a:rPr lang="en-US" sz="1500" dirty="0"/>
              <a:t> het </a:t>
            </a:r>
            <a:r>
              <a:rPr lang="en-US" sz="1500" dirty="0" err="1"/>
              <a:t>bestand</a:t>
            </a:r>
            <a:r>
              <a:rPr lang="en-US" sz="1500" dirty="0"/>
              <a:t> </a:t>
            </a:r>
            <a:r>
              <a:rPr lang="en-US" sz="1500" dirty="0" err="1"/>
              <a:t>gekoppeld</a:t>
            </a:r>
            <a:r>
              <a:rPr lang="en-US" sz="1500" dirty="0"/>
              <a:t> is</a:t>
            </a:r>
          </a:p>
          <a:p>
            <a:pPr lvl="2"/>
            <a:r>
              <a:rPr lang="en-US" sz="1500" dirty="0"/>
              <a:t>in directories met </a:t>
            </a:r>
            <a:r>
              <a:rPr lang="en-US" sz="1500" dirty="0" err="1"/>
              <a:t>setgid</a:t>
            </a:r>
            <a:r>
              <a:rPr lang="en-US" sz="1500" dirty="0"/>
              <a:t> </a:t>
            </a:r>
            <a:r>
              <a:rPr lang="en-US" sz="1500" dirty="0" err="1"/>
              <a:t>worden</a:t>
            </a:r>
            <a:r>
              <a:rPr lang="en-US" sz="1500" dirty="0"/>
              <a:t> </a:t>
            </a:r>
            <a:r>
              <a:rPr lang="en-US" sz="1500" dirty="0" err="1"/>
              <a:t>nieuwe</a:t>
            </a:r>
            <a:r>
              <a:rPr lang="en-US" sz="1500" dirty="0"/>
              <a:t> </a:t>
            </a:r>
            <a:r>
              <a:rPr lang="en-US" sz="1500" dirty="0" err="1"/>
              <a:t>bestanden</a:t>
            </a:r>
            <a:r>
              <a:rPr lang="en-US" sz="1500" dirty="0"/>
              <a:t> </a:t>
            </a:r>
            <a:r>
              <a:rPr lang="en-US" sz="1500" dirty="0" err="1"/>
              <a:t>aangemaakt</a:t>
            </a:r>
            <a:r>
              <a:rPr lang="en-US" sz="1500" dirty="0"/>
              <a:t> met de </a:t>
            </a:r>
            <a:r>
              <a:rPr lang="en-US" sz="1500" dirty="0" err="1"/>
              <a:t>groep</a:t>
            </a:r>
            <a:r>
              <a:rPr lang="en-US" sz="1500" dirty="0"/>
              <a:t> van de directory in </a:t>
            </a:r>
            <a:r>
              <a:rPr lang="en-US" sz="1500" dirty="0" err="1"/>
              <a:t>plaats</a:t>
            </a:r>
            <a:r>
              <a:rPr lang="en-US" sz="1500" dirty="0"/>
              <a:t> van de default group van de </a:t>
            </a:r>
            <a:r>
              <a:rPr lang="en-US" sz="1500" dirty="0" err="1"/>
              <a:t>gebruiker</a:t>
            </a:r>
            <a:endParaRPr lang="en-US" sz="1500" dirty="0"/>
          </a:p>
          <a:p>
            <a:pPr lvl="2"/>
            <a:r>
              <a:rPr lang="en-US" sz="1500" dirty="0" err="1"/>
              <a:t>symbolisch</a:t>
            </a:r>
            <a:r>
              <a:rPr lang="en-US" sz="1500" dirty="0"/>
              <a:t> </a:t>
            </a:r>
            <a:r>
              <a:rPr lang="en-US" sz="1500" dirty="0" err="1">
                <a:latin typeface="Consolas" panose="020B0609020204030204" pitchFamily="49" charset="0"/>
                <a:cs typeface="Consolas" panose="020B0609020204030204" pitchFamily="49" charset="0"/>
              </a:rPr>
              <a:t>g+s</a:t>
            </a:r>
            <a:endParaRPr lang="en-US" sz="1500" dirty="0">
              <a:latin typeface="Consolas" panose="020B0609020204030204" pitchFamily="49" charset="0"/>
              <a:cs typeface="Consolas" panose="020B0609020204030204" pitchFamily="49" charset="0"/>
            </a:endParaRPr>
          </a:p>
          <a:p>
            <a:pPr lvl="2"/>
            <a:r>
              <a:rPr lang="en-US" sz="1500" dirty="0" err="1"/>
              <a:t>numeriek</a:t>
            </a:r>
            <a:r>
              <a:rPr lang="en-US" sz="1500" dirty="0"/>
              <a:t> +2000 (</a:t>
            </a:r>
            <a:r>
              <a:rPr lang="en-US" sz="1500" dirty="0" err="1"/>
              <a:t>bijv</a:t>
            </a:r>
            <a:r>
              <a:rPr lang="en-US" sz="1500" dirty="0"/>
              <a:t>. </a:t>
            </a:r>
            <a:r>
              <a:rPr lang="en-US" sz="1500" dirty="0" err="1">
                <a:latin typeface="Consolas" panose="020B0609020204030204" pitchFamily="49" charset="0"/>
                <a:cs typeface="Consolas" panose="020B0609020204030204" pitchFamily="49" charset="0"/>
              </a:rPr>
              <a:t>chmod</a:t>
            </a:r>
            <a:r>
              <a:rPr lang="en-US" sz="1500" dirty="0">
                <a:latin typeface="Consolas" panose="020B0609020204030204" pitchFamily="49" charset="0"/>
                <a:cs typeface="Consolas" panose="020B0609020204030204" pitchFamily="49" charset="0"/>
              </a:rPr>
              <a:t> 2555 wall</a:t>
            </a:r>
            <a:r>
              <a:rPr lang="en-US" sz="1500" dirty="0">
                <a:cs typeface="Consolas" panose="020B0609020204030204" pitchFamily="49" charset="0"/>
              </a:rPr>
              <a:t>)</a:t>
            </a:r>
            <a:br>
              <a:rPr lang="en-US" sz="1500" dirty="0">
                <a:cs typeface="Consolas" panose="020B0609020204030204" pitchFamily="49" charset="0"/>
              </a:rPr>
            </a:br>
            <a:r>
              <a:rPr lang="de-DE" sz="1500" dirty="0">
                <a:latin typeface="Consolas" panose="020B0609020204030204" pitchFamily="49" charset="0"/>
                <a:cs typeface="Consolas" panose="020B0609020204030204" pitchFamily="49" charset="0"/>
              </a:rPr>
              <a:t>-r-</a:t>
            </a:r>
            <a:r>
              <a:rPr lang="de-DE" sz="1500" dirty="0" err="1">
                <a:latin typeface="Consolas" panose="020B0609020204030204" pitchFamily="49" charset="0"/>
                <a:cs typeface="Consolas" panose="020B0609020204030204" pitchFamily="49" charset="0"/>
              </a:rPr>
              <a:t>xr</a:t>
            </a:r>
            <a:r>
              <a:rPr lang="de-DE" sz="1500" dirty="0">
                <a:latin typeface="Consolas" panose="020B0609020204030204" pitchFamily="49" charset="0"/>
                <a:cs typeface="Consolas" panose="020B0609020204030204" pitchFamily="49" charset="0"/>
              </a:rPr>
              <a:t>-</a:t>
            </a:r>
            <a:r>
              <a:rPr lang="de-DE" sz="1500" dirty="0" err="1">
                <a:latin typeface="Consolas" panose="020B0609020204030204" pitchFamily="49" charset="0"/>
                <a:cs typeface="Consolas" panose="020B0609020204030204" pitchFamily="49" charset="0"/>
              </a:rPr>
              <a:t>sr</a:t>
            </a:r>
            <a:r>
              <a:rPr lang="de-DE" sz="1500" dirty="0">
                <a:latin typeface="Consolas" panose="020B0609020204030204" pitchFamily="49" charset="0"/>
                <a:cs typeface="Consolas" panose="020B0609020204030204" pitchFamily="49" charset="0"/>
              </a:rPr>
              <a:t>-x. 1 </a:t>
            </a:r>
            <a:r>
              <a:rPr lang="de-DE" sz="1500" dirty="0" err="1">
                <a:latin typeface="Consolas" panose="020B0609020204030204" pitchFamily="49" charset="0"/>
                <a:cs typeface="Consolas" panose="020B0609020204030204" pitchFamily="49" charset="0"/>
              </a:rPr>
              <a:t>root</a:t>
            </a:r>
            <a:r>
              <a:rPr lang="de-DE" sz="1500" dirty="0">
                <a:latin typeface="Consolas" panose="020B0609020204030204" pitchFamily="49" charset="0"/>
                <a:cs typeface="Consolas" panose="020B0609020204030204" pitchFamily="49" charset="0"/>
              </a:rPr>
              <a:t> </a:t>
            </a:r>
            <a:r>
              <a:rPr lang="de-DE" sz="1500" dirty="0" err="1">
                <a:latin typeface="Consolas" panose="020B0609020204030204" pitchFamily="49" charset="0"/>
                <a:cs typeface="Consolas" panose="020B0609020204030204" pitchFamily="49" charset="0"/>
              </a:rPr>
              <a:t>tty</a:t>
            </a:r>
            <a:r>
              <a:rPr lang="de-DE" sz="1500" dirty="0">
                <a:latin typeface="Consolas" panose="020B0609020204030204" pitchFamily="49" charset="0"/>
                <a:cs typeface="Consolas" panose="020B0609020204030204" pitchFamily="49" charset="0"/>
              </a:rPr>
              <a:t> 15344 Jun 10  2014 /</a:t>
            </a:r>
            <a:r>
              <a:rPr lang="de-DE" sz="1500" dirty="0" err="1">
                <a:latin typeface="Consolas" panose="020B0609020204030204" pitchFamily="49" charset="0"/>
                <a:cs typeface="Consolas" panose="020B0609020204030204" pitchFamily="49" charset="0"/>
              </a:rPr>
              <a:t>usr</a:t>
            </a:r>
            <a:r>
              <a:rPr lang="de-DE" sz="1500" dirty="0">
                <a:latin typeface="Consolas" panose="020B0609020204030204" pitchFamily="49" charset="0"/>
                <a:cs typeface="Consolas" panose="020B0609020204030204" pitchFamily="49" charset="0"/>
              </a:rPr>
              <a:t>/bin/wall</a:t>
            </a:r>
            <a:endParaRPr lang="nl-NL" sz="1500" dirty="0">
              <a:latin typeface="Consolas" panose="020B0609020204030204" pitchFamily="49" charset="0"/>
              <a:cs typeface="Consolas" panose="020B0609020204030204" pitchFamily="49" charset="0"/>
            </a:endParaRPr>
          </a:p>
          <a:p>
            <a:endParaRPr lang="nl-NL" dirty="0"/>
          </a:p>
        </p:txBody>
      </p:sp>
      <p:sp>
        <p:nvSpPr>
          <p:cNvPr id="2" name="Title 1"/>
          <p:cNvSpPr>
            <a:spLocks noGrp="1"/>
          </p:cNvSpPr>
          <p:nvPr>
            <p:ph type="title"/>
          </p:nvPr>
        </p:nvSpPr>
        <p:spPr/>
        <p:txBody>
          <a:bodyPr/>
          <a:lstStyle/>
          <a:p>
            <a:r>
              <a:rPr lang="en-US" dirty="0" err="1"/>
              <a:t>Bestandsrechten</a:t>
            </a:r>
            <a:r>
              <a:rPr lang="en-US" dirty="0"/>
              <a:t> </a:t>
            </a:r>
            <a:r>
              <a:rPr lang="nl-NL" dirty="0"/>
              <a:t>Linux </a:t>
            </a:r>
            <a:r>
              <a:rPr lang="en-US" dirty="0"/>
              <a:t>(3)</a:t>
            </a:r>
          </a:p>
        </p:txBody>
      </p:sp>
    </p:spTree>
    <p:extLst>
      <p:ext uri="{BB962C8B-B14F-4D97-AF65-F5344CB8AC3E}">
        <p14:creationId xmlns:p14="http://schemas.microsoft.com/office/powerpoint/2010/main" val="39392715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 calcmode="lin" valueType="num">
                                      <p:cBhvr additive="base">
                                        <p:cTn id="1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pPr marL="0" indent="0">
              <a:buNone/>
            </a:pPr>
            <a:r>
              <a:rPr lang="en-US" sz="1800" dirty="0" err="1"/>
              <a:t>Bijzondere</a:t>
            </a:r>
            <a:r>
              <a:rPr lang="en-US" sz="1800" dirty="0"/>
              <a:t> </a:t>
            </a:r>
            <a:r>
              <a:rPr lang="en-US" sz="1800" dirty="0" err="1"/>
              <a:t>rechten</a:t>
            </a:r>
            <a:r>
              <a:rPr lang="en-US" sz="1800" dirty="0"/>
              <a:t>:</a:t>
            </a:r>
          </a:p>
          <a:p>
            <a:pPr marL="742950" lvl="1" indent="-285750">
              <a:buFont typeface="Arial" panose="020B0604020202020204" pitchFamily="34" charset="0"/>
              <a:buChar char="•"/>
            </a:pPr>
            <a:r>
              <a:rPr lang="en-US" sz="1800" dirty="0" err="1"/>
              <a:t>setuid</a:t>
            </a:r>
            <a:endParaRPr lang="en-US" sz="1800" dirty="0"/>
          </a:p>
          <a:p>
            <a:pPr marL="742950" lvl="1" indent="-285750">
              <a:buFont typeface="Arial" panose="020B0604020202020204" pitchFamily="34" charset="0"/>
              <a:buChar char="•"/>
            </a:pPr>
            <a:r>
              <a:rPr lang="en-US" sz="1800" dirty="0" err="1"/>
              <a:t>setgid</a:t>
            </a:r>
            <a:endParaRPr lang="en-US" sz="1800" dirty="0"/>
          </a:p>
          <a:p>
            <a:pPr marL="742950" lvl="1" indent="-285750">
              <a:buFont typeface="Arial" panose="020B0604020202020204" pitchFamily="34" charset="0"/>
              <a:buChar char="•"/>
            </a:pPr>
            <a:r>
              <a:rPr lang="en-US" sz="1800" i="1" dirty="0"/>
              <a:t>sticky bit</a:t>
            </a:r>
          </a:p>
          <a:p>
            <a:pPr lvl="2"/>
            <a:r>
              <a:rPr lang="en-US" sz="1500" dirty="0" err="1"/>
              <a:t>bestanden</a:t>
            </a:r>
            <a:r>
              <a:rPr lang="en-US" sz="1500" dirty="0"/>
              <a:t> en directories </a:t>
            </a:r>
            <a:r>
              <a:rPr lang="en-US" sz="1500" dirty="0" err="1"/>
              <a:t>binnen</a:t>
            </a:r>
            <a:r>
              <a:rPr lang="en-US" sz="1500" dirty="0"/>
              <a:t> </a:t>
            </a:r>
            <a:r>
              <a:rPr lang="en-US" sz="1500" dirty="0" err="1"/>
              <a:t>een</a:t>
            </a:r>
            <a:r>
              <a:rPr lang="en-US" sz="1500" dirty="0"/>
              <a:t> directory met sticky bit </a:t>
            </a:r>
            <a:r>
              <a:rPr lang="en-US" sz="1500" dirty="0" err="1"/>
              <a:t>kunnen</a:t>
            </a:r>
            <a:r>
              <a:rPr lang="en-US" sz="1500" dirty="0"/>
              <a:t> </a:t>
            </a:r>
            <a:r>
              <a:rPr lang="en-US" sz="1500" dirty="0" err="1"/>
              <a:t>alleen</a:t>
            </a:r>
            <a:r>
              <a:rPr lang="en-US" sz="1500" dirty="0"/>
              <a:t> door </a:t>
            </a:r>
            <a:r>
              <a:rPr lang="en-US" sz="1500" dirty="0">
                <a:latin typeface="Consolas" panose="020B0609020204030204" pitchFamily="49" charset="0"/>
                <a:cs typeface="Consolas" panose="020B0609020204030204" pitchFamily="49" charset="0"/>
              </a:rPr>
              <a:t>root</a:t>
            </a:r>
            <a:r>
              <a:rPr lang="en-US" sz="1500" dirty="0"/>
              <a:t>, de </a:t>
            </a:r>
            <a:r>
              <a:rPr lang="en-US" sz="1500" i="1" dirty="0"/>
              <a:t>owner</a:t>
            </a:r>
            <a:r>
              <a:rPr lang="en-US" sz="1500" dirty="0"/>
              <a:t> van het </a:t>
            </a:r>
            <a:r>
              <a:rPr lang="en-US" sz="1500" dirty="0" err="1"/>
              <a:t>bestand</a:t>
            </a:r>
            <a:r>
              <a:rPr lang="en-US" sz="1500" dirty="0"/>
              <a:t> of de </a:t>
            </a:r>
            <a:r>
              <a:rPr lang="en-US" sz="1500" i="1" dirty="0"/>
              <a:t>owner </a:t>
            </a:r>
            <a:r>
              <a:rPr lang="en-US" sz="1500" dirty="0"/>
              <a:t>van de directory </a:t>
            </a:r>
            <a:r>
              <a:rPr lang="en-US" sz="1500" dirty="0" err="1"/>
              <a:t>worden</a:t>
            </a:r>
            <a:r>
              <a:rPr lang="en-US" sz="1500" dirty="0"/>
              <a:t> </a:t>
            </a:r>
            <a:r>
              <a:rPr lang="en-US" sz="1500" dirty="0" err="1"/>
              <a:t>verwijderd</a:t>
            </a:r>
            <a:endParaRPr lang="en-US" sz="1500" dirty="0"/>
          </a:p>
          <a:p>
            <a:pPr lvl="2"/>
            <a:r>
              <a:rPr lang="en-US" sz="1500" dirty="0" err="1"/>
              <a:t>symbolisch</a:t>
            </a:r>
            <a:r>
              <a:rPr lang="en-US" sz="1500" dirty="0"/>
              <a:t> +t (</a:t>
            </a:r>
            <a:r>
              <a:rPr lang="en-US" sz="1500" dirty="0" err="1"/>
              <a:t>bijv</a:t>
            </a:r>
            <a:r>
              <a:rPr lang="en-US" sz="1500" dirty="0"/>
              <a:t>. </a:t>
            </a:r>
            <a:r>
              <a:rPr lang="en-US" sz="1500" dirty="0" err="1">
                <a:latin typeface="Consolas" panose="020B0609020204030204" pitchFamily="49" charset="0"/>
                <a:cs typeface="Consolas" panose="020B0609020204030204" pitchFamily="49" charset="0"/>
              </a:rPr>
              <a:t>chmod</a:t>
            </a:r>
            <a:r>
              <a:rPr lang="en-US" sz="1500" dirty="0">
                <a:latin typeface="Consolas" panose="020B0609020204030204" pitchFamily="49" charset="0"/>
                <a:cs typeface="Consolas" panose="020B0609020204030204" pitchFamily="49" charset="0"/>
              </a:rPr>
              <a:t> +t /</a:t>
            </a:r>
            <a:r>
              <a:rPr lang="en-US" sz="1500" dirty="0" err="1">
                <a:latin typeface="Consolas" panose="020B0609020204030204" pitchFamily="49" charset="0"/>
                <a:cs typeface="Consolas" panose="020B0609020204030204" pitchFamily="49" charset="0"/>
              </a:rPr>
              <a:t>tmp</a:t>
            </a:r>
            <a:r>
              <a:rPr lang="en-US" sz="1500" dirty="0"/>
              <a:t>)</a:t>
            </a:r>
          </a:p>
          <a:p>
            <a:pPr lvl="2"/>
            <a:r>
              <a:rPr lang="en-US" sz="1500" dirty="0" err="1"/>
              <a:t>numeriek</a:t>
            </a:r>
            <a:r>
              <a:rPr lang="en-US" sz="1500" dirty="0"/>
              <a:t> +1000 (</a:t>
            </a:r>
            <a:r>
              <a:rPr lang="en-US" sz="1500" dirty="0" err="1"/>
              <a:t>bijv</a:t>
            </a:r>
            <a:r>
              <a:rPr lang="en-US" sz="1500" dirty="0"/>
              <a:t>. </a:t>
            </a:r>
            <a:r>
              <a:rPr lang="en-US" sz="1500" dirty="0" err="1">
                <a:latin typeface="Consolas" panose="020B0609020204030204" pitchFamily="49" charset="0"/>
                <a:cs typeface="Consolas" panose="020B0609020204030204" pitchFamily="49" charset="0"/>
              </a:rPr>
              <a:t>chmod</a:t>
            </a:r>
            <a:r>
              <a:rPr lang="en-US" sz="1500" dirty="0">
                <a:latin typeface="Consolas" panose="020B0609020204030204" pitchFamily="49" charset="0"/>
                <a:cs typeface="Consolas" panose="020B0609020204030204" pitchFamily="49" charset="0"/>
              </a:rPr>
              <a:t> 1777 /</a:t>
            </a:r>
            <a:r>
              <a:rPr lang="en-US" sz="1500" dirty="0" err="1">
                <a:latin typeface="Consolas" panose="020B0609020204030204" pitchFamily="49" charset="0"/>
                <a:cs typeface="Consolas" panose="020B0609020204030204" pitchFamily="49" charset="0"/>
              </a:rPr>
              <a:t>tmp</a:t>
            </a:r>
            <a:r>
              <a:rPr lang="en-US" dirty="0"/>
              <a:t>)</a:t>
            </a:r>
            <a:br>
              <a:rPr lang="nl-NL" sz="1200" dirty="0">
                <a:latin typeface="Consolas" panose="020B0609020204030204" pitchFamily="49" charset="0"/>
                <a:cs typeface="Consolas" panose="020B0609020204030204" pitchFamily="49" charset="0"/>
              </a:rPr>
            </a:br>
            <a:r>
              <a:rPr lang="nl-NL" sz="1500" dirty="0" err="1">
                <a:latin typeface="Consolas" panose="020B0609020204030204" pitchFamily="49" charset="0"/>
                <a:cs typeface="Consolas" panose="020B0609020204030204" pitchFamily="49" charset="0"/>
              </a:rPr>
              <a:t>drwxrwxrwt</a:t>
            </a:r>
            <a:r>
              <a:rPr lang="nl-NL" sz="1500" dirty="0">
                <a:latin typeface="Consolas" panose="020B0609020204030204" pitchFamily="49" charset="0"/>
                <a:cs typeface="Consolas" panose="020B0609020204030204" pitchFamily="49" charset="0"/>
              </a:rPr>
              <a:t>. 11 root </a:t>
            </a:r>
            <a:r>
              <a:rPr lang="nl-NL" sz="1500" dirty="0" err="1">
                <a:latin typeface="Consolas" panose="020B0609020204030204" pitchFamily="49" charset="0"/>
                <a:cs typeface="Consolas" panose="020B0609020204030204" pitchFamily="49" charset="0"/>
              </a:rPr>
              <a:t>root</a:t>
            </a:r>
            <a:r>
              <a:rPr lang="nl-NL" sz="1500" dirty="0">
                <a:latin typeface="Consolas" panose="020B0609020204030204" pitchFamily="49" charset="0"/>
                <a:cs typeface="Consolas" panose="020B0609020204030204" pitchFamily="49" charset="0"/>
              </a:rPr>
              <a:t> 4096 Feb 19 14:57 /</a:t>
            </a:r>
            <a:r>
              <a:rPr lang="nl-NL" sz="1500" dirty="0" err="1">
                <a:latin typeface="Consolas" panose="020B0609020204030204" pitchFamily="49" charset="0"/>
                <a:cs typeface="Consolas" panose="020B0609020204030204" pitchFamily="49" charset="0"/>
              </a:rPr>
              <a:t>tmp</a:t>
            </a:r>
            <a:endParaRPr lang="en-US" sz="1500" dirty="0"/>
          </a:p>
        </p:txBody>
      </p:sp>
      <p:sp>
        <p:nvSpPr>
          <p:cNvPr id="2" name="Title 1"/>
          <p:cNvSpPr>
            <a:spLocks noGrp="1"/>
          </p:cNvSpPr>
          <p:nvPr>
            <p:ph type="title"/>
          </p:nvPr>
        </p:nvSpPr>
        <p:spPr/>
        <p:txBody>
          <a:bodyPr/>
          <a:lstStyle/>
          <a:p>
            <a:r>
              <a:rPr lang="en-US" dirty="0" err="1"/>
              <a:t>Bestandsrechten</a:t>
            </a:r>
            <a:r>
              <a:rPr lang="en-US" dirty="0"/>
              <a:t> </a:t>
            </a:r>
            <a:r>
              <a:rPr lang="nl-NL" dirty="0"/>
              <a:t>Linux </a:t>
            </a:r>
            <a:r>
              <a:rPr lang="en-US" dirty="0"/>
              <a:t>(3)</a:t>
            </a:r>
          </a:p>
        </p:txBody>
      </p:sp>
    </p:spTree>
    <p:extLst>
      <p:ext uri="{BB962C8B-B14F-4D97-AF65-F5344CB8AC3E}">
        <p14:creationId xmlns:p14="http://schemas.microsoft.com/office/powerpoint/2010/main" val="252465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 calcmode="lin" valueType="num">
                                      <p:cBhvr additive="base">
                                        <p:cTn id="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 calcmode="lin" valueType="num">
                                      <p:cBhvr additive="base">
                                        <p:cTn id="1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94EADD-6A18-43BF-B16C-814CD74AB138}"/>
              </a:ext>
            </a:extLst>
          </p:cNvPr>
          <p:cNvSpPr>
            <a:spLocks noGrp="1"/>
          </p:cNvSpPr>
          <p:nvPr>
            <p:ph type="body" sz="quarter" idx="11"/>
          </p:nvPr>
        </p:nvSpPr>
        <p:spPr>
          <a:xfrm>
            <a:off x="718219" y="1196341"/>
            <a:ext cx="7768768" cy="3292316"/>
          </a:xfrm>
        </p:spPr>
        <p:txBody>
          <a:bodyPr/>
          <a:lstStyle/>
          <a:p>
            <a:r>
              <a:rPr lang="nl-NL" sz="1800" dirty="0"/>
              <a:t>Moderne Linux/UNIX systemen hebben naast ‘standaard’ ACL:</a:t>
            </a:r>
          </a:p>
          <a:p>
            <a:pPr marL="800100" lvl="1" indent="-342900">
              <a:buFont typeface="Courier New" panose="02070309020205020404" pitchFamily="49" charset="0"/>
              <a:buChar char="o"/>
            </a:pPr>
            <a:r>
              <a:rPr lang="nl-NL" sz="1800" dirty="0"/>
              <a:t>Extensies om de standaard ACL te ‘</a:t>
            </a:r>
            <a:r>
              <a:rPr lang="nl-NL" sz="1800" dirty="0" err="1"/>
              <a:t>fine-tunen</a:t>
            </a:r>
            <a:r>
              <a:rPr lang="nl-NL" sz="1800" dirty="0"/>
              <a:t>’;</a:t>
            </a:r>
          </a:p>
          <a:p>
            <a:pPr marL="800100" lvl="1" indent="-342900">
              <a:buFont typeface="Courier New" panose="02070309020205020404" pitchFamily="49" charset="0"/>
              <a:buChar char="o"/>
            </a:pPr>
            <a:r>
              <a:rPr lang="nl-NL" sz="1800" dirty="0" err="1"/>
              <a:t>Kernel</a:t>
            </a:r>
            <a:r>
              <a:rPr lang="nl-NL" sz="1800" dirty="0"/>
              <a:t> </a:t>
            </a:r>
            <a:r>
              <a:rPr lang="nl-NL" sz="1800" dirty="0" err="1"/>
              <a:t>extensions</a:t>
            </a:r>
            <a:r>
              <a:rPr lang="nl-NL" sz="1800" dirty="0"/>
              <a:t> voor alternatieven.</a:t>
            </a:r>
          </a:p>
          <a:p>
            <a:r>
              <a:rPr lang="nl-NL" sz="1800" dirty="0"/>
              <a:t>Beperkingen van het ‘standaard’ model:</a:t>
            </a:r>
          </a:p>
          <a:p>
            <a:pPr marL="800100" lvl="1" indent="-342900">
              <a:buFont typeface="Courier New" panose="02070309020205020404" pitchFamily="49" charset="0"/>
              <a:buChar char="o"/>
            </a:pPr>
            <a:r>
              <a:rPr lang="nl-NL" sz="1800" dirty="0">
                <a:latin typeface="Consolas" panose="020B0609020204030204" pitchFamily="49" charset="0"/>
              </a:rPr>
              <a:t>root</a:t>
            </a:r>
            <a:r>
              <a:rPr lang="nl-NL" sz="1800" dirty="0"/>
              <a:t> = single point of failure;</a:t>
            </a:r>
          </a:p>
          <a:p>
            <a:pPr marL="800100" lvl="1" indent="-342900">
              <a:buFont typeface="Courier New" panose="02070309020205020404" pitchFamily="49" charset="0"/>
              <a:buChar char="o"/>
            </a:pPr>
            <a:r>
              <a:rPr lang="nl-NL" sz="1800" dirty="0">
                <a:latin typeface="Consolas" panose="020B0609020204030204" pitchFamily="49" charset="0"/>
              </a:rPr>
              <a:t>root</a:t>
            </a:r>
            <a:r>
              <a:rPr lang="nl-NL" sz="1800" dirty="0"/>
              <a:t> mogelijkheden scheiden door schrijven </a:t>
            </a:r>
            <a:r>
              <a:rPr lang="nl-NL" sz="1800" i="1" dirty="0" err="1"/>
              <a:t>setuid</a:t>
            </a:r>
            <a:r>
              <a:rPr lang="nl-NL" sz="1800" dirty="0"/>
              <a:t> programma’s;</a:t>
            </a:r>
          </a:p>
          <a:p>
            <a:pPr marL="800100" lvl="1" indent="-342900">
              <a:buFont typeface="Courier New" panose="02070309020205020404" pitchFamily="49" charset="0"/>
              <a:buChar char="o"/>
            </a:pPr>
            <a:r>
              <a:rPr lang="nl-NL" sz="1800" dirty="0"/>
              <a:t>Beperkte netwerksecurity;</a:t>
            </a:r>
          </a:p>
          <a:p>
            <a:pPr marL="800100" lvl="1" indent="-342900">
              <a:buFont typeface="Courier New" panose="02070309020205020404" pitchFamily="49" charset="0"/>
              <a:buChar char="o"/>
            </a:pPr>
            <a:r>
              <a:rPr lang="nl-NL" sz="1800" dirty="0"/>
              <a:t>Geen mogelijkheden om bijv. twee generieke gebruikers toegang te geven tot specifiek bestand;</a:t>
            </a:r>
          </a:p>
          <a:p>
            <a:pPr marL="800100" lvl="1" indent="-342900">
              <a:buFont typeface="Courier New" panose="02070309020205020404" pitchFamily="49" charset="0"/>
              <a:buChar char="o"/>
            </a:pPr>
            <a:r>
              <a:rPr lang="nl-NL" sz="1800" dirty="0"/>
              <a:t>ACL regels vaak in de code van individuele commando’s/</a:t>
            </a:r>
            <a:r>
              <a:rPr lang="nl-NL" sz="1800" dirty="0" err="1"/>
              <a:t>deamons</a:t>
            </a:r>
            <a:r>
              <a:rPr lang="nl-NL" sz="1800" dirty="0"/>
              <a:t>;</a:t>
            </a:r>
          </a:p>
          <a:p>
            <a:pPr marL="800100" lvl="1" indent="-342900">
              <a:buFont typeface="Courier New" panose="02070309020205020404" pitchFamily="49" charset="0"/>
              <a:buChar char="o"/>
            </a:pPr>
            <a:r>
              <a:rPr lang="nl-NL" sz="1800" dirty="0"/>
              <a:t>Geen of beperkte </a:t>
            </a:r>
            <a:r>
              <a:rPr lang="nl-NL" sz="1800" dirty="0" err="1"/>
              <a:t>auditing</a:t>
            </a:r>
            <a:r>
              <a:rPr lang="nl-NL" sz="1800" dirty="0"/>
              <a:t> en logging.</a:t>
            </a:r>
            <a:endParaRPr lang="en-GB" sz="1800" dirty="0"/>
          </a:p>
        </p:txBody>
      </p:sp>
      <p:sp>
        <p:nvSpPr>
          <p:cNvPr id="2" name="Title 1">
            <a:extLst>
              <a:ext uri="{FF2B5EF4-FFF2-40B4-BE49-F238E27FC236}">
                <a16:creationId xmlns:a16="http://schemas.microsoft.com/office/drawing/2014/main" id="{007F001D-2C94-4405-80A3-404F1DB8261F}"/>
              </a:ext>
            </a:extLst>
          </p:cNvPr>
          <p:cNvSpPr>
            <a:spLocks noGrp="1"/>
          </p:cNvSpPr>
          <p:nvPr>
            <p:ph type="title"/>
          </p:nvPr>
        </p:nvSpPr>
        <p:spPr/>
        <p:txBody>
          <a:bodyPr/>
          <a:lstStyle/>
          <a:p>
            <a:r>
              <a:rPr lang="nl-NL" dirty="0" err="1"/>
              <a:t>Extensions</a:t>
            </a:r>
            <a:r>
              <a:rPr lang="nl-NL" dirty="0"/>
              <a:t> to </a:t>
            </a:r>
            <a:r>
              <a:rPr lang="nl-NL" dirty="0" err="1"/>
              <a:t>the</a:t>
            </a:r>
            <a:r>
              <a:rPr lang="nl-NL" dirty="0"/>
              <a:t> standard ACL</a:t>
            </a:r>
            <a:endParaRPr lang="en-GB" dirty="0"/>
          </a:p>
        </p:txBody>
      </p:sp>
      <p:sp>
        <p:nvSpPr>
          <p:cNvPr id="4" name="Slide Number Placeholder 3">
            <a:extLst>
              <a:ext uri="{FF2B5EF4-FFF2-40B4-BE49-F238E27FC236}">
                <a16:creationId xmlns:a16="http://schemas.microsoft.com/office/drawing/2014/main" id="{24B0896D-EECB-43C6-8A5D-973E2C97D7E0}"/>
              </a:ext>
            </a:extLst>
          </p:cNvPr>
          <p:cNvSpPr>
            <a:spLocks noGrp="1"/>
          </p:cNvSpPr>
          <p:nvPr>
            <p:ph type="sldNum" sz="quarter" idx="4294967295"/>
          </p:nvPr>
        </p:nvSpPr>
        <p:spPr>
          <a:xfrm>
            <a:off x="0" y="0"/>
            <a:ext cx="0" cy="0"/>
          </a:xfrm>
        </p:spPr>
        <p:txBody>
          <a:bodyPr/>
          <a:lstStyle/>
          <a:p>
            <a:fld id="{A9096D49-DAE3-40DE-93E0-41688E0A5016}" type="slidenum">
              <a:rPr lang="nl-NL" smtClean="0"/>
              <a:pPr/>
              <a:t>22</a:t>
            </a:fld>
            <a:endParaRPr lang="nl-NL"/>
          </a:p>
        </p:txBody>
      </p:sp>
    </p:spTree>
    <p:extLst>
      <p:ext uri="{BB962C8B-B14F-4D97-AF65-F5344CB8AC3E}">
        <p14:creationId xmlns:p14="http://schemas.microsoft.com/office/powerpoint/2010/main" val="2294679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8B72D0-0F11-45F7-9320-F753CA66FC1D}"/>
              </a:ext>
            </a:extLst>
          </p:cNvPr>
          <p:cNvSpPr>
            <a:spLocks noGrp="1"/>
          </p:cNvSpPr>
          <p:nvPr>
            <p:ph type="body" sz="quarter" idx="11"/>
          </p:nvPr>
        </p:nvSpPr>
        <p:spPr/>
        <p:txBody>
          <a:bodyPr/>
          <a:lstStyle/>
          <a:p>
            <a:r>
              <a:rPr lang="nl-NL" dirty="0"/>
              <a:t>UNIX/Linux user accounts: beveiligd met wachtwoord in </a:t>
            </a:r>
            <a:r>
              <a:rPr lang="nl-NL" dirty="0">
                <a:latin typeface="Consolas" panose="020B0609020204030204" pitchFamily="49" charset="0"/>
              </a:rPr>
              <a:t>/</a:t>
            </a:r>
            <a:r>
              <a:rPr lang="nl-NL" dirty="0" err="1">
                <a:latin typeface="Consolas" panose="020B0609020204030204" pitchFamily="49" charset="0"/>
              </a:rPr>
              <a:t>etc</a:t>
            </a:r>
            <a:r>
              <a:rPr lang="nl-NL" dirty="0">
                <a:latin typeface="Consolas" panose="020B0609020204030204" pitchFamily="49" charset="0"/>
              </a:rPr>
              <a:t>/</a:t>
            </a:r>
            <a:r>
              <a:rPr lang="nl-NL" dirty="0" err="1">
                <a:latin typeface="Consolas" panose="020B0609020204030204" pitchFamily="49" charset="0"/>
              </a:rPr>
              <a:t>shadow</a:t>
            </a:r>
            <a:r>
              <a:rPr lang="nl-NL" dirty="0"/>
              <a:t>, </a:t>
            </a:r>
            <a:r>
              <a:rPr lang="nl-NL" dirty="0">
                <a:latin typeface="Consolas" panose="020B0609020204030204" pitchFamily="49" charset="0"/>
              </a:rPr>
              <a:t>/</a:t>
            </a:r>
            <a:r>
              <a:rPr lang="nl-NL" dirty="0" err="1">
                <a:latin typeface="Consolas" panose="020B0609020204030204" pitchFamily="49" charset="0"/>
              </a:rPr>
              <a:t>etc</a:t>
            </a:r>
            <a:r>
              <a:rPr lang="nl-NL" dirty="0">
                <a:latin typeface="Consolas" panose="020B0609020204030204" pitchFamily="49" charset="0"/>
              </a:rPr>
              <a:t>/</a:t>
            </a:r>
            <a:r>
              <a:rPr lang="nl-NL" dirty="0" err="1">
                <a:latin typeface="Consolas" panose="020B0609020204030204" pitchFamily="49" charset="0"/>
              </a:rPr>
              <a:t>master.passwd</a:t>
            </a:r>
            <a:r>
              <a:rPr lang="nl-NL" dirty="0">
                <a:latin typeface="Consolas" panose="020B0609020204030204" pitchFamily="49" charset="0"/>
              </a:rPr>
              <a:t> </a:t>
            </a:r>
            <a:r>
              <a:rPr lang="nl-NL" dirty="0"/>
              <a:t>of een netwerk database;</a:t>
            </a:r>
          </a:p>
          <a:p>
            <a:r>
              <a:rPr lang="nl-NL" dirty="0"/>
              <a:t>Programma’s vragen om een “geldig” account;</a:t>
            </a:r>
          </a:p>
          <a:p>
            <a:r>
              <a:rPr lang="nl-NL" dirty="0"/>
              <a:t>PAM “regelt” de toegang van o.a.”:</a:t>
            </a:r>
          </a:p>
          <a:p>
            <a:pPr marL="800100" lvl="1" indent="-342900">
              <a:buFont typeface="Courier New" panose="02070309020205020404" pitchFamily="49" charset="0"/>
              <a:buChar char="o"/>
            </a:pPr>
            <a:r>
              <a:rPr lang="nl-NL" dirty="0"/>
              <a:t>Biometrie, </a:t>
            </a:r>
            <a:r>
              <a:rPr lang="nl-NL" dirty="0" err="1"/>
              <a:t>multi</a:t>
            </a:r>
            <a:r>
              <a:rPr lang="nl-NL" dirty="0"/>
              <a:t>-factor authenticatie, systeem en programma toegang;</a:t>
            </a:r>
          </a:p>
          <a:p>
            <a:r>
              <a:rPr lang="nl-NL" dirty="0"/>
              <a:t>PAM is authenticatie methode / proces:</a:t>
            </a:r>
          </a:p>
          <a:p>
            <a:pPr marL="800100" lvl="1" indent="-342900">
              <a:buFont typeface="Courier New" panose="02070309020205020404" pitchFamily="49" charset="0"/>
              <a:buChar char="o"/>
            </a:pPr>
            <a:r>
              <a:rPr lang="nl-NL" dirty="0"/>
              <a:t>Methode specifieke authenticatie </a:t>
            </a:r>
            <a:r>
              <a:rPr lang="nl-NL" dirty="0" err="1"/>
              <a:t>libraries</a:t>
            </a:r>
            <a:r>
              <a:rPr lang="nl-NL" dirty="0"/>
              <a:t>;</a:t>
            </a:r>
          </a:p>
          <a:p>
            <a:pPr marL="800100" lvl="1" indent="-342900">
              <a:buFont typeface="Courier New" panose="02070309020205020404" pitchFamily="49" charset="0"/>
              <a:buChar char="o"/>
            </a:pPr>
            <a:r>
              <a:rPr lang="nl-NL" dirty="0"/>
              <a:t>Authenticatie van gebruikers  of programma’s roep PAM aan;</a:t>
            </a:r>
            <a:endParaRPr lang="en-GB" dirty="0"/>
          </a:p>
        </p:txBody>
      </p:sp>
      <p:sp>
        <p:nvSpPr>
          <p:cNvPr id="2" name="Title 1">
            <a:extLst>
              <a:ext uri="{FF2B5EF4-FFF2-40B4-BE49-F238E27FC236}">
                <a16:creationId xmlns:a16="http://schemas.microsoft.com/office/drawing/2014/main" id="{7CDBCFC0-F20E-44EF-AB1C-4857EDC907EC}"/>
              </a:ext>
            </a:extLst>
          </p:cNvPr>
          <p:cNvSpPr>
            <a:spLocks noGrp="1"/>
          </p:cNvSpPr>
          <p:nvPr>
            <p:ph type="title"/>
          </p:nvPr>
        </p:nvSpPr>
        <p:spPr/>
        <p:txBody>
          <a:bodyPr/>
          <a:lstStyle/>
          <a:p>
            <a:r>
              <a:rPr lang="nl-NL" dirty="0" err="1"/>
              <a:t>Pluggable</a:t>
            </a:r>
            <a:r>
              <a:rPr lang="nl-NL" dirty="0"/>
              <a:t> </a:t>
            </a:r>
            <a:r>
              <a:rPr lang="nl-NL" dirty="0" err="1"/>
              <a:t>Authentication</a:t>
            </a:r>
            <a:r>
              <a:rPr lang="nl-NL" dirty="0"/>
              <a:t> Modules (PAM)</a:t>
            </a:r>
            <a:endParaRPr lang="en-GB" dirty="0"/>
          </a:p>
        </p:txBody>
      </p:sp>
      <p:sp>
        <p:nvSpPr>
          <p:cNvPr id="4" name="Slide Number Placeholder 3">
            <a:extLst>
              <a:ext uri="{FF2B5EF4-FFF2-40B4-BE49-F238E27FC236}">
                <a16:creationId xmlns:a16="http://schemas.microsoft.com/office/drawing/2014/main" id="{9031F849-DCC6-4F1F-803F-AF210ABCA32A}"/>
              </a:ext>
            </a:extLst>
          </p:cNvPr>
          <p:cNvSpPr>
            <a:spLocks noGrp="1"/>
          </p:cNvSpPr>
          <p:nvPr>
            <p:ph type="sldNum" sz="quarter" idx="4294967295"/>
          </p:nvPr>
        </p:nvSpPr>
        <p:spPr>
          <a:xfrm>
            <a:off x="0" y="0"/>
            <a:ext cx="0" cy="0"/>
          </a:xfrm>
        </p:spPr>
        <p:txBody>
          <a:bodyPr/>
          <a:lstStyle/>
          <a:p>
            <a:fld id="{A9096D49-DAE3-40DE-93E0-41688E0A5016}" type="slidenum">
              <a:rPr lang="nl-NL" smtClean="0"/>
              <a:pPr/>
              <a:t>23</a:t>
            </a:fld>
            <a:endParaRPr lang="nl-NL"/>
          </a:p>
        </p:txBody>
      </p:sp>
    </p:spTree>
    <p:extLst>
      <p:ext uri="{BB962C8B-B14F-4D97-AF65-F5344CB8AC3E}">
        <p14:creationId xmlns:p14="http://schemas.microsoft.com/office/powerpoint/2010/main" val="33588529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400EF9-B1E5-443D-89ED-2E8CAA418E93}"/>
              </a:ext>
            </a:extLst>
          </p:cNvPr>
          <p:cNvSpPr>
            <a:spLocks noGrp="1"/>
          </p:cNvSpPr>
          <p:nvPr>
            <p:ph type="body" sz="quarter" idx="11"/>
          </p:nvPr>
        </p:nvSpPr>
        <p:spPr/>
        <p:txBody>
          <a:bodyPr/>
          <a:lstStyle/>
          <a:p>
            <a:r>
              <a:rPr lang="nl-NL" dirty="0"/>
              <a:t>Net als PAM is Kerberos een Authenticatie systeem en “minder” een ACL.</a:t>
            </a:r>
          </a:p>
          <a:p>
            <a:pPr marL="800100" lvl="1" indent="-342900">
              <a:buFont typeface="Courier New" panose="02070309020205020404" pitchFamily="49" charset="0"/>
              <a:buChar char="o"/>
            </a:pPr>
            <a:r>
              <a:rPr lang="nl-NL" dirty="0"/>
              <a:t>PAM is een authenticatie </a:t>
            </a:r>
            <a:r>
              <a:rPr lang="nl-NL" dirty="0" err="1"/>
              <a:t>framework</a:t>
            </a:r>
            <a:r>
              <a:rPr lang="nl-NL" dirty="0"/>
              <a:t>;</a:t>
            </a:r>
          </a:p>
          <a:p>
            <a:pPr marL="800100" lvl="1" indent="-342900">
              <a:buFont typeface="Courier New" panose="02070309020205020404" pitchFamily="49" charset="0"/>
              <a:buChar char="o"/>
            </a:pPr>
            <a:r>
              <a:rPr lang="nl-NL" dirty="0"/>
              <a:t>Kerberos is een specifieke authenticatie methode;</a:t>
            </a:r>
          </a:p>
          <a:p>
            <a:pPr marL="800100" lvl="1" indent="-342900">
              <a:buFont typeface="Courier New" panose="02070309020205020404" pitchFamily="49" charset="0"/>
              <a:buChar char="o"/>
            </a:pPr>
            <a:r>
              <a:rPr lang="nl-NL" dirty="0"/>
              <a:t>PAM en Kerberos kunnen samenwerken.</a:t>
            </a:r>
          </a:p>
          <a:p>
            <a:r>
              <a:rPr lang="nl-NL" dirty="0"/>
              <a:t>Kerberos gebruikt een derde partij (server) om authenticatie te verzorgen in een netwerk.</a:t>
            </a:r>
          </a:p>
          <a:p>
            <a:pPr marL="800100" lvl="1" indent="-342900">
              <a:buFont typeface="Courier New" panose="02070309020205020404" pitchFamily="49" charset="0"/>
              <a:buChar char="o"/>
            </a:pPr>
            <a:r>
              <a:rPr lang="nl-NL" dirty="0"/>
              <a:t>Cryptografische gegevens gebruikt als bewijs van identiteit;</a:t>
            </a:r>
          </a:p>
          <a:p>
            <a:pPr marL="800100" lvl="1" indent="-342900">
              <a:buFont typeface="Courier New" panose="02070309020205020404" pitchFamily="49" charset="0"/>
              <a:buChar char="o"/>
            </a:pPr>
            <a:r>
              <a:rPr lang="nl-NL" dirty="0"/>
              <a:t>Een volwassen technologie.</a:t>
            </a:r>
            <a:endParaRPr lang="en-GB" dirty="0"/>
          </a:p>
          <a:p>
            <a:r>
              <a:rPr lang="nl-NL" dirty="0" err="1"/>
              <a:t>Kerberos</a:t>
            </a:r>
            <a:r>
              <a:rPr lang="nl-NL" dirty="0"/>
              <a:t> vormt de basis van Windows authenticatie.</a:t>
            </a:r>
          </a:p>
          <a:p>
            <a:pPr marL="685800">
              <a:buFont typeface="Courier New" panose="02070309020205020404" pitchFamily="49" charset="0"/>
              <a:buChar char="o"/>
            </a:pPr>
            <a:endParaRPr lang="nl-NL" dirty="0"/>
          </a:p>
        </p:txBody>
      </p:sp>
      <p:sp>
        <p:nvSpPr>
          <p:cNvPr id="2" name="Title 1">
            <a:extLst>
              <a:ext uri="{FF2B5EF4-FFF2-40B4-BE49-F238E27FC236}">
                <a16:creationId xmlns:a16="http://schemas.microsoft.com/office/drawing/2014/main" id="{2EE6D8DB-D6D9-4080-A505-4267ADFD796D}"/>
              </a:ext>
            </a:extLst>
          </p:cNvPr>
          <p:cNvSpPr>
            <a:spLocks noGrp="1"/>
          </p:cNvSpPr>
          <p:nvPr>
            <p:ph type="title"/>
          </p:nvPr>
        </p:nvSpPr>
        <p:spPr/>
        <p:txBody>
          <a:bodyPr/>
          <a:lstStyle/>
          <a:p>
            <a:r>
              <a:rPr lang="nl-NL" sz="2100" dirty="0"/>
              <a:t>Kerberos: Network </a:t>
            </a:r>
            <a:r>
              <a:rPr lang="nl-NL" sz="2100" dirty="0" err="1"/>
              <a:t>Cryptographic</a:t>
            </a:r>
            <a:r>
              <a:rPr lang="nl-NL" sz="2100" dirty="0"/>
              <a:t> </a:t>
            </a:r>
            <a:r>
              <a:rPr lang="nl-NL" sz="2100" dirty="0" err="1"/>
              <a:t>authentication</a:t>
            </a:r>
            <a:endParaRPr lang="en-GB" sz="2100" dirty="0"/>
          </a:p>
        </p:txBody>
      </p:sp>
      <p:sp>
        <p:nvSpPr>
          <p:cNvPr id="4" name="Slide Number Placeholder 3">
            <a:extLst>
              <a:ext uri="{FF2B5EF4-FFF2-40B4-BE49-F238E27FC236}">
                <a16:creationId xmlns:a16="http://schemas.microsoft.com/office/drawing/2014/main" id="{F76D7DCB-D678-43FC-8EB0-06CAAE3B1B4A}"/>
              </a:ext>
            </a:extLst>
          </p:cNvPr>
          <p:cNvSpPr>
            <a:spLocks noGrp="1"/>
          </p:cNvSpPr>
          <p:nvPr>
            <p:ph type="sldNum" sz="quarter" idx="4294967295"/>
          </p:nvPr>
        </p:nvSpPr>
        <p:spPr>
          <a:xfrm>
            <a:off x="0" y="0"/>
            <a:ext cx="0" cy="0"/>
          </a:xfrm>
        </p:spPr>
        <p:txBody>
          <a:bodyPr/>
          <a:lstStyle/>
          <a:p>
            <a:fld id="{A9096D49-DAE3-40DE-93E0-41688E0A5016}" type="slidenum">
              <a:rPr lang="nl-NL" smtClean="0"/>
              <a:pPr/>
              <a:t>24</a:t>
            </a:fld>
            <a:endParaRPr lang="nl-NL"/>
          </a:p>
        </p:txBody>
      </p:sp>
    </p:spTree>
    <p:extLst>
      <p:ext uri="{BB962C8B-B14F-4D97-AF65-F5344CB8AC3E}">
        <p14:creationId xmlns:p14="http://schemas.microsoft.com/office/powerpoint/2010/main" val="533960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15B82-2955-4BD3-A86C-19BE56FD5903}"/>
              </a:ext>
            </a:extLst>
          </p:cNvPr>
          <p:cNvSpPr>
            <a:spLocks noGrp="1"/>
          </p:cNvSpPr>
          <p:nvPr>
            <p:ph type="body" sz="quarter" idx="11"/>
          </p:nvPr>
        </p:nvSpPr>
        <p:spPr/>
        <p:txBody>
          <a:bodyPr/>
          <a:lstStyle/>
          <a:p>
            <a:r>
              <a:rPr lang="nl-NL" dirty="0"/>
              <a:t>2001 NSA: Security-</a:t>
            </a:r>
            <a:r>
              <a:rPr lang="nl-NL" dirty="0" err="1"/>
              <a:t>Enhanced</a:t>
            </a:r>
            <a:r>
              <a:rPr lang="nl-NL" dirty="0"/>
              <a:t> Linux (</a:t>
            </a:r>
            <a:r>
              <a:rPr lang="nl-NL" dirty="0" err="1"/>
              <a:t>SELinux</a:t>
            </a:r>
            <a:r>
              <a:rPr lang="nl-NL" dirty="0"/>
              <a:t>) in Linux kernel;</a:t>
            </a:r>
          </a:p>
          <a:p>
            <a:r>
              <a:rPr lang="nl-NL" dirty="0" err="1"/>
              <a:t>Kernel</a:t>
            </a:r>
            <a:r>
              <a:rPr lang="nl-NL" dirty="0"/>
              <a:t> ontwikkelaars: Linux Security API </a:t>
            </a:r>
            <a:r>
              <a:rPr lang="nl-NL" dirty="0" err="1"/>
              <a:t>kernel</a:t>
            </a:r>
            <a:r>
              <a:rPr lang="nl-NL" dirty="0"/>
              <a:t>-level interface (LSM);</a:t>
            </a:r>
          </a:p>
          <a:p>
            <a:r>
              <a:rPr lang="nl-NL" dirty="0"/>
              <a:t>Als meerdere ACL modules actief zijn, dan moet een actie door alle modules worden goedgekeurd;</a:t>
            </a:r>
          </a:p>
          <a:p>
            <a:r>
              <a:rPr lang="nl-NL" dirty="0" err="1"/>
              <a:t>Mandatory</a:t>
            </a:r>
            <a:r>
              <a:rPr lang="nl-NL" dirty="0"/>
              <a:t> Access Control: maken van ACL Policy;</a:t>
            </a:r>
          </a:p>
          <a:p>
            <a:pPr lvl="1"/>
            <a:r>
              <a:rPr lang="nl-NL" dirty="0"/>
              <a:t>‘</a:t>
            </a:r>
            <a:r>
              <a:rPr lang="nl-NL" dirty="0" err="1"/>
              <a:t>Principle</a:t>
            </a:r>
            <a:r>
              <a:rPr lang="nl-NL" dirty="0"/>
              <a:t> of </a:t>
            </a:r>
            <a:r>
              <a:rPr lang="nl-NL" dirty="0" err="1"/>
              <a:t>least</a:t>
            </a:r>
            <a:r>
              <a:rPr lang="nl-NL" dirty="0"/>
              <a:t> privilege’;</a:t>
            </a:r>
          </a:p>
          <a:p>
            <a:r>
              <a:rPr lang="nl-NL" dirty="0" err="1"/>
              <a:t>Role-Based</a:t>
            </a:r>
            <a:r>
              <a:rPr lang="nl-NL" dirty="0"/>
              <a:t> Access Control (RBAC): vergelijkbaar met groepen;</a:t>
            </a:r>
          </a:p>
          <a:p>
            <a:r>
              <a:rPr lang="nl-NL" dirty="0" err="1"/>
              <a:t>SELinux</a:t>
            </a:r>
            <a:r>
              <a:rPr lang="nl-NL" dirty="0"/>
              <a:t>: combinatie van (o.a.)  MAC, RBAC en modules;</a:t>
            </a:r>
          </a:p>
          <a:p>
            <a:pPr lvl="1"/>
            <a:r>
              <a:rPr lang="nl-NL" dirty="0"/>
              <a:t>Online policies beschikbaar.</a:t>
            </a:r>
            <a:endParaRPr lang="en-GB" dirty="0"/>
          </a:p>
        </p:txBody>
      </p:sp>
      <p:sp>
        <p:nvSpPr>
          <p:cNvPr id="2" name="Title 1">
            <a:extLst>
              <a:ext uri="{FF2B5EF4-FFF2-40B4-BE49-F238E27FC236}">
                <a16:creationId xmlns:a16="http://schemas.microsoft.com/office/drawing/2014/main" id="{7BE7E4CF-3E0D-4054-B9E9-C2F0655C0D54}"/>
              </a:ext>
            </a:extLst>
          </p:cNvPr>
          <p:cNvSpPr>
            <a:spLocks noGrp="1"/>
          </p:cNvSpPr>
          <p:nvPr>
            <p:ph type="title"/>
          </p:nvPr>
        </p:nvSpPr>
        <p:spPr/>
        <p:txBody>
          <a:bodyPr/>
          <a:lstStyle/>
          <a:p>
            <a:r>
              <a:rPr lang="nl-NL" dirty="0"/>
              <a:t>Modern Access Control</a:t>
            </a:r>
            <a:endParaRPr lang="en-GB" dirty="0"/>
          </a:p>
        </p:txBody>
      </p:sp>
      <p:sp>
        <p:nvSpPr>
          <p:cNvPr id="4" name="Slide Number Placeholder 3">
            <a:extLst>
              <a:ext uri="{FF2B5EF4-FFF2-40B4-BE49-F238E27FC236}">
                <a16:creationId xmlns:a16="http://schemas.microsoft.com/office/drawing/2014/main" id="{F5D215D7-DDBF-4CD6-A538-095BE8B3C4E1}"/>
              </a:ext>
            </a:extLst>
          </p:cNvPr>
          <p:cNvSpPr>
            <a:spLocks noGrp="1"/>
          </p:cNvSpPr>
          <p:nvPr>
            <p:ph type="sldNum" sz="quarter" idx="4294967295"/>
          </p:nvPr>
        </p:nvSpPr>
        <p:spPr>
          <a:xfrm>
            <a:off x="0" y="0"/>
            <a:ext cx="0" cy="0"/>
          </a:xfrm>
        </p:spPr>
        <p:txBody>
          <a:bodyPr/>
          <a:lstStyle/>
          <a:p>
            <a:fld id="{A9096D49-DAE3-40DE-93E0-41688E0A5016}" type="slidenum">
              <a:rPr lang="nl-NL" smtClean="0"/>
              <a:pPr/>
              <a:t>25</a:t>
            </a:fld>
            <a:endParaRPr lang="nl-NL"/>
          </a:p>
        </p:txBody>
      </p:sp>
    </p:spTree>
    <p:extLst>
      <p:ext uri="{BB962C8B-B14F-4D97-AF65-F5344CB8AC3E}">
        <p14:creationId xmlns:p14="http://schemas.microsoft.com/office/powerpoint/2010/main" val="18880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C5EA61-E876-4C12-A4CA-564FD360B702}"/>
              </a:ext>
            </a:extLst>
          </p:cNvPr>
          <p:cNvSpPr>
            <a:spLocks noGrp="1"/>
          </p:cNvSpPr>
          <p:nvPr>
            <p:ph type="body" sz="quarter" idx="11"/>
          </p:nvPr>
        </p:nvSpPr>
        <p:spPr/>
        <p:txBody>
          <a:bodyPr/>
          <a:lstStyle/>
          <a:p>
            <a:r>
              <a:rPr lang="nl-NL" dirty="0" err="1"/>
              <a:t>SELinux</a:t>
            </a:r>
            <a:r>
              <a:rPr lang="nl-NL" dirty="0"/>
              <a:t>:</a:t>
            </a:r>
          </a:p>
          <a:p>
            <a:pPr lvl="1"/>
            <a:r>
              <a:rPr lang="nl-NL" dirty="0">
                <a:latin typeface="Consolas" panose="020B0609020204030204" pitchFamily="49" charset="0"/>
              </a:rPr>
              <a:t>/</a:t>
            </a:r>
            <a:r>
              <a:rPr lang="nl-NL" dirty="0" err="1">
                <a:latin typeface="Consolas" panose="020B0609020204030204" pitchFamily="49" charset="0"/>
              </a:rPr>
              <a:t>etc</a:t>
            </a:r>
            <a:r>
              <a:rPr lang="nl-NL" dirty="0">
                <a:latin typeface="Consolas" panose="020B0609020204030204" pitchFamily="49" charset="0"/>
              </a:rPr>
              <a:t>/</a:t>
            </a:r>
            <a:r>
              <a:rPr lang="nl-NL" dirty="0" err="1">
                <a:latin typeface="Consolas" panose="020B0609020204030204" pitchFamily="49" charset="0"/>
              </a:rPr>
              <a:t>selinux</a:t>
            </a:r>
            <a:r>
              <a:rPr lang="nl-NL" dirty="0">
                <a:latin typeface="Consolas" panose="020B0609020204030204" pitchFamily="49" charset="0"/>
              </a:rPr>
              <a:t>/</a:t>
            </a:r>
            <a:r>
              <a:rPr lang="nl-NL" dirty="0" err="1">
                <a:latin typeface="Consolas" panose="020B0609020204030204" pitchFamily="49" charset="0"/>
              </a:rPr>
              <a:t>config</a:t>
            </a:r>
            <a:r>
              <a:rPr lang="nl-NL" dirty="0"/>
              <a:t>:</a:t>
            </a:r>
          </a:p>
          <a:p>
            <a:pPr lvl="2"/>
            <a:r>
              <a:rPr lang="nl-NL" dirty="0"/>
              <a:t>SELINUX=</a:t>
            </a:r>
            <a:r>
              <a:rPr lang="nl-NL" i="1" dirty="0" err="1"/>
              <a:t>enforcing</a:t>
            </a:r>
            <a:r>
              <a:rPr lang="nl-NL" dirty="0"/>
              <a:t>; </a:t>
            </a:r>
            <a:r>
              <a:rPr lang="nl-NL" i="1" dirty="0" err="1"/>
              <a:t>permissive</a:t>
            </a:r>
            <a:r>
              <a:rPr lang="nl-NL" dirty="0"/>
              <a:t> (</a:t>
            </a:r>
            <a:r>
              <a:rPr lang="nl-NL" dirty="0" err="1"/>
              <a:t>violation</a:t>
            </a:r>
            <a:r>
              <a:rPr lang="nl-NL" dirty="0"/>
              <a:t> logging) of </a:t>
            </a:r>
            <a:r>
              <a:rPr lang="nl-NL" i="1" dirty="0" err="1"/>
              <a:t>disabled</a:t>
            </a:r>
            <a:r>
              <a:rPr lang="nl-NL" dirty="0"/>
              <a:t>;</a:t>
            </a:r>
          </a:p>
          <a:p>
            <a:pPr lvl="2"/>
            <a:r>
              <a:rPr lang="nl-NL" dirty="0"/>
              <a:t>SELINUXTYPE=</a:t>
            </a:r>
            <a:r>
              <a:rPr lang="nl-NL" i="1" dirty="0" err="1"/>
              <a:t>targeted</a:t>
            </a:r>
            <a:r>
              <a:rPr lang="nl-NL" dirty="0"/>
              <a:t>; naam van policy database;</a:t>
            </a:r>
          </a:p>
          <a:p>
            <a:pPr marL="1714500" lvl="3" indent="-342900">
              <a:buFont typeface="Courier New" panose="02070309020205020404" pitchFamily="49" charset="0"/>
              <a:buChar char="o"/>
            </a:pPr>
            <a:r>
              <a:rPr lang="nl-NL" dirty="0"/>
              <a:t>Meestal subdirectory van /</a:t>
            </a:r>
            <a:r>
              <a:rPr lang="nl-NL" dirty="0" err="1"/>
              <a:t>etc</a:t>
            </a:r>
            <a:r>
              <a:rPr lang="nl-NL" dirty="0"/>
              <a:t>/</a:t>
            </a:r>
            <a:r>
              <a:rPr lang="nl-NL" dirty="0" err="1"/>
              <a:t>selinux</a:t>
            </a:r>
            <a:r>
              <a:rPr lang="nl-NL" dirty="0"/>
              <a:t>; </a:t>
            </a:r>
          </a:p>
          <a:p>
            <a:pPr marL="1714500" lvl="3" indent="-342900">
              <a:buFont typeface="Courier New" panose="02070309020205020404" pitchFamily="49" charset="0"/>
              <a:buChar char="o"/>
            </a:pPr>
            <a:r>
              <a:rPr lang="nl-NL" dirty="0"/>
              <a:t>Maar één policy kan tegelijkertijd actief zijn.</a:t>
            </a:r>
          </a:p>
          <a:p>
            <a:r>
              <a:rPr lang="nl-NL" dirty="0" err="1">
                <a:latin typeface="Consolas" panose="020B0609020204030204" pitchFamily="49" charset="0"/>
              </a:rPr>
              <a:t>semodule</a:t>
            </a:r>
            <a:r>
              <a:rPr lang="nl-NL" dirty="0"/>
              <a:t> (man);</a:t>
            </a:r>
          </a:p>
          <a:p>
            <a:r>
              <a:rPr lang="nl-NL" dirty="0" err="1"/>
              <a:t>SELinux</a:t>
            </a:r>
            <a:r>
              <a:rPr lang="nl-NL" dirty="0"/>
              <a:t> Policies:</a:t>
            </a:r>
          </a:p>
          <a:p>
            <a:pPr marL="800100" lvl="1" indent="-342900">
              <a:buFont typeface="Courier New" panose="02070309020205020404" pitchFamily="49" charset="0"/>
              <a:buChar char="o"/>
            </a:pPr>
            <a:r>
              <a:rPr lang="nl-NL" dirty="0">
                <a:latin typeface="Consolas" panose="020B0609020204030204" pitchFamily="49" charset="0"/>
              </a:rPr>
              <a:t>audit2allow</a:t>
            </a:r>
            <a:r>
              <a:rPr lang="nl-NL" dirty="0"/>
              <a:t> </a:t>
            </a:r>
            <a:r>
              <a:rPr lang="nl-NL" dirty="0" err="1"/>
              <a:t>utility</a:t>
            </a:r>
            <a:r>
              <a:rPr lang="nl-NL" dirty="0"/>
              <a:t>.</a:t>
            </a:r>
            <a:endParaRPr lang="en-GB" dirty="0"/>
          </a:p>
        </p:txBody>
      </p:sp>
      <p:sp>
        <p:nvSpPr>
          <p:cNvPr id="2" name="Title 1">
            <a:extLst>
              <a:ext uri="{FF2B5EF4-FFF2-40B4-BE49-F238E27FC236}">
                <a16:creationId xmlns:a16="http://schemas.microsoft.com/office/drawing/2014/main" id="{E4C36A57-1BD4-4A9E-8AF8-FE807DED00C5}"/>
              </a:ext>
            </a:extLst>
          </p:cNvPr>
          <p:cNvSpPr>
            <a:spLocks noGrp="1"/>
          </p:cNvSpPr>
          <p:nvPr>
            <p:ph type="title"/>
          </p:nvPr>
        </p:nvSpPr>
        <p:spPr/>
        <p:txBody>
          <a:bodyPr/>
          <a:lstStyle/>
          <a:p>
            <a:r>
              <a:rPr lang="nl-NL" dirty="0"/>
              <a:t>Modern Access Control</a:t>
            </a:r>
            <a:endParaRPr lang="en-GB" dirty="0"/>
          </a:p>
        </p:txBody>
      </p:sp>
      <p:sp>
        <p:nvSpPr>
          <p:cNvPr id="4" name="Slide Number Placeholder 3">
            <a:extLst>
              <a:ext uri="{FF2B5EF4-FFF2-40B4-BE49-F238E27FC236}">
                <a16:creationId xmlns:a16="http://schemas.microsoft.com/office/drawing/2014/main" id="{D36B656E-E96D-4F75-B9A8-D21B0944A316}"/>
              </a:ext>
            </a:extLst>
          </p:cNvPr>
          <p:cNvSpPr>
            <a:spLocks noGrp="1"/>
          </p:cNvSpPr>
          <p:nvPr>
            <p:ph type="sldNum" sz="quarter" idx="4294967295"/>
          </p:nvPr>
        </p:nvSpPr>
        <p:spPr>
          <a:xfrm>
            <a:off x="0" y="0"/>
            <a:ext cx="0" cy="0"/>
          </a:xfrm>
        </p:spPr>
        <p:txBody>
          <a:bodyPr/>
          <a:lstStyle/>
          <a:p>
            <a:fld id="{A9096D49-DAE3-40DE-93E0-41688E0A5016}" type="slidenum">
              <a:rPr lang="nl-NL" smtClean="0"/>
              <a:pPr/>
              <a:t>26</a:t>
            </a:fld>
            <a:endParaRPr lang="nl-NL"/>
          </a:p>
        </p:txBody>
      </p:sp>
    </p:spTree>
    <p:extLst>
      <p:ext uri="{BB962C8B-B14F-4D97-AF65-F5344CB8AC3E}">
        <p14:creationId xmlns:p14="http://schemas.microsoft.com/office/powerpoint/2010/main" val="2696410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type="body" sz="quarter" idx="11"/>
          </p:nvPr>
        </p:nvSpPr>
        <p:spPr/>
        <p:txBody>
          <a:bodyPr/>
          <a:lstStyle/>
          <a:p>
            <a:r>
              <a:rPr lang="nl-NL" dirty="0"/>
              <a:t>Implementatie van “</a:t>
            </a:r>
            <a:r>
              <a:rPr lang="nl-NL" dirty="0" err="1"/>
              <a:t>Mandatory</a:t>
            </a:r>
            <a:r>
              <a:rPr lang="nl-NL" dirty="0"/>
              <a:t> Access Control” (MAC): gebruikers kunnen niet zelf toegang verlenen tot beschermde resources, alleen de </a:t>
            </a:r>
            <a:r>
              <a:rPr lang="nl-NL" i="1" dirty="0"/>
              <a:t>security administrator </a:t>
            </a:r>
            <a:r>
              <a:rPr lang="nl-NL" dirty="0"/>
              <a:t>heeft deze mogelijkheid</a:t>
            </a:r>
          </a:p>
          <a:p>
            <a:r>
              <a:rPr lang="nl-NL" dirty="0"/>
              <a:t>Normaliter is de security administrator gewoon </a:t>
            </a:r>
            <a:r>
              <a:rPr lang="nl-NL" dirty="0">
                <a:latin typeface="Consolas" panose="020B0609020204030204" pitchFamily="49" charset="0"/>
              </a:rPr>
              <a:t>root</a:t>
            </a:r>
          </a:p>
          <a:p>
            <a:endParaRPr lang="nl-NL" dirty="0"/>
          </a:p>
        </p:txBody>
      </p:sp>
      <p:sp>
        <p:nvSpPr>
          <p:cNvPr id="2" name="Title 1"/>
          <p:cNvSpPr>
            <a:spLocks noGrp="1"/>
          </p:cNvSpPr>
          <p:nvPr>
            <p:ph type="title"/>
          </p:nvPr>
        </p:nvSpPr>
        <p:spPr/>
        <p:txBody>
          <a:bodyPr/>
          <a:lstStyle/>
          <a:p>
            <a:r>
              <a:rPr lang="nl-NL" dirty="0" err="1"/>
              <a:t>SELinux</a:t>
            </a:r>
            <a:endParaRPr lang="nl-NL" dirty="0"/>
          </a:p>
        </p:txBody>
      </p:sp>
      <p:sp>
        <p:nvSpPr>
          <p:cNvPr id="3" name="Slide Number Placeholder 2"/>
          <p:cNvSpPr>
            <a:spLocks noGrp="1"/>
          </p:cNvSpPr>
          <p:nvPr>
            <p:ph type="sldNum" sz="quarter" idx="4294967295"/>
          </p:nvPr>
        </p:nvSpPr>
        <p:spPr>
          <a:xfrm>
            <a:off x="0" y="0"/>
            <a:ext cx="0" cy="0"/>
          </a:xfrm>
        </p:spPr>
        <p:txBody>
          <a:bodyPr/>
          <a:lstStyle/>
          <a:p>
            <a:fld id="{A9096D49-DAE3-40DE-93E0-41688E0A5016}" type="slidenum">
              <a:rPr lang="nl-NL" smtClean="0"/>
              <a:pPr/>
              <a:t>27</a:t>
            </a:fld>
            <a:endParaRPr lang="nl-NL"/>
          </a:p>
        </p:txBody>
      </p:sp>
    </p:spTree>
    <p:extLst>
      <p:ext uri="{BB962C8B-B14F-4D97-AF65-F5344CB8AC3E}">
        <p14:creationId xmlns:p14="http://schemas.microsoft.com/office/powerpoint/2010/main" val="1651604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1"/>
          </p:nvPr>
        </p:nvSpPr>
        <p:spPr/>
        <p:txBody>
          <a:bodyPr/>
          <a:lstStyle/>
          <a:p>
            <a:r>
              <a:rPr lang="nl-NL" sz="1500" dirty="0"/>
              <a:t>Package </a:t>
            </a:r>
            <a:r>
              <a:rPr lang="nl-NL" sz="1500" dirty="0" err="1"/>
              <a:t>coreutils</a:t>
            </a:r>
            <a:r>
              <a:rPr lang="nl-NL" sz="1500" dirty="0"/>
              <a:t> (altijd aanwezig)</a:t>
            </a:r>
          </a:p>
          <a:p>
            <a:pPr lvl="1"/>
            <a:r>
              <a:rPr lang="nl-NL" sz="1500" dirty="0" err="1">
                <a:latin typeface="Consolas" panose="020B0609020204030204" pitchFamily="49" charset="0"/>
                <a:cs typeface="Consolas" panose="020B0609020204030204" pitchFamily="49" charset="0"/>
              </a:rPr>
              <a:t>chcon</a:t>
            </a:r>
            <a:r>
              <a:rPr lang="nl-NL" sz="1500" dirty="0"/>
              <a:t>: </a:t>
            </a:r>
            <a:r>
              <a:rPr lang="nl-NL" sz="1500" dirty="0" err="1"/>
              <a:t>SELinux</a:t>
            </a:r>
            <a:r>
              <a:rPr lang="nl-NL" sz="1500" dirty="0"/>
              <a:t> file context instellen</a:t>
            </a:r>
          </a:p>
          <a:p>
            <a:pPr lvl="1"/>
            <a:r>
              <a:rPr lang="nl-NL" sz="1500" dirty="0" err="1">
                <a:latin typeface="Consolas" panose="020B0609020204030204" pitchFamily="49" charset="0"/>
                <a:cs typeface="Consolas" panose="020B0609020204030204" pitchFamily="49" charset="0"/>
              </a:rPr>
              <a:t>ls</a:t>
            </a:r>
            <a:r>
              <a:rPr lang="nl-NL" sz="1500" dirty="0">
                <a:latin typeface="Consolas" panose="020B0609020204030204" pitchFamily="49" charset="0"/>
                <a:cs typeface="Consolas" panose="020B0609020204030204" pitchFamily="49" charset="0"/>
              </a:rPr>
              <a:t> -Z</a:t>
            </a:r>
            <a:r>
              <a:rPr lang="nl-NL" sz="1500" dirty="0"/>
              <a:t>: </a:t>
            </a:r>
            <a:r>
              <a:rPr lang="nl-NL" sz="1500" dirty="0" err="1"/>
              <a:t>SELinux</a:t>
            </a:r>
            <a:r>
              <a:rPr lang="nl-NL" sz="1500" dirty="0"/>
              <a:t> file context bekijken</a:t>
            </a:r>
          </a:p>
          <a:p>
            <a:r>
              <a:rPr lang="nl-NL" sz="1500" dirty="0"/>
              <a:t>Package </a:t>
            </a:r>
            <a:r>
              <a:rPr lang="nl-NL" sz="1500" dirty="0" err="1">
                <a:latin typeface="Consolas" panose="020B0609020204030204" pitchFamily="49" charset="0"/>
                <a:cs typeface="Consolas" panose="020B0609020204030204" pitchFamily="49" charset="0"/>
              </a:rPr>
              <a:t>policycoreutils</a:t>
            </a:r>
            <a:r>
              <a:rPr lang="nl-NL" sz="1500" dirty="0"/>
              <a:t> (meestal al aanwezig)</a:t>
            </a:r>
          </a:p>
          <a:p>
            <a:pPr lvl="1"/>
            <a:r>
              <a:rPr lang="nl-NL" sz="1500" dirty="0" err="1">
                <a:latin typeface="Consolas" panose="020B0609020204030204" pitchFamily="49" charset="0"/>
                <a:cs typeface="Consolas" panose="020B0609020204030204" pitchFamily="49" charset="0"/>
              </a:rPr>
              <a:t>setsebool</a:t>
            </a:r>
            <a:r>
              <a:rPr lang="nl-NL" sz="1500" dirty="0"/>
              <a:t>: </a:t>
            </a:r>
            <a:r>
              <a:rPr lang="nl-NL" sz="1500" dirty="0" err="1"/>
              <a:t>SELinux</a:t>
            </a:r>
            <a:r>
              <a:rPr lang="nl-NL" sz="1500" dirty="0"/>
              <a:t> </a:t>
            </a:r>
            <a:r>
              <a:rPr lang="nl-NL" sz="1500" dirty="0" err="1"/>
              <a:t>booleans</a:t>
            </a:r>
            <a:r>
              <a:rPr lang="nl-NL" sz="1500" dirty="0"/>
              <a:t> instellen</a:t>
            </a:r>
          </a:p>
          <a:p>
            <a:pPr lvl="1"/>
            <a:r>
              <a:rPr lang="nl-NL" sz="1500" dirty="0" err="1">
                <a:latin typeface="Consolas" panose="020B0609020204030204" pitchFamily="49" charset="0"/>
                <a:cs typeface="Consolas" panose="020B0609020204030204" pitchFamily="49" charset="0"/>
              </a:rPr>
              <a:t>sestatus</a:t>
            </a:r>
            <a:r>
              <a:rPr lang="nl-NL" sz="1500" dirty="0"/>
              <a:t>: </a:t>
            </a:r>
            <a:r>
              <a:rPr lang="nl-NL" sz="1500" dirty="0" err="1"/>
              <a:t>SELinux</a:t>
            </a:r>
            <a:r>
              <a:rPr lang="nl-NL" sz="1500" dirty="0"/>
              <a:t> status uitlezen</a:t>
            </a:r>
          </a:p>
          <a:p>
            <a:pPr lvl="1"/>
            <a:r>
              <a:rPr lang="nl-NL" sz="1500" dirty="0" err="1">
                <a:latin typeface="Consolas" panose="020B0609020204030204" pitchFamily="49" charset="0"/>
                <a:cs typeface="Consolas" panose="020B0609020204030204" pitchFamily="49" charset="0"/>
              </a:rPr>
              <a:t>restorecon</a:t>
            </a:r>
            <a:r>
              <a:rPr lang="nl-NL" sz="1500" dirty="0"/>
              <a:t>: </a:t>
            </a:r>
            <a:r>
              <a:rPr lang="nl-NL" sz="1500" dirty="0" err="1"/>
              <a:t>SELinux</a:t>
            </a:r>
            <a:r>
              <a:rPr lang="nl-NL" sz="1500" dirty="0"/>
              <a:t> file context resetten</a:t>
            </a:r>
          </a:p>
          <a:p>
            <a:r>
              <a:rPr lang="nl-NL" sz="1500" dirty="0"/>
              <a:t>Installeer package </a:t>
            </a:r>
            <a:r>
              <a:rPr lang="nl-NL" sz="1500" dirty="0" err="1">
                <a:latin typeface="Consolas" panose="020B0609020204030204" pitchFamily="49" charset="0"/>
                <a:cs typeface="Consolas" panose="020B0609020204030204" pitchFamily="49" charset="0"/>
              </a:rPr>
              <a:t>policycoreutils</a:t>
            </a:r>
            <a:r>
              <a:rPr lang="nl-NL" sz="1500" dirty="0">
                <a:latin typeface="Consolas" panose="020B0609020204030204" pitchFamily="49" charset="0"/>
                <a:cs typeface="Consolas" panose="020B0609020204030204" pitchFamily="49" charset="0"/>
              </a:rPr>
              <a:t>-python</a:t>
            </a:r>
          </a:p>
          <a:p>
            <a:pPr lvl="1"/>
            <a:r>
              <a:rPr lang="nl-NL" sz="1500" dirty="0" err="1">
                <a:latin typeface="Consolas" panose="020B0609020204030204" pitchFamily="49" charset="0"/>
                <a:cs typeface="Consolas" panose="020B0609020204030204" pitchFamily="49" charset="0"/>
              </a:rPr>
              <a:t>semanage</a:t>
            </a:r>
            <a:r>
              <a:rPr lang="nl-NL" sz="1500" dirty="0"/>
              <a:t>: </a:t>
            </a:r>
            <a:r>
              <a:rPr lang="nl-NL" sz="1500" dirty="0" err="1"/>
              <a:t>SELinux</a:t>
            </a:r>
            <a:r>
              <a:rPr lang="nl-NL" sz="1500" dirty="0"/>
              <a:t> Policy Management tool</a:t>
            </a:r>
          </a:p>
          <a:p>
            <a:pPr lvl="1"/>
            <a:r>
              <a:rPr lang="nl-NL" sz="1500" dirty="0">
                <a:latin typeface="Consolas" panose="020B0609020204030204" pitchFamily="49" charset="0"/>
                <a:cs typeface="Consolas" panose="020B0609020204030204" pitchFamily="49" charset="0"/>
              </a:rPr>
              <a:t>audit2why</a:t>
            </a:r>
            <a:r>
              <a:rPr lang="nl-NL" sz="1500" dirty="0"/>
              <a:t>: Vertaal </a:t>
            </a:r>
            <a:r>
              <a:rPr lang="nl-NL" sz="1500" dirty="0" err="1"/>
              <a:t>SELinux</a:t>
            </a:r>
            <a:r>
              <a:rPr lang="nl-NL" sz="1500" dirty="0"/>
              <a:t> audit logs in (enigszins) leesbare taal</a:t>
            </a:r>
          </a:p>
          <a:p>
            <a:pPr lvl="1"/>
            <a:r>
              <a:rPr lang="nl-NL" sz="1500" dirty="0">
                <a:latin typeface="Consolas" panose="020B0609020204030204" pitchFamily="49" charset="0"/>
                <a:cs typeface="Consolas" panose="020B0609020204030204" pitchFamily="49" charset="0"/>
              </a:rPr>
              <a:t>audit2allow</a:t>
            </a:r>
            <a:r>
              <a:rPr lang="nl-NL" sz="1500" dirty="0"/>
              <a:t>: Vertaal </a:t>
            </a:r>
            <a:r>
              <a:rPr lang="nl-NL" sz="1500" dirty="0" err="1"/>
              <a:t>SELinux</a:t>
            </a:r>
            <a:r>
              <a:rPr lang="nl-NL" sz="1500" dirty="0"/>
              <a:t> audit log entries naar suggesties voor aangepaste </a:t>
            </a:r>
            <a:r>
              <a:rPr lang="nl-NL" sz="1500" dirty="0" err="1"/>
              <a:t>policies</a:t>
            </a:r>
            <a:endParaRPr lang="nl-NL" sz="1500" dirty="0"/>
          </a:p>
        </p:txBody>
      </p:sp>
      <p:sp>
        <p:nvSpPr>
          <p:cNvPr id="2" name="Title 1"/>
          <p:cNvSpPr>
            <a:spLocks noGrp="1"/>
          </p:cNvSpPr>
          <p:nvPr>
            <p:ph type="title"/>
          </p:nvPr>
        </p:nvSpPr>
        <p:spPr/>
        <p:txBody>
          <a:bodyPr/>
          <a:lstStyle/>
          <a:p>
            <a:r>
              <a:rPr lang="nl-NL" dirty="0" err="1"/>
              <a:t>SELinux</a:t>
            </a:r>
            <a:r>
              <a:rPr lang="nl-NL" dirty="0"/>
              <a:t> tools</a:t>
            </a:r>
          </a:p>
        </p:txBody>
      </p:sp>
      <p:sp>
        <p:nvSpPr>
          <p:cNvPr id="4" name="Slide Number Placeholder 3"/>
          <p:cNvSpPr>
            <a:spLocks noGrp="1"/>
          </p:cNvSpPr>
          <p:nvPr>
            <p:ph type="sldNum" sz="quarter" idx="4294967295"/>
          </p:nvPr>
        </p:nvSpPr>
        <p:spPr>
          <a:xfrm>
            <a:off x="0" y="0"/>
            <a:ext cx="0" cy="0"/>
          </a:xfrm>
        </p:spPr>
        <p:txBody>
          <a:bodyPr/>
          <a:lstStyle/>
          <a:p>
            <a:fld id="{A9096D49-DAE3-40DE-93E0-41688E0A5016}" type="slidenum">
              <a:rPr lang="nl-NL" smtClean="0"/>
              <a:pPr/>
              <a:t>28</a:t>
            </a:fld>
            <a:endParaRPr lang="nl-NL"/>
          </a:p>
        </p:txBody>
      </p:sp>
    </p:spTree>
    <p:extLst>
      <p:ext uri="{BB962C8B-B14F-4D97-AF65-F5344CB8AC3E}">
        <p14:creationId xmlns:p14="http://schemas.microsoft.com/office/powerpoint/2010/main" val="11945192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type="body" sz="quarter" idx="11"/>
          </p:nvPr>
        </p:nvSpPr>
        <p:spPr/>
        <p:txBody>
          <a:bodyPr/>
          <a:lstStyle/>
          <a:p>
            <a:pPr>
              <a:lnSpc>
                <a:spcPct val="100000"/>
              </a:lnSpc>
            </a:pPr>
            <a:r>
              <a:rPr lang="nl-NL" sz="1500" dirty="0">
                <a:cs typeface="Consolas" panose="020B0609020204030204" pitchFamily="49" charset="0"/>
              </a:rPr>
              <a:t>Met </a:t>
            </a:r>
            <a:r>
              <a:rPr lang="nl-NL" sz="1500" dirty="0" err="1">
                <a:latin typeface="Consolas" panose="020B0609020204030204" pitchFamily="49" charset="0"/>
                <a:cs typeface="Consolas" panose="020B0609020204030204" pitchFamily="49" charset="0"/>
              </a:rPr>
              <a:t>sestatus</a:t>
            </a:r>
            <a:r>
              <a:rPr lang="nl-NL" sz="1500" dirty="0">
                <a:cs typeface="Consolas" panose="020B0609020204030204" pitchFamily="49" charset="0"/>
              </a:rPr>
              <a:t> kan de status van </a:t>
            </a:r>
            <a:r>
              <a:rPr lang="nl-NL" sz="1500" dirty="0" err="1">
                <a:cs typeface="Consolas" panose="020B0609020204030204" pitchFamily="49" charset="0"/>
              </a:rPr>
              <a:t>SELinux</a:t>
            </a:r>
            <a:r>
              <a:rPr lang="nl-NL" sz="1500" dirty="0">
                <a:cs typeface="Consolas" panose="020B0609020204030204" pitchFamily="49" charset="0"/>
              </a:rPr>
              <a:t> uitgelezen worden:</a:t>
            </a:r>
          </a:p>
          <a:p>
            <a:pPr marL="357188" lvl="1" indent="0">
              <a:lnSpc>
                <a:spcPct val="100000"/>
              </a:lnSpc>
              <a:buNone/>
            </a:pPr>
            <a:r>
              <a:rPr lang="nl-NL" sz="1500" dirty="0">
                <a:latin typeface="Consolas" panose="020B0609020204030204" pitchFamily="49" charset="0"/>
                <a:cs typeface="Consolas" panose="020B0609020204030204" pitchFamily="49" charset="0"/>
              </a:rPr>
              <a:t>$ </a:t>
            </a:r>
            <a:r>
              <a:rPr lang="nl-NL" sz="1500" dirty="0" err="1">
                <a:latin typeface="Consolas" panose="020B0609020204030204" pitchFamily="49" charset="0"/>
                <a:cs typeface="Consolas" panose="020B0609020204030204" pitchFamily="49" charset="0"/>
              </a:rPr>
              <a:t>sestatus</a:t>
            </a:r>
            <a:br>
              <a:rPr lang="nl-NL" sz="1500" dirty="0">
                <a:latin typeface="Consolas" panose="020B0609020204030204" pitchFamily="49" charset="0"/>
                <a:cs typeface="Consolas" panose="020B0609020204030204" pitchFamily="49" charset="0"/>
              </a:rPr>
            </a:br>
            <a:r>
              <a:rPr lang="nl-NL" sz="1500" dirty="0" err="1">
                <a:latin typeface="Consolas" panose="020B0609020204030204" pitchFamily="49" charset="0"/>
                <a:cs typeface="Consolas" panose="020B0609020204030204" pitchFamily="49" charset="0"/>
              </a:rPr>
              <a:t>SELinux</a:t>
            </a:r>
            <a:r>
              <a:rPr lang="nl-NL" sz="1500" dirty="0">
                <a:latin typeface="Consolas" panose="020B0609020204030204" pitchFamily="49" charset="0"/>
                <a:cs typeface="Consolas" panose="020B0609020204030204" pitchFamily="49" charset="0"/>
              </a:rPr>
              <a:t> status:                 </a:t>
            </a:r>
            <a:r>
              <a:rPr lang="nl-NL" sz="1500" dirty="0" err="1">
                <a:latin typeface="Consolas" panose="020B0609020204030204" pitchFamily="49" charset="0"/>
                <a:cs typeface="Consolas" panose="020B0609020204030204" pitchFamily="49" charset="0"/>
              </a:rPr>
              <a:t>enabled</a:t>
            </a:r>
            <a:br>
              <a:rPr lang="nl-NL" sz="1500" dirty="0">
                <a:latin typeface="Consolas" panose="020B0609020204030204" pitchFamily="49" charset="0"/>
                <a:cs typeface="Consolas" panose="020B0609020204030204" pitchFamily="49" charset="0"/>
              </a:rPr>
            </a:br>
            <a:r>
              <a:rPr lang="nl-NL" sz="1500" dirty="0" err="1">
                <a:latin typeface="Consolas" panose="020B0609020204030204" pitchFamily="49" charset="0"/>
                <a:cs typeface="Consolas" panose="020B0609020204030204" pitchFamily="49" charset="0"/>
              </a:rPr>
              <a:t>SELinuxfs</a:t>
            </a:r>
            <a:r>
              <a:rPr lang="nl-NL" sz="1500" dirty="0">
                <a:latin typeface="Consolas" panose="020B0609020204030204" pitchFamily="49" charset="0"/>
                <a:cs typeface="Consolas" panose="020B0609020204030204" pitchFamily="49" charset="0"/>
              </a:rPr>
              <a:t> </a:t>
            </a:r>
            <a:r>
              <a:rPr lang="nl-NL" sz="1500" dirty="0" err="1">
                <a:latin typeface="Consolas" panose="020B0609020204030204" pitchFamily="49" charset="0"/>
                <a:cs typeface="Consolas" panose="020B0609020204030204" pitchFamily="49" charset="0"/>
              </a:rPr>
              <a:t>mount</a:t>
            </a:r>
            <a:r>
              <a:rPr lang="nl-NL" sz="1500" dirty="0">
                <a:latin typeface="Consolas" panose="020B0609020204030204" pitchFamily="49" charset="0"/>
                <a:cs typeface="Consolas" panose="020B0609020204030204" pitchFamily="49" charset="0"/>
              </a:rPr>
              <a:t>:                /</a:t>
            </a:r>
            <a:r>
              <a:rPr lang="nl-NL" sz="1500" dirty="0" err="1">
                <a:latin typeface="Consolas" panose="020B0609020204030204" pitchFamily="49" charset="0"/>
                <a:cs typeface="Consolas" panose="020B0609020204030204" pitchFamily="49" charset="0"/>
              </a:rPr>
              <a:t>sys</a:t>
            </a:r>
            <a:r>
              <a:rPr lang="nl-NL" sz="1500" dirty="0">
                <a:latin typeface="Consolas" panose="020B0609020204030204" pitchFamily="49" charset="0"/>
                <a:cs typeface="Consolas" panose="020B0609020204030204" pitchFamily="49" charset="0"/>
              </a:rPr>
              <a:t>/</a:t>
            </a:r>
            <a:r>
              <a:rPr lang="nl-NL" sz="1500" dirty="0" err="1">
                <a:latin typeface="Consolas" panose="020B0609020204030204" pitchFamily="49" charset="0"/>
                <a:cs typeface="Consolas" panose="020B0609020204030204" pitchFamily="49" charset="0"/>
              </a:rPr>
              <a:t>fs</a:t>
            </a:r>
            <a:r>
              <a:rPr lang="nl-NL" sz="1500" dirty="0">
                <a:latin typeface="Consolas" panose="020B0609020204030204" pitchFamily="49" charset="0"/>
                <a:cs typeface="Consolas" panose="020B0609020204030204" pitchFamily="49" charset="0"/>
              </a:rPr>
              <a:t>/</a:t>
            </a:r>
            <a:r>
              <a:rPr lang="nl-NL" sz="1500" dirty="0" err="1">
                <a:latin typeface="Consolas" panose="020B0609020204030204" pitchFamily="49" charset="0"/>
                <a:cs typeface="Consolas" panose="020B0609020204030204" pitchFamily="49" charset="0"/>
              </a:rPr>
              <a:t>selinux</a:t>
            </a:r>
            <a:br>
              <a:rPr lang="nl-NL" sz="1500" dirty="0">
                <a:latin typeface="Consolas" panose="020B0609020204030204" pitchFamily="49" charset="0"/>
                <a:cs typeface="Consolas" panose="020B0609020204030204" pitchFamily="49" charset="0"/>
              </a:rPr>
            </a:br>
            <a:r>
              <a:rPr lang="nl-NL" sz="1500" dirty="0" err="1">
                <a:latin typeface="Consolas" panose="020B0609020204030204" pitchFamily="49" charset="0"/>
                <a:cs typeface="Consolas" panose="020B0609020204030204" pitchFamily="49" charset="0"/>
              </a:rPr>
              <a:t>SELinux</a:t>
            </a:r>
            <a:r>
              <a:rPr lang="nl-NL" sz="1500" dirty="0">
                <a:latin typeface="Consolas" panose="020B0609020204030204" pitchFamily="49" charset="0"/>
                <a:cs typeface="Consolas" panose="020B0609020204030204" pitchFamily="49" charset="0"/>
              </a:rPr>
              <a:t> root directory:         /</a:t>
            </a:r>
            <a:r>
              <a:rPr lang="nl-NL" sz="1500" dirty="0" err="1">
                <a:latin typeface="Consolas" panose="020B0609020204030204" pitchFamily="49" charset="0"/>
                <a:cs typeface="Consolas" panose="020B0609020204030204" pitchFamily="49" charset="0"/>
              </a:rPr>
              <a:t>etc</a:t>
            </a:r>
            <a:r>
              <a:rPr lang="nl-NL" sz="1500" dirty="0">
                <a:latin typeface="Consolas" panose="020B0609020204030204" pitchFamily="49" charset="0"/>
                <a:cs typeface="Consolas" panose="020B0609020204030204" pitchFamily="49" charset="0"/>
              </a:rPr>
              <a:t>/</a:t>
            </a:r>
            <a:r>
              <a:rPr lang="nl-NL" sz="1500" dirty="0" err="1">
                <a:latin typeface="Consolas" panose="020B0609020204030204" pitchFamily="49" charset="0"/>
                <a:cs typeface="Consolas" panose="020B0609020204030204" pitchFamily="49" charset="0"/>
              </a:rPr>
              <a:t>selinux</a:t>
            </a:r>
            <a:br>
              <a:rPr lang="nl-NL" sz="1500" dirty="0">
                <a:latin typeface="Consolas" panose="020B0609020204030204" pitchFamily="49" charset="0"/>
                <a:cs typeface="Consolas" panose="020B0609020204030204" pitchFamily="49" charset="0"/>
              </a:rPr>
            </a:br>
            <a:r>
              <a:rPr lang="nl-NL" sz="1500" dirty="0" err="1">
                <a:latin typeface="Consolas" panose="020B0609020204030204" pitchFamily="49" charset="0"/>
                <a:cs typeface="Consolas" panose="020B0609020204030204" pitchFamily="49" charset="0"/>
              </a:rPr>
              <a:t>Loaded</a:t>
            </a:r>
            <a:r>
              <a:rPr lang="nl-NL" sz="1500" dirty="0">
                <a:latin typeface="Consolas" panose="020B0609020204030204" pitchFamily="49" charset="0"/>
                <a:cs typeface="Consolas" panose="020B0609020204030204" pitchFamily="49" charset="0"/>
              </a:rPr>
              <a:t> policy name:             </a:t>
            </a:r>
            <a:r>
              <a:rPr lang="nl-NL" sz="1500" dirty="0" err="1">
                <a:latin typeface="Consolas" panose="020B0609020204030204" pitchFamily="49" charset="0"/>
                <a:cs typeface="Consolas" panose="020B0609020204030204" pitchFamily="49" charset="0"/>
              </a:rPr>
              <a:t>targeted</a:t>
            </a:r>
            <a:br>
              <a:rPr lang="nl-NL" sz="1500" dirty="0">
                <a:latin typeface="Consolas" panose="020B0609020204030204" pitchFamily="49" charset="0"/>
                <a:cs typeface="Consolas" panose="020B0609020204030204" pitchFamily="49" charset="0"/>
              </a:rPr>
            </a:br>
            <a:r>
              <a:rPr lang="nl-NL" sz="1500" dirty="0" err="1">
                <a:latin typeface="Consolas" panose="020B0609020204030204" pitchFamily="49" charset="0"/>
                <a:cs typeface="Consolas" panose="020B0609020204030204" pitchFamily="49" charset="0"/>
              </a:rPr>
              <a:t>Current</a:t>
            </a:r>
            <a:r>
              <a:rPr lang="nl-NL" sz="1500" dirty="0">
                <a:latin typeface="Consolas" panose="020B0609020204030204" pitchFamily="49" charset="0"/>
                <a:cs typeface="Consolas" panose="020B0609020204030204" pitchFamily="49" charset="0"/>
              </a:rPr>
              <a:t> mode:                   </a:t>
            </a:r>
            <a:r>
              <a:rPr lang="nl-NL" sz="1500" dirty="0" err="1">
                <a:latin typeface="Consolas" panose="020B0609020204030204" pitchFamily="49" charset="0"/>
                <a:cs typeface="Consolas" panose="020B0609020204030204" pitchFamily="49" charset="0"/>
              </a:rPr>
              <a:t>enforcing</a:t>
            </a:r>
            <a:br>
              <a:rPr lang="nl-NL" sz="1500" dirty="0">
                <a:latin typeface="Consolas" panose="020B0609020204030204" pitchFamily="49" charset="0"/>
                <a:cs typeface="Consolas" panose="020B0609020204030204" pitchFamily="49" charset="0"/>
              </a:rPr>
            </a:br>
            <a:r>
              <a:rPr lang="nl-NL" sz="1500" dirty="0">
                <a:latin typeface="Consolas" panose="020B0609020204030204" pitchFamily="49" charset="0"/>
                <a:cs typeface="Consolas" panose="020B0609020204030204" pitchFamily="49" charset="0"/>
              </a:rPr>
              <a:t>Mode </a:t>
            </a:r>
            <a:r>
              <a:rPr lang="nl-NL" sz="1500" dirty="0" err="1">
                <a:latin typeface="Consolas" panose="020B0609020204030204" pitchFamily="49" charset="0"/>
                <a:cs typeface="Consolas" panose="020B0609020204030204" pitchFamily="49" charset="0"/>
              </a:rPr>
              <a:t>from</a:t>
            </a:r>
            <a:r>
              <a:rPr lang="nl-NL" sz="1500" dirty="0">
                <a:latin typeface="Consolas" panose="020B0609020204030204" pitchFamily="49" charset="0"/>
                <a:cs typeface="Consolas" panose="020B0609020204030204" pitchFamily="49" charset="0"/>
              </a:rPr>
              <a:t> </a:t>
            </a:r>
            <a:r>
              <a:rPr lang="nl-NL" sz="1500" dirty="0" err="1">
                <a:latin typeface="Consolas" panose="020B0609020204030204" pitchFamily="49" charset="0"/>
                <a:cs typeface="Consolas" panose="020B0609020204030204" pitchFamily="49" charset="0"/>
              </a:rPr>
              <a:t>config</a:t>
            </a:r>
            <a:r>
              <a:rPr lang="nl-NL" sz="1500" dirty="0">
                <a:latin typeface="Consolas" panose="020B0609020204030204" pitchFamily="49" charset="0"/>
                <a:cs typeface="Consolas" panose="020B0609020204030204" pitchFamily="49" charset="0"/>
              </a:rPr>
              <a:t> file:          </a:t>
            </a:r>
            <a:r>
              <a:rPr lang="nl-NL" sz="1500" dirty="0" err="1">
                <a:latin typeface="Consolas" panose="020B0609020204030204" pitchFamily="49" charset="0"/>
                <a:cs typeface="Consolas" panose="020B0609020204030204" pitchFamily="49" charset="0"/>
              </a:rPr>
              <a:t>enforcing</a:t>
            </a:r>
            <a:br>
              <a:rPr lang="nl-NL" sz="1500" dirty="0">
                <a:latin typeface="Consolas" panose="020B0609020204030204" pitchFamily="49" charset="0"/>
                <a:cs typeface="Consolas" panose="020B0609020204030204" pitchFamily="49" charset="0"/>
              </a:rPr>
            </a:br>
            <a:r>
              <a:rPr lang="nl-NL" sz="1500" dirty="0">
                <a:latin typeface="Consolas" panose="020B0609020204030204" pitchFamily="49" charset="0"/>
                <a:cs typeface="Consolas" panose="020B0609020204030204" pitchFamily="49" charset="0"/>
              </a:rPr>
              <a:t>Policy MLS status:              </a:t>
            </a:r>
            <a:r>
              <a:rPr lang="nl-NL" sz="1500" dirty="0" err="1">
                <a:latin typeface="Consolas" panose="020B0609020204030204" pitchFamily="49" charset="0"/>
                <a:cs typeface="Consolas" panose="020B0609020204030204" pitchFamily="49" charset="0"/>
              </a:rPr>
              <a:t>enabled</a:t>
            </a:r>
            <a:br>
              <a:rPr lang="nl-NL" sz="1500" dirty="0">
                <a:latin typeface="Consolas" panose="020B0609020204030204" pitchFamily="49" charset="0"/>
                <a:cs typeface="Consolas" panose="020B0609020204030204" pitchFamily="49" charset="0"/>
              </a:rPr>
            </a:br>
            <a:r>
              <a:rPr lang="nl-NL" sz="1500" dirty="0">
                <a:latin typeface="Consolas" panose="020B0609020204030204" pitchFamily="49" charset="0"/>
                <a:cs typeface="Consolas" panose="020B0609020204030204" pitchFamily="49" charset="0"/>
              </a:rPr>
              <a:t>Policy </a:t>
            </a:r>
            <a:r>
              <a:rPr lang="nl-NL" sz="1500" dirty="0" err="1">
                <a:latin typeface="Consolas" panose="020B0609020204030204" pitchFamily="49" charset="0"/>
                <a:cs typeface="Consolas" panose="020B0609020204030204" pitchFamily="49" charset="0"/>
              </a:rPr>
              <a:t>deny_unknown</a:t>
            </a:r>
            <a:r>
              <a:rPr lang="nl-NL" sz="1500" dirty="0">
                <a:latin typeface="Consolas" panose="020B0609020204030204" pitchFamily="49" charset="0"/>
                <a:cs typeface="Consolas" panose="020B0609020204030204" pitchFamily="49" charset="0"/>
              </a:rPr>
              <a:t> status:     </a:t>
            </a:r>
            <a:r>
              <a:rPr lang="nl-NL" sz="1500" dirty="0" err="1">
                <a:latin typeface="Consolas" panose="020B0609020204030204" pitchFamily="49" charset="0"/>
                <a:cs typeface="Consolas" panose="020B0609020204030204" pitchFamily="49" charset="0"/>
              </a:rPr>
              <a:t>allowed</a:t>
            </a:r>
            <a:br>
              <a:rPr lang="nl-NL" sz="1500" dirty="0">
                <a:latin typeface="Consolas" panose="020B0609020204030204" pitchFamily="49" charset="0"/>
                <a:cs typeface="Consolas" panose="020B0609020204030204" pitchFamily="49" charset="0"/>
              </a:rPr>
            </a:br>
            <a:r>
              <a:rPr lang="nl-NL" sz="1500" dirty="0">
                <a:latin typeface="Consolas" panose="020B0609020204030204" pitchFamily="49" charset="0"/>
                <a:cs typeface="Consolas" panose="020B0609020204030204" pitchFamily="49" charset="0"/>
              </a:rPr>
              <a:t>Max kernel policy </a:t>
            </a:r>
            <a:r>
              <a:rPr lang="nl-NL" sz="1500" dirty="0" err="1">
                <a:latin typeface="Consolas" panose="020B0609020204030204" pitchFamily="49" charset="0"/>
                <a:cs typeface="Consolas" panose="020B0609020204030204" pitchFamily="49" charset="0"/>
              </a:rPr>
              <a:t>version</a:t>
            </a:r>
            <a:r>
              <a:rPr lang="nl-NL" sz="1500" dirty="0">
                <a:latin typeface="Consolas" panose="020B0609020204030204" pitchFamily="49" charset="0"/>
                <a:cs typeface="Consolas" panose="020B0609020204030204" pitchFamily="49" charset="0"/>
              </a:rPr>
              <a:t>:      28</a:t>
            </a:r>
          </a:p>
          <a:p>
            <a:pPr>
              <a:lnSpc>
                <a:spcPct val="100000"/>
              </a:lnSpc>
            </a:pPr>
            <a:r>
              <a:rPr lang="nl-NL" sz="1500" dirty="0">
                <a:cs typeface="Consolas" panose="020B0609020204030204" pitchFamily="49" charset="0"/>
              </a:rPr>
              <a:t>“</a:t>
            </a:r>
            <a:r>
              <a:rPr lang="nl-NL" sz="1500" dirty="0" err="1">
                <a:latin typeface="Consolas" panose="020B0609020204030204" pitchFamily="49" charset="0"/>
                <a:cs typeface="Consolas" panose="020B0609020204030204" pitchFamily="49" charset="0"/>
              </a:rPr>
              <a:t>targeted</a:t>
            </a:r>
            <a:r>
              <a:rPr lang="nl-NL" sz="1500" dirty="0">
                <a:cs typeface="Consolas" panose="020B0609020204030204" pitchFamily="49" charset="0"/>
              </a:rPr>
              <a:t>” houdt in dat een set van potentieel kwetsbare resources beschermd wordt (bijvoorbeeld bestanden die door de webserver benaderd kunnen worden). Een andere optie is “</a:t>
            </a:r>
            <a:r>
              <a:rPr lang="nl-NL" sz="1500" dirty="0" err="1">
                <a:cs typeface="Consolas" panose="020B0609020204030204" pitchFamily="49" charset="0"/>
              </a:rPr>
              <a:t>strict</a:t>
            </a:r>
            <a:r>
              <a:rPr lang="nl-NL" sz="1500" dirty="0">
                <a:cs typeface="Consolas" panose="020B0609020204030204" pitchFamily="49" charset="0"/>
              </a:rPr>
              <a:t>”, waarbij alles beschermd wordt</a:t>
            </a:r>
          </a:p>
        </p:txBody>
      </p:sp>
      <p:sp>
        <p:nvSpPr>
          <p:cNvPr id="4" name="Title 3"/>
          <p:cNvSpPr>
            <a:spLocks noGrp="1"/>
          </p:cNvSpPr>
          <p:nvPr>
            <p:ph type="title"/>
          </p:nvPr>
        </p:nvSpPr>
        <p:spPr/>
        <p:txBody>
          <a:bodyPr/>
          <a:lstStyle/>
          <a:p>
            <a:r>
              <a:rPr lang="nl-NL" dirty="0" err="1"/>
              <a:t>SELinux</a:t>
            </a:r>
            <a:r>
              <a:rPr lang="nl-NL" dirty="0"/>
              <a:t> status</a:t>
            </a:r>
            <a:endParaRPr lang="nl-NL" dirty="0">
              <a:latin typeface="Consolas" panose="020B0609020204030204" pitchFamily="49" charset="0"/>
              <a:cs typeface="Consolas" panose="020B0609020204030204" pitchFamily="49" charset="0"/>
            </a:endParaRPr>
          </a:p>
        </p:txBody>
      </p:sp>
      <p:sp>
        <p:nvSpPr>
          <p:cNvPr id="3" name="Slide Number Placeholder 2"/>
          <p:cNvSpPr>
            <a:spLocks noGrp="1"/>
          </p:cNvSpPr>
          <p:nvPr>
            <p:ph type="sldNum" sz="quarter" idx="4294967295"/>
          </p:nvPr>
        </p:nvSpPr>
        <p:spPr>
          <a:xfrm>
            <a:off x="0" y="0"/>
            <a:ext cx="0" cy="0"/>
          </a:xfrm>
        </p:spPr>
        <p:txBody>
          <a:bodyPr/>
          <a:lstStyle/>
          <a:p>
            <a:fld id="{A9096D49-DAE3-40DE-93E0-41688E0A5016}" type="slidenum">
              <a:rPr lang="nl-NL" smtClean="0"/>
              <a:pPr/>
              <a:t>29</a:t>
            </a:fld>
            <a:endParaRPr lang="nl-NL"/>
          </a:p>
        </p:txBody>
      </p:sp>
    </p:spTree>
    <p:extLst>
      <p:ext uri="{BB962C8B-B14F-4D97-AF65-F5344CB8AC3E}">
        <p14:creationId xmlns:p14="http://schemas.microsoft.com/office/powerpoint/2010/main" val="3586880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type="body" sz="quarter" idx="11"/>
          </p:nvPr>
        </p:nvSpPr>
        <p:spPr/>
        <p:txBody>
          <a:bodyPr/>
          <a:lstStyle/>
          <a:p>
            <a:pPr>
              <a:lnSpc>
                <a:spcPts val="2000"/>
              </a:lnSpc>
            </a:pPr>
            <a:r>
              <a:rPr lang="nl-NL" sz="1500" dirty="0">
                <a:cs typeface="Consolas" panose="020B0609020204030204" pitchFamily="49" charset="0"/>
              </a:rPr>
              <a:t>De </a:t>
            </a:r>
            <a:r>
              <a:rPr lang="nl-NL" sz="1500" i="1" dirty="0" err="1">
                <a:cs typeface="Consolas" panose="020B0609020204030204" pitchFamily="49" charset="0"/>
              </a:rPr>
              <a:t>enforcement</a:t>
            </a:r>
            <a:r>
              <a:rPr lang="nl-NL" sz="1500" dirty="0">
                <a:cs typeface="Consolas" panose="020B0609020204030204" pitchFamily="49" charset="0"/>
              </a:rPr>
              <a:t> status van </a:t>
            </a:r>
            <a:r>
              <a:rPr lang="nl-NL" sz="1500" dirty="0" err="1">
                <a:cs typeface="Consolas" panose="020B0609020204030204" pitchFamily="49" charset="0"/>
              </a:rPr>
              <a:t>SELinux</a:t>
            </a:r>
            <a:r>
              <a:rPr lang="nl-NL" sz="1500" dirty="0">
                <a:cs typeface="Consolas" panose="020B0609020204030204" pitchFamily="49" charset="0"/>
              </a:rPr>
              <a:t> bepaalt of bij overtreding van de </a:t>
            </a:r>
            <a:r>
              <a:rPr lang="nl-NL" sz="1500" dirty="0" err="1">
                <a:cs typeface="Consolas" panose="020B0609020204030204" pitchFamily="49" charset="0"/>
              </a:rPr>
              <a:t>SELinux</a:t>
            </a:r>
            <a:r>
              <a:rPr lang="nl-NL" sz="1500" dirty="0">
                <a:cs typeface="Consolas" panose="020B0609020204030204" pitchFamily="49" charset="0"/>
              </a:rPr>
              <a:t> regels daadwerkelijk de toegang geweigerd wordt (</a:t>
            </a:r>
            <a:r>
              <a:rPr lang="nl-NL" sz="1500" dirty="0" err="1">
                <a:cs typeface="Consolas" panose="020B0609020204030204" pitchFamily="49" charset="0"/>
              </a:rPr>
              <a:t>Enforcing</a:t>
            </a:r>
            <a:r>
              <a:rPr lang="nl-NL" sz="1500" dirty="0">
                <a:cs typeface="Consolas" panose="020B0609020204030204" pitchFamily="49" charset="0"/>
              </a:rPr>
              <a:t>) of dat dit enkel resulteert in het loggen van een melding (</a:t>
            </a:r>
            <a:r>
              <a:rPr lang="nl-NL" sz="1500" dirty="0" err="1">
                <a:cs typeface="Consolas" panose="020B0609020204030204" pitchFamily="49" charset="0"/>
              </a:rPr>
              <a:t>Permissive</a:t>
            </a:r>
            <a:r>
              <a:rPr lang="nl-NL" sz="1500" dirty="0">
                <a:cs typeface="Consolas" panose="020B0609020204030204" pitchFamily="49" charset="0"/>
              </a:rPr>
              <a:t>);</a:t>
            </a:r>
          </a:p>
          <a:p>
            <a:pPr>
              <a:lnSpc>
                <a:spcPts val="2000"/>
              </a:lnSpc>
            </a:pPr>
            <a:r>
              <a:rPr lang="nl-NL" sz="1500" dirty="0">
                <a:cs typeface="Consolas" panose="020B0609020204030204" pitchFamily="49" charset="0"/>
              </a:rPr>
              <a:t>Deze status wordt weergegeven in het overzicht dat </a:t>
            </a:r>
            <a:r>
              <a:rPr lang="nl-NL" sz="1500" dirty="0" err="1">
                <a:latin typeface="Consolas" panose="020B0609020204030204" pitchFamily="49" charset="0"/>
                <a:cs typeface="Consolas" panose="020B0609020204030204" pitchFamily="49" charset="0"/>
              </a:rPr>
              <a:t>sestatus</a:t>
            </a:r>
            <a:r>
              <a:rPr lang="nl-NL" sz="1500" dirty="0">
                <a:cs typeface="Consolas" panose="020B0609020204030204" pitchFamily="49" charset="0"/>
              </a:rPr>
              <a:t> biedt, maar kan ook afzonderlijk worden opgevraagd met het </a:t>
            </a:r>
            <a:r>
              <a:rPr lang="nl-NL" sz="1500" dirty="0" err="1">
                <a:latin typeface="Consolas" panose="020B0609020204030204" pitchFamily="49" charset="0"/>
                <a:cs typeface="Consolas" panose="020B0609020204030204" pitchFamily="49" charset="0"/>
              </a:rPr>
              <a:t>getenforce</a:t>
            </a:r>
            <a:r>
              <a:rPr lang="nl-NL" sz="1500" dirty="0">
                <a:cs typeface="Consolas" panose="020B0609020204030204" pitchFamily="49" charset="0"/>
              </a:rPr>
              <a:t> commando;</a:t>
            </a:r>
            <a:endParaRPr lang="nl-NL" sz="1500" dirty="0">
              <a:latin typeface="Consolas" panose="020B0609020204030204" pitchFamily="49" charset="0"/>
              <a:cs typeface="Consolas" panose="020B0609020204030204" pitchFamily="49" charset="0"/>
            </a:endParaRPr>
          </a:p>
          <a:p>
            <a:pPr>
              <a:lnSpc>
                <a:spcPts val="2000"/>
              </a:lnSpc>
            </a:pPr>
            <a:r>
              <a:rPr lang="nl-NL" sz="1500" dirty="0">
                <a:cs typeface="Consolas" panose="020B0609020204030204" pitchFamily="49" charset="0"/>
              </a:rPr>
              <a:t>Met </a:t>
            </a:r>
            <a:r>
              <a:rPr lang="nl-NL" sz="1500" dirty="0" err="1">
                <a:latin typeface="Consolas" panose="020B0609020204030204" pitchFamily="49" charset="0"/>
                <a:cs typeface="Consolas" panose="020B0609020204030204" pitchFamily="49" charset="0"/>
              </a:rPr>
              <a:t>setenforce</a:t>
            </a:r>
            <a:r>
              <a:rPr lang="nl-NL" sz="1500" dirty="0">
                <a:cs typeface="Consolas" panose="020B0609020204030204" pitchFamily="49" charset="0"/>
              </a:rPr>
              <a:t> kan </a:t>
            </a:r>
            <a:r>
              <a:rPr lang="nl-NL" sz="1500" i="1" dirty="0" err="1">
                <a:cs typeface="Consolas" panose="020B0609020204030204" pitchFamily="49" charset="0"/>
              </a:rPr>
              <a:t>enforcement</a:t>
            </a:r>
            <a:r>
              <a:rPr lang="nl-NL" sz="1500" dirty="0">
                <a:cs typeface="Consolas" panose="020B0609020204030204" pitchFamily="49" charset="0"/>
              </a:rPr>
              <a:t> uit (“</a:t>
            </a:r>
            <a:r>
              <a:rPr lang="nl-NL" sz="1500" dirty="0">
                <a:latin typeface="Consolas" panose="020B0609020204030204" pitchFamily="49" charset="0"/>
                <a:cs typeface="Consolas" panose="020B0609020204030204" pitchFamily="49" charset="0"/>
              </a:rPr>
              <a:t>0</a:t>
            </a:r>
            <a:r>
              <a:rPr lang="nl-NL" sz="1500" dirty="0">
                <a:cs typeface="Consolas" panose="020B0609020204030204" pitchFamily="49" charset="0"/>
              </a:rPr>
              <a:t>” of “</a:t>
            </a:r>
            <a:r>
              <a:rPr lang="nl-NL" sz="1500" dirty="0" err="1">
                <a:latin typeface="Consolas" panose="020B0609020204030204" pitchFamily="49" charset="0"/>
                <a:cs typeface="Consolas" panose="020B0609020204030204" pitchFamily="49" charset="0"/>
              </a:rPr>
              <a:t>Permissive</a:t>
            </a:r>
            <a:r>
              <a:rPr lang="nl-NL" sz="1500" dirty="0">
                <a:cs typeface="Consolas" panose="020B0609020204030204" pitchFamily="49" charset="0"/>
              </a:rPr>
              <a:t>”) of aan (“</a:t>
            </a:r>
            <a:r>
              <a:rPr lang="nl-NL" sz="1500" dirty="0">
                <a:latin typeface="Consolas" panose="020B0609020204030204" pitchFamily="49" charset="0"/>
                <a:cs typeface="Consolas" panose="020B0609020204030204" pitchFamily="49" charset="0"/>
              </a:rPr>
              <a:t>1</a:t>
            </a:r>
            <a:r>
              <a:rPr lang="nl-NL" sz="1500" dirty="0">
                <a:cs typeface="Consolas" panose="020B0609020204030204" pitchFamily="49" charset="0"/>
              </a:rPr>
              <a:t>” of “</a:t>
            </a:r>
            <a:r>
              <a:rPr lang="nl-NL" sz="1500" dirty="0" err="1">
                <a:latin typeface="Consolas" panose="020B0609020204030204" pitchFamily="49" charset="0"/>
                <a:cs typeface="Consolas" panose="020B0609020204030204" pitchFamily="49" charset="0"/>
              </a:rPr>
              <a:t>Enforcing</a:t>
            </a:r>
            <a:r>
              <a:rPr lang="nl-NL" sz="1500" dirty="0">
                <a:cs typeface="Consolas" panose="020B0609020204030204" pitchFamily="49" charset="0"/>
              </a:rPr>
              <a:t>”) gezet worden; de “</a:t>
            </a:r>
            <a:r>
              <a:rPr lang="nl-NL" sz="1500" dirty="0" err="1">
                <a:cs typeface="Consolas" panose="020B0609020204030204" pitchFamily="49" charset="0"/>
              </a:rPr>
              <a:t>Current</a:t>
            </a:r>
            <a:r>
              <a:rPr lang="nl-NL" sz="1500" dirty="0">
                <a:cs typeface="Consolas" panose="020B0609020204030204" pitchFamily="49" charset="0"/>
              </a:rPr>
              <a:t> mode” verandert:</a:t>
            </a:r>
          </a:p>
          <a:p>
            <a:pPr marL="400050" lvl="1" indent="0">
              <a:lnSpc>
                <a:spcPts val="2000"/>
              </a:lnSpc>
              <a:buNone/>
            </a:pPr>
            <a:r>
              <a:rPr lang="nl-NL" sz="1350" dirty="0">
                <a:latin typeface="Consolas" panose="020B0609020204030204" pitchFamily="49" charset="0"/>
                <a:cs typeface="Consolas" panose="020B0609020204030204" pitchFamily="49" charset="0"/>
              </a:rPr>
              <a:t># </a:t>
            </a:r>
            <a:r>
              <a:rPr lang="nl-NL" sz="1350" dirty="0" err="1">
                <a:latin typeface="Consolas" panose="020B0609020204030204" pitchFamily="49" charset="0"/>
                <a:cs typeface="Consolas" panose="020B0609020204030204" pitchFamily="49" charset="0"/>
              </a:rPr>
              <a:t>setenforce</a:t>
            </a:r>
            <a:r>
              <a:rPr lang="nl-NL" sz="1350" dirty="0">
                <a:latin typeface="Consolas" panose="020B0609020204030204" pitchFamily="49" charset="0"/>
                <a:cs typeface="Consolas" panose="020B0609020204030204" pitchFamily="49" charset="0"/>
              </a:rPr>
              <a:t> 0</a:t>
            </a:r>
            <a:r>
              <a:rPr lang="nl-NL" sz="1350" dirty="0">
                <a:cs typeface="Consolas" panose="020B0609020204030204" pitchFamily="49" charset="0"/>
              </a:rPr>
              <a:t>	</a:t>
            </a:r>
            <a:r>
              <a:rPr lang="nl-NL" sz="1350" dirty="0">
                <a:cs typeface="Consolas" panose="020B0609020204030204" pitchFamily="49" charset="0"/>
                <a:sym typeface="Wingdings" panose="05000000000000000000" pitchFamily="2" charset="2"/>
              </a:rPr>
              <a:t> Geen output</a:t>
            </a:r>
            <a:br>
              <a:rPr lang="nl-NL" sz="1350" dirty="0">
                <a:cs typeface="Consolas" panose="020B0609020204030204" pitchFamily="49" charset="0"/>
                <a:sym typeface="Wingdings" panose="05000000000000000000" pitchFamily="2" charset="2"/>
              </a:rPr>
            </a:br>
            <a:r>
              <a:rPr lang="nl-NL" sz="1350" dirty="0">
                <a:latin typeface="Consolas" panose="020B0609020204030204" pitchFamily="49" charset="0"/>
                <a:cs typeface="Consolas" panose="020B0609020204030204" pitchFamily="49" charset="0"/>
              </a:rPr>
              <a:t># </a:t>
            </a:r>
            <a:r>
              <a:rPr lang="nl-NL" sz="1350" dirty="0" err="1">
                <a:latin typeface="Consolas" panose="020B0609020204030204" pitchFamily="49" charset="0"/>
                <a:cs typeface="Consolas" panose="020B0609020204030204" pitchFamily="49" charset="0"/>
              </a:rPr>
              <a:t>getenforce</a:t>
            </a:r>
            <a:br>
              <a:rPr lang="nl-NL" sz="1350" dirty="0">
                <a:latin typeface="Consolas" panose="020B0609020204030204" pitchFamily="49" charset="0"/>
                <a:cs typeface="Consolas" panose="020B0609020204030204" pitchFamily="49" charset="0"/>
              </a:rPr>
            </a:br>
            <a:r>
              <a:rPr lang="nl-NL" sz="1350" dirty="0" err="1">
                <a:latin typeface="Consolas" panose="020B0609020204030204" pitchFamily="49" charset="0"/>
                <a:cs typeface="Consolas" panose="020B0609020204030204" pitchFamily="49" charset="0"/>
              </a:rPr>
              <a:t>Permissive</a:t>
            </a:r>
            <a:br>
              <a:rPr lang="nl-NL" sz="1350" dirty="0">
                <a:latin typeface="Consolas" panose="020B0609020204030204" pitchFamily="49" charset="0"/>
                <a:cs typeface="Consolas" panose="020B0609020204030204" pitchFamily="49" charset="0"/>
              </a:rPr>
            </a:br>
            <a:r>
              <a:rPr lang="nl-NL" sz="1350" dirty="0">
                <a:latin typeface="Consolas" panose="020B0609020204030204" pitchFamily="49" charset="0"/>
                <a:cs typeface="Consolas" panose="020B0609020204030204" pitchFamily="49" charset="0"/>
              </a:rPr>
              <a:t># </a:t>
            </a:r>
            <a:r>
              <a:rPr lang="nl-NL" sz="1350" dirty="0" err="1">
                <a:latin typeface="Consolas" panose="020B0609020204030204" pitchFamily="49" charset="0"/>
                <a:cs typeface="Consolas" panose="020B0609020204030204" pitchFamily="49" charset="0"/>
              </a:rPr>
              <a:t>setenforce</a:t>
            </a:r>
            <a:r>
              <a:rPr lang="nl-NL" sz="1350" dirty="0">
                <a:latin typeface="Consolas" panose="020B0609020204030204" pitchFamily="49" charset="0"/>
                <a:cs typeface="Consolas" panose="020B0609020204030204" pitchFamily="49" charset="0"/>
              </a:rPr>
              <a:t> 1</a:t>
            </a:r>
            <a:r>
              <a:rPr lang="nl-NL" sz="1350" dirty="0">
                <a:cs typeface="Consolas" panose="020B0609020204030204" pitchFamily="49" charset="0"/>
              </a:rPr>
              <a:t>	</a:t>
            </a:r>
            <a:r>
              <a:rPr lang="nl-NL" sz="1350" dirty="0">
                <a:cs typeface="Consolas" panose="020B0609020204030204" pitchFamily="49" charset="0"/>
                <a:sym typeface="Wingdings" panose="05000000000000000000" pitchFamily="2" charset="2"/>
              </a:rPr>
              <a:t> Geen output</a:t>
            </a:r>
            <a:br>
              <a:rPr lang="nl-NL" sz="1350" dirty="0">
                <a:cs typeface="Consolas" panose="020B0609020204030204" pitchFamily="49" charset="0"/>
                <a:sym typeface="Wingdings" panose="05000000000000000000" pitchFamily="2" charset="2"/>
              </a:rPr>
            </a:br>
            <a:r>
              <a:rPr lang="nl-NL" sz="1350" dirty="0">
                <a:latin typeface="Consolas" panose="020B0609020204030204" pitchFamily="49" charset="0"/>
                <a:cs typeface="Consolas" panose="020B0609020204030204" pitchFamily="49" charset="0"/>
              </a:rPr>
              <a:t># </a:t>
            </a:r>
            <a:r>
              <a:rPr lang="nl-NL" sz="1350" dirty="0" err="1">
                <a:latin typeface="Consolas" panose="020B0609020204030204" pitchFamily="49" charset="0"/>
                <a:cs typeface="Consolas" panose="020B0609020204030204" pitchFamily="49" charset="0"/>
              </a:rPr>
              <a:t>getenforce</a:t>
            </a:r>
            <a:br>
              <a:rPr lang="nl-NL" sz="1350" dirty="0">
                <a:latin typeface="Consolas" panose="020B0609020204030204" pitchFamily="49" charset="0"/>
                <a:cs typeface="Consolas" panose="020B0609020204030204" pitchFamily="49" charset="0"/>
              </a:rPr>
            </a:br>
            <a:r>
              <a:rPr lang="nl-NL" sz="1350" dirty="0" err="1">
                <a:latin typeface="Consolas" panose="020B0609020204030204" pitchFamily="49" charset="0"/>
                <a:cs typeface="Consolas" panose="020B0609020204030204" pitchFamily="49" charset="0"/>
              </a:rPr>
              <a:t>Enforcing</a:t>
            </a:r>
            <a:endParaRPr lang="nl-NL" sz="1350" dirty="0">
              <a:latin typeface="Consolas" panose="020B0609020204030204" pitchFamily="49" charset="0"/>
              <a:cs typeface="Consolas" panose="020B0609020204030204" pitchFamily="49" charset="0"/>
            </a:endParaRPr>
          </a:p>
        </p:txBody>
      </p:sp>
      <p:sp>
        <p:nvSpPr>
          <p:cNvPr id="4" name="Title 3"/>
          <p:cNvSpPr>
            <a:spLocks noGrp="1"/>
          </p:cNvSpPr>
          <p:nvPr>
            <p:ph type="title"/>
          </p:nvPr>
        </p:nvSpPr>
        <p:spPr/>
        <p:txBody>
          <a:bodyPr/>
          <a:lstStyle/>
          <a:p>
            <a:r>
              <a:rPr lang="nl-NL" dirty="0" err="1"/>
              <a:t>SELinux</a:t>
            </a:r>
            <a:r>
              <a:rPr lang="nl-NL" dirty="0"/>
              <a:t> </a:t>
            </a:r>
            <a:r>
              <a:rPr lang="nl-NL" i="1" dirty="0" err="1"/>
              <a:t>enforcement</a:t>
            </a:r>
            <a:endParaRPr lang="nl-NL" i="1" dirty="0"/>
          </a:p>
        </p:txBody>
      </p:sp>
      <p:sp>
        <p:nvSpPr>
          <p:cNvPr id="3" name="Slide Number Placeholder 2"/>
          <p:cNvSpPr>
            <a:spLocks noGrp="1"/>
          </p:cNvSpPr>
          <p:nvPr>
            <p:ph type="sldNum" sz="quarter" idx="4294967295"/>
          </p:nvPr>
        </p:nvSpPr>
        <p:spPr>
          <a:xfrm>
            <a:off x="0" y="0"/>
            <a:ext cx="0" cy="0"/>
          </a:xfrm>
        </p:spPr>
        <p:txBody>
          <a:bodyPr/>
          <a:lstStyle/>
          <a:p>
            <a:fld id="{A9096D49-DAE3-40DE-93E0-41688E0A5016}" type="slidenum">
              <a:rPr lang="nl-NL" smtClean="0"/>
              <a:pPr/>
              <a:t>30</a:t>
            </a:fld>
            <a:endParaRPr lang="nl-NL"/>
          </a:p>
        </p:txBody>
      </p:sp>
    </p:spTree>
    <p:extLst>
      <p:ext uri="{BB962C8B-B14F-4D97-AF65-F5344CB8AC3E}">
        <p14:creationId xmlns:p14="http://schemas.microsoft.com/office/powerpoint/2010/main" val="17665812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1"/>
          </p:nvPr>
        </p:nvSpPr>
        <p:spPr/>
        <p:txBody>
          <a:bodyPr/>
          <a:lstStyle/>
          <a:p>
            <a:r>
              <a:rPr lang="nl-NL" dirty="0" err="1">
                <a:latin typeface="Consolas" panose="020B0609020204030204" pitchFamily="49" charset="0"/>
                <a:cs typeface="Consolas" panose="020B0609020204030204" pitchFamily="49" charset="0"/>
              </a:rPr>
              <a:t>semanage</a:t>
            </a:r>
            <a:r>
              <a:rPr lang="nl-NL" dirty="0">
                <a:latin typeface="Consolas" panose="020B0609020204030204" pitchFamily="49" charset="0"/>
                <a:cs typeface="Consolas" panose="020B0609020204030204" pitchFamily="49" charset="0"/>
              </a:rPr>
              <a:t> </a:t>
            </a:r>
            <a:r>
              <a:rPr lang="nl-NL" dirty="0" err="1">
                <a:latin typeface="Consolas" panose="020B0609020204030204" pitchFamily="49" charset="0"/>
                <a:cs typeface="Consolas" panose="020B0609020204030204" pitchFamily="49" charset="0"/>
              </a:rPr>
              <a:t>boolean</a:t>
            </a:r>
            <a:r>
              <a:rPr lang="nl-NL" dirty="0">
                <a:latin typeface="Consolas" panose="020B0609020204030204" pitchFamily="49" charset="0"/>
                <a:cs typeface="Consolas" panose="020B0609020204030204" pitchFamily="49" charset="0"/>
              </a:rPr>
              <a:t> -l </a:t>
            </a:r>
            <a:r>
              <a:rPr lang="nl-NL" dirty="0"/>
              <a:t>geeft de diverse </a:t>
            </a:r>
            <a:r>
              <a:rPr lang="nl-NL" dirty="0" err="1"/>
              <a:t>booleans</a:t>
            </a:r>
            <a:r>
              <a:rPr lang="nl-NL" dirty="0"/>
              <a:t> weer met een korte omschrijving van hun betekenis</a:t>
            </a:r>
          </a:p>
        </p:txBody>
      </p:sp>
      <p:sp>
        <p:nvSpPr>
          <p:cNvPr id="2" name="Title 1"/>
          <p:cNvSpPr>
            <a:spLocks noGrp="1"/>
          </p:cNvSpPr>
          <p:nvPr>
            <p:ph type="title"/>
          </p:nvPr>
        </p:nvSpPr>
        <p:spPr/>
        <p:txBody>
          <a:bodyPr/>
          <a:lstStyle/>
          <a:p>
            <a:r>
              <a:rPr lang="nl-NL" dirty="0" err="1"/>
              <a:t>SELinux</a:t>
            </a:r>
            <a:r>
              <a:rPr lang="nl-NL" dirty="0"/>
              <a:t> </a:t>
            </a:r>
            <a:r>
              <a:rPr lang="nl-NL" i="1" dirty="0" err="1"/>
              <a:t>booleans</a:t>
            </a:r>
            <a:endParaRPr lang="nl-NL" i="1" dirty="0"/>
          </a:p>
        </p:txBody>
      </p:sp>
      <p:sp>
        <p:nvSpPr>
          <p:cNvPr id="4" name="Slide Number Placeholder 3"/>
          <p:cNvSpPr>
            <a:spLocks noGrp="1"/>
          </p:cNvSpPr>
          <p:nvPr>
            <p:ph type="sldNum" sz="quarter" idx="4294967295"/>
          </p:nvPr>
        </p:nvSpPr>
        <p:spPr>
          <a:xfrm>
            <a:off x="0" y="0"/>
            <a:ext cx="0" cy="0"/>
          </a:xfrm>
        </p:spPr>
        <p:txBody>
          <a:bodyPr/>
          <a:lstStyle/>
          <a:p>
            <a:fld id="{A9096D49-DAE3-40DE-93E0-41688E0A5016}" type="slidenum">
              <a:rPr lang="nl-NL" smtClean="0"/>
              <a:pPr/>
              <a:t>31</a:t>
            </a:fld>
            <a:endParaRPr lang="nl-NL"/>
          </a:p>
        </p:txBody>
      </p:sp>
      <p:sp>
        <p:nvSpPr>
          <p:cNvPr id="5" name="TextBox 4">
            <a:extLst>
              <a:ext uri="{FF2B5EF4-FFF2-40B4-BE49-F238E27FC236}">
                <a16:creationId xmlns:a16="http://schemas.microsoft.com/office/drawing/2014/main" id="{7F486924-B753-D350-D2B7-AED7FEA1D5A0}"/>
              </a:ext>
            </a:extLst>
          </p:cNvPr>
          <p:cNvSpPr txBox="1"/>
          <p:nvPr/>
        </p:nvSpPr>
        <p:spPr>
          <a:xfrm>
            <a:off x="0" y="1895475"/>
            <a:ext cx="9144000" cy="3108543"/>
          </a:xfrm>
          <a:prstGeom prst="rect">
            <a:avLst/>
          </a:prstGeom>
          <a:solidFill>
            <a:srgbClr val="FFFFFF"/>
          </a:solidFill>
        </p:spPr>
        <p:txBody>
          <a:bodyPr wrap="square" rtlCol="0">
            <a:spAutoFit/>
          </a:bodyPr>
          <a:lstStyle/>
          <a:p>
            <a:r>
              <a:rPr lang="en-US" sz="1400" dirty="0">
                <a:latin typeface="Consolas" panose="020B0609020204030204" pitchFamily="49" charset="0"/>
              </a:rPr>
              <a:t>[marco@server1 ~]$ </a:t>
            </a:r>
            <a:r>
              <a:rPr lang="en-US" sz="1400" dirty="0" err="1">
                <a:latin typeface="Consolas" panose="020B0609020204030204" pitchFamily="49" charset="0"/>
              </a:rPr>
              <a:t>sudo</a:t>
            </a:r>
            <a:r>
              <a:rPr lang="en-US" sz="1400" dirty="0">
                <a:latin typeface="Consolas" panose="020B0609020204030204" pitchFamily="49" charset="0"/>
              </a:rPr>
              <a:t> </a:t>
            </a:r>
            <a:r>
              <a:rPr lang="en-US" sz="1400" dirty="0" err="1">
                <a:latin typeface="Consolas" panose="020B0609020204030204" pitchFamily="49" charset="0"/>
              </a:rPr>
              <a:t>semanage</a:t>
            </a:r>
            <a:r>
              <a:rPr lang="en-US" sz="1400" dirty="0">
                <a:latin typeface="Consolas" panose="020B0609020204030204" pitchFamily="49" charset="0"/>
              </a:rPr>
              <a:t> </a:t>
            </a:r>
            <a:r>
              <a:rPr lang="en-US" sz="1400" dirty="0" err="1">
                <a:latin typeface="Consolas" panose="020B0609020204030204" pitchFamily="49" charset="0"/>
              </a:rPr>
              <a:t>boolean</a:t>
            </a:r>
            <a:r>
              <a:rPr lang="en-US" sz="1400" dirty="0">
                <a:latin typeface="Consolas" panose="020B0609020204030204" pitchFamily="49" charset="0"/>
              </a:rPr>
              <a:t> -l</a:t>
            </a:r>
          </a:p>
          <a:p>
            <a:r>
              <a:rPr lang="en-US" sz="1400" dirty="0" err="1">
                <a:latin typeface="Consolas" panose="020B0609020204030204" pitchFamily="49" charset="0"/>
              </a:rPr>
              <a:t>SELinux</a:t>
            </a:r>
            <a:r>
              <a:rPr lang="en-US" sz="1400" dirty="0">
                <a:latin typeface="Consolas" panose="020B0609020204030204" pitchFamily="49" charset="0"/>
              </a:rPr>
              <a:t> </a:t>
            </a:r>
            <a:r>
              <a:rPr lang="en-US" sz="1400" dirty="0" err="1">
                <a:latin typeface="Consolas" panose="020B0609020204030204" pitchFamily="49" charset="0"/>
              </a:rPr>
              <a:t>boolean</a:t>
            </a:r>
            <a:r>
              <a:rPr lang="en-US" sz="1400" dirty="0">
                <a:latin typeface="Consolas" panose="020B0609020204030204" pitchFamily="49" charset="0"/>
              </a:rPr>
              <a:t>                State  Default Description</a:t>
            </a:r>
          </a:p>
          <a:p>
            <a:endParaRPr lang="en-US" sz="1400" dirty="0">
              <a:latin typeface="Consolas" panose="020B0609020204030204" pitchFamily="49" charset="0"/>
            </a:endParaRPr>
          </a:p>
          <a:p>
            <a:r>
              <a:rPr lang="en-US" sz="1400" dirty="0" err="1">
                <a:latin typeface="Consolas" panose="020B0609020204030204" pitchFamily="49" charset="0"/>
              </a:rPr>
              <a:t>abrt_anon_write</a:t>
            </a:r>
            <a:r>
              <a:rPr lang="en-US" sz="1400" dirty="0">
                <a:latin typeface="Consolas" panose="020B0609020204030204" pitchFamily="49" charset="0"/>
              </a:rPr>
              <a:t>                (off  ,  off)  Allow </a:t>
            </a:r>
            <a:r>
              <a:rPr lang="en-US" sz="1400" dirty="0" err="1">
                <a:latin typeface="Consolas" panose="020B0609020204030204" pitchFamily="49" charset="0"/>
              </a:rPr>
              <a:t>abrt</a:t>
            </a:r>
            <a:r>
              <a:rPr lang="en-US" sz="1400" dirty="0">
                <a:latin typeface="Consolas" panose="020B0609020204030204" pitchFamily="49" charset="0"/>
              </a:rPr>
              <a:t> to anon write</a:t>
            </a:r>
          </a:p>
          <a:p>
            <a:r>
              <a:rPr lang="en-US" sz="1400" dirty="0" err="1">
                <a:latin typeface="Consolas" panose="020B0609020204030204" pitchFamily="49" charset="0"/>
              </a:rPr>
              <a:t>abrt_handle_event</a:t>
            </a:r>
            <a:r>
              <a:rPr lang="en-US" sz="1400" dirty="0">
                <a:latin typeface="Consolas" panose="020B0609020204030204" pitchFamily="49" charset="0"/>
              </a:rPr>
              <a:t>              (off  ,  off)  Allow </a:t>
            </a:r>
            <a:r>
              <a:rPr lang="en-US" sz="1400" dirty="0" err="1">
                <a:latin typeface="Consolas" panose="020B0609020204030204" pitchFamily="49" charset="0"/>
              </a:rPr>
              <a:t>abrt</a:t>
            </a:r>
            <a:r>
              <a:rPr lang="en-US" sz="1400" dirty="0">
                <a:latin typeface="Consolas" panose="020B0609020204030204" pitchFamily="49" charset="0"/>
              </a:rPr>
              <a:t> to handle event</a:t>
            </a:r>
          </a:p>
          <a:p>
            <a:r>
              <a:rPr lang="en-US" sz="1400" dirty="0" err="1">
                <a:latin typeface="Consolas" panose="020B0609020204030204" pitchFamily="49" charset="0"/>
              </a:rPr>
              <a:t>abrt_upload_watch_anon_write</a:t>
            </a:r>
            <a:r>
              <a:rPr lang="en-US" sz="1400" dirty="0">
                <a:latin typeface="Consolas" panose="020B0609020204030204" pitchFamily="49" charset="0"/>
              </a:rPr>
              <a:t>   (on   ,   on)  Allow </a:t>
            </a:r>
            <a:r>
              <a:rPr lang="en-US" sz="1400" dirty="0" err="1">
                <a:latin typeface="Consolas" panose="020B0609020204030204" pitchFamily="49" charset="0"/>
              </a:rPr>
              <a:t>abrt</a:t>
            </a:r>
            <a:r>
              <a:rPr lang="en-US" sz="1400" dirty="0">
                <a:latin typeface="Consolas" panose="020B0609020204030204" pitchFamily="49" charset="0"/>
              </a:rPr>
              <a:t> to upload watch anon write</a:t>
            </a:r>
          </a:p>
          <a:p>
            <a:r>
              <a:rPr lang="en-US" sz="1400" dirty="0" err="1">
                <a:latin typeface="Consolas" panose="020B0609020204030204" pitchFamily="49" charset="0"/>
              </a:rPr>
              <a:t>antivirus_can_scan_system</a:t>
            </a:r>
            <a:r>
              <a:rPr lang="en-US" sz="1400" dirty="0">
                <a:latin typeface="Consolas" panose="020B0609020204030204" pitchFamily="49" charset="0"/>
              </a:rPr>
              <a:t>      (off  ,  off)  Allow antivirus to can scan system</a:t>
            </a:r>
          </a:p>
          <a:p>
            <a:r>
              <a:rPr lang="en-US" sz="1400" dirty="0" err="1">
                <a:latin typeface="Consolas" panose="020B0609020204030204" pitchFamily="49" charset="0"/>
              </a:rPr>
              <a:t>antivirus_use_jit</a:t>
            </a:r>
            <a:r>
              <a:rPr lang="en-US" sz="1400" dirty="0">
                <a:latin typeface="Consolas" panose="020B0609020204030204" pitchFamily="49" charset="0"/>
              </a:rPr>
              <a:t>              (off  ,  off)  Allow antivirus to use </a:t>
            </a:r>
            <a:r>
              <a:rPr lang="en-US" sz="1400" dirty="0" err="1">
                <a:latin typeface="Consolas" panose="020B0609020204030204" pitchFamily="49" charset="0"/>
              </a:rPr>
              <a:t>jit</a:t>
            </a:r>
            <a:endParaRPr lang="en-US" sz="1400" dirty="0">
              <a:latin typeface="Consolas" panose="020B0609020204030204" pitchFamily="49" charset="0"/>
            </a:endParaRPr>
          </a:p>
          <a:p>
            <a:r>
              <a:rPr lang="en-US" sz="1400" dirty="0" err="1">
                <a:latin typeface="Consolas" panose="020B0609020204030204" pitchFamily="49" charset="0"/>
              </a:rPr>
              <a:t>auditadm_exec_content</a:t>
            </a:r>
            <a:r>
              <a:rPr lang="en-US" sz="1400" dirty="0">
                <a:latin typeface="Consolas" panose="020B0609020204030204" pitchFamily="49" charset="0"/>
              </a:rPr>
              <a:t>          (on   ,   on)  Allow </a:t>
            </a:r>
            <a:r>
              <a:rPr lang="en-US" sz="1400" dirty="0" err="1">
                <a:latin typeface="Consolas" panose="020B0609020204030204" pitchFamily="49" charset="0"/>
              </a:rPr>
              <a:t>auditadm</a:t>
            </a:r>
            <a:r>
              <a:rPr lang="en-US" sz="1400" dirty="0">
                <a:latin typeface="Consolas" panose="020B0609020204030204" pitchFamily="49" charset="0"/>
              </a:rPr>
              <a:t> to exec content</a:t>
            </a:r>
          </a:p>
          <a:p>
            <a:r>
              <a:rPr lang="en-US" sz="1400" dirty="0" err="1">
                <a:latin typeface="Consolas" panose="020B0609020204030204" pitchFamily="49" charset="0"/>
              </a:rPr>
              <a:t>authlogin_nsswitch_use_ldap</a:t>
            </a:r>
            <a:r>
              <a:rPr lang="en-US" sz="1400" dirty="0">
                <a:latin typeface="Consolas" panose="020B0609020204030204" pitchFamily="49" charset="0"/>
              </a:rPr>
              <a:t>    (off  ,  off)  Allow </a:t>
            </a:r>
            <a:r>
              <a:rPr lang="en-US" sz="1400" dirty="0" err="1">
                <a:latin typeface="Consolas" panose="020B0609020204030204" pitchFamily="49" charset="0"/>
              </a:rPr>
              <a:t>authlogin</a:t>
            </a:r>
            <a:r>
              <a:rPr lang="en-US" sz="1400" dirty="0">
                <a:latin typeface="Consolas" panose="020B0609020204030204" pitchFamily="49" charset="0"/>
              </a:rPr>
              <a:t> to </a:t>
            </a:r>
            <a:r>
              <a:rPr lang="en-US" sz="1400" dirty="0" err="1">
                <a:latin typeface="Consolas" panose="020B0609020204030204" pitchFamily="49" charset="0"/>
              </a:rPr>
              <a:t>nsswitch</a:t>
            </a:r>
            <a:r>
              <a:rPr lang="en-US" sz="1400" dirty="0">
                <a:latin typeface="Consolas" panose="020B0609020204030204" pitchFamily="49" charset="0"/>
              </a:rPr>
              <a:t> use </a:t>
            </a:r>
            <a:r>
              <a:rPr lang="en-US" sz="1400" dirty="0" err="1">
                <a:latin typeface="Consolas" panose="020B0609020204030204" pitchFamily="49" charset="0"/>
              </a:rPr>
              <a:t>ldap</a:t>
            </a:r>
            <a:endParaRPr lang="en-US" sz="1400" dirty="0">
              <a:latin typeface="Consolas" panose="020B0609020204030204" pitchFamily="49" charset="0"/>
            </a:endParaRPr>
          </a:p>
          <a:p>
            <a:r>
              <a:rPr lang="en-US" sz="1400" dirty="0" err="1">
                <a:latin typeface="Consolas" panose="020B0609020204030204" pitchFamily="49" charset="0"/>
              </a:rPr>
              <a:t>authlogin_radius</a:t>
            </a:r>
            <a:r>
              <a:rPr lang="en-US" sz="1400" dirty="0">
                <a:latin typeface="Consolas" panose="020B0609020204030204" pitchFamily="49" charset="0"/>
              </a:rPr>
              <a:t>               (off  ,  off)  Allow </a:t>
            </a:r>
            <a:r>
              <a:rPr lang="en-US" sz="1400" dirty="0" err="1">
                <a:latin typeface="Consolas" panose="020B0609020204030204" pitchFamily="49" charset="0"/>
              </a:rPr>
              <a:t>authlogin</a:t>
            </a:r>
            <a:r>
              <a:rPr lang="en-US" sz="1400" dirty="0">
                <a:latin typeface="Consolas" panose="020B0609020204030204" pitchFamily="49" charset="0"/>
              </a:rPr>
              <a:t> to radius</a:t>
            </a:r>
          </a:p>
          <a:p>
            <a:r>
              <a:rPr lang="en-US" sz="1400" dirty="0" err="1">
                <a:latin typeface="Consolas" panose="020B0609020204030204" pitchFamily="49" charset="0"/>
              </a:rPr>
              <a:t>authlogin_yubikey</a:t>
            </a:r>
            <a:r>
              <a:rPr lang="en-US" sz="1400" dirty="0">
                <a:latin typeface="Consolas" panose="020B0609020204030204" pitchFamily="49" charset="0"/>
              </a:rPr>
              <a:t>              (off  ,  off)  Allow </a:t>
            </a:r>
            <a:r>
              <a:rPr lang="en-US" sz="1400" dirty="0" err="1">
                <a:latin typeface="Consolas" panose="020B0609020204030204" pitchFamily="49" charset="0"/>
              </a:rPr>
              <a:t>authlogin</a:t>
            </a:r>
            <a:r>
              <a:rPr lang="en-US" sz="1400" dirty="0">
                <a:latin typeface="Consolas" panose="020B0609020204030204" pitchFamily="49" charset="0"/>
              </a:rPr>
              <a:t> to </a:t>
            </a:r>
            <a:r>
              <a:rPr lang="en-US" sz="1400" dirty="0" err="1">
                <a:latin typeface="Consolas" panose="020B0609020204030204" pitchFamily="49" charset="0"/>
              </a:rPr>
              <a:t>yubikey</a:t>
            </a:r>
            <a:endParaRPr lang="en-US" sz="1400" dirty="0">
              <a:latin typeface="Consolas" panose="020B0609020204030204" pitchFamily="49" charset="0"/>
            </a:endParaRPr>
          </a:p>
          <a:p>
            <a:r>
              <a:rPr lang="en-US" sz="1400" dirty="0" err="1">
                <a:latin typeface="Consolas" panose="020B0609020204030204" pitchFamily="49" charset="0"/>
              </a:rPr>
              <a:t>awstats_purge_apache_log_files</a:t>
            </a:r>
            <a:r>
              <a:rPr lang="en-US" sz="1400" dirty="0">
                <a:latin typeface="Consolas" panose="020B0609020204030204" pitchFamily="49" charset="0"/>
              </a:rPr>
              <a:t> (off  ,  off)  Allow </a:t>
            </a:r>
            <a:r>
              <a:rPr lang="en-US" sz="1400" dirty="0" err="1">
                <a:latin typeface="Consolas" panose="020B0609020204030204" pitchFamily="49" charset="0"/>
              </a:rPr>
              <a:t>awstats</a:t>
            </a:r>
            <a:r>
              <a:rPr lang="en-US" sz="1400" dirty="0">
                <a:latin typeface="Consolas" panose="020B0609020204030204" pitchFamily="49" charset="0"/>
              </a:rPr>
              <a:t> to purge </a:t>
            </a:r>
            <a:r>
              <a:rPr lang="en-US" sz="1400" dirty="0" err="1">
                <a:latin typeface="Consolas" panose="020B0609020204030204" pitchFamily="49" charset="0"/>
              </a:rPr>
              <a:t>apache</a:t>
            </a:r>
            <a:r>
              <a:rPr lang="en-US" sz="1400" dirty="0">
                <a:latin typeface="Consolas" panose="020B0609020204030204" pitchFamily="49" charset="0"/>
              </a:rPr>
              <a:t> log files</a:t>
            </a:r>
          </a:p>
          <a:p>
            <a:endParaRPr lang="nl-NL" sz="1400" dirty="0">
              <a:latin typeface="Consolas" panose="020B0609020204030204" pitchFamily="49" charset="0"/>
            </a:endParaRPr>
          </a:p>
        </p:txBody>
      </p:sp>
    </p:spTree>
    <p:extLst>
      <p:ext uri="{BB962C8B-B14F-4D97-AF65-F5344CB8AC3E}">
        <p14:creationId xmlns:p14="http://schemas.microsoft.com/office/powerpoint/2010/main" val="371565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1"/>
          </p:nvPr>
        </p:nvSpPr>
        <p:spPr/>
        <p:txBody>
          <a:bodyPr/>
          <a:lstStyle/>
          <a:p>
            <a:pPr>
              <a:lnSpc>
                <a:spcPts val="2800"/>
              </a:lnSpc>
            </a:pPr>
            <a:r>
              <a:rPr lang="nl-NL" dirty="0"/>
              <a:t>Elk proces heeft een </a:t>
            </a:r>
            <a:r>
              <a:rPr lang="nl-NL" dirty="0" err="1"/>
              <a:t>SELinux</a:t>
            </a:r>
            <a:r>
              <a:rPr lang="nl-NL" dirty="0"/>
              <a:t> context</a:t>
            </a:r>
          </a:p>
          <a:p>
            <a:pPr marL="800100" lvl="1" indent="-342900">
              <a:lnSpc>
                <a:spcPts val="2800"/>
              </a:lnSpc>
              <a:buFont typeface="Courier New" panose="02070309020205020404" pitchFamily="49" charset="0"/>
              <a:buChar char="o"/>
            </a:pPr>
            <a:r>
              <a:rPr lang="nl-NL" dirty="0" err="1">
                <a:latin typeface="Consolas" panose="020B0609020204030204" pitchFamily="49" charset="0"/>
                <a:cs typeface="Consolas" panose="020B0609020204030204" pitchFamily="49" charset="0"/>
              </a:rPr>
              <a:t>scontext</a:t>
            </a:r>
            <a:r>
              <a:rPr lang="nl-NL" dirty="0"/>
              <a:t>, voor </a:t>
            </a:r>
            <a:r>
              <a:rPr lang="nl-NL" b="1" i="1" dirty="0"/>
              <a:t>s</a:t>
            </a:r>
            <a:r>
              <a:rPr lang="nl-NL" dirty="0"/>
              <a:t>ecurity </a:t>
            </a:r>
            <a:r>
              <a:rPr lang="nl-NL" b="1" i="1" dirty="0"/>
              <a:t>context</a:t>
            </a:r>
          </a:p>
          <a:p>
            <a:pPr>
              <a:lnSpc>
                <a:spcPts val="2800"/>
              </a:lnSpc>
            </a:pPr>
            <a:r>
              <a:rPr lang="nl-NL" dirty="0"/>
              <a:t>Elk bestand heeft een </a:t>
            </a:r>
            <a:r>
              <a:rPr lang="nl-NL" dirty="0" err="1"/>
              <a:t>SELinux</a:t>
            </a:r>
            <a:r>
              <a:rPr lang="nl-NL" dirty="0"/>
              <a:t> context</a:t>
            </a:r>
          </a:p>
          <a:p>
            <a:pPr marL="800100" lvl="1" indent="-342900">
              <a:lnSpc>
                <a:spcPts val="2800"/>
              </a:lnSpc>
              <a:buFont typeface="Courier New" panose="02070309020205020404" pitchFamily="49" charset="0"/>
              <a:buChar char="o"/>
            </a:pPr>
            <a:r>
              <a:rPr lang="nl-NL" dirty="0" err="1">
                <a:latin typeface="Consolas" panose="020B0609020204030204" pitchFamily="49" charset="0"/>
                <a:cs typeface="Consolas" panose="020B0609020204030204" pitchFamily="49" charset="0"/>
              </a:rPr>
              <a:t>tcontext</a:t>
            </a:r>
            <a:r>
              <a:rPr lang="nl-NL" dirty="0"/>
              <a:t>, voor </a:t>
            </a:r>
            <a:r>
              <a:rPr lang="nl-NL" b="1" i="1" dirty="0"/>
              <a:t>t</a:t>
            </a:r>
            <a:r>
              <a:rPr lang="nl-NL" dirty="0"/>
              <a:t>arget </a:t>
            </a:r>
            <a:r>
              <a:rPr lang="nl-NL" b="1" i="1" dirty="0"/>
              <a:t>context</a:t>
            </a:r>
            <a:endParaRPr lang="nl-NL" dirty="0"/>
          </a:p>
          <a:p>
            <a:pPr marL="800100" lvl="1" indent="-342900">
              <a:lnSpc>
                <a:spcPts val="2800"/>
              </a:lnSpc>
              <a:buFont typeface="Courier New" panose="02070309020205020404" pitchFamily="49" charset="0"/>
              <a:buChar char="o"/>
            </a:pPr>
            <a:r>
              <a:rPr lang="nl-NL" dirty="0"/>
              <a:t>blijft behouden bij verplaatsen van bestand</a:t>
            </a:r>
          </a:p>
          <a:p>
            <a:pPr marL="800100" lvl="1" indent="-342900">
              <a:lnSpc>
                <a:spcPts val="2800"/>
              </a:lnSpc>
              <a:buFont typeface="Courier New" panose="02070309020205020404" pitchFamily="49" charset="0"/>
              <a:buChar char="o"/>
            </a:pPr>
            <a:r>
              <a:rPr lang="nl-NL" dirty="0"/>
              <a:t>bij aanmaken of kopiëren van een bestand krijgt het bestand de standaard context van de directory waar het in terecht komt</a:t>
            </a:r>
          </a:p>
        </p:txBody>
      </p:sp>
      <p:sp>
        <p:nvSpPr>
          <p:cNvPr id="2" name="Title 1"/>
          <p:cNvSpPr>
            <a:spLocks noGrp="1"/>
          </p:cNvSpPr>
          <p:nvPr>
            <p:ph type="title"/>
          </p:nvPr>
        </p:nvSpPr>
        <p:spPr/>
        <p:txBody>
          <a:bodyPr/>
          <a:lstStyle/>
          <a:p>
            <a:r>
              <a:rPr lang="nl-NL" dirty="0" err="1"/>
              <a:t>SELinux</a:t>
            </a:r>
            <a:r>
              <a:rPr lang="nl-NL" dirty="0"/>
              <a:t> </a:t>
            </a:r>
            <a:r>
              <a:rPr lang="nl-NL" dirty="0" err="1"/>
              <a:t>contexts</a:t>
            </a:r>
            <a:endParaRPr lang="nl-NL" dirty="0"/>
          </a:p>
        </p:txBody>
      </p:sp>
      <p:sp>
        <p:nvSpPr>
          <p:cNvPr id="4" name="Slide Number Placeholder 3"/>
          <p:cNvSpPr>
            <a:spLocks noGrp="1"/>
          </p:cNvSpPr>
          <p:nvPr>
            <p:ph type="sldNum" sz="quarter" idx="4294967295"/>
          </p:nvPr>
        </p:nvSpPr>
        <p:spPr>
          <a:xfrm>
            <a:off x="0" y="0"/>
            <a:ext cx="0" cy="0"/>
          </a:xfrm>
        </p:spPr>
        <p:txBody>
          <a:bodyPr/>
          <a:lstStyle/>
          <a:p>
            <a:fld id="{A9096D49-DAE3-40DE-93E0-41688E0A5016}" type="slidenum">
              <a:rPr lang="nl-NL" smtClean="0"/>
              <a:pPr/>
              <a:t>32</a:t>
            </a:fld>
            <a:endParaRPr lang="nl-NL"/>
          </a:p>
        </p:txBody>
      </p:sp>
    </p:spTree>
    <p:extLst>
      <p:ext uri="{BB962C8B-B14F-4D97-AF65-F5344CB8AC3E}">
        <p14:creationId xmlns:p14="http://schemas.microsoft.com/office/powerpoint/2010/main" val="1557140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1"/>
          </p:nvPr>
        </p:nvSpPr>
        <p:spPr>
          <a:xfrm>
            <a:off x="718219" y="1196341"/>
            <a:ext cx="7749506" cy="3292316"/>
          </a:xfrm>
        </p:spPr>
        <p:txBody>
          <a:bodyPr/>
          <a:lstStyle/>
          <a:p>
            <a:r>
              <a:rPr lang="nl-NL" dirty="0"/>
              <a:t>De </a:t>
            </a:r>
            <a:r>
              <a:rPr lang="nl-NL" dirty="0" err="1"/>
              <a:t>SELinux</a:t>
            </a:r>
            <a:r>
              <a:rPr lang="nl-NL" dirty="0"/>
              <a:t> context van bestanden is te bekijken met </a:t>
            </a:r>
            <a:r>
              <a:rPr lang="nl-NL" dirty="0" err="1">
                <a:latin typeface="Consolas" panose="020B0609020204030204" pitchFamily="49" charset="0"/>
                <a:cs typeface="Consolas" panose="020B0609020204030204" pitchFamily="49" charset="0"/>
              </a:rPr>
              <a:t>ls</a:t>
            </a:r>
            <a:r>
              <a:rPr lang="nl-NL" dirty="0"/>
              <a:t> optie </a:t>
            </a:r>
            <a:r>
              <a:rPr lang="nl-NL" dirty="0">
                <a:latin typeface="Consolas" panose="020B0609020204030204" pitchFamily="49" charset="0"/>
                <a:cs typeface="Consolas" panose="020B0609020204030204" pitchFamily="49" charset="0"/>
              </a:rPr>
              <a:t>-Z</a:t>
            </a:r>
            <a:r>
              <a:rPr lang="nl-NL" dirty="0"/>
              <a:t>:</a:t>
            </a:r>
          </a:p>
          <a:p>
            <a:pPr marL="357188" lvl="1" indent="0">
              <a:buNone/>
            </a:pPr>
            <a:r>
              <a:rPr lang="nl-NL" sz="1400" dirty="0">
                <a:latin typeface="Consolas" panose="020B0609020204030204" pitchFamily="49" charset="0"/>
                <a:cs typeface="Consolas" panose="020B0609020204030204" pitchFamily="49" charset="0"/>
              </a:rPr>
              <a:t>$ </a:t>
            </a:r>
            <a:r>
              <a:rPr lang="nl-NL" sz="1400" dirty="0" err="1">
                <a:latin typeface="Consolas" panose="020B0609020204030204" pitchFamily="49" charset="0"/>
                <a:cs typeface="Consolas" panose="020B0609020204030204" pitchFamily="49" charset="0"/>
              </a:rPr>
              <a:t>ls</a:t>
            </a:r>
            <a:r>
              <a:rPr lang="nl-NL" sz="1400" dirty="0">
                <a:latin typeface="Consolas" panose="020B0609020204030204" pitchFamily="49" charset="0"/>
                <a:cs typeface="Consolas" panose="020B0609020204030204" pitchFamily="49" charset="0"/>
              </a:rPr>
              <a:t> -</a:t>
            </a:r>
            <a:r>
              <a:rPr lang="nl-NL" sz="1400">
                <a:latin typeface="Consolas" panose="020B0609020204030204" pitchFamily="49" charset="0"/>
                <a:cs typeface="Consolas" panose="020B0609020204030204" pitchFamily="49" charset="0"/>
              </a:rPr>
              <a:t>lZ</a:t>
            </a:r>
            <a:r>
              <a:rPr lang="nl-NL" sz="1400" dirty="0">
                <a:latin typeface="Consolas" panose="020B0609020204030204" pitchFamily="49" charset="0"/>
                <a:cs typeface="Consolas" panose="020B0609020204030204" pitchFamily="49" charset="0"/>
              </a:rPr>
              <a:t> /var/log/</a:t>
            </a:r>
            <a:r>
              <a:rPr lang="nl-NL" sz="1400" dirty="0" err="1">
                <a:latin typeface="Consolas" panose="020B0609020204030204" pitchFamily="49" charset="0"/>
                <a:cs typeface="Consolas" panose="020B0609020204030204" pitchFamily="49" charset="0"/>
              </a:rPr>
              <a:t>messages</a:t>
            </a:r>
            <a:endParaRPr lang="nl-NL" sz="1400" dirty="0">
              <a:latin typeface="Consolas" panose="020B0609020204030204" pitchFamily="49" charset="0"/>
              <a:cs typeface="Consolas" panose="020B0609020204030204" pitchFamily="49" charset="0"/>
            </a:endParaRPr>
          </a:p>
          <a:p>
            <a:pPr marL="357188" lvl="1" indent="0">
              <a:buNone/>
            </a:pPr>
            <a:r>
              <a:rPr lang="nl-NL" sz="1400" dirty="0">
                <a:latin typeface="Consolas" panose="020B0609020204030204" pitchFamily="49" charset="0"/>
                <a:cs typeface="Consolas" panose="020B0609020204030204" pitchFamily="49" charset="0"/>
              </a:rPr>
              <a:t>-</a:t>
            </a:r>
            <a:r>
              <a:rPr lang="nl-NL" sz="1400" dirty="0" err="1">
                <a:latin typeface="Consolas" panose="020B0609020204030204" pitchFamily="49" charset="0"/>
                <a:cs typeface="Consolas" panose="020B0609020204030204" pitchFamily="49" charset="0"/>
              </a:rPr>
              <a:t>rw</a:t>
            </a:r>
            <a:r>
              <a:rPr lang="nl-NL" sz="1400" dirty="0">
                <a:latin typeface="Consolas" panose="020B0609020204030204" pitchFamily="49" charset="0"/>
                <a:cs typeface="Consolas" panose="020B0609020204030204" pitchFamily="49" charset="0"/>
              </a:rPr>
              <a:t>-------. root </a:t>
            </a:r>
            <a:r>
              <a:rPr lang="nl-NL" sz="1400" dirty="0" err="1">
                <a:latin typeface="Consolas" panose="020B0609020204030204" pitchFamily="49" charset="0"/>
                <a:cs typeface="Consolas" panose="020B0609020204030204" pitchFamily="49" charset="0"/>
              </a:rPr>
              <a:t>root</a:t>
            </a:r>
            <a:r>
              <a:rPr lang="nl-NL" sz="1400" dirty="0">
                <a:latin typeface="Consolas" panose="020B0609020204030204" pitchFamily="49" charset="0"/>
                <a:cs typeface="Consolas" panose="020B0609020204030204" pitchFamily="49" charset="0"/>
              </a:rPr>
              <a:t> </a:t>
            </a:r>
            <a:r>
              <a:rPr lang="nl-NL" sz="1400" b="1" dirty="0">
                <a:latin typeface="Consolas" panose="020B0609020204030204" pitchFamily="49" charset="0"/>
                <a:cs typeface="Consolas" panose="020B0609020204030204" pitchFamily="49" charset="0"/>
              </a:rPr>
              <a:t>system_u:object_r:var_log_t:s0</a:t>
            </a:r>
            <a:r>
              <a:rPr lang="nl-NL" sz="1400" dirty="0">
                <a:latin typeface="Consolas" panose="020B0609020204030204" pitchFamily="49" charset="0"/>
                <a:cs typeface="Consolas" panose="020B0609020204030204" pitchFamily="49" charset="0"/>
              </a:rPr>
              <a:t> /var/log/</a:t>
            </a:r>
            <a:r>
              <a:rPr lang="nl-NL" sz="1400" dirty="0" err="1">
                <a:latin typeface="Consolas" panose="020B0609020204030204" pitchFamily="49" charset="0"/>
                <a:cs typeface="Consolas" panose="020B0609020204030204" pitchFamily="49" charset="0"/>
              </a:rPr>
              <a:t>messages</a:t>
            </a:r>
            <a:endParaRPr lang="nl-NL" sz="1400" dirty="0">
              <a:latin typeface="Consolas" panose="020B0609020204030204" pitchFamily="49" charset="0"/>
              <a:cs typeface="Consolas" panose="020B0609020204030204" pitchFamily="49" charset="0"/>
            </a:endParaRPr>
          </a:p>
          <a:p>
            <a:r>
              <a:rPr lang="nl-NL" dirty="0"/>
              <a:t>Voor alle belangrijke software zijn vanuit het systeem of vanuit het RPM package al de juiste </a:t>
            </a:r>
            <a:r>
              <a:rPr lang="nl-NL" dirty="0" err="1"/>
              <a:t>SELinux</a:t>
            </a:r>
            <a:r>
              <a:rPr lang="nl-NL" dirty="0"/>
              <a:t> </a:t>
            </a:r>
            <a:r>
              <a:rPr lang="nl-NL" dirty="0" err="1"/>
              <a:t>contexts</a:t>
            </a:r>
            <a:r>
              <a:rPr lang="nl-NL" dirty="0"/>
              <a:t> aangemaakt.</a:t>
            </a:r>
          </a:p>
        </p:txBody>
      </p:sp>
      <p:sp>
        <p:nvSpPr>
          <p:cNvPr id="2" name="Title 1"/>
          <p:cNvSpPr>
            <a:spLocks noGrp="1"/>
          </p:cNvSpPr>
          <p:nvPr>
            <p:ph type="title"/>
          </p:nvPr>
        </p:nvSpPr>
        <p:spPr/>
        <p:txBody>
          <a:bodyPr/>
          <a:lstStyle/>
          <a:p>
            <a:r>
              <a:rPr lang="nl-NL" dirty="0" err="1"/>
              <a:t>SELinux</a:t>
            </a:r>
            <a:r>
              <a:rPr lang="nl-NL" dirty="0"/>
              <a:t> file context</a:t>
            </a:r>
          </a:p>
        </p:txBody>
      </p:sp>
      <p:sp>
        <p:nvSpPr>
          <p:cNvPr id="4" name="Slide Number Placeholder 3"/>
          <p:cNvSpPr>
            <a:spLocks noGrp="1"/>
          </p:cNvSpPr>
          <p:nvPr>
            <p:ph type="sldNum" sz="quarter" idx="4294967295"/>
          </p:nvPr>
        </p:nvSpPr>
        <p:spPr>
          <a:xfrm>
            <a:off x="0" y="0"/>
            <a:ext cx="0" cy="0"/>
          </a:xfrm>
        </p:spPr>
        <p:txBody>
          <a:bodyPr/>
          <a:lstStyle/>
          <a:p>
            <a:fld id="{A9096D49-DAE3-40DE-93E0-41688E0A5016}" type="slidenum">
              <a:rPr lang="nl-NL" smtClean="0"/>
              <a:pPr/>
              <a:t>33</a:t>
            </a:fld>
            <a:endParaRPr lang="nl-NL"/>
          </a:p>
        </p:txBody>
      </p:sp>
    </p:spTree>
    <p:extLst>
      <p:ext uri="{BB962C8B-B14F-4D97-AF65-F5344CB8AC3E}">
        <p14:creationId xmlns:p14="http://schemas.microsoft.com/office/powerpoint/2010/main" val="5458023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CE9686-515F-4438-81F0-EE8A07CF38AF}"/>
              </a:ext>
            </a:extLst>
          </p:cNvPr>
          <p:cNvSpPr>
            <a:spLocks noGrp="1"/>
          </p:cNvSpPr>
          <p:nvPr>
            <p:ph type="body" sz="quarter" idx="11"/>
          </p:nvPr>
        </p:nvSpPr>
        <p:spPr/>
        <p:txBody>
          <a:bodyPr/>
          <a:lstStyle/>
          <a:p>
            <a:r>
              <a:rPr lang="nl-NL" sz="1800" dirty="0"/>
              <a:t>SSH:</a:t>
            </a:r>
          </a:p>
          <a:p>
            <a:pPr lvl="1"/>
            <a:r>
              <a:rPr lang="nl-NL" sz="1800" dirty="0"/>
              <a:t>O.a. Remote login, remote command, file transfer, VPN </a:t>
            </a:r>
            <a:r>
              <a:rPr lang="nl-NL" sz="1800" dirty="0" err="1"/>
              <a:t>tunneling</a:t>
            </a:r>
            <a:r>
              <a:rPr lang="nl-NL" sz="1800" dirty="0"/>
              <a:t>;</a:t>
            </a:r>
          </a:p>
          <a:p>
            <a:pPr lvl="1"/>
            <a:r>
              <a:rPr lang="nl-NL" sz="1800" dirty="0"/>
              <a:t>Client/server protocol: cryptografie voor:</a:t>
            </a:r>
          </a:p>
          <a:p>
            <a:pPr lvl="2"/>
            <a:r>
              <a:rPr lang="nl-NL" sz="1800" dirty="0"/>
              <a:t>Authenticatie, ‘</a:t>
            </a:r>
            <a:r>
              <a:rPr lang="nl-NL" sz="1800" dirty="0" err="1"/>
              <a:t>confidentiality</a:t>
            </a:r>
            <a:r>
              <a:rPr lang="nl-NL" sz="1800" dirty="0"/>
              <a:t> en ‘</a:t>
            </a:r>
            <a:r>
              <a:rPr lang="nl-NL" sz="1800" dirty="0" err="1"/>
              <a:t>integrity</a:t>
            </a:r>
            <a:r>
              <a:rPr lang="nl-NL" sz="1800" dirty="0"/>
              <a:t>’;</a:t>
            </a:r>
          </a:p>
          <a:p>
            <a:pPr lvl="2"/>
            <a:r>
              <a:rPr lang="nl-NL" sz="1800" dirty="0" err="1"/>
              <a:t>RFC’s</a:t>
            </a:r>
            <a:r>
              <a:rPr lang="nl-NL" sz="1800" dirty="0"/>
              <a:t>: 4250-4256;</a:t>
            </a:r>
          </a:p>
          <a:p>
            <a:r>
              <a:rPr lang="nl-NL" sz="1800" dirty="0"/>
              <a:t>SSH software suite:</a:t>
            </a:r>
          </a:p>
          <a:p>
            <a:pPr lvl="1"/>
            <a:r>
              <a:rPr lang="nl-NL" sz="1800" dirty="0" err="1">
                <a:latin typeface="Consolas" panose="020B0609020204030204" pitchFamily="49" charset="0"/>
              </a:rPr>
              <a:t>ssh</a:t>
            </a:r>
            <a:r>
              <a:rPr lang="nl-NL" sz="1800" dirty="0"/>
              <a:t>: de client; </a:t>
            </a:r>
            <a:r>
              <a:rPr lang="nl-NL" sz="1800" dirty="0" err="1">
                <a:latin typeface="Consolas" panose="020B0609020204030204" pitchFamily="49" charset="0"/>
              </a:rPr>
              <a:t>sshd</a:t>
            </a:r>
            <a:r>
              <a:rPr lang="nl-NL" sz="1800" dirty="0"/>
              <a:t>: de server daemon;</a:t>
            </a:r>
          </a:p>
          <a:p>
            <a:pPr lvl="1"/>
            <a:r>
              <a:rPr lang="nl-NL" sz="1800" dirty="0" err="1">
                <a:latin typeface="Consolas" panose="020B0609020204030204" pitchFamily="49" charset="0"/>
              </a:rPr>
              <a:t>ssh-keygen</a:t>
            </a:r>
            <a:r>
              <a:rPr lang="nl-NL" sz="1800" dirty="0"/>
              <a:t>: genereren ‘public/private’ </a:t>
            </a:r>
            <a:r>
              <a:rPr lang="nl-NL" sz="1800" dirty="0" err="1"/>
              <a:t>key</a:t>
            </a:r>
            <a:r>
              <a:rPr lang="nl-NL" sz="1800" dirty="0"/>
              <a:t> pairs;</a:t>
            </a:r>
          </a:p>
          <a:p>
            <a:pPr lvl="1"/>
            <a:r>
              <a:rPr lang="nl-NL" sz="1800" dirty="0" err="1">
                <a:latin typeface="Consolas" panose="020B0609020204030204" pitchFamily="49" charset="0"/>
              </a:rPr>
              <a:t>ssh-add</a:t>
            </a:r>
            <a:r>
              <a:rPr lang="nl-NL" sz="1800" dirty="0"/>
              <a:t> en </a:t>
            </a:r>
            <a:r>
              <a:rPr lang="nl-NL" sz="1800" dirty="0">
                <a:latin typeface="Consolas" panose="020B0609020204030204" pitchFamily="49" charset="0"/>
              </a:rPr>
              <a:t>ssh-agent</a:t>
            </a:r>
            <a:r>
              <a:rPr lang="nl-NL" sz="1800" dirty="0"/>
              <a:t>: tools voor beheer </a:t>
            </a:r>
            <a:r>
              <a:rPr lang="nl-NL" sz="1800" dirty="0" err="1"/>
              <a:t>auth</a:t>
            </a:r>
            <a:r>
              <a:rPr lang="nl-NL" sz="1800" dirty="0"/>
              <a:t>. Keys;</a:t>
            </a:r>
          </a:p>
          <a:p>
            <a:pPr lvl="1"/>
            <a:r>
              <a:rPr lang="nl-NL" sz="1800" dirty="0" err="1">
                <a:latin typeface="Consolas" panose="020B0609020204030204" pitchFamily="49" charset="0"/>
              </a:rPr>
              <a:t>ssh-keyscan</a:t>
            </a:r>
            <a:r>
              <a:rPr lang="nl-NL" sz="1800" dirty="0"/>
              <a:t>: ophalen publieke </a:t>
            </a:r>
            <a:r>
              <a:rPr lang="nl-NL" sz="1800" dirty="0" err="1"/>
              <a:t>keys</a:t>
            </a:r>
            <a:r>
              <a:rPr lang="nl-NL" sz="1800" dirty="0"/>
              <a:t> van server;</a:t>
            </a:r>
          </a:p>
          <a:p>
            <a:pPr lvl="1"/>
            <a:r>
              <a:rPr lang="nl-NL" sz="1800" dirty="0" err="1">
                <a:latin typeface="Consolas" panose="020B0609020204030204" pitchFamily="49" charset="0"/>
              </a:rPr>
              <a:t>sftp</a:t>
            </a:r>
            <a:r>
              <a:rPr lang="nl-NL" sz="1800" dirty="0">
                <a:latin typeface="Consolas" panose="020B0609020204030204" pitchFamily="49" charset="0"/>
              </a:rPr>
              <a:t>-server</a:t>
            </a:r>
            <a:r>
              <a:rPr lang="nl-NL" sz="1800" dirty="0"/>
              <a:t>: server proces voor SFTP;</a:t>
            </a:r>
          </a:p>
          <a:p>
            <a:pPr lvl="1"/>
            <a:r>
              <a:rPr lang="nl-NL" sz="1800" dirty="0" err="1">
                <a:latin typeface="Consolas" panose="020B0609020204030204" pitchFamily="49" charset="0"/>
              </a:rPr>
              <a:t>sftp</a:t>
            </a:r>
            <a:r>
              <a:rPr lang="nl-NL" sz="1800" dirty="0"/>
              <a:t> en </a:t>
            </a:r>
            <a:r>
              <a:rPr lang="nl-NL" sz="1800" dirty="0" err="1">
                <a:latin typeface="Consolas" panose="020B0609020204030204" pitchFamily="49" charset="0"/>
              </a:rPr>
              <a:t>scp</a:t>
            </a:r>
            <a:r>
              <a:rPr lang="nl-NL" sz="1800" dirty="0"/>
              <a:t>: file transfer client </a:t>
            </a:r>
            <a:r>
              <a:rPr lang="nl-NL" sz="1800" dirty="0" err="1"/>
              <a:t>utilities</a:t>
            </a:r>
            <a:r>
              <a:rPr lang="nl-NL" sz="1800" dirty="0"/>
              <a:t>.</a:t>
            </a:r>
          </a:p>
          <a:p>
            <a:pPr lvl="1"/>
            <a:endParaRPr lang="en-GB" sz="1800" dirty="0"/>
          </a:p>
        </p:txBody>
      </p:sp>
      <p:sp>
        <p:nvSpPr>
          <p:cNvPr id="2" name="Title 1">
            <a:extLst>
              <a:ext uri="{FF2B5EF4-FFF2-40B4-BE49-F238E27FC236}">
                <a16:creationId xmlns:a16="http://schemas.microsoft.com/office/drawing/2014/main" id="{F4B77679-5023-47BD-944D-99AD4DC1DBA0}"/>
              </a:ext>
            </a:extLst>
          </p:cNvPr>
          <p:cNvSpPr>
            <a:spLocks noGrp="1"/>
          </p:cNvSpPr>
          <p:nvPr>
            <p:ph type="title"/>
          </p:nvPr>
        </p:nvSpPr>
        <p:spPr/>
        <p:txBody>
          <a:bodyPr/>
          <a:lstStyle/>
          <a:p>
            <a:r>
              <a:rPr lang="nl-NL" dirty="0"/>
              <a:t>SSH, </a:t>
            </a:r>
            <a:r>
              <a:rPr lang="nl-NL" dirty="0" err="1"/>
              <a:t>the</a:t>
            </a:r>
            <a:r>
              <a:rPr lang="nl-NL" dirty="0"/>
              <a:t> Secure </a:t>
            </a:r>
            <a:r>
              <a:rPr lang="nl-NL" dirty="0" err="1"/>
              <a:t>SHell</a:t>
            </a:r>
            <a:endParaRPr lang="en-GB" dirty="0"/>
          </a:p>
        </p:txBody>
      </p:sp>
      <p:sp>
        <p:nvSpPr>
          <p:cNvPr id="4" name="Slide Number Placeholder 3">
            <a:extLst>
              <a:ext uri="{FF2B5EF4-FFF2-40B4-BE49-F238E27FC236}">
                <a16:creationId xmlns:a16="http://schemas.microsoft.com/office/drawing/2014/main" id="{B53DAD23-1DB8-4D87-8B3E-18A591AB7DE7}"/>
              </a:ext>
            </a:extLst>
          </p:cNvPr>
          <p:cNvSpPr>
            <a:spLocks noGrp="1"/>
          </p:cNvSpPr>
          <p:nvPr>
            <p:ph type="sldNum" sz="quarter" idx="4294967295"/>
          </p:nvPr>
        </p:nvSpPr>
        <p:spPr>
          <a:xfrm>
            <a:off x="0" y="0"/>
            <a:ext cx="0" cy="0"/>
          </a:xfrm>
        </p:spPr>
        <p:txBody>
          <a:bodyPr/>
          <a:lstStyle/>
          <a:p>
            <a:fld id="{A9096D49-DAE3-40DE-93E0-41688E0A5016}" type="slidenum">
              <a:rPr lang="nl-NL" smtClean="0"/>
              <a:pPr/>
              <a:t>34</a:t>
            </a:fld>
            <a:endParaRPr lang="nl-NL"/>
          </a:p>
        </p:txBody>
      </p:sp>
    </p:spTree>
    <p:extLst>
      <p:ext uri="{BB962C8B-B14F-4D97-AF65-F5344CB8AC3E}">
        <p14:creationId xmlns:p14="http://schemas.microsoft.com/office/powerpoint/2010/main" val="17354754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8BDEED-459F-4763-AA00-8D2C00516E1F}"/>
              </a:ext>
            </a:extLst>
          </p:cNvPr>
          <p:cNvSpPr>
            <a:spLocks noGrp="1"/>
          </p:cNvSpPr>
          <p:nvPr>
            <p:ph type="body" sz="quarter" idx="11"/>
          </p:nvPr>
        </p:nvSpPr>
        <p:spPr/>
        <p:txBody>
          <a:bodyPr/>
          <a:lstStyle/>
          <a:p>
            <a:pPr marL="0" indent="0">
              <a:buNone/>
            </a:pPr>
            <a:r>
              <a:rPr lang="nl-NL" dirty="0"/>
              <a:t>SSH (client) starten: ssh server.admin.com;</a:t>
            </a:r>
          </a:p>
          <a:p>
            <a:pPr marL="800100" lvl="1" indent="-342900">
              <a:buFont typeface="Arial" panose="020B0604020202020204" pitchFamily="34" charset="0"/>
              <a:buChar char="•"/>
            </a:pPr>
            <a:r>
              <a:rPr lang="nl-NL" dirty="0"/>
              <a:t>TCP verbinding op poort 22:</a:t>
            </a:r>
          </a:p>
          <a:p>
            <a:pPr marL="800100" lvl="1" indent="-342900">
              <a:buFont typeface="Arial" panose="020B0604020202020204" pitchFamily="34" charset="0"/>
              <a:buChar char="•"/>
            </a:pPr>
            <a:r>
              <a:rPr lang="nl-NL" dirty="0"/>
              <a:t>Server stuurt public </a:t>
            </a:r>
            <a:r>
              <a:rPr lang="nl-NL" dirty="0" err="1"/>
              <a:t>key</a:t>
            </a:r>
            <a:r>
              <a:rPr lang="nl-NL" dirty="0"/>
              <a:t> voor verificatie;</a:t>
            </a:r>
          </a:p>
          <a:p>
            <a:pPr marL="800100" lvl="1" indent="-342900">
              <a:buFont typeface="Arial" panose="020B0604020202020204" pitchFamily="34" charset="0"/>
              <a:buChar char="•"/>
            </a:pPr>
            <a:r>
              <a:rPr lang="nl-NL" dirty="0"/>
              <a:t>De client/gebruiker moet (tenzij al gedaan) de public </a:t>
            </a:r>
            <a:r>
              <a:rPr lang="nl-NL" dirty="0" err="1"/>
              <a:t>key</a:t>
            </a:r>
            <a:r>
              <a:rPr lang="nl-NL" dirty="0"/>
              <a:t> (</a:t>
            </a:r>
            <a:r>
              <a:rPr lang="nl-NL" dirty="0" err="1"/>
              <a:t>fingerprint</a:t>
            </a:r>
            <a:r>
              <a:rPr lang="nl-NL" dirty="0"/>
              <a:t>) controleren en accepteren door ‘yes’ te typen;</a:t>
            </a:r>
          </a:p>
          <a:p>
            <a:pPr marL="800100" lvl="1" indent="-342900">
              <a:buFont typeface="Arial" panose="020B0604020202020204" pitchFamily="34" charset="0"/>
              <a:buChar char="•"/>
            </a:pPr>
            <a:r>
              <a:rPr lang="nl-NL" dirty="0"/>
              <a:t>De </a:t>
            </a:r>
            <a:r>
              <a:rPr lang="nl-NL" dirty="0" err="1"/>
              <a:t>key</a:t>
            </a:r>
            <a:r>
              <a:rPr lang="nl-NL" dirty="0"/>
              <a:t>/</a:t>
            </a:r>
            <a:r>
              <a:rPr lang="nl-NL" dirty="0" err="1"/>
              <a:t>fingerprint</a:t>
            </a:r>
            <a:r>
              <a:rPr lang="nl-NL" dirty="0"/>
              <a:t> wordt bij de client opgeslagen:</a:t>
            </a:r>
          </a:p>
          <a:p>
            <a:pPr lvl="2"/>
            <a:r>
              <a:rPr lang="nl-NL" dirty="0"/>
              <a:t>~/.ssh/</a:t>
            </a:r>
            <a:r>
              <a:rPr lang="nl-NL" dirty="0" err="1"/>
              <a:t>known_hosts</a:t>
            </a:r>
            <a:r>
              <a:rPr lang="nl-NL" dirty="0"/>
              <a:t>;</a:t>
            </a:r>
          </a:p>
          <a:p>
            <a:pPr marL="800100" lvl="1" indent="-342900">
              <a:buFont typeface="Arial" panose="020B0604020202020204" pitchFamily="34" charset="0"/>
              <a:buChar char="•"/>
            </a:pPr>
            <a:r>
              <a:rPr lang="nl-NL" dirty="0"/>
              <a:t>De server geeft aan welke authenticatie methodes worden ondersteund;</a:t>
            </a:r>
          </a:p>
          <a:p>
            <a:pPr marL="800100" lvl="1" indent="-342900">
              <a:buFont typeface="Arial" panose="020B0604020202020204" pitchFamily="34" charset="0"/>
              <a:buChar char="•"/>
            </a:pPr>
            <a:r>
              <a:rPr lang="nl-NL" dirty="0"/>
              <a:t>Waarna de verbinding tot stand komt</a:t>
            </a:r>
            <a:endParaRPr lang="en-GB" dirty="0"/>
          </a:p>
        </p:txBody>
      </p:sp>
      <p:sp>
        <p:nvSpPr>
          <p:cNvPr id="2" name="Title 1">
            <a:extLst>
              <a:ext uri="{FF2B5EF4-FFF2-40B4-BE49-F238E27FC236}">
                <a16:creationId xmlns:a16="http://schemas.microsoft.com/office/drawing/2014/main" id="{32A8F298-ABD8-4FC7-9391-E2E8FD6B48C9}"/>
              </a:ext>
            </a:extLst>
          </p:cNvPr>
          <p:cNvSpPr>
            <a:spLocks noGrp="1"/>
          </p:cNvSpPr>
          <p:nvPr>
            <p:ph type="title"/>
          </p:nvPr>
        </p:nvSpPr>
        <p:spPr/>
        <p:txBody>
          <a:bodyPr/>
          <a:lstStyle/>
          <a:p>
            <a:r>
              <a:rPr lang="nl-NL" dirty="0"/>
              <a:t>SSH (2)</a:t>
            </a:r>
            <a:endParaRPr lang="en-GB" dirty="0"/>
          </a:p>
        </p:txBody>
      </p:sp>
      <p:sp>
        <p:nvSpPr>
          <p:cNvPr id="4" name="Slide Number Placeholder 3">
            <a:extLst>
              <a:ext uri="{FF2B5EF4-FFF2-40B4-BE49-F238E27FC236}">
                <a16:creationId xmlns:a16="http://schemas.microsoft.com/office/drawing/2014/main" id="{A774DB57-8246-4CDF-B779-3C6E35AB49C9}"/>
              </a:ext>
            </a:extLst>
          </p:cNvPr>
          <p:cNvSpPr>
            <a:spLocks noGrp="1"/>
          </p:cNvSpPr>
          <p:nvPr>
            <p:ph type="sldNum" sz="quarter" idx="4294967295"/>
          </p:nvPr>
        </p:nvSpPr>
        <p:spPr>
          <a:xfrm>
            <a:off x="0" y="0"/>
            <a:ext cx="0" cy="0"/>
          </a:xfrm>
        </p:spPr>
        <p:txBody>
          <a:bodyPr/>
          <a:lstStyle/>
          <a:p>
            <a:fld id="{A9096D49-DAE3-40DE-93E0-41688E0A5016}" type="slidenum">
              <a:rPr lang="nl-NL" smtClean="0"/>
              <a:pPr/>
              <a:t>35</a:t>
            </a:fld>
            <a:endParaRPr lang="nl-NL"/>
          </a:p>
        </p:txBody>
      </p:sp>
    </p:spTree>
    <p:extLst>
      <p:ext uri="{BB962C8B-B14F-4D97-AF65-F5344CB8AC3E}">
        <p14:creationId xmlns:p14="http://schemas.microsoft.com/office/powerpoint/2010/main" val="3992464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F03394-69B4-439A-BCF1-1EAA899C9EDD}"/>
              </a:ext>
            </a:extLst>
          </p:cNvPr>
          <p:cNvSpPr>
            <a:spLocks noGrp="1"/>
          </p:cNvSpPr>
          <p:nvPr>
            <p:ph type="body" sz="quarter" idx="11"/>
          </p:nvPr>
        </p:nvSpPr>
        <p:spPr>
          <a:xfrm>
            <a:off x="718219" y="1196341"/>
            <a:ext cx="7863806" cy="3292316"/>
          </a:xfrm>
        </p:spPr>
        <p:txBody>
          <a:bodyPr/>
          <a:lstStyle/>
          <a:p>
            <a:r>
              <a:rPr lang="nl-NL" dirty="0" err="1">
                <a:latin typeface="Consolas" panose="020B0609020204030204" pitchFamily="49" charset="0"/>
              </a:rPr>
              <a:t>ssh</a:t>
            </a:r>
            <a:r>
              <a:rPr lang="nl-NL" dirty="0"/>
              <a:t> en </a:t>
            </a:r>
            <a:r>
              <a:rPr lang="nl-NL" dirty="0" err="1">
                <a:latin typeface="Consolas" panose="020B0609020204030204" pitchFamily="49" charset="0"/>
              </a:rPr>
              <a:t>sshd</a:t>
            </a:r>
            <a:r>
              <a:rPr lang="nl-NL" dirty="0"/>
              <a:t> security types:</a:t>
            </a:r>
          </a:p>
          <a:p>
            <a:pPr marL="800100" lvl="1" indent="-342900">
              <a:buFont typeface="Courier New" panose="02070309020205020404" pitchFamily="49" charset="0"/>
              <a:buChar char="o"/>
            </a:pPr>
            <a:r>
              <a:rPr lang="nl-NL" dirty="0">
                <a:latin typeface="Consolas" panose="020B0609020204030204" pitchFamily="49" charset="0"/>
              </a:rPr>
              <a:t>/</a:t>
            </a:r>
            <a:r>
              <a:rPr lang="nl-NL" dirty="0" err="1">
                <a:latin typeface="Consolas" panose="020B0609020204030204" pitchFamily="49" charset="0"/>
              </a:rPr>
              <a:t>etc</a:t>
            </a:r>
            <a:r>
              <a:rPr lang="nl-NL" dirty="0">
                <a:latin typeface="Consolas" panose="020B0609020204030204" pitchFamily="49" charset="0"/>
              </a:rPr>
              <a:t>/ssh</a:t>
            </a:r>
            <a:r>
              <a:rPr lang="nl-NL" dirty="0"/>
              <a:t>;</a:t>
            </a:r>
          </a:p>
          <a:p>
            <a:r>
              <a:rPr lang="nl-NL" dirty="0" err="1"/>
              <a:t>OpenSSH</a:t>
            </a:r>
            <a:r>
              <a:rPr lang="nl-NL" dirty="0"/>
              <a:t> gebruikt </a:t>
            </a:r>
            <a:r>
              <a:rPr lang="nl-NL" dirty="0">
                <a:latin typeface="Consolas" panose="020B0609020204030204" pitchFamily="49" charset="0"/>
              </a:rPr>
              <a:t>~/.ssh</a:t>
            </a:r>
            <a:r>
              <a:rPr lang="nl-NL" dirty="0"/>
              <a:t> voor het opslaan van public en private </a:t>
            </a:r>
            <a:r>
              <a:rPr lang="nl-NL" dirty="0" err="1"/>
              <a:t>keys</a:t>
            </a:r>
            <a:r>
              <a:rPr lang="nl-NL" dirty="0"/>
              <a:t>. De directory word niet gebruikt tenzij de permissies op 0700 staan;</a:t>
            </a:r>
          </a:p>
          <a:p>
            <a:r>
              <a:rPr lang="nl-NL" dirty="0" err="1"/>
              <a:t>OpenSSH</a:t>
            </a:r>
            <a:r>
              <a:rPr lang="nl-NL" dirty="0"/>
              <a:t> heeft wel veiligheidsproblemen gekend (CVE);</a:t>
            </a:r>
          </a:p>
          <a:p>
            <a:r>
              <a:rPr lang="nl-NL" dirty="0"/>
              <a:t>SSH Client:</a:t>
            </a:r>
          </a:p>
          <a:p>
            <a:pPr marL="800100" lvl="1" indent="-342900">
              <a:buFont typeface="Courier New" panose="02070309020205020404" pitchFamily="49" charset="0"/>
              <a:buChar char="o"/>
            </a:pPr>
            <a:r>
              <a:rPr lang="nl-NL" dirty="0"/>
              <a:t>Basic syntax: </a:t>
            </a:r>
            <a:r>
              <a:rPr lang="nl-NL" b="1" dirty="0"/>
              <a:t>ssh [options] [username@]host [command]</a:t>
            </a:r>
            <a:endParaRPr lang="nl-NL" dirty="0"/>
          </a:p>
          <a:p>
            <a:pPr marL="800100" lvl="1" indent="-342900">
              <a:buFont typeface="Courier New" panose="02070309020205020404" pitchFamily="49" charset="0"/>
              <a:buChar char="o"/>
            </a:pPr>
            <a:r>
              <a:rPr lang="nl-NL" dirty="0" err="1">
                <a:latin typeface="Consolas" panose="020B0609020204030204" pitchFamily="49" charset="0"/>
              </a:rPr>
              <a:t>ssh</a:t>
            </a:r>
            <a:r>
              <a:rPr lang="nl-NL" dirty="0">
                <a:latin typeface="Consolas" panose="020B0609020204030204" pitchFamily="49" charset="0"/>
              </a:rPr>
              <a:t> server.admin.com </a:t>
            </a:r>
            <a:r>
              <a:rPr lang="nl-NL" sz="1800" dirty="0">
                <a:solidFill>
                  <a:prstClr val="black"/>
                </a:solidFill>
                <a:latin typeface="Consolas" panose="020B0609020204030204" pitchFamily="49" charset="0"/>
              </a:rPr>
              <a:t>"</a:t>
            </a:r>
            <a:r>
              <a:rPr lang="nl-NL" dirty="0" err="1">
                <a:latin typeface="Consolas" panose="020B0609020204030204" pitchFamily="49" charset="0"/>
              </a:rPr>
              <a:t>df</a:t>
            </a:r>
            <a:r>
              <a:rPr lang="nl-NL" dirty="0">
                <a:latin typeface="Consolas" panose="020B0609020204030204" pitchFamily="49" charset="0"/>
              </a:rPr>
              <a:t> –h /var/log</a:t>
            </a:r>
            <a:r>
              <a:rPr lang="nl-NL" sz="1800" dirty="0">
                <a:solidFill>
                  <a:prstClr val="black"/>
                </a:solidFill>
                <a:latin typeface="Consolas" panose="020B0609020204030204" pitchFamily="49" charset="0"/>
              </a:rPr>
              <a:t>"</a:t>
            </a:r>
            <a:endParaRPr lang="nl-NL" dirty="0">
              <a:latin typeface="Consolas" panose="020B0609020204030204" pitchFamily="49" charset="0"/>
            </a:endParaRPr>
          </a:p>
          <a:p>
            <a:pPr marL="800100" lvl="1" indent="-342900">
              <a:buFont typeface="Courier New" panose="02070309020205020404" pitchFamily="49" charset="0"/>
              <a:buChar char="o"/>
            </a:pPr>
            <a:r>
              <a:rPr lang="nl-NL" dirty="0"/>
              <a:t>Configuratie in </a:t>
            </a:r>
            <a:r>
              <a:rPr lang="nl-NL" dirty="0">
                <a:latin typeface="Consolas" panose="020B0609020204030204" pitchFamily="49" charset="0"/>
              </a:rPr>
              <a:t>/</a:t>
            </a:r>
            <a:r>
              <a:rPr lang="nl-NL" dirty="0" err="1">
                <a:latin typeface="Consolas" panose="020B0609020204030204" pitchFamily="49" charset="0"/>
              </a:rPr>
              <a:t>etc</a:t>
            </a:r>
            <a:r>
              <a:rPr lang="nl-NL" dirty="0">
                <a:latin typeface="Consolas" panose="020B0609020204030204" pitchFamily="49" charset="0"/>
              </a:rPr>
              <a:t>/ssh/</a:t>
            </a:r>
            <a:r>
              <a:rPr lang="nl-NL" dirty="0" err="1">
                <a:latin typeface="Consolas" panose="020B0609020204030204" pitchFamily="49" charset="0"/>
              </a:rPr>
              <a:t>ssh_config</a:t>
            </a:r>
            <a:r>
              <a:rPr lang="nl-NL" dirty="0">
                <a:latin typeface="Consolas" panose="020B0609020204030204" pitchFamily="49" charset="0"/>
              </a:rPr>
              <a:t> </a:t>
            </a:r>
            <a:r>
              <a:rPr lang="nl-NL" dirty="0"/>
              <a:t>en/of </a:t>
            </a:r>
            <a:r>
              <a:rPr lang="nl-NL" dirty="0">
                <a:latin typeface="Consolas" panose="020B0609020204030204" pitchFamily="49" charset="0"/>
              </a:rPr>
              <a:t>~/.ssh/</a:t>
            </a:r>
            <a:r>
              <a:rPr lang="nl-NL" dirty="0" err="1">
                <a:latin typeface="Consolas" panose="020B0609020204030204" pitchFamily="49" charset="0"/>
              </a:rPr>
              <a:t>config</a:t>
            </a:r>
            <a:r>
              <a:rPr lang="nl-NL" dirty="0">
                <a:latin typeface="Consolas" panose="020B0609020204030204" pitchFamily="49" charset="0"/>
              </a:rPr>
              <a:t> </a:t>
            </a:r>
            <a:r>
              <a:rPr lang="nl-NL" dirty="0"/>
              <a:t>(lage </a:t>
            </a:r>
            <a:r>
              <a:rPr lang="nl-NL" dirty="0" err="1"/>
              <a:t>prio</a:t>
            </a:r>
            <a:r>
              <a:rPr lang="nl-NL" dirty="0"/>
              <a:t>)</a:t>
            </a:r>
            <a:endParaRPr lang="en-GB" dirty="0"/>
          </a:p>
        </p:txBody>
      </p:sp>
      <p:sp>
        <p:nvSpPr>
          <p:cNvPr id="2" name="Title 1">
            <a:extLst>
              <a:ext uri="{FF2B5EF4-FFF2-40B4-BE49-F238E27FC236}">
                <a16:creationId xmlns:a16="http://schemas.microsoft.com/office/drawing/2014/main" id="{74AEB9DE-AE5F-4CDE-BD4F-32E1343FA6DE}"/>
              </a:ext>
            </a:extLst>
          </p:cNvPr>
          <p:cNvSpPr>
            <a:spLocks noGrp="1"/>
          </p:cNvSpPr>
          <p:nvPr>
            <p:ph type="title"/>
          </p:nvPr>
        </p:nvSpPr>
        <p:spPr/>
        <p:txBody>
          <a:bodyPr/>
          <a:lstStyle/>
          <a:p>
            <a:r>
              <a:rPr lang="nl-NL" dirty="0"/>
              <a:t>SSH (3)</a:t>
            </a:r>
            <a:endParaRPr lang="en-GB" dirty="0"/>
          </a:p>
        </p:txBody>
      </p:sp>
      <p:sp>
        <p:nvSpPr>
          <p:cNvPr id="4" name="Slide Number Placeholder 3">
            <a:extLst>
              <a:ext uri="{FF2B5EF4-FFF2-40B4-BE49-F238E27FC236}">
                <a16:creationId xmlns:a16="http://schemas.microsoft.com/office/drawing/2014/main" id="{8ECC6916-D43E-48EC-861B-D2851183FDCC}"/>
              </a:ext>
            </a:extLst>
          </p:cNvPr>
          <p:cNvSpPr>
            <a:spLocks noGrp="1"/>
          </p:cNvSpPr>
          <p:nvPr>
            <p:ph type="sldNum" sz="quarter" idx="4294967295"/>
          </p:nvPr>
        </p:nvSpPr>
        <p:spPr>
          <a:xfrm>
            <a:off x="0" y="0"/>
            <a:ext cx="0" cy="0"/>
          </a:xfrm>
        </p:spPr>
        <p:txBody>
          <a:bodyPr/>
          <a:lstStyle/>
          <a:p>
            <a:fld id="{A9096D49-DAE3-40DE-93E0-41688E0A5016}" type="slidenum">
              <a:rPr lang="nl-NL" smtClean="0"/>
              <a:pPr/>
              <a:t>36</a:t>
            </a:fld>
            <a:endParaRPr lang="nl-NL"/>
          </a:p>
        </p:txBody>
      </p:sp>
      <p:pic>
        <p:nvPicPr>
          <p:cNvPr id="5" name="Picture 4">
            <a:extLst>
              <a:ext uri="{FF2B5EF4-FFF2-40B4-BE49-F238E27FC236}">
                <a16:creationId xmlns:a16="http://schemas.microsoft.com/office/drawing/2014/main" id="{3AEE9C07-9EE2-45A4-B2CF-7F335D11A845}"/>
              </a:ext>
            </a:extLst>
          </p:cNvPr>
          <p:cNvPicPr>
            <a:picLocks noChangeAspect="1"/>
          </p:cNvPicPr>
          <p:nvPr/>
        </p:nvPicPr>
        <p:blipFill>
          <a:blip r:embed="rId2"/>
          <a:stretch>
            <a:fillRect/>
          </a:stretch>
        </p:blipFill>
        <p:spPr>
          <a:xfrm>
            <a:off x="4280017" y="197404"/>
            <a:ext cx="4472924" cy="1292309"/>
          </a:xfrm>
          <a:prstGeom prst="rect">
            <a:avLst/>
          </a:prstGeom>
        </p:spPr>
      </p:pic>
      <p:pic>
        <p:nvPicPr>
          <p:cNvPr id="6" name="Picture 5">
            <a:extLst>
              <a:ext uri="{FF2B5EF4-FFF2-40B4-BE49-F238E27FC236}">
                <a16:creationId xmlns:a16="http://schemas.microsoft.com/office/drawing/2014/main" id="{8ABCD0EC-799B-4F77-9E5E-101A7280E470}"/>
              </a:ext>
            </a:extLst>
          </p:cNvPr>
          <p:cNvPicPr>
            <a:picLocks noChangeAspect="1"/>
          </p:cNvPicPr>
          <p:nvPr/>
        </p:nvPicPr>
        <p:blipFill>
          <a:blip r:embed="rId3"/>
          <a:stretch>
            <a:fillRect/>
          </a:stretch>
        </p:blipFill>
        <p:spPr>
          <a:xfrm>
            <a:off x="4355977" y="130021"/>
            <a:ext cx="4794033" cy="2496515"/>
          </a:xfrm>
          <a:prstGeom prst="rect">
            <a:avLst/>
          </a:prstGeom>
        </p:spPr>
      </p:pic>
    </p:spTree>
    <p:extLst>
      <p:ext uri="{BB962C8B-B14F-4D97-AF65-F5344CB8AC3E}">
        <p14:creationId xmlns:p14="http://schemas.microsoft.com/office/powerpoint/2010/main" val="290382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FCDBF7-9721-4339-9597-9254A40CA0B8}"/>
              </a:ext>
            </a:extLst>
          </p:cNvPr>
          <p:cNvSpPr>
            <a:spLocks noGrp="1"/>
          </p:cNvSpPr>
          <p:nvPr>
            <p:ph type="body" sz="quarter" idx="11"/>
          </p:nvPr>
        </p:nvSpPr>
        <p:spPr/>
        <p:txBody>
          <a:bodyPr/>
          <a:lstStyle/>
          <a:p>
            <a:r>
              <a:rPr lang="nl-NL" dirty="0"/>
              <a:t>Public </a:t>
            </a:r>
            <a:r>
              <a:rPr lang="nl-NL" dirty="0" err="1"/>
              <a:t>key</a:t>
            </a:r>
            <a:r>
              <a:rPr lang="nl-NL" dirty="0"/>
              <a:t> </a:t>
            </a:r>
            <a:r>
              <a:rPr lang="nl-NL" dirty="0" err="1"/>
              <a:t>authentication</a:t>
            </a:r>
            <a:r>
              <a:rPr lang="nl-NL" dirty="0"/>
              <a:t>:</a:t>
            </a:r>
          </a:p>
          <a:p>
            <a:pPr marL="800100" lvl="1" indent="-342900">
              <a:buFont typeface="Courier New" panose="02070309020205020404" pitchFamily="49" charset="0"/>
              <a:buChar char="o"/>
            </a:pPr>
            <a:r>
              <a:rPr lang="nl-NL" dirty="0"/>
              <a:t>Public </a:t>
            </a:r>
            <a:r>
              <a:rPr lang="nl-NL" dirty="0" err="1"/>
              <a:t>key</a:t>
            </a:r>
            <a:r>
              <a:rPr lang="nl-NL" dirty="0"/>
              <a:t> voor gebruiker authenticatie;</a:t>
            </a:r>
          </a:p>
          <a:p>
            <a:pPr marL="800100" lvl="1" indent="-342900">
              <a:buFont typeface="Courier New" panose="02070309020205020404" pitchFamily="49" charset="0"/>
              <a:buChar char="o"/>
            </a:pPr>
            <a:r>
              <a:rPr lang="nl-NL" dirty="0"/>
              <a:t>Na genereren wordt je publieke sleutel aan de admin gegeven;</a:t>
            </a:r>
          </a:p>
          <a:p>
            <a:pPr marL="800100" lvl="1" indent="-342900">
              <a:buFont typeface="Courier New" panose="02070309020205020404" pitchFamily="49" charset="0"/>
              <a:buChar char="o"/>
            </a:pPr>
            <a:r>
              <a:rPr lang="nl-NL" dirty="0"/>
              <a:t>Sleutel kom in </a:t>
            </a:r>
            <a:r>
              <a:rPr lang="nl-NL" dirty="0">
                <a:latin typeface="Consolas" panose="020B0609020204030204" pitchFamily="49" charset="0"/>
              </a:rPr>
              <a:t>~/.ssh/</a:t>
            </a:r>
            <a:r>
              <a:rPr lang="nl-NL" dirty="0" err="1">
                <a:latin typeface="Consolas" panose="020B0609020204030204" pitchFamily="49" charset="0"/>
              </a:rPr>
              <a:t>authorized_keys</a:t>
            </a:r>
            <a:r>
              <a:rPr lang="nl-NL" dirty="0"/>
              <a:t>;</a:t>
            </a:r>
          </a:p>
          <a:p>
            <a:pPr lvl="2"/>
            <a:r>
              <a:rPr lang="nl-NL" dirty="0" err="1">
                <a:latin typeface="Consolas" panose="020B0609020204030204" pitchFamily="49" charset="0"/>
              </a:rPr>
              <a:t>ssh</a:t>
            </a:r>
            <a:r>
              <a:rPr lang="nl-NL" dirty="0">
                <a:latin typeface="Consolas" panose="020B0609020204030204" pitchFamily="49" charset="0"/>
              </a:rPr>
              <a:t> –i ~/.ssh/</a:t>
            </a:r>
            <a:r>
              <a:rPr lang="nl-NL" dirty="0" err="1">
                <a:latin typeface="Consolas" panose="020B0609020204030204" pitchFamily="49" charset="0"/>
              </a:rPr>
              <a:t>id_ecdsa</a:t>
            </a:r>
            <a:r>
              <a:rPr lang="nl-NL" dirty="0">
                <a:latin typeface="Consolas" panose="020B0609020204030204" pitchFamily="49" charset="0"/>
              </a:rPr>
              <a:t> henk@server.admin.com</a:t>
            </a:r>
            <a:r>
              <a:rPr lang="nl-NL" dirty="0"/>
              <a:t>;</a:t>
            </a:r>
          </a:p>
          <a:p>
            <a:pPr marL="800100" lvl="1" indent="-342900">
              <a:buFont typeface="Courier New" panose="02070309020205020404" pitchFamily="49" charset="0"/>
              <a:buChar char="o"/>
            </a:pPr>
            <a:r>
              <a:rPr lang="nl-NL" dirty="0"/>
              <a:t>Privé sleutel nooit delen;</a:t>
            </a:r>
          </a:p>
          <a:p>
            <a:r>
              <a:rPr lang="nl-NL" dirty="0" err="1">
                <a:latin typeface="Consolas" panose="020B0609020204030204" pitchFamily="49" charset="0"/>
              </a:rPr>
              <a:t>ssh-keygen</a:t>
            </a:r>
            <a:r>
              <a:rPr lang="nl-NL" dirty="0"/>
              <a:t> wordt gebruik voor sleutel paar:</a:t>
            </a:r>
          </a:p>
          <a:p>
            <a:pPr marL="800100" lvl="1" indent="-342900">
              <a:buFont typeface="Courier New" panose="02070309020205020404" pitchFamily="49" charset="0"/>
              <a:buChar char="o"/>
            </a:pPr>
            <a:r>
              <a:rPr lang="nl-NL" dirty="0" err="1">
                <a:latin typeface="Consolas" panose="020B0609020204030204" pitchFamily="49" charset="0"/>
              </a:rPr>
              <a:t>ssh-keygen</a:t>
            </a:r>
            <a:r>
              <a:rPr lang="nl-NL" dirty="0">
                <a:latin typeface="Consolas" panose="020B0609020204030204" pitchFamily="49" charset="0"/>
              </a:rPr>
              <a:t> -t </a:t>
            </a:r>
            <a:r>
              <a:rPr lang="nl-NL" dirty="0" err="1">
                <a:latin typeface="Consolas" panose="020B0609020204030204" pitchFamily="49" charset="0"/>
              </a:rPr>
              <a:t>ecdsa</a:t>
            </a:r>
            <a:r>
              <a:rPr lang="nl-NL" dirty="0">
                <a:latin typeface="Consolas" panose="020B0609020204030204" pitchFamily="49" charset="0"/>
              </a:rPr>
              <a:t> -b 384</a:t>
            </a:r>
          </a:p>
          <a:p>
            <a:pPr marL="800100" lvl="1" indent="-342900">
              <a:buFont typeface="Courier New" panose="02070309020205020404" pitchFamily="49" charset="0"/>
              <a:buChar char="o"/>
            </a:pPr>
            <a:r>
              <a:rPr lang="nl-NL" dirty="0" err="1"/>
              <a:t>Permisies</a:t>
            </a:r>
            <a:r>
              <a:rPr lang="nl-NL" dirty="0"/>
              <a:t>: 0644 en 0600 op public en private </a:t>
            </a:r>
            <a:r>
              <a:rPr lang="nl-NL" dirty="0" err="1"/>
              <a:t>keys</a:t>
            </a:r>
            <a:r>
              <a:rPr lang="nl-NL" dirty="0"/>
              <a:t>;</a:t>
            </a:r>
          </a:p>
          <a:p>
            <a:pPr marL="800100" lvl="1" indent="-342900">
              <a:buFont typeface="Courier New" panose="02070309020205020404" pitchFamily="49" charset="0"/>
              <a:buChar char="o"/>
            </a:pPr>
            <a:r>
              <a:rPr lang="nl-NL" dirty="0" err="1"/>
              <a:t>Passphrase</a:t>
            </a:r>
            <a:r>
              <a:rPr lang="nl-NL" dirty="0"/>
              <a:t> als extra veiligheid</a:t>
            </a:r>
          </a:p>
          <a:p>
            <a:pPr lvl="1"/>
            <a:endParaRPr lang="nl-NL" dirty="0"/>
          </a:p>
          <a:p>
            <a:pPr lvl="1"/>
            <a:endParaRPr lang="en-GB" dirty="0"/>
          </a:p>
        </p:txBody>
      </p:sp>
      <p:sp>
        <p:nvSpPr>
          <p:cNvPr id="2" name="Title 1">
            <a:extLst>
              <a:ext uri="{FF2B5EF4-FFF2-40B4-BE49-F238E27FC236}">
                <a16:creationId xmlns:a16="http://schemas.microsoft.com/office/drawing/2014/main" id="{836AFC7B-A34C-457D-A8EE-1E36670C3699}"/>
              </a:ext>
            </a:extLst>
          </p:cNvPr>
          <p:cNvSpPr>
            <a:spLocks noGrp="1"/>
          </p:cNvSpPr>
          <p:nvPr>
            <p:ph type="title"/>
          </p:nvPr>
        </p:nvSpPr>
        <p:spPr/>
        <p:txBody>
          <a:bodyPr/>
          <a:lstStyle/>
          <a:p>
            <a:r>
              <a:rPr lang="nl-NL" dirty="0"/>
              <a:t>SSH (4)</a:t>
            </a:r>
            <a:endParaRPr lang="en-GB" dirty="0"/>
          </a:p>
        </p:txBody>
      </p:sp>
      <p:sp>
        <p:nvSpPr>
          <p:cNvPr id="4" name="Slide Number Placeholder 3">
            <a:extLst>
              <a:ext uri="{FF2B5EF4-FFF2-40B4-BE49-F238E27FC236}">
                <a16:creationId xmlns:a16="http://schemas.microsoft.com/office/drawing/2014/main" id="{79755E20-7B25-4049-B657-4C11F6C75363}"/>
              </a:ext>
            </a:extLst>
          </p:cNvPr>
          <p:cNvSpPr>
            <a:spLocks noGrp="1"/>
          </p:cNvSpPr>
          <p:nvPr>
            <p:ph type="sldNum" sz="quarter" idx="4294967295"/>
          </p:nvPr>
        </p:nvSpPr>
        <p:spPr>
          <a:xfrm>
            <a:off x="0" y="0"/>
            <a:ext cx="0" cy="0"/>
          </a:xfrm>
        </p:spPr>
        <p:txBody>
          <a:bodyPr/>
          <a:lstStyle/>
          <a:p>
            <a:fld id="{A9096D49-DAE3-40DE-93E0-41688E0A5016}" type="slidenum">
              <a:rPr lang="nl-NL" smtClean="0"/>
              <a:pPr/>
              <a:t>37</a:t>
            </a:fld>
            <a:endParaRPr lang="nl-NL"/>
          </a:p>
        </p:txBody>
      </p:sp>
    </p:spTree>
    <p:extLst>
      <p:ext uri="{BB962C8B-B14F-4D97-AF65-F5344CB8AC3E}">
        <p14:creationId xmlns:p14="http://schemas.microsoft.com/office/powerpoint/2010/main" val="8981564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94DE3-8FB7-4F99-96A4-FD20EF9723E9}"/>
              </a:ext>
            </a:extLst>
          </p:cNvPr>
          <p:cNvSpPr>
            <a:spLocks noGrp="1"/>
          </p:cNvSpPr>
          <p:nvPr>
            <p:ph type="body" sz="quarter" idx="11"/>
          </p:nvPr>
        </p:nvSpPr>
        <p:spPr/>
        <p:txBody>
          <a:bodyPr/>
          <a:lstStyle/>
          <a:p>
            <a:r>
              <a:rPr lang="nl-NL" dirty="0"/>
              <a:t>De ssh-agent:</a:t>
            </a:r>
          </a:p>
          <a:p>
            <a:pPr lvl="1"/>
            <a:r>
              <a:rPr lang="nl-NL" dirty="0" err="1"/>
              <a:t>Cached</a:t>
            </a:r>
            <a:r>
              <a:rPr lang="nl-NL" dirty="0"/>
              <a:t> de </a:t>
            </a:r>
            <a:r>
              <a:rPr lang="nl-NL" dirty="0" err="1"/>
              <a:t>decrypted</a:t>
            </a:r>
            <a:r>
              <a:rPr lang="nl-NL" dirty="0"/>
              <a:t> private </a:t>
            </a:r>
            <a:r>
              <a:rPr lang="nl-NL" dirty="0" err="1"/>
              <a:t>keys</a:t>
            </a:r>
            <a:r>
              <a:rPr lang="nl-NL" dirty="0"/>
              <a:t>, de agent geeft daarna de juiste sleutel terug.;</a:t>
            </a:r>
          </a:p>
          <a:p>
            <a:pPr lvl="1"/>
            <a:r>
              <a:rPr lang="nl-NL" dirty="0"/>
              <a:t>Ssh-</a:t>
            </a:r>
            <a:r>
              <a:rPr lang="nl-NL" dirty="0" err="1"/>
              <a:t>add</a:t>
            </a:r>
            <a:r>
              <a:rPr lang="nl-NL" dirty="0"/>
              <a:t> kan gebruikt worden voor het laden van nieuwe sleutels</a:t>
            </a:r>
          </a:p>
          <a:p>
            <a:pPr lvl="1"/>
            <a:r>
              <a:rPr lang="nl-NL" dirty="0"/>
              <a:t>Om de private </a:t>
            </a:r>
            <a:r>
              <a:rPr lang="nl-NL" dirty="0" err="1"/>
              <a:t>key</a:t>
            </a:r>
            <a:r>
              <a:rPr lang="nl-NL" dirty="0"/>
              <a:t> te verwijderen moet de public </a:t>
            </a:r>
            <a:r>
              <a:rPr lang="nl-NL" dirty="0" err="1"/>
              <a:t>key</a:t>
            </a:r>
            <a:r>
              <a:rPr lang="nl-NL" dirty="0"/>
              <a:t> in de zelfde directory staan;</a:t>
            </a:r>
          </a:p>
          <a:p>
            <a:pPr marL="265510" indent="-265510"/>
            <a:r>
              <a:rPr lang="nl-NL" dirty="0"/>
              <a:t>Key </a:t>
            </a:r>
            <a:r>
              <a:rPr lang="nl-NL" dirty="0" err="1"/>
              <a:t>forwarding</a:t>
            </a:r>
            <a:r>
              <a:rPr lang="nl-NL" dirty="0"/>
              <a:t> alleen op</a:t>
            </a:r>
          </a:p>
          <a:p>
            <a:pPr marL="0" indent="0">
              <a:buNone/>
            </a:pPr>
            <a:r>
              <a:rPr lang="nl-NL" dirty="0"/>
              <a:t>    vertrouwde server;</a:t>
            </a:r>
            <a:endParaRPr lang="en-GB" dirty="0"/>
          </a:p>
        </p:txBody>
      </p:sp>
      <p:sp>
        <p:nvSpPr>
          <p:cNvPr id="2" name="Title 1">
            <a:extLst>
              <a:ext uri="{FF2B5EF4-FFF2-40B4-BE49-F238E27FC236}">
                <a16:creationId xmlns:a16="http://schemas.microsoft.com/office/drawing/2014/main" id="{FF8EFC71-3C1E-47CA-B61D-EDD338182111}"/>
              </a:ext>
            </a:extLst>
          </p:cNvPr>
          <p:cNvSpPr>
            <a:spLocks noGrp="1"/>
          </p:cNvSpPr>
          <p:nvPr>
            <p:ph type="title"/>
          </p:nvPr>
        </p:nvSpPr>
        <p:spPr/>
        <p:txBody>
          <a:bodyPr/>
          <a:lstStyle/>
          <a:p>
            <a:r>
              <a:rPr lang="nl-NL" dirty="0"/>
              <a:t>SSH (5)</a:t>
            </a:r>
            <a:endParaRPr lang="en-GB" dirty="0"/>
          </a:p>
        </p:txBody>
      </p:sp>
      <p:sp>
        <p:nvSpPr>
          <p:cNvPr id="4" name="Slide Number Placeholder 3">
            <a:extLst>
              <a:ext uri="{FF2B5EF4-FFF2-40B4-BE49-F238E27FC236}">
                <a16:creationId xmlns:a16="http://schemas.microsoft.com/office/drawing/2014/main" id="{23F73FDD-5B4C-4F03-88D9-3404E8F54ABA}"/>
              </a:ext>
            </a:extLst>
          </p:cNvPr>
          <p:cNvSpPr>
            <a:spLocks noGrp="1"/>
          </p:cNvSpPr>
          <p:nvPr>
            <p:ph type="sldNum" sz="quarter" idx="4294967295"/>
          </p:nvPr>
        </p:nvSpPr>
        <p:spPr>
          <a:xfrm>
            <a:off x="0" y="0"/>
            <a:ext cx="0" cy="0"/>
          </a:xfrm>
        </p:spPr>
        <p:txBody>
          <a:bodyPr/>
          <a:lstStyle/>
          <a:p>
            <a:fld id="{A9096D49-DAE3-40DE-93E0-41688E0A5016}" type="slidenum">
              <a:rPr lang="nl-NL" smtClean="0"/>
              <a:pPr/>
              <a:t>38</a:t>
            </a:fld>
            <a:endParaRPr lang="nl-NL"/>
          </a:p>
        </p:txBody>
      </p:sp>
      <p:pic>
        <p:nvPicPr>
          <p:cNvPr id="5" name="Picture 4">
            <a:extLst>
              <a:ext uri="{FF2B5EF4-FFF2-40B4-BE49-F238E27FC236}">
                <a16:creationId xmlns:a16="http://schemas.microsoft.com/office/drawing/2014/main" id="{8071D424-4B04-4FA9-957E-2A0FECBF1214}"/>
              </a:ext>
            </a:extLst>
          </p:cNvPr>
          <p:cNvPicPr>
            <a:picLocks noChangeAspect="1"/>
          </p:cNvPicPr>
          <p:nvPr/>
        </p:nvPicPr>
        <p:blipFill>
          <a:blip r:embed="rId2"/>
          <a:stretch>
            <a:fillRect/>
          </a:stretch>
        </p:blipFill>
        <p:spPr>
          <a:xfrm>
            <a:off x="3869922" y="2949792"/>
            <a:ext cx="5127041" cy="2125846"/>
          </a:xfrm>
          <a:prstGeom prst="rect">
            <a:avLst/>
          </a:prstGeom>
        </p:spPr>
      </p:pic>
    </p:spTree>
    <p:extLst>
      <p:ext uri="{BB962C8B-B14F-4D97-AF65-F5344CB8AC3E}">
        <p14:creationId xmlns:p14="http://schemas.microsoft.com/office/powerpoint/2010/main" val="1968320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9F6645-FED6-4C25-8591-45C2B83C5863}"/>
              </a:ext>
            </a:extLst>
          </p:cNvPr>
          <p:cNvSpPr>
            <a:spLocks noGrp="1"/>
          </p:cNvSpPr>
          <p:nvPr>
            <p:ph type="body" sz="quarter" idx="11"/>
          </p:nvPr>
        </p:nvSpPr>
        <p:spPr/>
        <p:txBody>
          <a:bodyPr/>
          <a:lstStyle/>
          <a:p>
            <a:r>
              <a:rPr lang="nl-NL" dirty="0"/>
              <a:t>Host </a:t>
            </a:r>
            <a:r>
              <a:rPr lang="nl-NL" dirty="0" err="1"/>
              <a:t>aliases</a:t>
            </a:r>
            <a:r>
              <a:rPr lang="nl-NL" dirty="0"/>
              <a:t> in ~/.ssh/</a:t>
            </a:r>
            <a:r>
              <a:rPr lang="nl-NL" dirty="0" err="1"/>
              <a:t>config</a:t>
            </a:r>
            <a:r>
              <a:rPr lang="nl-NL" dirty="0"/>
              <a:t>:</a:t>
            </a:r>
          </a:p>
          <a:p>
            <a:pPr lvl="1"/>
            <a:r>
              <a:rPr lang="nl-NL" dirty="0"/>
              <a:t>Twee verschillende systemen en/of poorten;</a:t>
            </a:r>
          </a:p>
          <a:p>
            <a:pPr lvl="1"/>
            <a:r>
              <a:rPr lang="nl-NL" dirty="0"/>
              <a:t>Basic </a:t>
            </a:r>
            <a:r>
              <a:rPr lang="nl-NL" dirty="0" err="1"/>
              <a:t>patterns</a:t>
            </a:r>
            <a:r>
              <a:rPr lang="nl-NL" dirty="0"/>
              <a:t> voor matching </a:t>
            </a:r>
            <a:r>
              <a:rPr lang="nl-NL" dirty="0" err="1"/>
              <a:t>hosts</a:t>
            </a:r>
            <a:r>
              <a:rPr lang="nl-NL" dirty="0"/>
              <a:t>;</a:t>
            </a:r>
          </a:p>
          <a:p>
            <a:r>
              <a:rPr lang="nl-NL" dirty="0"/>
              <a:t>Connection </a:t>
            </a:r>
            <a:r>
              <a:rPr lang="nl-NL" dirty="0" err="1"/>
              <a:t>Multiplexing</a:t>
            </a:r>
            <a:r>
              <a:rPr lang="nl-NL" dirty="0"/>
              <a:t>:</a:t>
            </a:r>
          </a:p>
          <a:p>
            <a:pPr lvl="1"/>
            <a:r>
              <a:rPr lang="nl-NL" dirty="0"/>
              <a:t>Performance verbetering over WAN door hergebruik sockets;</a:t>
            </a:r>
          </a:p>
          <a:p>
            <a:endParaRPr lang="en-GB" dirty="0"/>
          </a:p>
        </p:txBody>
      </p:sp>
      <p:sp>
        <p:nvSpPr>
          <p:cNvPr id="2" name="Title 1">
            <a:extLst>
              <a:ext uri="{FF2B5EF4-FFF2-40B4-BE49-F238E27FC236}">
                <a16:creationId xmlns:a16="http://schemas.microsoft.com/office/drawing/2014/main" id="{D0FDEE20-661D-4A7D-A0EE-81422FEC3704}"/>
              </a:ext>
            </a:extLst>
          </p:cNvPr>
          <p:cNvSpPr>
            <a:spLocks noGrp="1"/>
          </p:cNvSpPr>
          <p:nvPr>
            <p:ph type="title"/>
          </p:nvPr>
        </p:nvSpPr>
        <p:spPr/>
        <p:txBody>
          <a:bodyPr/>
          <a:lstStyle/>
          <a:p>
            <a:r>
              <a:rPr lang="nl-NL" dirty="0"/>
              <a:t>SSH (6)</a:t>
            </a:r>
            <a:endParaRPr lang="en-GB" dirty="0"/>
          </a:p>
        </p:txBody>
      </p:sp>
      <p:sp>
        <p:nvSpPr>
          <p:cNvPr id="4" name="Slide Number Placeholder 3">
            <a:extLst>
              <a:ext uri="{FF2B5EF4-FFF2-40B4-BE49-F238E27FC236}">
                <a16:creationId xmlns:a16="http://schemas.microsoft.com/office/drawing/2014/main" id="{1BA611EE-3FA5-4348-9381-0800058BF8E6}"/>
              </a:ext>
            </a:extLst>
          </p:cNvPr>
          <p:cNvSpPr>
            <a:spLocks noGrp="1"/>
          </p:cNvSpPr>
          <p:nvPr>
            <p:ph type="sldNum" sz="quarter" idx="4294967295"/>
          </p:nvPr>
        </p:nvSpPr>
        <p:spPr>
          <a:xfrm>
            <a:off x="0" y="0"/>
            <a:ext cx="0" cy="0"/>
          </a:xfrm>
        </p:spPr>
        <p:txBody>
          <a:bodyPr/>
          <a:lstStyle/>
          <a:p>
            <a:fld id="{A9096D49-DAE3-40DE-93E0-41688E0A5016}" type="slidenum">
              <a:rPr lang="nl-NL" smtClean="0"/>
              <a:pPr/>
              <a:t>39</a:t>
            </a:fld>
            <a:endParaRPr lang="nl-NL"/>
          </a:p>
        </p:txBody>
      </p:sp>
      <p:pic>
        <p:nvPicPr>
          <p:cNvPr id="5" name="Picture 4">
            <a:extLst>
              <a:ext uri="{FF2B5EF4-FFF2-40B4-BE49-F238E27FC236}">
                <a16:creationId xmlns:a16="http://schemas.microsoft.com/office/drawing/2014/main" id="{93A83CB3-63BC-4E2A-B96C-EDA682056B8B}"/>
              </a:ext>
            </a:extLst>
          </p:cNvPr>
          <p:cNvPicPr>
            <a:picLocks noChangeAspect="1"/>
          </p:cNvPicPr>
          <p:nvPr/>
        </p:nvPicPr>
        <p:blipFill>
          <a:blip r:embed="rId2"/>
          <a:stretch>
            <a:fillRect/>
          </a:stretch>
        </p:blipFill>
        <p:spPr>
          <a:xfrm>
            <a:off x="5958362" y="780720"/>
            <a:ext cx="2736056" cy="1814513"/>
          </a:xfrm>
          <a:prstGeom prst="rect">
            <a:avLst/>
          </a:prstGeom>
        </p:spPr>
      </p:pic>
      <p:pic>
        <p:nvPicPr>
          <p:cNvPr id="6" name="Picture 5">
            <a:extLst>
              <a:ext uri="{FF2B5EF4-FFF2-40B4-BE49-F238E27FC236}">
                <a16:creationId xmlns:a16="http://schemas.microsoft.com/office/drawing/2014/main" id="{3801159D-D543-4C78-92C5-3B7B497CBB3F}"/>
              </a:ext>
            </a:extLst>
          </p:cNvPr>
          <p:cNvPicPr>
            <a:picLocks noChangeAspect="1"/>
          </p:cNvPicPr>
          <p:nvPr/>
        </p:nvPicPr>
        <p:blipFill>
          <a:blip r:embed="rId3"/>
          <a:stretch>
            <a:fillRect/>
          </a:stretch>
        </p:blipFill>
        <p:spPr>
          <a:xfrm>
            <a:off x="5936977" y="2517745"/>
            <a:ext cx="2057400" cy="907256"/>
          </a:xfrm>
          <a:prstGeom prst="rect">
            <a:avLst/>
          </a:prstGeom>
        </p:spPr>
      </p:pic>
      <p:pic>
        <p:nvPicPr>
          <p:cNvPr id="7" name="Picture 6">
            <a:extLst>
              <a:ext uri="{FF2B5EF4-FFF2-40B4-BE49-F238E27FC236}">
                <a16:creationId xmlns:a16="http://schemas.microsoft.com/office/drawing/2014/main" id="{A5152456-DA78-4D7A-98CD-C2C4DA54D05F}"/>
              </a:ext>
            </a:extLst>
          </p:cNvPr>
          <p:cNvPicPr>
            <a:picLocks noChangeAspect="1"/>
          </p:cNvPicPr>
          <p:nvPr/>
        </p:nvPicPr>
        <p:blipFill>
          <a:blip r:embed="rId4"/>
          <a:stretch>
            <a:fillRect/>
          </a:stretch>
        </p:blipFill>
        <p:spPr>
          <a:xfrm>
            <a:off x="5967573" y="3466291"/>
            <a:ext cx="3121819" cy="1178719"/>
          </a:xfrm>
          <a:prstGeom prst="rect">
            <a:avLst/>
          </a:prstGeom>
        </p:spPr>
      </p:pic>
    </p:spTree>
    <p:extLst>
      <p:ext uri="{BB962C8B-B14F-4D97-AF65-F5344CB8AC3E}">
        <p14:creationId xmlns:p14="http://schemas.microsoft.com/office/powerpoint/2010/main" val="996074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43E626-A7DE-49E9-81FA-C7C030D6E483}"/>
              </a:ext>
            </a:extLst>
          </p:cNvPr>
          <p:cNvSpPr>
            <a:spLocks noGrp="1"/>
          </p:cNvSpPr>
          <p:nvPr>
            <p:ph type="body" sz="quarter" idx="11"/>
          </p:nvPr>
        </p:nvSpPr>
        <p:spPr/>
        <p:txBody>
          <a:bodyPr/>
          <a:lstStyle/>
          <a:p>
            <a:r>
              <a:rPr lang="nl-NL" dirty="0"/>
              <a:t>Port </a:t>
            </a:r>
            <a:r>
              <a:rPr lang="nl-NL" dirty="0" err="1"/>
              <a:t>Forwarding</a:t>
            </a:r>
            <a:r>
              <a:rPr lang="nl-NL" dirty="0"/>
              <a:t>:</a:t>
            </a:r>
          </a:p>
          <a:p>
            <a:pPr lvl="1"/>
            <a:r>
              <a:rPr lang="nl-NL" dirty="0"/>
              <a:t>Tunnel </a:t>
            </a:r>
            <a:r>
              <a:rPr lang="nl-NL" dirty="0" err="1"/>
              <a:t>tcp</a:t>
            </a:r>
            <a:r>
              <a:rPr lang="nl-NL" dirty="0"/>
              <a:t> over een ‘</a:t>
            </a:r>
            <a:r>
              <a:rPr lang="nl-NL" dirty="0" err="1"/>
              <a:t>encrypted</a:t>
            </a:r>
            <a:r>
              <a:rPr lang="nl-NL" dirty="0"/>
              <a:t>’ kanaal;</a:t>
            </a:r>
          </a:p>
          <a:p>
            <a:pPr lvl="1"/>
            <a:r>
              <a:rPr lang="nl-NL" dirty="0"/>
              <a:t>VB: toegang tot http (80) via port 8000</a:t>
            </a:r>
          </a:p>
          <a:p>
            <a:pPr lvl="1"/>
            <a:r>
              <a:rPr lang="nl-NL" dirty="0"/>
              <a:t>Ssh –L 8000:webserver:80 </a:t>
            </a:r>
            <a:r>
              <a:rPr lang="nl-NL" dirty="0">
                <a:hlinkClick r:id="rId2"/>
              </a:rPr>
              <a:t>www.ns.nl</a:t>
            </a:r>
            <a:endParaRPr lang="nl-NL" dirty="0"/>
          </a:p>
          <a:p>
            <a:pPr lvl="1"/>
            <a:r>
              <a:rPr lang="nl-NL" dirty="0"/>
              <a:t>Kan als ‘back </a:t>
            </a:r>
            <a:r>
              <a:rPr lang="nl-NL" dirty="0" err="1"/>
              <a:t>doors</a:t>
            </a:r>
            <a:r>
              <a:rPr lang="nl-NL" dirty="0"/>
              <a:t>’ worden misbruikt;</a:t>
            </a:r>
          </a:p>
          <a:p>
            <a:r>
              <a:rPr lang="nl-NL" dirty="0" err="1"/>
              <a:t>Sshd</a:t>
            </a:r>
            <a:r>
              <a:rPr lang="nl-NL" dirty="0"/>
              <a:t>: de </a:t>
            </a:r>
            <a:r>
              <a:rPr lang="nl-NL" dirty="0" err="1"/>
              <a:t>OpenSSH</a:t>
            </a:r>
            <a:r>
              <a:rPr lang="nl-NL" dirty="0"/>
              <a:t> server:</a:t>
            </a:r>
          </a:p>
          <a:p>
            <a:pPr lvl="1"/>
            <a:r>
              <a:rPr lang="nl-NL" dirty="0"/>
              <a:t>Standaard op poort 22;</a:t>
            </a:r>
          </a:p>
          <a:p>
            <a:pPr lvl="1"/>
            <a:r>
              <a:rPr lang="nl-NL" dirty="0"/>
              <a:t>Configuratie in /</a:t>
            </a:r>
            <a:r>
              <a:rPr lang="nl-NL" dirty="0" err="1"/>
              <a:t>etc</a:t>
            </a:r>
            <a:r>
              <a:rPr lang="nl-NL" dirty="0"/>
              <a:t>/ssh/</a:t>
            </a:r>
            <a:r>
              <a:rPr lang="nl-NL" dirty="0" err="1"/>
              <a:t>sshd_config</a:t>
            </a:r>
            <a:endParaRPr lang="nl-NL" dirty="0"/>
          </a:p>
          <a:p>
            <a:pPr lvl="1"/>
            <a:r>
              <a:rPr lang="nl-NL" dirty="0" err="1"/>
              <a:t>Sshd</a:t>
            </a:r>
            <a:r>
              <a:rPr lang="nl-NL" dirty="0"/>
              <a:t> “draait” als root;</a:t>
            </a:r>
          </a:p>
          <a:p>
            <a:pPr lvl="1"/>
            <a:r>
              <a:rPr lang="nl-NL" dirty="0"/>
              <a:t>Herstarten: </a:t>
            </a:r>
            <a:r>
              <a:rPr lang="nl-NL" dirty="0" err="1"/>
              <a:t>sudo</a:t>
            </a:r>
            <a:r>
              <a:rPr lang="nl-NL" dirty="0"/>
              <a:t> </a:t>
            </a:r>
            <a:r>
              <a:rPr lang="nl-NL" dirty="0" err="1"/>
              <a:t>systemctl</a:t>
            </a:r>
            <a:r>
              <a:rPr lang="nl-NL" dirty="0"/>
              <a:t> </a:t>
            </a:r>
            <a:r>
              <a:rPr lang="nl-NL" dirty="0" err="1"/>
              <a:t>reload</a:t>
            </a:r>
            <a:r>
              <a:rPr lang="nl-NL" dirty="0"/>
              <a:t> </a:t>
            </a:r>
            <a:r>
              <a:rPr lang="nl-NL" dirty="0" err="1"/>
              <a:t>sshd</a:t>
            </a:r>
            <a:r>
              <a:rPr lang="nl-NL" dirty="0"/>
              <a:t>.</a:t>
            </a:r>
            <a:endParaRPr lang="en-GB" dirty="0"/>
          </a:p>
        </p:txBody>
      </p:sp>
      <p:sp>
        <p:nvSpPr>
          <p:cNvPr id="2" name="Title 1">
            <a:extLst>
              <a:ext uri="{FF2B5EF4-FFF2-40B4-BE49-F238E27FC236}">
                <a16:creationId xmlns:a16="http://schemas.microsoft.com/office/drawing/2014/main" id="{FDF2C58A-FE3C-4286-A160-5C72FD71A763}"/>
              </a:ext>
            </a:extLst>
          </p:cNvPr>
          <p:cNvSpPr>
            <a:spLocks noGrp="1"/>
          </p:cNvSpPr>
          <p:nvPr>
            <p:ph type="title"/>
          </p:nvPr>
        </p:nvSpPr>
        <p:spPr/>
        <p:txBody>
          <a:bodyPr/>
          <a:lstStyle/>
          <a:p>
            <a:r>
              <a:rPr lang="nl-NL" dirty="0"/>
              <a:t>SSH (7)</a:t>
            </a:r>
            <a:endParaRPr lang="en-GB" dirty="0"/>
          </a:p>
        </p:txBody>
      </p:sp>
      <p:sp>
        <p:nvSpPr>
          <p:cNvPr id="4" name="Slide Number Placeholder 3">
            <a:extLst>
              <a:ext uri="{FF2B5EF4-FFF2-40B4-BE49-F238E27FC236}">
                <a16:creationId xmlns:a16="http://schemas.microsoft.com/office/drawing/2014/main" id="{162C0F97-228B-47D2-9C60-AC7BD64032C3}"/>
              </a:ext>
            </a:extLst>
          </p:cNvPr>
          <p:cNvSpPr>
            <a:spLocks noGrp="1"/>
          </p:cNvSpPr>
          <p:nvPr>
            <p:ph type="sldNum" sz="quarter" idx="4294967295"/>
          </p:nvPr>
        </p:nvSpPr>
        <p:spPr>
          <a:xfrm>
            <a:off x="0" y="0"/>
            <a:ext cx="0" cy="0"/>
          </a:xfrm>
        </p:spPr>
        <p:txBody>
          <a:bodyPr/>
          <a:lstStyle/>
          <a:p>
            <a:fld id="{A9096D49-DAE3-40DE-93E0-41688E0A5016}" type="slidenum">
              <a:rPr lang="nl-NL" smtClean="0"/>
              <a:pPr/>
              <a:t>40</a:t>
            </a:fld>
            <a:endParaRPr lang="nl-NL"/>
          </a:p>
        </p:txBody>
      </p:sp>
      <p:pic>
        <p:nvPicPr>
          <p:cNvPr id="6" name="Picture 5">
            <a:extLst>
              <a:ext uri="{FF2B5EF4-FFF2-40B4-BE49-F238E27FC236}">
                <a16:creationId xmlns:a16="http://schemas.microsoft.com/office/drawing/2014/main" id="{3FF68188-EA89-46AC-96CC-7B80003A4268}"/>
              </a:ext>
            </a:extLst>
          </p:cNvPr>
          <p:cNvPicPr>
            <a:picLocks noChangeAspect="1"/>
          </p:cNvPicPr>
          <p:nvPr/>
        </p:nvPicPr>
        <p:blipFill>
          <a:blip r:embed="rId3"/>
          <a:stretch>
            <a:fillRect/>
          </a:stretch>
        </p:blipFill>
        <p:spPr>
          <a:xfrm>
            <a:off x="5490102" y="1923679"/>
            <a:ext cx="3332708" cy="1489082"/>
          </a:xfrm>
          <a:prstGeom prst="rect">
            <a:avLst/>
          </a:prstGeom>
        </p:spPr>
      </p:pic>
    </p:spTree>
    <p:extLst>
      <p:ext uri="{BB962C8B-B14F-4D97-AF65-F5344CB8AC3E}">
        <p14:creationId xmlns:p14="http://schemas.microsoft.com/office/powerpoint/2010/main" val="2304703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EF13DBB-8AE1-210E-88AB-D6BB51A0C7AD}"/>
              </a:ext>
            </a:extLst>
          </p:cNvPr>
          <p:cNvSpPr>
            <a:spLocks noGrp="1"/>
          </p:cNvSpPr>
          <p:nvPr>
            <p:ph type="body" sz="quarter" idx="11"/>
          </p:nvPr>
        </p:nvSpPr>
        <p:spPr/>
        <p:txBody>
          <a:bodyPr/>
          <a:lstStyle/>
          <a:p>
            <a:endParaRPr lang="nl-NL"/>
          </a:p>
        </p:txBody>
      </p:sp>
      <p:sp>
        <p:nvSpPr>
          <p:cNvPr id="2" name="Title 1">
            <a:extLst>
              <a:ext uri="{FF2B5EF4-FFF2-40B4-BE49-F238E27FC236}">
                <a16:creationId xmlns:a16="http://schemas.microsoft.com/office/drawing/2014/main" id="{3D744536-D388-4440-985D-9473AFA6501C}"/>
              </a:ext>
            </a:extLst>
          </p:cNvPr>
          <p:cNvSpPr>
            <a:spLocks noGrp="1"/>
          </p:cNvSpPr>
          <p:nvPr>
            <p:ph type="title"/>
          </p:nvPr>
        </p:nvSpPr>
        <p:spPr/>
        <p:txBody>
          <a:bodyPr/>
          <a:lstStyle/>
          <a:p>
            <a:r>
              <a:rPr lang="nl-NL" dirty="0"/>
              <a:t>SSH (8)</a:t>
            </a:r>
            <a:endParaRPr lang="en-GB" dirty="0"/>
          </a:p>
        </p:txBody>
      </p:sp>
      <p:sp>
        <p:nvSpPr>
          <p:cNvPr id="4" name="Slide Number Placeholder 3">
            <a:extLst>
              <a:ext uri="{FF2B5EF4-FFF2-40B4-BE49-F238E27FC236}">
                <a16:creationId xmlns:a16="http://schemas.microsoft.com/office/drawing/2014/main" id="{30B7451B-01EA-4FCB-9957-E9D3E6278279}"/>
              </a:ext>
            </a:extLst>
          </p:cNvPr>
          <p:cNvSpPr>
            <a:spLocks noGrp="1"/>
          </p:cNvSpPr>
          <p:nvPr>
            <p:ph type="sldNum" sz="quarter" idx="4294967295"/>
          </p:nvPr>
        </p:nvSpPr>
        <p:spPr>
          <a:xfrm>
            <a:off x="0" y="0"/>
            <a:ext cx="0" cy="0"/>
          </a:xfrm>
        </p:spPr>
        <p:txBody>
          <a:bodyPr/>
          <a:lstStyle/>
          <a:p>
            <a:fld id="{A9096D49-DAE3-40DE-93E0-41688E0A5016}" type="slidenum">
              <a:rPr lang="nl-NL" smtClean="0"/>
              <a:pPr/>
              <a:t>41</a:t>
            </a:fld>
            <a:endParaRPr lang="nl-NL"/>
          </a:p>
        </p:txBody>
      </p:sp>
      <p:pic>
        <p:nvPicPr>
          <p:cNvPr id="5" name="Picture 4">
            <a:extLst>
              <a:ext uri="{FF2B5EF4-FFF2-40B4-BE49-F238E27FC236}">
                <a16:creationId xmlns:a16="http://schemas.microsoft.com/office/drawing/2014/main" id="{60ECA4C5-A33D-4DF0-B796-9D93737CEC26}"/>
              </a:ext>
            </a:extLst>
          </p:cNvPr>
          <p:cNvPicPr>
            <a:picLocks noChangeAspect="1"/>
          </p:cNvPicPr>
          <p:nvPr/>
        </p:nvPicPr>
        <p:blipFill>
          <a:blip r:embed="rId2"/>
          <a:stretch>
            <a:fillRect/>
          </a:stretch>
        </p:blipFill>
        <p:spPr>
          <a:xfrm>
            <a:off x="685800" y="1014412"/>
            <a:ext cx="4086225" cy="3843338"/>
          </a:xfrm>
          <a:prstGeom prst="rect">
            <a:avLst/>
          </a:prstGeom>
        </p:spPr>
      </p:pic>
      <p:pic>
        <p:nvPicPr>
          <p:cNvPr id="6" name="Picture 5">
            <a:extLst>
              <a:ext uri="{FF2B5EF4-FFF2-40B4-BE49-F238E27FC236}">
                <a16:creationId xmlns:a16="http://schemas.microsoft.com/office/drawing/2014/main" id="{A777825A-D250-4510-8082-D70D975B66A5}"/>
              </a:ext>
            </a:extLst>
          </p:cNvPr>
          <p:cNvPicPr>
            <a:picLocks noChangeAspect="1"/>
          </p:cNvPicPr>
          <p:nvPr/>
        </p:nvPicPr>
        <p:blipFill>
          <a:blip r:embed="rId3"/>
          <a:stretch>
            <a:fillRect/>
          </a:stretch>
        </p:blipFill>
        <p:spPr>
          <a:xfrm>
            <a:off x="4612483" y="978099"/>
            <a:ext cx="4564856" cy="3621881"/>
          </a:xfrm>
          <a:prstGeom prst="rect">
            <a:avLst/>
          </a:prstGeom>
        </p:spPr>
      </p:pic>
    </p:spTree>
    <p:extLst>
      <p:ext uri="{BB962C8B-B14F-4D97-AF65-F5344CB8AC3E}">
        <p14:creationId xmlns:p14="http://schemas.microsoft.com/office/powerpoint/2010/main" val="5141724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A422E4-E35D-4CA6-9D11-DB071EAE2DAA}"/>
              </a:ext>
            </a:extLst>
          </p:cNvPr>
          <p:cNvSpPr>
            <a:spLocks noGrp="1"/>
          </p:cNvSpPr>
          <p:nvPr>
            <p:ph type="body" sz="quarter" idx="11"/>
          </p:nvPr>
        </p:nvSpPr>
        <p:spPr/>
        <p:txBody>
          <a:bodyPr/>
          <a:lstStyle/>
          <a:p>
            <a:r>
              <a:rPr lang="nl-NL" dirty="0"/>
              <a:t>Host </a:t>
            </a:r>
            <a:r>
              <a:rPr lang="nl-NL" dirty="0" err="1"/>
              <a:t>key</a:t>
            </a:r>
            <a:r>
              <a:rPr lang="nl-NL" dirty="0"/>
              <a:t> </a:t>
            </a:r>
            <a:r>
              <a:rPr lang="nl-NL" dirty="0" err="1"/>
              <a:t>verification</a:t>
            </a:r>
            <a:r>
              <a:rPr lang="nl-NL" dirty="0"/>
              <a:t> met SSHFP:</a:t>
            </a:r>
          </a:p>
          <a:p>
            <a:pPr lvl="1"/>
            <a:r>
              <a:rPr lang="nl-NL" dirty="0"/>
              <a:t>Koppeling met DNS-record SSHFP:</a:t>
            </a:r>
          </a:p>
          <a:p>
            <a:pPr lvl="2"/>
            <a:r>
              <a:rPr lang="nl-NL" dirty="0"/>
              <a:t>Server </a:t>
            </a:r>
            <a:r>
              <a:rPr lang="nl-NL" dirty="0" err="1"/>
              <a:t>key</a:t>
            </a:r>
            <a:r>
              <a:rPr lang="nl-NL" dirty="0"/>
              <a:t> opgeslagen als DNS-record.</a:t>
            </a:r>
          </a:p>
          <a:p>
            <a:pPr lvl="1"/>
            <a:r>
              <a:rPr lang="nl-NL" dirty="0"/>
              <a:t>SSH </a:t>
            </a:r>
            <a:r>
              <a:rPr lang="nl-NL" dirty="0" err="1"/>
              <a:t>controleerd</a:t>
            </a:r>
            <a:r>
              <a:rPr lang="nl-NL" dirty="0"/>
              <a:t> SSHFP records niet standaard;</a:t>
            </a:r>
          </a:p>
          <a:p>
            <a:pPr lvl="2"/>
            <a:r>
              <a:rPr lang="nl-NL" dirty="0"/>
              <a:t>/</a:t>
            </a:r>
            <a:r>
              <a:rPr lang="nl-NL" dirty="0" err="1"/>
              <a:t>etc</a:t>
            </a:r>
            <a:r>
              <a:rPr lang="nl-NL" dirty="0"/>
              <a:t>/ssh/</a:t>
            </a:r>
            <a:r>
              <a:rPr lang="nl-NL" dirty="0" err="1"/>
              <a:t>ssh_config</a:t>
            </a:r>
            <a:r>
              <a:rPr lang="nl-NL" dirty="0"/>
              <a:t>: </a:t>
            </a:r>
            <a:r>
              <a:rPr lang="nl-NL" dirty="0" err="1"/>
              <a:t>VerifyHostKeyDNS</a:t>
            </a:r>
            <a:r>
              <a:rPr lang="nl-NL" dirty="0"/>
              <a:t> option.</a:t>
            </a:r>
          </a:p>
          <a:p>
            <a:r>
              <a:rPr lang="nl-NL" dirty="0"/>
              <a:t>File Transfer: </a:t>
            </a:r>
            <a:r>
              <a:rPr lang="nl-NL" dirty="0" err="1"/>
              <a:t>scp</a:t>
            </a:r>
            <a:r>
              <a:rPr lang="nl-NL" dirty="0"/>
              <a:t> &amp; </a:t>
            </a:r>
            <a:r>
              <a:rPr lang="nl-NL" dirty="0" err="1"/>
              <a:t>sftp</a:t>
            </a:r>
            <a:r>
              <a:rPr lang="nl-NL" dirty="0"/>
              <a:t>;</a:t>
            </a:r>
          </a:p>
          <a:p>
            <a:pPr lvl="1"/>
            <a:r>
              <a:rPr lang="nl-NL" dirty="0" err="1"/>
              <a:t>Scp</a:t>
            </a:r>
            <a:r>
              <a:rPr lang="nl-NL" dirty="0"/>
              <a:t> </a:t>
            </a:r>
            <a:r>
              <a:rPr lang="nl-NL" dirty="0" err="1"/>
              <a:t>server.school.test</a:t>
            </a:r>
            <a:r>
              <a:rPr lang="nl-NL" dirty="0"/>
              <a:t> ./file.</a:t>
            </a:r>
            <a:endParaRPr lang="en-GB" dirty="0"/>
          </a:p>
        </p:txBody>
      </p:sp>
      <p:sp>
        <p:nvSpPr>
          <p:cNvPr id="2" name="Title 1">
            <a:extLst>
              <a:ext uri="{FF2B5EF4-FFF2-40B4-BE49-F238E27FC236}">
                <a16:creationId xmlns:a16="http://schemas.microsoft.com/office/drawing/2014/main" id="{BD2C724E-CAE6-4194-83A2-5F2C92B8E5CC}"/>
              </a:ext>
            </a:extLst>
          </p:cNvPr>
          <p:cNvSpPr>
            <a:spLocks noGrp="1"/>
          </p:cNvSpPr>
          <p:nvPr>
            <p:ph type="title"/>
          </p:nvPr>
        </p:nvSpPr>
        <p:spPr/>
        <p:txBody>
          <a:bodyPr/>
          <a:lstStyle/>
          <a:p>
            <a:r>
              <a:rPr lang="nl-NL" dirty="0"/>
              <a:t>SSH (9)</a:t>
            </a:r>
            <a:endParaRPr lang="en-GB" dirty="0"/>
          </a:p>
        </p:txBody>
      </p:sp>
      <p:sp>
        <p:nvSpPr>
          <p:cNvPr id="4" name="Slide Number Placeholder 3">
            <a:extLst>
              <a:ext uri="{FF2B5EF4-FFF2-40B4-BE49-F238E27FC236}">
                <a16:creationId xmlns:a16="http://schemas.microsoft.com/office/drawing/2014/main" id="{9453F64F-212C-4639-90E4-F10D42D75651}"/>
              </a:ext>
            </a:extLst>
          </p:cNvPr>
          <p:cNvSpPr>
            <a:spLocks noGrp="1"/>
          </p:cNvSpPr>
          <p:nvPr>
            <p:ph type="sldNum" sz="quarter" idx="4294967295"/>
          </p:nvPr>
        </p:nvSpPr>
        <p:spPr>
          <a:xfrm>
            <a:off x="0" y="0"/>
            <a:ext cx="0" cy="0"/>
          </a:xfrm>
        </p:spPr>
        <p:txBody>
          <a:bodyPr/>
          <a:lstStyle/>
          <a:p>
            <a:fld id="{A9096D49-DAE3-40DE-93E0-41688E0A5016}" type="slidenum">
              <a:rPr lang="nl-NL" smtClean="0"/>
              <a:pPr/>
              <a:t>42</a:t>
            </a:fld>
            <a:endParaRPr lang="nl-NL"/>
          </a:p>
        </p:txBody>
      </p:sp>
      <p:pic>
        <p:nvPicPr>
          <p:cNvPr id="5" name="Picture 4">
            <a:extLst>
              <a:ext uri="{FF2B5EF4-FFF2-40B4-BE49-F238E27FC236}">
                <a16:creationId xmlns:a16="http://schemas.microsoft.com/office/drawing/2014/main" id="{4AF2F56F-CFFD-4AAC-B2E7-FC73488AD0E7}"/>
              </a:ext>
            </a:extLst>
          </p:cNvPr>
          <p:cNvPicPr>
            <a:picLocks noChangeAspect="1"/>
          </p:cNvPicPr>
          <p:nvPr/>
        </p:nvPicPr>
        <p:blipFill>
          <a:blip r:embed="rId2"/>
          <a:stretch>
            <a:fillRect/>
          </a:stretch>
        </p:blipFill>
        <p:spPr>
          <a:xfrm>
            <a:off x="4896036" y="1005576"/>
            <a:ext cx="4200525" cy="557213"/>
          </a:xfrm>
          <a:prstGeom prst="rect">
            <a:avLst/>
          </a:prstGeom>
        </p:spPr>
      </p:pic>
      <p:pic>
        <p:nvPicPr>
          <p:cNvPr id="6" name="Picture 5">
            <a:extLst>
              <a:ext uri="{FF2B5EF4-FFF2-40B4-BE49-F238E27FC236}">
                <a16:creationId xmlns:a16="http://schemas.microsoft.com/office/drawing/2014/main" id="{54F9A8D3-D3D9-4511-9482-638FF2EF6BFD}"/>
              </a:ext>
            </a:extLst>
          </p:cNvPr>
          <p:cNvPicPr>
            <a:picLocks noChangeAspect="1"/>
          </p:cNvPicPr>
          <p:nvPr/>
        </p:nvPicPr>
        <p:blipFill>
          <a:blip r:embed="rId3"/>
          <a:stretch>
            <a:fillRect/>
          </a:stretch>
        </p:blipFill>
        <p:spPr>
          <a:xfrm>
            <a:off x="4680087" y="3164704"/>
            <a:ext cx="4364831" cy="900113"/>
          </a:xfrm>
          <a:prstGeom prst="rect">
            <a:avLst/>
          </a:prstGeom>
        </p:spPr>
      </p:pic>
    </p:spTree>
    <p:extLst>
      <p:ext uri="{BB962C8B-B14F-4D97-AF65-F5344CB8AC3E}">
        <p14:creationId xmlns:p14="http://schemas.microsoft.com/office/powerpoint/2010/main" val="3142912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type="body" sz="quarter" idx="11"/>
          </p:nvPr>
        </p:nvSpPr>
        <p:spPr/>
        <p:txBody>
          <a:bodyPr/>
          <a:lstStyle/>
          <a:p>
            <a:pPr>
              <a:buNone/>
            </a:pPr>
            <a:r>
              <a:rPr lang="nl-NL" dirty="0"/>
              <a:t>Zonder encryptie: </a:t>
            </a:r>
            <a:r>
              <a:rPr lang="nl-NL" dirty="0" err="1"/>
              <a:t>telnet</a:t>
            </a:r>
            <a:endParaRPr lang="nl-NL" dirty="0"/>
          </a:p>
        </p:txBody>
      </p:sp>
      <p:sp>
        <p:nvSpPr>
          <p:cNvPr id="2" name="Titel 1"/>
          <p:cNvSpPr>
            <a:spLocks noGrp="1"/>
          </p:cNvSpPr>
          <p:nvPr>
            <p:ph type="title"/>
          </p:nvPr>
        </p:nvSpPr>
        <p:spPr/>
        <p:txBody>
          <a:bodyPr/>
          <a:lstStyle/>
          <a:p>
            <a:r>
              <a:rPr lang="nl-NL" dirty="0"/>
              <a:t>SSH (1)</a:t>
            </a:r>
          </a:p>
        </p:txBody>
      </p:sp>
      <p:sp>
        <p:nvSpPr>
          <p:cNvPr id="4" name="Tijdelijke aanduiding voor dianummer 3"/>
          <p:cNvSpPr>
            <a:spLocks noGrp="1"/>
          </p:cNvSpPr>
          <p:nvPr>
            <p:ph type="sldNum" sz="quarter" idx="4294967295"/>
          </p:nvPr>
        </p:nvSpPr>
        <p:spPr>
          <a:xfrm>
            <a:off x="0" y="0"/>
            <a:ext cx="0" cy="0"/>
          </a:xfrm>
        </p:spPr>
        <p:txBody>
          <a:bodyPr/>
          <a:lstStyle/>
          <a:p>
            <a:fld id="{A9096D49-DAE3-40DE-93E0-41688E0A5016}" type="slidenum">
              <a:rPr lang="nl-NL" smtClean="0"/>
              <a:pPr/>
              <a:t>43</a:t>
            </a:fld>
            <a:endParaRPr lang="nl-NL" dirty="0"/>
          </a:p>
        </p:txBody>
      </p:sp>
      <p:pic>
        <p:nvPicPr>
          <p:cNvPr id="1026" name="Picture 2" descr="People Walking Clip Art Fr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3591" y="2201410"/>
            <a:ext cx="388879" cy="65691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publicdomainvectors.org/photos/primary_gnome-terminal.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154"/>
          <a:stretch/>
        </p:blipFill>
        <p:spPr bwMode="auto">
          <a:xfrm>
            <a:off x="3059832" y="2201409"/>
            <a:ext cx="675206" cy="6569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lor vector image of Linux 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20160" y="2201410"/>
            <a:ext cx="512764" cy="72220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ular Callout 4"/>
          <p:cNvSpPr/>
          <p:nvPr/>
        </p:nvSpPr>
        <p:spPr bwMode="auto">
          <a:xfrm>
            <a:off x="4536565" y="3208606"/>
            <a:ext cx="1696358" cy="683899"/>
          </a:xfrm>
          <a:prstGeom prst="wedgeRectCallout">
            <a:avLst>
              <a:gd name="adj1" fmla="val -52805"/>
              <a:gd name="adj2" fmla="val -129482"/>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lvl="1" fontAlgn="base">
              <a:spcBef>
                <a:spcPct val="0"/>
              </a:spcBef>
              <a:spcAft>
                <a:spcPct val="0"/>
              </a:spcAft>
            </a:pPr>
            <a:r>
              <a:rPr lang="nl-NL" sz="900" dirty="0" err="1">
                <a:latin typeface="Consolas" panose="020B0609020204030204" pitchFamily="49" charset="0"/>
                <a:ea typeface="ＭＳ Ｐゴシック" charset="0"/>
                <a:cs typeface="Consolas" panose="020B0609020204030204" pitchFamily="49" charset="0"/>
              </a:rPr>
              <a:t>telnet</a:t>
            </a:r>
            <a:r>
              <a:rPr lang="nl-NL" sz="900" dirty="0">
                <a:latin typeface="Consolas" panose="020B0609020204030204" pitchFamily="49" charset="0"/>
                <a:ea typeface="ＭＳ Ｐゴシック" charset="0"/>
                <a:cs typeface="Consolas" panose="020B0609020204030204" pitchFamily="49" charset="0"/>
              </a:rPr>
              <a:t> remote.com</a:t>
            </a:r>
          </a:p>
          <a:p>
            <a:pPr lvl="1" fontAlgn="base">
              <a:spcBef>
                <a:spcPct val="0"/>
              </a:spcBef>
              <a:spcAft>
                <a:spcPct val="0"/>
              </a:spcAft>
            </a:pPr>
            <a:r>
              <a:rPr lang="nl-NL" sz="900" dirty="0" err="1">
                <a:latin typeface="Consolas" panose="020B0609020204030204" pitchFamily="49" charset="0"/>
                <a:ea typeface="ＭＳ Ｐゴシック" charset="0"/>
                <a:cs typeface="Consolas" panose="020B0609020204030204" pitchFamily="49" charset="0"/>
              </a:rPr>
              <a:t>fsmythe</a:t>
            </a:r>
            <a:endParaRPr lang="nl-NL" sz="900" dirty="0">
              <a:latin typeface="Consolas" panose="020B0609020204030204" pitchFamily="49" charset="0"/>
              <a:ea typeface="ＭＳ Ｐゴシック" charset="0"/>
              <a:cs typeface="Consolas" panose="020B0609020204030204" pitchFamily="49" charset="0"/>
            </a:endParaRPr>
          </a:p>
          <a:p>
            <a:pPr lvl="1" fontAlgn="base">
              <a:spcBef>
                <a:spcPct val="0"/>
              </a:spcBef>
              <a:spcAft>
                <a:spcPct val="0"/>
              </a:spcAft>
            </a:pPr>
            <a:r>
              <a:rPr lang="nl-NL" sz="900" dirty="0">
                <a:latin typeface="Consolas" panose="020B0609020204030204" pitchFamily="49" charset="0"/>
                <a:ea typeface="ＭＳ Ｐゴシック" charset="0"/>
                <a:cs typeface="Consolas" panose="020B0609020204030204" pitchFamily="49" charset="0"/>
              </a:rPr>
              <a:t>r@m$20!0</a:t>
            </a:r>
          </a:p>
        </p:txBody>
      </p:sp>
      <p:pic>
        <p:nvPicPr>
          <p:cNvPr id="1032" name="Picture 8" descr="http://www.pd4pic.com/images800_/glass-magnifying-free-magnifier-magnify-loup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8953481">
            <a:off x="4471577" y="2420642"/>
            <a:ext cx="496574" cy="99314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bwMode="auto">
          <a:xfrm>
            <a:off x="2426660" y="2858328"/>
            <a:ext cx="647826" cy="35027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r>
              <a:rPr lang="nl-NL" sz="900" dirty="0">
                <a:latin typeface="Arial" charset="0"/>
                <a:ea typeface="ＭＳ Ｐゴシック" charset="0"/>
              </a:rPr>
              <a:t>Telnet</a:t>
            </a:r>
            <a:br>
              <a:rPr lang="nl-NL" sz="900" dirty="0">
                <a:latin typeface="Arial" charset="0"/>
                <a:ea typeface="ＭＳ Ｐゴシック" charset="0"/>
              </a:rPr>
            </a:br>
            <a:r>
              <a:rPr lang="nl-NL" sz="900" dirty="0">
                <a:latin typeface="Arial" charset="0"/>
                <a:ea typeface="ＭＳ Ｐゴシック" charset="0"/>
              </a:rPr>
              <a:t>gebruiker</a:t>
            </a:r>
            <a:endParaRPr lang="nl-NL" sz="1050" dirty="0">
              <a:latin typeface="Arial" charset="0"/>
              <a:ea typeface="ＭＳ Ｐゴシック" charset="0"/>
            </a:endParaRPr>
          </a:p>
        </p:txBody>
      </p:sp>
      <p:sp>
        <p:nvSpPr>
          <p:cNvPr id="12" name="Rectangle 11"/>
          <p:cNvSpPr/>
          <p:nvPr/>
        </p:nvSpPr>
        <p:spPr bwMode="auto">
          <a:xfrm>
            <a:off x="3072374" y="2858328"/>
            <a:ext cx="647826" cy="35027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r>
              <a:rPr lang="nl-NL" sz="900" dirty="0">
                <a:latin typeface="Arial" charset="0"/>
                <a:ea typeface="ＭＳ Ｐゴシック" charset="0"/>
              </a:rPr>
              <a:t>Telnet client</a:t>
            </a:r>
            <a:br>
              <a:rPr lang="nl-NL" sz="900" dirty="0">
                <a:latin typeface="Arial" charset="0"/>
                <a:ea typeface="ＭＳ Ｐゴシック" charset="0"/>
              </a:rPr>
            </a:br>
            <a:r>
              <a:rPr lang="nl-NL" sz="900" dirty="0">
                <a:latin typeface="Arial" charset="0"/>
                <a:ea typeface="ＭＳ Ｐゴシック" charset="0"/>
              </a:rPr>
              <a:t>(</a:t>
            </a:r>
            <a:r>
              <a:rPr lang="nl-NL" sz="900" dirty="0" err="1">
                <a:latin typeface="Arial" charset="0"/>
                <a:ea typeface="ＭＳ Ｐゴシック" charset="0"/>
              </a:rPr>
              <a:t>localhost</a:t>
            </a:r>
            <a:r>
              <a:rPr lang="nl-NL" sz="900" dirty="0">
                <a:latin typeface="Arial" charset="0"/>
                <a:ea typeface="ＭＳ Ｐゴシック" charset="0"/>
              </a:rPr>
              <a:t>)</a:t>
            </a:r>
            <a:endParaRPr lang="nl-NL" sz="1050" dirty="0">
              <a:latin typeface="Arial" charset="0"/>
              <a:ea typeface="ＭＳ Ｐゴシック" charset="0"/>
            </a:endParaRPr>
          </a:p>
        </p:txBody>
      </p:sp>
      <p:sp>
        <p:nvSpPr>
          <p:cNvPr id="13" name="Rectangle 12"/>
          <p:cNvSpPr/>
          <p:nvPr/>
        </p:nvSpPr>
        <p:spPr bwMode="auto">
          <a:xfrm>
            <a:off x="2426660" y="3378624"/>
            <a:ext cx="1347225" cy="582779"/>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fontAlgn="base">
              <a:spcBef>
                <a:spcPct val="0"/>
              </a:spcBef>
              <a:spcAft>
                <a:spcPct val="0"/>
              </a:spcAft>
            </a:pPr>
            <a:r>
              <a:rPr lang="nl-NL" sz="900" i="1" dirty="0">
                <a:latin typeface="Arial" charset="0"/>
                <a:ea typeface="ＭＳ Ｐゴシック" charset="0"/>
              </a:rPr>
              <a:t>Gebruikersinput:</a:t>
            </a:r>
            <a:endParaRPr lang="nl-NL" sz="900" dirty="0">
              <a:latin typeface="Arial" charset="0"/>
              <a:ea typeface="ＭＳ Ｐゴシック" charset="0"/>
            </a:endParaRPr>
          </a:p>
          <a:p>
            <a:pPr fontAlgn="base">
              <a:spcBef>
                <a:spcPct val="0"/>
              </a:spcBef>
              <a:spcAft>
                <a:spcPct val="0"/>
              </a:spcAft>
            </a:pPr>
            <a:r>
              <a:rPr lang="nl-NL" sz="900" dirty="0" err="1">
                <a:latin typeface="Consolas" panose="020B0609020204030204" pitchFamily="49" charset="0"/>
                <a:ea typeface="ＭＳ Ｐゴシック" charset="0"/>
                <a:cs typeface="Consolas" panose="020B0609020204030204" pitchFamily="49" charset="0"/>
              </a:rPr>
              <a:t>telnet</a:t>
            </a:r>
            <a:r>
              <a:rPr lang="nl-NL" sz="900" dirty="0">
                <a:latin typeface="Consolas" panose="020B0609020204030204" pitchFamily="49" charset="0"/>
                <a:ea typeface="ＭＳ Ｐゴシック" charset="0"/>
                <a:cs typeface="Consolas" panose="020B0609020204030204" pitchFamily="49" charset="0"/>
              </a:rPr>
              <a:t> remote.com</a:t>
            </a:r>
            <a:endParaRPr lang="nl-NL" sz="900" dirty="0">
              <a:latin typeface="Arial" charset="0"/>
              <a:ea typeface="ＭＳ Ｐゴシック" charset="0"/>
            </a:endParaRPr>
          </a:p>
          <a:p>
            <a:pPr fontAlgn="base">
              <a:spcBef>
                <a:spcPct val="0"/>
              </a:spcBef>
              <a:spcAft>
                <a:spcPct val="0"/>
              </a:spcAft>
            </a:pPr>
            <a:r>
              <a:rPr lang="nl-NL" sz="900" dirty="0" err="1">
                <a:latin typeface="Consolas" panose="020B0609020204030204" pitchFamily="49" charset="0"/>
                <a:ea typeface="ＭＳ Ｐゴシック" charset="0"/>
                <a:cs typeface="Consolas" panose="020B0609020204030204" pitchFamily="49" charset="0"/>
              </a:rPr>
              <a:t>fsmythe</a:t>
            </a:r>
            <a:r>
              <a:rPr lang="nl-NL" sz="900" dirty="0">
                <a:latin typeface="Arial" charset="0"/>
                <a:ea typeface="ＭＳ Ｐゴシック" charset="0"/>
              </a:rPr>
              <a:t> (</a:t>
            </a:r>
            <a:r>
              <a:rPr lang="nl-NL" sz="900" i="1" dirty="0">
                <a:latin typeface="Arial" charset="0"/>
                <a:ea typeface="ＭＳ Ｐゴシック" charset="0"/>
              </a:rPr>
              <a:t>username</a:t>
            </a:r>
            <a:r>
              <a:rPr lang="nl-NL" sz="900" dirty="0">
                <a:latin typeface="Arial" charset="0"/>
                <a:ea typeface="ＭＳ Ｐゴシック" charset="0"/>
              </a:rPr>
              <a:t>)</a:t>
            </a:r>
          </a:p>
          <a:p>
            <a:pPr fontAlgn="base">
              <a:spcBef>
                <a:spcPct val="0"/>
              </a:spcBef>
              <a:spcAft>
                <a:spcPct val="0"/>
              </a:spcAft>
            </a:pPr>
            <a:r>
              <a:rPr lang="nl-NL" sz="900" dirty="0">
                <a:latin typeface="Consolas" panose="020B0609020204030204" pitchFamily="49" charset="0"/>
                <a:ea typeface="ＭＳ Ｐゴシック" charset="0"/>
                <a:cs typeface="Consolas" panose="020B0609020204030204" pitchFamily="49" charset="0"/>
              </a:rPr>
              <a:t>r@m$20!0</a:t>
            </a:r>
            <a:r>
              <a:rPr lang="nl-NL" sz="900" dirty="0">
                <a:latin typeface="Arial" charset="0"/>
                <a:ea typeface="ＭＳ Ｐゴシック" charset="0"/>
              </a:rPr>
              <a:t> (</a:t>
            </a:r>
            <a:r>
              <a:rPr lang="nl-NL" sz="900" i="1" dirty="0">
                <a:latin typeface="Arial" charset="0"/>
                <a:ea typeface="ＭＳ Ｐゴシック" charset="0"/>
              </a:rPr>
              <a:t>password</a:t>
            </a:r>
            <a:r>
              <a:rPr lang="nl-NL" sz="900" dirty="0">
                <a:latin typeface="Arial" charset="0"/>
                <a:ea typeface="ＭＳ Ｐゴシック" charset="0"/>
              </a:rPr>
              <a:t>)</a:t>
            </a:r>
          </a:p>
        </p:txBody>
      </p:sp>
      <p:sp>
        <p:nvSpPr>
          <p:cNvPr id="14" name="Rectangle 13"/>
          <p:cNvSpPr/>
          <p:nvPr/>
        </p:nvSpPr>
        <p:spPr bwMode="auto">
          <a:xfrm>
            <a:off x="5225743" y="2858328"/>
            <a:ext cx="1601246" cy="35027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r>
              <a:rPr lang="nl-NL" sz="900" dirty="0">
                <a:latin typeface="Arial" charset="0"/>
                <a:ea typeface="ＭＳ Ｐゴシック" charset="0"/>
              </a:rPr>
              <a:t>Telnet server</a:t>
            </a:r>
            <a:br>
              <a:rPr lang="nl-NL" sz="900" dirty="0">
                <a:latin typeface="Arial" charset="0"/>
                <a:ea typeface="ＭＳ Ｐゴシック" charset="0"/>
              </a:rPr>
            </a:br>
            <a:r>
              <a:rPr lang="nl-NL" sz="900" dirty="0">
                <a:latin typeface="Arial" charset="0"/>
                <a:ea typeface="ＭＳ Ｐゴシック" charset="0"/>
              </a:rPr>
              <a:t>(remote host, </a:t>
            </a:r>
            <a:r>
              <a:rPr lang="nl-NL" sz="900" dirty="0">
                <a:latin typeface="Consolas" panose="020B0609020204030204" pitchFamily="49" charset="0"/>
                <a:ea typeface="ＭＳ Ｐゴシック" charset="0"/>
                <a:cs typeface="Consolas" panose="020B0609020204030204" pitchFamily="49" charset="0"/>
              </a:rPr>
              <a:t>remote.com</a:t>
            </a:r>
            <a:r>
              <a:rPr lang="nl-NL" sz="900" dirty="0">
                <a:latin typeface="Arial" charset="0"/>
                <a:ea typeface="ＭＳ Ｐゴシック" charset="0"/>
              </a:rPr>
              <a:t>)</a:t>
            </a:r>
            <a:endParaRPr lang="nl-NL" sz="1050" dirty="0">
              <a:latin typeface="Arial" charset="0"/>
              <a:ea typeface="ＭＳ Ｐゴシック" charset="0"/>
            </a:endParaRPr>
          </a:p>
        </p:txBody>
      </p:sp>
      <p:grpSp>
        <p:nvGrpSpPr>
          <p:cNvPr id="21" name="Group 20"/>
          <p:cNvGrpSpPr/>
          <p:nvPr/>
        </p:nvGrpSpPr>
        <p:grpSpPr>
          <a:xfrm>
            <a:off x="3802638" y="2358778"/>
            <a:ext cx="1979287" cy="253692"/>
            <a:chOff x="3538404" y="2993862"/>
            <a:chExt cx="2639049" cy="338256"/>
          </a:xfrm>
        </p:grpSpPr>
        <p:cxnSp>
          <p:nvCxnSpPr>
            <p:cNvPr id="8" name="Straight Arrow Connector 7"/>
            <p:cNvCxnSpPr/>
            <p:nvPr/>
          </p:nvCxnSpPr>
          <p:spPr bwMode="auto">
            <a:xfrm flipH="1" flipV="1">
              <a:off x="3546183" y="3289913"/>
              <a:ext cx="2556695" cy="470"/>
            </a:xfrm>
            <a:prstGeom prst="straightConnector1">
              <a:avLst/>
            </a:prstGeom>
            <a:solidFill>
              <a:schemeClr val="accent1"/>
            </a:solidFill>
            <a:ln w="38100" cap="flat" cmpd="sng" algn="ctr">
              <a:solidFill>
                <a:schemeClr val="tx1"/>
              </a:solidFill>
              <a:prstDash val="solid"/>
              <a:round/>
              <a:headEnd type="none" w="med" len="med"/>
              <a:tailEnd type="stealth" w="med" len="lg"/>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sp>
          <p:nvSpPr>
            <p:cNvPr id="18" name="Rectangle 17"/>
            <p:cNvSpPr/>
            <p:nvPr/>
          </p:nvSpPr>
          <p:spPr bwMode="auto">
            <a:xfrm>
              <a:off x="3538404" y="2993862"/>
              <a:ext cx="2639049" cy="338256"/>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r>
                <a:rPr lang="nl-NL" sz="900" dirty="0">
                  <a:latin typeface="Arial" charset="0"/>
                  <a:ea typeface="ＭＳ Ｐゴシック" charset="0"/>
                </a:rPr>
                <a:t>Wat zijn username en password?</a:t>
              </a:r>
            </a:p>
          </p:txBody>
        </p:sp>
      </p:grpSp>
      <p:grpSp>
        <p:nvGrpSpPr>
          <p:cNvPr id="22" name="Group 21"/>
          <p:cNvGrpSpPr/>
          <p:nvPr/>
        </p:nvGrpSpPr>
        <p:grpSpPr>
          <a:xfrm>
            <a:off x="3802638" y="2610325"/>
            <a:ext cx="1979287" cy="260337"/>
            <a:chOff x="3546183" y="3480433"/>
            <a:chExt cx="2639049" cy="347116"/>
          </a:xfrm>
        </p:grpSpPr>
        <p:sp>
          <p:nvSpPr>
            <p:cNvPr id="20" name="Rectangle 19"/>
            <p:cNvSpPr/>
            <p:nvPr/>
          </p:nvSpPr>
          <p:spPr bwMode="auto">
            <a:xfrm>
              <a:off x="3546183" y="3480433"/>
              <a:ext cx="2639049" cy="347116"/>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r>
                <a:rPr lang="nl-NL" sz="900" dirty="0">
                  <a:latin typeface="Arial" charset="0"/>
                  <a:ea typeface="ＭＳ Ｐゴシック" charset="0"/>
                </a:rPr>
                <a:t>Antwoord: </a:t>
              </a:r>
              <a:r>
                <a:rPr lang="nl-NL" sz="900" i="1" dirty="0">
                  <a:latin typeface="Arial" charset="0"/>
                  <a:ea typeface="ＭＳ Ｐゴシック" charset="0"/>
                </a:rPr>
                <a:t>username</a:t>
              </a:r>
              <a:r>
                <a:rPr lang="nl-NL" sz="900" dirty="0">
                  <a:latin typeface="Arial" charset="0"/>
                  <a:ea typeface="ＭＳ Ｐゴシック" charset="0"/>
                </a:rPr>
                <a:t> en </a:t>
              </a:r>
              <a:r>
                <a:rPr lang="nl-NL" sz="900" i="1" dirty="0">
                  <a:latin typeface="Arial" charset="0"/>
                  <a:ea typeface="ＭＳ Ｐゴシック" charset="0"/>
                </a:rPr>
                <a:t>password</a:t>
              </a:r>
            </a:p>
          </p:txBody>
        </p:sp>
        <p:cxnSp>
          <p:nvCxnSpPr>
            <p:cNvPr id="25" name="Straight Arrow Connector 24"/>
            <p:cNvCxnSpPr/>
            <p:nvPr/>
          </p:nvCxnSpPr>
          <p:spPr bwMode="auto">
            <a:xfrm flipH="1" flipV="1">
              <a:off x="3546183" y="3758733"/>
              <a:ext cx="2556695" cy="470"/>
            </a:xfrm>
            <a:prstGeom prst="straightConnector1">
              <a:avLst/>
            </a:prstGeom>
            <a:solidFill>
              <a:schemeClr val="accent1"/>
            </a:solidFill>
            <a:ln w="38100" cap="flat" cmpd="sng" algn="ctr">
              <a:solidFill>
                <a:schemeClr val="tx1"/>
              </a:solidFill>
              <a:prstDash val="solid"/>
              <a:round/>
              <a:headEnd type="stealth" w="med" len="lg"/>
              <a:tailEnd type="none" w="med" len="lg"/>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
        <p:nvSpPr>
          <p:cNvPr id="27" name="Rectangle 26"/>
          <p:cNvSpPr/>
          <p:nvPr/>
        </p:nvSpPr>
        <p:spPr bwMode="auto">
          <a:xfrm>
            <a:off x="4536565" y="3917920"/>
            <a:ext cx="1696358" cy="138443"/>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fontAlgn="base">
              <a:spcBef>
                <a:spcPct val="0"/>
              </a:spcBef>
              <a:spcAft>
                <a:spcPct val="0"/>
              </a:spcAft>
            </a:pPr>
            <a:r>
              <a:rPr lang="nl-NL" sz="900" i="1" dirty="0">
                <a:latin typeface="Arial" charset="0"/>
                <a:ea typeface="ＭＳ Ｐゴシック" charset="0"/>
              </a:rPr>
              <a:t>Wat een </a:t>
            </a:r>
            <a:r>
              <a:rPr lang="nl-NL" sz="900" i="1" dirty="0" err="1">
                <a:latin typeface="Arial" charset="0"/>
                <a:ea typeface="ＭＳ Ｐゴシック" charset="0"/>
              </a:rPr>
              <a:t>netwerksniffer</a:t>
            </a:r>
            <a:r>
              <a:rPr lang="nl-NL" sz="900" i="1" dirty="0">
                <a:latin typeface="Arial" charset="0"/>
                <a:ea typeface="ＭＳ Ｐゴシック" charset="0"/>
              </a:rPr>
              <a:t> kan zien</a:t>
            </a:r>
            <a:endParaRPr lang="nl-NL" sz="900" dirty="0">
              <a:latin typeface="Arial" charset="0"/>
              <a:ea typeface="ＭＳ Ｐゴシック" charset="0"/>
            </a:endParaRPr>
          </a:p>
        </p:txBody>
      </p:sp>
      <p:grpSp>
        <p:nvGrpSpPr>
          <p:cNvPr id="30" name="Group 29"/>
          <p:cNvGrpSpPr/>
          <p:nvPr/>
        </p:nvGrpSpPr>
        <p:grpSpPr>
          <a:xfrm>
            <a:off x="3802638" y="2093417"/>
            <a:ext cx="1979287" cy="260337"/>
            <a:chOff x="3546183" y="3480433"/>
            <a:chExt cx="2639049" cy="347116"/>
          </a:xfrm>
        </p:grpSpPr>
        <p:sp>
          <p:nvSpPr>
            <p:cNvPr id="31" name="Rectangle 30"/>
            <p:cNvSpPr/>
            <p:nvPr/>
          </p:nvSpPr>
          <p:spPr bwMode="auto">
            <a:xfrm>
              <a:off x="3546183" y="3480433"/>
              <a:ext cx="2639049" cy="347116"/>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r>
                <a:rPr lang="nl-NL" sz="900" dirty="0">
                  <a:latin typeface="Arial" charset="0"/>
                  <a:ea typeface="ＭＳ Ｐゴシック" charset="0"/>
                </a:rPr>
                <a:t>Connect </a:t>
              </a:r>
              <a:r>
                <a:rPr lang="nl-NL" sz="900" dirty="0" err="1">
                  <a:latin typeface="Arial" charset="0"/>
                  <a:ea typeface="ＭＳ Ｐゴシック" charset="0"/>
                </a:rPr>
                <a:t>to</a:t>
              </a:r>
              <a:r>
                <a:rPr lang="nl-NL" sz="900" dirty="0">
                  <a:latin typeface="Arial" charset="0"/>
                  <a:ea typeface="ＭＳ Ｐゴシック" charset="0"/>
                </a:rPr>
                <a:t> Telnet</a:t>
              </a:r>
              <a:endParaRPr lang="nl-NL" sz="900" i="1" dirty="0">
                <a:latin typeface="Arial" charset="0"/>
                <a:ea typeface="ＭＳ Ｐゴシック" charset="0"/>
              </a:endParaRPr>
            </a:p>
          </p:txBody>
        </p:sp>
        <p:cxnSp>
          <p:nvCxnSpPr>
            <p:cNvPr id="32" name="Straight Arrow Connector 31"/>
            <p:cNvCxnSpPr/>
            <p:nvPr/>
          </p:nvCxnSpPr>
          <p:spPr bwMode="auto">
            <a:xfrm flipH="1" flipV="1">
              <a:off x="3546183" y="3758733"/>
              <a:ext cx="2556695" cy="470"/>
            </a:xfrm>
            <a:prstGeom prst="straightConnector1">
              <a:avLst/>
            </a:prstGeom>
            <a:solidFill>
              <a:schemeClr val="accent1"/>
            </a:solidFill>
            <a:ln w="38100" cap="flat" cmpd="sng" algn="ctr">
              <a:solidFill>
                <a:schemeClr val="tx1"/>
              </a:solidFill>
              <a:prstDash val="solid"/>
              <a:round/>
              <a:headEnd type="stealth" w="med" len="lg"/>
              <a:tailEnd type="none" w="med" len="lg"/>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547731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ipe(left)">
                                      <p:cBhvr>
                                        <p:cTn id="7" dur="500"/>
                                        <p:tgtEl>
                                          <p:spTgt spid="13">
                                            <p:txEl>
                                              <p:pRg st="1" end="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right)">
                                      <p:cBhvr>
                                        <p:cTn id="16" dur="5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
                                            <p:txEl>
                                              <p:pRg st="2" end="2"/>
                                            </p:txEl>
                                          </p:spTgt>
                                        </p:tgtEl>
                                        <p:attrNameLst>
                                          <p:attrName>style.visibility</p:attrName>
                                        </p:attrNameLst>
                                      </p:cBhvr>
                                      <p:to>
                                        <p:strVal val="visible"/>
                                      </p:to>
                                    </p:set>
                                    <p:animEffect transition="in" filter="wipe(left)">
                                      <p:cBhvr>
                                        <p:cTn id="21" dur="500"/>
                                        <p:tgtEl>
                                          <p:spTgt spid="13">
                                            <p:txEl>
                                              <p:pRg st="2" end="2"/>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Effect transition="in" filter="wipe(left)">
                                      <p:cBhvr>
                                        <p:cTn id="25" dur="500"/>
                                        <p:tgtEl>
                                          <p:spTgt spid="13">
                                            <p:txEl>
                                              <p:pRg st="3" end="3"/>
                                            </p:txEl>
                                          </p:spTgt>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wipe(left)">
                                      <p:cBhvr>
                                        <p:cTn id="29" dur="500"/>
                                        <p:tgtEl>
                                          <p:spTgt spid="22"/>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032"/>
                                        </p:tgtEl>
                                        <p:attrNameLst>
                                          <p:attrName>style.visibility</p:attrName>
                                        </p:attrNameLst>
                                      </p:cBhvr>
                                      <p:to>
                                        <p:strVal val="visible"/>
                                      </p:to>
                                    </p:set>
                                    <p:anim calcmode="lin" valueType="num">
                                      <p:cBhvr additive="base">
                                        <p:cTn id="34" dur="500" fill="hold"/>
                                        <p:tgtEl>
                                          <p:spTgt spid="1032"/>
                                        </p:tgtEl>
                                        <p:attrNameLst>
                                          <p:attrName>ppt_x</p:attrName>
                                        </p:attrNameLst>
                                      </p:cBhvr>
                                      <p:tavLst>
                                        <p:tav tm="0">
                                          <p:val>
                                            <p:strVal val="#ppt_x"/>
                                          </p:val>
                                        </p:tav>
                                        <p:tav tm="100000">
                                          <p:val>
                                            <p:strVal val="#ppt_x"/>
                                          </p:val>
                                        </p:tav>
                                      </p:tavLst>
                                    </p:anim>
                                    <p:anim calcmode="lin" valueType="num">
                                      <p:cBhvr additive="base">
                                        <p:cTn id="35" dur="500" fill="hold"/>
                                        <p:tgtEl>
                                          <p:spTgt spid="1032"/>
                                        </p:tgtEl>
                                        <p:attrNameLst>
                                          <p:attrName>ppt_y</p:attrName>
                                        </p:attrNameLst>
                                      </p:cBhvr>
                                      <p:tavLst>
                                        <p:tav tm="0">
                                          <p:val>
                                            <p:strVal val="1+#ppt_h/2"/>
                                          </p:val>
                                        </p:tav>
                                        <p:tav tm="100000">
                                          <p:val>
                                            <p:strVal val="#ppt_y"/>
                                          </p:val>
                                        </p:tav>
                                      </p:tavLst>
                                    </p:anim>
                                  </p:childTnLst>
                                </p:cTn>
                              </p:par>
                            </p:childTnLst>
                          </p:cTn>
                        </p:par>
                        <p:par>
                          <p:cTn id="36" fill="hold">
                            <p:stCondLst>
                              <p:cond delay="500"/>
                            </p:stCondLst>
                            <p:childTnLst>
                              <p:par>
                                <p:cTn id="37" presetID="2" presetClass="entr" presetSubtype="4" fill="hold" grpId="0" nodeType="after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type="body" sz="quarter" idx="11"/>
          </p:nvPr>
        </p:nvSpPr>
        <p:spPr/>
        <p:txBody>
          <a:bodyPr/>
          <a:lstStyle/>
          <a:p>
            <a:pPr>
              <a:buNone/>
            </a:pPr>
            <a:r>
              <a:rPr lang="nl-NL" dirty="0"/>
              <a:t>Met encryptie: SSH</a:t>
            </a:r>
          </a:p>
        </p:txBody>
      </p:sp>
      <p:sp>
        <p:nvSpPr>
          <p:cNvPr id="2" name="Titel 1"/>
          <p:cNvSpPr>
            <a:spLocks noGrp="1"/>
          </p:cNvSpPr>
          <p:nvPr>
            <p:ph type="title"/>
          </p:nvPr>
        </p:nvSpPr>
        <p:spPr/>
        <p:txBody>
          <a:bodyPr/>
          <a:lstStyle/>
          <a:p>
            <a:r>
              <a:rPr lang="nl-NL" dirty="0"/>
              <a:t>SSH (2)</a:t>
            </a:r>
          </a:p>
        </p:txBody>
      </p:sp>
      <p:sp>
        <p:nvSpPr>
          <p:cNvPr id="4" name="Tijdelijke aanduiding voor dianummer 3"/>
          <p:cNvSpPr>
            <a:spLocks noGrp="1"/>
          </p:cNvSpPr>
          <p:nvPr>
            <p:ph type="sldNum" sz="quarter" idx="4294967295"/>
          </p:nvPr>
        </p:nvSpPr>
        <p:spPr>
          <a:xfrm>
            <a:off x="0" y="0"/>
            <a:ext cx="0" cy="0"/>
          </a:xfrm>
        </p:spPr>
        <p:txBody>
          <a:bodyPr/>
          <a:lstStyle/>
          <a:p>
            <a:fld id="{A9096D49-DAE3-40DE-93E0-41688E0A5016}" type="slidenum">
              <a:rPr lang="nl-NL" smtClean="0"/>
              <a:pPr/>
              <a:t>44</a:t>
            </a:fld>
            <a:endParaRPr lang="nl-NL" dirty="0"/>
          </a:p>
        </p:txBody>
      </p:sp>
      <p:pic>
        <p:nvPicPr>
          <p:cNvPr id="1026" name="Picture 2" descr="People Walking Clip Art Fr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3591" y="2201410"/>
            <a:ext cx="388879" cy="65691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publicdomainvectors.org/photos/primary_gnome-terminal.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154"/>
          <a:stretch/>
        </p:blipFill>
        <p:spPr bwMode="auto">
          <a:xfrm>
            <a:off x="3059832" y="2201409"/>
            <a:ext cx="675206" cy="6569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lor vector image of Linux 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20160" y="2201410"/>
            <a:ext cx="512764" cy="722203"/>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p:cNvGrpSpPr/>
          <p:nvPr/>
        </p:nvGrpSpPr>
        <p:grpSpPr>
          <a:xfrm>
            <a:off x="4429293" y="2662866"/>
            <a:ext cx="1903475" cy="1332309"/>
            <a:chOff x="4410299" y="3740988"/>
            <a:chExt cx="2537966" cy="1776412"/>
          </a:xfrm>
        </p:grpSpPr>
        <p:sp>
          <p:nvSpPr>
            <p:cNvPr id="7" name="Rectangle 6"/>
            <p:cNvSpPr/>
            <p:nvPr/>
          </p:nvSpPr>
          <p:spPr bwMode="auto">
            <a:xfrm>
              <a:off x="4410299" y="4443370"/>
              <a:ext cx="2504632" cy="965239"/>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fontAlgn="base">
                <a:spcBef>
                  <a:spcPct val="0"/>
                </a:spcBef>
                <a:spcAft>
                  <a:spcPct val="0"/>
                </a:spcAft>
              </a:pPr>
              <a:r>
                <a:rPr lang="nl-NL" sz="900" dirty="0">
                  <a:latin typeface="Consolas" panose="020B0609020204030204" pitchFamily="49" charset="0"/>
                  <a:ea typeface="ＭＳ Ｐゴシック" charset="0"/>
                  <a:cs typeface="Consolas" panose="020B0609020204030204" pitchFamily="49" charset="0"/>
                </a:rPr>
                <a:t>XIno"m1LkY`r8-="9t_QwWQ1R8zn9d</a:t>
              </a:r>
            </a:p>
            <a:p>
              <a:pPr fontAlgn="base">
                <a:spcBef>
                  <a:spcPct val="0"/>
                </a:spcBef>
                <a:spcAft>
                  <a:spcPct val="0"/>
                </a:spcAft>
              </a:pPr>
              <a:r>
                <a:rPr lang="nl-NL" sz="900" dirty="0" err="1">
                  <a:latin typeface="Consolas" panose="020B0609020204030204" pitchFamily="49" charset="0"/>
                  <a:ea typeface="ＭＳ Ｐゴシック" charset="0"/>
                  <a:cs typeface="Consolas" panose="020B0609020204030204" pitchFamily="49" charset="0"/>
                </a:rPr>
                <a:t>ygPG</a:t>
              </a:r>
              <a:r>
                <a:rPr lang="nl-NL" sz="900" dirty="0">
                  <a:latin typeface="Consolas" panose="020B0609020204030204" pitchFamily="49" charset="0"/>
                  <a:ea typeface="ＭＳ Ｐゴシック" charset="0"/>
                  <a:cs typeface="Consolas" panose="020B0609020204030204" pitchFamily="49" charset="0"/>
                </a:rPr>
                <a:t>}8^5EegWj|Dt,UB;F6AbIn7o,\</a:t>
              </a:r>
            </a:p>
            <a:p>
              <a:pPr fontAlgn="base">
                <a:spcBef>
                  <a:spcPct val="0"/>
                </a:spcBef>
                <a:spcAft>
                  <a:spcPct val="0"/>
                </a:spcAft>
              </a:pPr>
              <a:r>
                <a:rPr lang="nl-NL" sz="900" dirty="0">
                  <a:latin typeface="Consolas" panose="020B0609020204030204" pitchFamily="49" charset="0"/>
                  <a:ea typeface="ＭＳ Ｐゴシック" charset="0"/>
                  <a:cs typeface="Consolas" panose="020B0609020204030204" pitchFamily="49" charset="0"/>
                </a:rPr>
                <a:t>wTJZS5OC]qD7vS=;</a:t>
              </a:r>
              <a:r>
                <a:rPr lang="nl-NL" sz="900" dirty="0" err="1">
                  <a:latin typeface="Consolas" panose="020B0609020204030204" pitchFamily="49" charset="0"/>
                  <a:ea typeface="ＭＳ Ｐゴシック" charset="0"/>
                  <a:cs typeface="Consolas" panose="020B0609020204030204" pitchFamily="49" charset="0"/>
                </a:rPr>
                <a:t>f"fueW</a:t>
              </a:r>
              <a:r>
                <a:rPr lang="nl-NL" sz="900" dirty="0">
                  <a:latin typeface="Consolas" panose="020B0609020204030204" pitchFamily="49" charset="0"/>
                  <a:ea typeface="ＭＳ Ｐゴシック" charset="0"/>
                  <a:cs typeface="Consolas" panose="020B0609020204030204" pitchFamily="49" charset="0"/>
                </a:rPr>
                <a:t>^~;l+*</a:t>
              </a:r>
              <a:r>
                <a:rPr lang="nl-NL" sz="900" dirty="0" err="1">
                  <a:latin typeface="Consolas" panose="020B0609020204030204" pitchFamily="49" charset="0"/>
                  <a:ea typeface="ＭＳ Ｐゴシック" charset="0"/>
                  <a:cs typeface="Consolas" panose="020B0609020204030204" pitchFamily="49" charset="0"/>
                </a:rPr>
                <a:t>bB</a:t>
              </a:r>
              <a:endParaRPr lang="nl-NL" sz="900" dirty="0">
                <a:latin typeface="Consolas" panose="020B0609020204030204" pitchFamily="49" charset="0"/>
                <a:ea typeface="ＭＳ Ｐゴシック" charset="0"/>
                <a:cs typeface="Consolas" panose="020B0609020204030204" pitchFamily="49" charset="0"/>
              </a:endParaRPr>
            </a:p>
            <a:p>
              <a:pPr fontAlgn="base">
                <a:spcBef>
                  <a:spcPct val="0"/>
                </a:spcBef>
                <a:spcAft>
                  <a:spcPct val="0"/>
                </a:spcAft>
              </a:pPr>
              <a:r>
                <a:rPr lang="nl-NL" sz="900" dirty="0" err="1">
                  <a:latin typeface="Consolas" panose="020B0609020204030204" pitchFamily="49" charset="0"/>
                  <a:ea typeface="ＭＳ Ｐゴシック" charset="0"/>
                  <a:cs typeface="Consolas" panose="020B0609020204030204" pitchFamily="49" charset="0"/>
                </a:rPr>
                <a:t>lI</a:t>
              </a:r>
              <a:r>
                <a:rPr lang="nl-NL" sz="900" dirty="0">
                  <a:latin typeface="Consolas" panose="020B0609020204030204" pitchFamily="49" charset="0"/>
                  <a:ea typeface="ＭＳ Ｐゴシック" charset="0"/>
                  <a:cs typeface="Consolas" panose="020B0609020204030204" pitchFamily="49" charset="0"/>
                </a:rPr>
                <a:t>=-C)</a:t>
              </a:r>
              <a:r>
                <a:rPr lang="nl-NL" sz="900" dirty="0" err="1">
                  <a:latin typeface="Consolas" panose="020B0609020204030204" pitchFamily="49" charset="0"/>
                  <a:ea typeface="ＭＳ Ｐゴシック" charset="0"/>
                  <a:cs typeface="Consolas" panose="020B0609020204030204" pitchFamily="49" charset="0"/>
                </a:rPr>
                <a:t>xdroMiXZ</a:t>
              </a:r>
              <a:r>
                <a:rPr lang="nl-NL" sz="900" dirty="0">
                  <a:latin typeface="Consolas" panose="020B0609020204030204" pitchFamily="49" charset="0"/>
                  <a:ea typeface="ＭＳ Ｐゴシック" charset="0"/>
                  <a:cs typeface="Consolas" panose="020B0609020204030204" pitchFamily="49" charset="0"/>
                </a:rPr>
                <a:t>&lt;MAS&amp;U354A&amp;`UUJ&amp;</a:t>
              </a:r>
            </a:p>
            <a:p>
              <a:pPr fontAlgn="base">
                <a:spcBef>
                  <a:spcPct val="0"/>
                </a:spcBef>
                <a:spcAft>
                  <a:spcPct val="0"/>
                </a:spcAft>
              </a:pPr>
              <a:r>
                <a:rPr lang="nl-NL" sz="900" dirty="0">
                  <a:latin typeface="Consolas" panose="020B0609020204030204" pitchFamily="49" charset="0"/>
                  <a:ea typeface="ＭＳ Ｐゴシック" charset="0"/>
                  <a:cs typeface="Consolas" panose="020B0609020204030204" pitchFamily="49" charset="0"/>
                </a:rPr>
                <a:t>k$NeXltZ,,Ke&amp;5d,iFbu!-</a:t>
              </a:r>
              <a:r>
                <a:rPr lang="nl-NL" sz="900" dirty="0" err="1">
                  <a:latin typeface="Consolas" panose="020B0609020204030204" pitchFamily="49" charset="0"/>
                  <a:ea typeface="ＭＳ Ｐゴシック" charset="0"/>
                  <a:cs typeface="Consolas" panose="020B0609020204030204" pitchFamily="49" charset="0"/>
                </a:rPr>
                <a:t>SY^Al#dO</a:t>
              </a:r>
              <a:endParaRPr lang="nl-NL" sz="900" dirty="0">
                <a:latin typeface="Consolas" panose="020B0609020204030204" pitchFamily="49" charset="0"/>
                <a:ea typeface="ＭＳ Ｐゴシック" charset="0"/>
                <a:cs typeface="Consolas" panose="020B0609020204030204" pitchFamily="49" charset="0"/>
              </a:endParaRPr>
            </a:p>
            <a:p>
              <a:pPr fontAlgn="base">
                <a:spcBef>
                  <a:spcPct val="0"/>
                </a:spcBef>
                <a:spcAft>
                  <a:spcPct val="0"/>
                </a:spcAft>
              </a:pPr>
              <a:r>
                <a:rPr lang="nl-NL" sz="900" dirty="0">
                  <a:latin typeface="Consolas" panose="020B0609020204030204" pitchFamily="49" charset="0"/>
                  <a:ea typeface="ＭＳ Ｐゴシック" charset="0"/>
                  <a:cs typeface="Consolas" panose="020B0609020204030204" pitchFamily="49" charset="0"/>
                </a:rPr>
                <a:t>]8{0ch3gT-Oc-qnTDYO-If[Q*</a:t>
              </a:r>
              <a:r>
                <a:rPr lang="nl-NL" sz="900" dirty="0" err="1">
                  <a:latin typeface="Consolas" panose="020B0609020204030204" pitchFamily="49" charset="0"/>
                  <a:ea typeface="ＭＳ Ｐゴシック" charset="0"/>
                  <a:cs typeface="Consolas" panose="020B0609020204030204" pitchFamily="49" charset="0"/>
                </a:rPr>
                <a:t>Pj</a:t>
              </a:r>
              <a:r>
                <a:rPr lang="nl-NL" sz="900" dirty="0">
                  <a:latin typeface="Consolas" panose="020B0609020204030204" pitchFamily="49" charset="0"/>
                  <a:ea typeface="ＭＳ Ｐゴシック" charset="0"/>
                  <a:cs typeface="Consolas" panose="020B0609020204030204" pitchFamily="49" charset="0"/>
                </a:rPr>
                <a:t>`'</a:t>
              </a:r>
            </a:p>
          </p:txBody>
        </p:sp>
        <p:sp>
          <p:nvSpPr>
            <p:cNvPr id="9" name="Rectangle 8"/>
            <p:cNvSpPr/>
            <p:nvPr/>
          </p:nvSpPr>
          <p:spPr bwMode="auto">
            <a:xfrm>
              <a:off x="4417790" y="4333125"/>
              <a:ext cx="2530475" cy="1184275"/>
            </a:xfrm>
            <a:prstGeom prst="rect">
              <a:avLst/>
            </a:prstGeom>
            <a:noFill/>
            <a:ln w="273050" cap="flat" cmpd="sng" algn="ctr">
              <a:solidFill>
                <a:srgbClr val="FFFFFF"/>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fontAlgn="base">
                <a:spcBef>
                  <a:spcPct val="0"/>
                </a:spcBef>
                <a:spcAft>
                  <a:spcPct val="0"/>
                </a:spcAft>
              </a:pPr>
              <a:endParaRPr lang="nl-NL" sz="1050">
                <a:latin typeface="Arial" charset="0"/>
                <a:ea typeface="ＭＳ Ｐゴシック" charset="0"/>
              </a:endParaRPr>
            </a:p>
          </p:txBody>
        </p:sp>
        <p:sp>
          <p:nvSpPr>
            <p:cNvPr id="15" name="Freeform 14"/>
            <p:cNvSpPr/>
            <p:nvPr/>
          </p:nvSpPr>
          <p:spPr bwMode="auto">
            <a:xfrm>
              <a:off x="4490022" y="3740988"/>
              <a:ext cx="1009650" cy="742950"/>
            </a:xfrm>
            <a:custGeom>
              <a:avLst/>
              <a:gdLst>
                <a:gd name="connsiteX0" fmla="*/ 0 w 1062038"/>
                <a:gd name="connsiteY0" fmla="*/ 0 h 773906"/>
                <a:gd name="connsiteX1" fmla="*/ 1062038 w 1062038"/>
                <a:gd name="connsiteY1" fmla="*/ 762000 h 773906"/>
                <a:gd name="connsiteX2" fmla="*/ 459582 w 1062038"/>
                <a:gd name="connsiteY2" fmla="*/ 773906 h 773906"/>
                <a:gd name="connsiteX3" fmla="*/ 0 w 1062038"/>
                <a:gd name="connsiteY3" fmla="*/ 0 h 773906"/>
              </a:gdLst>
              <a:ahLst/>
              <a:cxnLst>
                <a:cxn ang="0">
                  <a:pos x="connsiteX0" y="connsiteY0"/>
                </a:cxn>
                <a:cxn ang="0">
                  <a:pos x="connsiteX1" y="connsiteY1"/>
                </a:cxn>
                <a:cxn ang="0">
                  <a:pos x="connsiteX2" y="connsiteY2"/>
                </a:cxn>
                <a:cxn ang="0">
                  <a:pos x="connsiteX3" y="connsiteY3"/>
                </a:cxn>
              </a:cxnLst>
              <a:rect l="l" t="t" r="r" b="b"/>
              <a:pathLst>
                <a:path w="1062038" h="773906">
                  <a:moveTo>
                    <a:pt x="0" y="0"/>
                  </a:moveTo>
                  <a:lnTo>
                    <a:pt x="1062038" y="762000"/>
                  </a:lnTo>
                  <a:lnTo>
                    <a:pt x="459582" y="773906"/>
                  </a:lnTo>
                  <a:lnTo>
                    <a:pt x="0" y="0"/>
                  </a:lnTo>
                  <a:close/>
                </a:path>
              </a:pathLst>
            </a:cu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fontAlgn="base">
                <a:spcBef>
                  <a:spcPct val="0"/>
                </a:spcBef>
                <a:spcAft>
                  <a:spcPct val="0"/>
                </a:spcAft>
              </a:pPr>
              <a:endParaRPr lang="nl-NL" sz="1050">
                <a:latin typeface="Arial" charset="0"/>
                <a:ea typeface="ＭＳ Ｐゴシック" charset="0"/>
              </a:endParaRPr>
            </a:p>
          </p:txBody>
        </p:sp>
        <p:sp>
          <p:nvSpPr>
            <p:cNvPr id="5" name="Rectangular Callout 4"/>
            <p:cNvSpPr/>
            <p:nvPr/>
          </p:nvSpPr>
          <p:spPr bwMode="auto">
            <a:xfrm>
              <a:off x="4551934" y="4468190"/>
              <a:ext cx="2260526" cy="911865"/>
            </a:xfrm>
            <a:prstGeom prst="wedgeRectCallout">
              <a:avLst>
                <a:gd name="adj1" fmla="val -52805"/>
                <a:gd name="adj2" fmla="val -129482"/>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fontAlgn="base">
                <a:spcBef>
                  <a:spcPct val="0"/>
                </a:spcBef>
                <a:spcAft>
                  <a:spcPct val="0"/>
                </a:spcAft>
              </a:pPr>
              <a:endParaRPr lang="nl-NL" sz="1050" dirty="0">
                <a:latin typeface="Consolas" panose="020B0609020204030204" pitchFamily="49" charset="0"/>
                <a:ea typeface="ＭＳ Ｐゴシック" charset="0"/>
                <a:cs typeface="Consolas" panose="020B0609020204030204" pitchFamily="49" charset="0"/>
              </a:endParaRPr>
            </a:p>
          </p:txBody>
        </p:sp>
      </p:grpSp>
      <p:pic>
        <p:nvPicPr>
          <p:cNvPr id="1032" name="Picture 8" descr="http://www.pd4pic.com/images800_/glass-magnifying-free-magnifier-magnify-loup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8953481">
            <a:off x="4469569" y="2420305"/>
            <a:ext cx="496574" cy="99314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bwMode="auto">
          <a:xfrm>
            <a:off x="2426660" y="2858328"/>
            <a:ext cx="647826" cy="35027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r>
              <a:rPr lang="nl-NL" sz="900" dirty="0">
                <a:latin typeface="Arial" charset="0"/>
                <a:ea typeface="ＭＳ Ｐゴシック" charset="0"/>
              </a:rPr>
              <a:t>SSH</a:t>
            </a:r>
            <a:br>
              <a:rPr lang="nl-NL" sz="900" dirty="0">
                <a:latin typeface="Arial" charset="0"/>
                <a:ea typeface="ＭＳ Ｐゴシック" charset="0"/>
              </a:rPr>
            </a:br>
            <a:r>
              <a:rPr lang="nl-NL" sz="900" dirty="0">
                <a:latin typeface="Arial" charset="0"/>
                <a:ea typeface="ＭＳ Ｐゴシック" charset="0"/>
              </a:rPr>
              <a:t>gebruiker</a:t>
            </a:r>
            <a:endParaRPr lang="nl-NL" sz="1050" dirty="0">
              <a:latin typeface="Arial" charset="0"/>
              <a:ea typeface="ＭＳ Ｐゴシック" charset="0"/>
            </a:endParaRPr>
          </a:p>
        </p:txBody>
      </p:sp>
      <p:sp>
        <p:nvSpPr>
          <p:cNvPr id="12" name="Rectangle 11"/>
          <p:cNvSpPr/>
          <p:nvPr/>
        </p:nvSpPr>
        <p:spPr bwMode="auto">
          <a:xfrm>
            <a:off x="3072374" y="2858328"/>
            <a:ext cx="647826" cy="35027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r>
              <a:rPr lang="nl-NL" sz="900" dirty="0">
                <a:latin typeface="Arial" charset="0"/>
                <a:ea typeface="ＭＳ Ｐゴシック" charset="0"/>
              </a:rPr>
              <a:t>SSH client</a:t>
            </a:r>
            <a:br>
              <a:rPr lang="nl-NL" sz="900" dirty="0">
                <a:latin typeface="Arial" charset="0"/>
                <a:ea typeface="ＭＳ Ｐゴシック" charset="0"/>
              </a:rPr>
            </a:br>
            <a:r>
              <a:rPr lang="nl-NL" sz="900" dirty="0">
                <a:latin typeface="Arial" charset="0"/>
                <a:ea typeface="ＭＳ Ｐゴシック" charset="0"/>
              </a:rPr>
              <a:t>(</a:t>
            </a:r>
            <a:r>
              <a:rPr lang="nl-NL" sz="900" dirty="0" err="1">
                <a:latin typeface="Arial" charset="0"/>
                <a:ea typeface="ＭＳ Ｐゴシック" charset="0"/>
              </a:rPr>
              <a:t>localhost</a:t>
            </a:r>
            <a:r>
              <a:rPr lang="nl-NL" sz="900" dirty="0">
                <a:latin typeface="Arial" charset="0"/>
                <a:ea typeface="ＭＳ Ｐゴシック" charset="0"/>
              </a:rPr>
              <a:t>)</a:t>
            </a:r>
            <a:endParaRPr lang="nl-NL" sz="1050" dirty="0">
              <a:latin typeface="Arial" charset="0"/>
              <a:ea typeface="ＭＳ Ｐゴシック" charset="0"/>
            </a:endParaRPr>
          </a:p>
        </p:txBody>
      </p:sp>
      <p:sp>
        <p:nvSpPr>
          <p:cNvPr id="13" name="Rectangle 12"/>
          <p:cNvSpPr/>
          <p:nvPr/>
        </p:nvSpPr>
        <p:spPr bwMode="auto">
          <a:xfrm>
            <a:off x="2426660" y="3378624"/>
            <a:ext cx="1347225" cy="582779"/>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fontAlgn="base">
              <a:spcBef>
                <a:spcPct val="0"/>
              </a:spcBef>
              <a:spcAft>
                <a:spcPct val="0"/>
              </a:spcAft>
            </a:pPr>
            <a:r>
              <a:rPr lang="nl-NL" sz="900" i="1" dirty="0">
                <a:latin typeface="Arial" charset="0"/>
                <a:ea typeface="ＭＳ Ｐゴシック" charset="0"/>
              </a:rPr>
              <a:t>Gebruikersinput:</a:t>
            </a:r>
            <a:endParaRPr lang="nl-NL" sz="900" dirty="0">
              <a:latin typeface="Arial" charset="0"/>
              <a:ea typeface="ＭＳ Ｐゴシック" charset="0"/>
            </a:endParaRPr>
          </a:p>
          <a:p>
            <a:pPr fontAlgn="base">
              <a:spcBef>
                <a:spcPct val="0"/>
              </a:spcBef>
              <a:spcAft>
                <a:spcPct val="0"/>
              </a:spcAft>
            </a:pPr>
            <a:r>
              <a:rPr lang="nl-NL" sz="900" dirty="0" err="1">
                <a:latin typeface="Consolas" panose="020B0609020204030204" pitchFamily="49" charset="0"/>
                <a:ea typeface="ＭＳ Ｐゴシック" charset="0"/>
                <a:cs typeface="Consolas" panose="020B0609020204030204" pitchFamily="49" charset="0"/>
              </a:rPr>
              <a:t>ssh</a:t>
            </a:r>
            <a:r>
              <a:rPr lang="nl-NL" sz="900" dirty="0">
                <a:latin typeface="Consolas" panose="020B0609020204030204" pitchFamily="49" charset="0"/>
                <a:ea typeface="ＭＳ Ｐゴシック" charset="0"/>
                <a:cs typeface="Consolas" panose="020B0609020204030204" pitchFamily="49" charset="0"/>
              </a:rPr>
              <a:t> remote.com</a:t>
            </a:r>
            <a:endParaRPr lang="nl-NL" sz="900" dirty="0">
              <a:latin typeface="Arial" charset="0"/>
              <a:ea typeface="ＭＳ Ｐゴシック" charset="0"/>
            </a:endParaRPr>
          </a:p>
          <a:p>
            <a:pPr fontAlgn="base">
              <a:spcBef>
                <a:spcPct val="0"/>
              </a:spcBef>
              <a:spcAft>
                <a:spcPct val="0"/>
              </a:spcAft>
            </a:pPr>
            <a:r>
              <a:rPr lang="nl-NL" sz="900" dirty="0" err="1">
                <a:latin typeface="Consolas" panose="020B0609020204030204" pitchFamily="49" charset="0"/>
                <a:ea typeface="ＭＳ Ｐゴシック" charset="0"/>
                <a:cs typeface="Consolas" panose="020B0609020204030204" pitchFamily="49" charset="0"/>
              </a:rPr>
              <a:t>fsmythe</a:t>
            </a:r>
            <a:r>
              <a:rPr lang="nl-NL" sz="900" dirty="0">
                <a:latin typeface="Arial" charset="0"/>
                <a:ea typeface="ＭＳ Ｐゴシック" charset="0"/>
              </a:rPr>
              <a:t> (</a:t>
            </a:r>
            <a:r>
              <a:rPr lang="nl-NL" sz="900" i="1" dirty="0">
                <a:latin typeface="Arial" charset="0"/>
                <a:ea typeface="ＭＳ Ｐゴシック" charset="0"/>
              </a:rPr>
              <a:t>username</a:t>
            </a:r>
            <a:r>
              <a:rPr lang="nl-NL" sz="900" dirty="0">
                <a:latin typeface="Arial" charset="0"/>
                <a:ea typeface="ＭＳ Ｐゴシック" charset="0"/>
              </a:rPr>
              <a:t>)</a:t>
            </a:r>
          </a:p>
          <a:p>
            <a:pPr fontAlgn="base">
              <a:spcBef>
                <a:spcPct val="0"/>
              </a:spcBef>
              <a:spcAft>
                <a:spcPct val="0"/>
              </a:spcAft>
            </a:pPr>
            <a:r>
              <a:rPr lang="nl-NL" sz="900" dirty="0">
                <a:latin typeface="Consolas" panose="020B0609020204030204" pitchFamily="49" charset="0"/>
                <a:ea typeface="ＭＳ Ｐゴシック" charset="0"/>
                <a:cs typeface="Consolas" panose="020B0609020204030204" pitchFamily="49" charset="0"/>
              </a:rPr>
              <a:t>r@m$20!0</a:t>
            </a:r>
            <a:r>
              <a:rPr lang="nl-NL" sz="900" dirty="0">
                <a:latin typeface="Arial" charset="0"/>
                <a:ea typeface="ＭＳ Ｐゴシック" charset="0"/>
              </a:rPr>
              <a:t> (</a:t>
            </a:r>
            <a:r>
              <a:rPr lang="nl-NL" sz="900" i="1" dirty="0">
                <a:latin typeface="Arial" charset="0"/>
                <a:ea typeface="ＭＳ Ｐゴシック" charset="0"/>
              </a:rPr>
              <a:t>password</a:t>
            </a:r>
            <a:r>
              <a:rPr lang="nl-NL" sz="900" dirty="0">
                <a:latin typeface="Arial" charset="0"/>
                <a:ea typeface="ＭＳ Ｐゴシック" charset="0"/>
              </a:rPr>
              <a:t>)</a:t>
            </a:r>
          </a:p>
        </p:txBody>
      </p:sp>
      <p:sp>
        <p:nvSpPr>
          <p:cNvPr id="14" name="Rectangle 13"/>
          <p:cNvSpPr/>
          <p:nvPr/>
        </p:nvSpPr>
        <p:spPr bwMode="auto">
          <a:xfrm>
            <a:off x="5225743" y="2858328"/>
            <a:ext cx="1601246" cy="35027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r>
              <a:rPr lang="nl-NL" sz="900" dirty="0">
                <a:latin typeface="Arial" charset="0"/>
                <a:ea typeface="ＭＳ Ｐゴシック" charset="0"/>
              </a:rPr>
              <a:t>SSH server</a:t>
            </a:r>
            <a:br>
              <a:rPr lang="nl-NL" sz="900" dirty="0">
                <a:latin typeface="Arial" charset="0"/>
                <a:ea typeface="ＭＳ Ｐゴシック" charset="0"/>
              </a:rPr>
            </a:br>
            <a:r>
              <a:rPr lang="nl-NL" sz="900" dirty="0">
                <a:latin typeface="Arial" charset="0"/>
                <a:ea typeface="ＭＳ Ｐゴシック" charset="0"/>
              </a:rPr>
              <a:t>(remote host, </a:t>
            </a:r>
            <a:r>
              <a:rPr lang="nl-NL" sz="900" dirty="0">
                <a:latin typeface="Consolas" panose="020B0609020204030204" pitchFamily="49" charset="0"/>
                <a:ea typeface="ＭＳ Ｐゴシック" charset="0"/>
                <a:cs typeface="Consolas" panose="020B0609020204030204" pitchFamily="49" charset="0"/>
              </a:rPr>
              <a:t>remote.com</a:t>
            </a:r>
            <a:r>
              <a:rPr lang="nl-NL" sz="900" dirty="0">
                <a:latin typeface="Arial" charset="0"/>
                <a:ea typeface="ＭＳ Ｐゴシック" charset="0"/>
              </a:rPr>
              <a:t>)</a:t>
            </a:r>
            <a:endParaRPr lang="nl-NL" sz="1050" dirty="0">
              <a:latin typeface="Arial" charset="0"/>
              <a:ea typeface="ＭＳ Ｐゴシック" charset="0"/>
            </a:endParaRPr>
          </a:p>
        </p:txBody>
      </p:sp>
      <p:grpSp>
        <p:nvGrpSpPr>
          <p:cNvPr id="22" name="Group 21"/>
          <p:cNvGrpSpPr/>
          <p:nvPr/>
        </p:nvGrpSpPr>
        <p:grpSpPr>
          <a:xfrm>
            <a:off x="3802637" y="2353789"/>
            <a:ext cx="1979287" cy="253692"/>
            <a:chOff x="3538404" y="2993862"/>
            <a:chExt cx="2639049" cy="338256"/>
          </a:xfrm>
        </p:grpSpPr>
        <p:cxnSp>
          <p:nvCxnSpPr>
            <p:cNvPr id="8" name="Straight Arrow Connector 7"/>
            <p:cNvCxnSpPr/>
            <p:nvPr/>
          </p:nvCxnSpPr>
          <p:spPr bwMode="auto">
            <a:xfrm flipH="1" flipV="1">
              <a:off x="3546183" y="3289913"/>
              <a:ext cx="2556695" cy="470"/>
            </a:xfrm>
            <a:prstGeom prst="straightConnector1">
              <a:avLst/>
            </a:prstGeom>
            <a:solidFill>
              <a:schemeClr val="accent1"/>
            </a:solidFill>
            <a:ln w="38100" cap="flat" cmpd="sng" algn="ctr">
              <a:solidFill>
                <a:schemeClr val="tx1"/>
              </a:solidFill>
              <a:prstDash val="solid"/>
              <a:round/>
              <a:headEnd type="none" w="med" len="med"/>
              <a:tailEnd type="stealth" w="med" len="lg"/>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sp>
          <p:nvSpPr>
            <p:cNvPr id="18" name="Rectangle 17"/>
            <p:cNvSpPr/>
            <p:nvPr/>
          </p:nvSpPr>
          <p:spPr bwMode="auto">
            <a:xfrm>
              <a:off x="3538404" y="2993862"/>
              <a:ext cx="2639049" cy="338256"/>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r>
                <a:rPr lang="nl-NL" sz="900" dirty="0" err="1">
                  <a:latin typeface="Consolas" panose="020B0609020204030204" pitchFamily="49" charset="0"/>
                  <a:ea typeface="ＭＳ Ｐゴシック" charset="0"/>
                  <a:cs typeface="Consolas" panose="020B0609020204030204" pitchFamily="49" charset="0"/>
                </a:rPr>
                <a:t>gPG</a:t>
              </a:r>
              <a:r>
                <a:rPr lang="nl-NL" sz="900" dirty="0">
                  <a:latin typeface="Consolas" panose="020B0609020204030204" pitchFamily="49" charset="0"/>
                  <a:ea typeface="ＭＳ Ｐゴシック" charset="0"/>
                  <a:cs typeface="Consolas" panose="020B0609020204030204" pitchFamily="49" charset="0"/>
                </a:rPr>
                <a:t>}8^5EegWj|Dt</a:t>
              </a:r>
              <a:endParaRPr lang="nl-NL" sz="900" dirty="0">
                <a:latin typeface="Arial" charset="0"/>
                <a:ea typeface="ＭＳ Ｐゴシック" charset="0"/>
              </a:endParaRPr>
            </a:p>
          </p:txBody>
        </p:sp>
      </p:grpSp>
      <p:grpSp>
        <p:nvGrpSpPr>
          <p:cNvPr id="24" name="Group 23"/>
          <p:cNvGrpSpPr/>
          <p:nvPr/>
        </p:nvGrpSpPr>
        <p:grpSpPr>
          <a:xfrm>
            <a:off x="3802638" y="2610325"/>
            <a:ext cx="1979287" cy="260337"/>
            <a:chOff x="3546183" y="3480433"/>
            <a:chExt cx="2639049" cy="347116"/>
          </a:xfrm>
        </p:grpSpPr>
        <p:sp>
          <p:nvSpPr>
            <p:cNvPr id="20" name="Rectangle 19"/>
            <p:cNvSpPr/>
            <p:nvPr/>
          </p:nvSpPr>
          <p:spPr bwMode="auto">
            <a:xfrm>
              <a:off x="3546183" y="3480433"/>
              <a:ext cx="2639049" cy="347116"/>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r>
                <a:rPr lang="nl-NL" sz="900" dirty="0" err="1">
                  <a:latin typeface="Consolas" panose="020B0609020204030204" pitchFamily="49" charset="0"/>
                  <a:ea typeface="ＭＳ Ｐゴシック" charset="0"/>
                  <a:cs typeface="Consolas" panose="020B0609020204030204" pitchFamily="49" charset="0"/>
                </a:rPr>
                <a:t>droMiXZ</a:t>
              </a:r>
              <a:r>
                <a:rPr lang="nl-NL" sz="900" dirty="0">
                  <a:latin typeface="Consolas" panose="020B0609020204030204" pitchFamily="49" charset="0"/>
                  <a:ea typeface="ＭＳ Ｐゴシック" charset="0"/>
                  <a:cs typeface="Consolas" panose="020B0609020204030204" pitchFamily="49" charset="0"/>
                </a:rPr>
                <a:t>&lt;MAS&amp;U354A&amp;`</a:t>
              </a:r>
              <a:endParaRPr lang="nl-NL" sz="900" i="1" dirty="0">
                <a:latin typeface="Arial" charset="0"/>
                <a:ea typeface="ＭＳ Ｐゴシック" charset="0"/>
              </a:endParaRPr>
            </a:p>
          </p:txBody>
        </p:sp>
        <p:cxnSp>
          <p:nvCxnSpPr>
            <p:cNvPr id="25" name="Straight Arrow Connector 24"/>
            <p:cNvCxnSpPr/>
            <p:nvPr/>
          </p:nvCxnSpPr>
          <p:spPr bwMode="auto">
            <a:xfrm flipH="1" flipV="1">
              <a:off x="3546183" y="3758733"/>
              <a:ext cx="2556695" cy="470"/>
            </a:xfrm>
            <a:prstGeom prst="straightConnector1">
              <a:avLst/>
            </a:prstGeom>
            <a:solidFill>
              <a:schemeClr val="accent1"/>
            </a:solidFill>
            <a:ln w="38100" cap="flat" cmpd="sng" algn="ctr">
              <a:solidFill>
                <a:schemeClr val="tx1"/>
              </a:solidFill>
              <a:prstDash val="solid"/>
              <a:round/>
              <a:headEnd type="stealth" w="med" len="lg"/>
              <a:tailEnd type="none" w="med" len="lg"/>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
        <p:nvSpPr>
          <p:cNvPr id="23" name="Rectangle 22"/>
          <p:cNvSpPr/>
          <p:nvPr/>
        </p:nvSpPr>
        <p:spPr bwMode="auto">
          <a:xfrm>
            <a:off x="4534556" y="3917583"/>
            <a:ext cx="1696358" cy="138443"/>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fontAlgn="base">
              <a:spcBef>
                <a:spcPct val="0"/>
              </a:spcBef>
              <a:spcAft>
                <a:spcPct val="0"/>
              </a:spcAft>
            </a:pPr>
            <a:r>
              <a:rPr lang="nl-NL" sz="900" i="1" dirty="0">
                <a:latin typeface="Arial" charset="0"/>
                <a:ea typeface="ＭＳ Ｐゴシック" charset="0"/>
              </a:rPr>
              <a:t>Wat een </a:t>
            </a:r>
            <a:r>
              <a:rPr lang="nl-NL" sz="900" i="1" dirty="0" err="1">
                <a:latin typeface="Arial" charset="0"/>
                <a:ea typeface="ＭＳ Ｐゴシック" charset="0"/>
              </a:rPr>
              <a:t>netwerksniffer</a:t>
            </a:r>
            <a:r>
              <a:rPr lang="nl-NL" sz="900" i="1" dirty="0">
                <a:latin typeface="Arial" charset="0"/>
                <a:ea typeface="ＭＳ Ｐゴシック" charset="0"/>
              </a:rPr>
              <a:t> kan zien</a:t>
            </a:r>
            <a:endParaRPr lang="nl-NL" sz="900" dirty="0">
              <a:latin typeface="Arial" charset="0"/>
              <a:ea typeface="ＭＳ Ｐゴシック" charset="0"/>
            </a:endParaRPr>
          </a:p>
        </p:txBody>
      </p:sp>
      <p:grpSp>
        <p:nvGrpSpPr>
          <p:cNvPr id="30" name="Group 29"/>
          <p:cNvGrpSpPr/>
          <p:nvPr/>
        </p:nvGrpSpPr>
        <p:grpSpPr>
          <a:xfrm>
            <a:off x="3802638" y="2093417"/>
            <a:ext cx="1979287" cy="260337"/>
            <a:chOff x="3546183" y="3480433"/>
            <a:chExt cx="2639049" cy="347116"/>
          </a:xfrm>
        </p:grpSpPr>
        <p:sp>
          <p:nvSpPr>
            <p:cNvPr id="31" name="Rectangle 30"/>
            <p:cNvSpPr/>
            <p:nvPr/>
          </p:nvSpPr>
          <p:spPr bwMode="auto">
            <a:xfrm>
              <a:off x="3546183" y="3480433"/>
              <a:ext cx="2639049" cy="347116"/>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r>
                <a:rPr lang="nl-NL" sz="900" dirty="0">
                  <a:latin typeface="Arial" charset="0"/>
                  <a:ea typeface="ＭＳ Ｐゴシック" charset="0"/>
                </a:rPr>
                <a:t>Connect </a:t>
              </a:r>
              <a:r>
                <a:rPr lang="nl-NL" sz="900" dirty="0" err="1">
                  <a:latin typeface="Arial" charset="0"/>
                  <a:ea typeface="ＭＳ Ｐゴシック" charset="0"/>
                </a:rPr>
                <a:t>to</a:t>
              </a:r>
              <a:r>
                <a:rPr lang="nl-NL" sz="900" dirty="0">
                  <a:latin typeface="Arial" charset="0"/>
                  <a:ea typeface="ＭＳ Ｐゴシック" charset="0"/>
                </a:rPr>
                <a:t> SSH</a:t>
              </a:r>
              <a:endParaRPr lang="nl-NL" sz="900" i="1" dirty="0">
                <a:latin typeface="Arial" charset="0"/>
                <a:ea typeface="ＭＳ Ｐゴシック" charset="0"/>
              </a:endParaRPr>
            </a:p>
          </p:txBody>
        </p:sp>
        <p:cxnSp>
          <p:nvCxnSpPr>
            <p:cNvPr id="32" name="Straight Arrow Connector 31"/>
            <p:cNvCxnSpPr/>
            <p:nvPr/>
          </p:nvCxnSpPr>
          <p:spPr bwMode="auto">
            <a:xfrm flipH="1" flipV="1">
              <a:off x="3546183" y="3758733"/>
              <a:ext cx="2556695" cy="470"/>
            </a:xfrm>
            <a:prstGeom prst="straightConnector1">
              <a:avLst/>
            </a:prstGeom>
            <a:solidFill>
              <a:schemeClr val="accent1"/>
            </a:solidFill>
            <a:ln w="38100" cap="flat" cmpd="sng" algn="ctr">
              <a:solidFill>
                <a:schemeClr val="tx1"/>
              </a:solidFill>
              <a:prstDash val="solid"/>
              <a:round/>
              <a:headEnd type="stealth" w="med" len="lg"/>
              <a:tailEnd type="none" w="med" len="lg"/>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411810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ipe(left)">
                                      <p:cBhvr>
                                        <p:cTn id="7" dur="500"/>
                                        <p:tgtEl>
                                          <p:spTgt spid="13">
                                            <p:txEl>
                                              <p:pRg st="1" end="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right)">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
                                            <p:txEl>
                                              <p:pRg st="2" end="2"/>
                                            </p:txEl>
                                          </p:spTgt>
                                        </p:tgtEl>
                                        <p:attrNameLst>
                                          <p:attrName>style.visibility</p:attrName>
                                        </p:attrNameLst>
                                      </p:cBhvr>
                                      <p:to>
                                        <p:strVal val="visible"/>
                                      </p:to>
                                    </p:set>
                                    <p:animEffect transition="in" filter="wipe(left)">
                                      <p:cBhvr>
                                        <p:cTn id="21" dur="500"/>
                                        <p:tgtEl>
                                          <p:spTgt spid="13">
                                            <p:txEl>
                                              <p:pRg st="2" end="2"/>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Effect transition="in" filter="wipe(left)">
                                      <p:cBhvr>
                                        <p:cTn id="25" dur="500"/>
                                        <p:tgtEl>
                                          <p:spTgt spid="13">
                                            <p:txEl>
                                              <p:pRg st="3" end="3"/>
                                            </p:txEl>
                                          </p:spTgt>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left)">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032"/>
                                        </p:tgtEl>
                                        <p:attrNameLst>
                                          <p:attrName>style.visibility</p:attrName>
                                        </p:attrNameLst>
                                      </p:cBhvr>
                                      <p:to>
                                        <p:strVal val="visible"/>
                                      </p:to>
                                    </p:set>
                                    <p:anim calcmode="lin" valueType="num">
                                      <p:cBhvr additive="base">
                                        <p:cTn id="34" dur="500" fill="hold"/>
                                        <p:tgtEl>
                                          <p:spTgt spid="1032"/>
                                        </p:tgtEl>
                                        <p:attrNameLst>
                                          <p:attrName>ppt_x</p:attrName>
                                        </p:attrNameLst>
                                      </p:cBhvr>
                                      <p:tavLst>
                                        <p:tav tm="0">
                                          <p:val>
                                            <p:strVal val="#ppt_x"/>
                                          </p:val>
                                        </p:tav>
                                        <p:tav tm="100000">
                                          <p:val>
                                            <p:strVal val="#ppt_x"/>
                                          </p:val>
                                        </p:tav>
                                      </p:tavLst>
                                    </p:anim>
                                    <p:anim calcmode="lin" valueType="num">
                                      <p:cBhvr additive="base">
                                        <p:cTn id="35" dur="500" fill="hold"/>
                                        <p:tgtEl>
                                          <p:spTgt spid="1032"/>
                                        </p:tgtEl>
                                        <p:attrNameLst>
                                          <p:attrName>ppt_y</p:attrName>
                                        </p:attrNameLst>
                                      </p:cBhvr>
                                      <p:tavLst>
                                        <p:tav tm="0">
                                          <p:val>
                                            <p:strVal val="1+#ppt_h/2"/>
                                          </p:val>
                                        </p:tav>
                                        <p:tav tm="100000">
                                          <p:val>
                                            <p:strVal val="#ppt_y"/>
                                          </p:val>
                                        </p:tav>
                                      </p:tavLst>
                                    </p:anim>
                                  </p:childTnLst>
                                </p:cTn>
                              </p:par>
                            </p:childTnLst>
                          </p:cTn>
                        </p:par>
                        <p:par>
                          <p:cTn id="36" fill="hold">
                            <p:stCondLst>
                              <p:cond delay="500"/>
                            </p:stCondLst>
                            <p:childTnLst>
                              <p:par>
                                <p:cTn id="37" presetID="2" presetClass="entr" presetSubtype="4" fill="hold" nodeType="after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ppt_x"/>
                                          </p:val>
                                        </p:tav>
                                        <p:tav tm="100000">
                                          <p:val>
                                            <p:strVal val="#ppt_x"/>
                                          </p:val>
                                        </p:tav>
                                      </p:tavLst>
                                    </p:anim>
                                    <p:anim calcmode="lin" valueType="num">
                                      <p:cBhvr additive="base">
                                        <p:cTn id="4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DBAC49F-3800-44B7-4232-DF8226763CD7}"/>
              </a:ext>
            </a:extLst>
          </p:cNvPr>
          <p:cNvSpPr>
            <a:spLocks noGrp="1"/>
          </p:cNvSpPr>
          <p:nvPr>
            <p:ph type="body" sz="quarter" idx="11"/>
          </p:nvPr>
        </p:nvSpPr>
        <p:spPr/>
        <p:txBody>
          <a:bodyPr/>
          <a:lstStyle/>
          <a:p>
            <a:endParaRPr lang="nl-NL"/>
          </a:p>
        </p:txBody>
      </p:sp>
      <p:sp>
        <p:nvSpPr>
          <p:cNvPr id="2" name="Titel 1"/>
          <p:cNvSpPr>
            <a:spLocks noGrp="1"/>
          </p:cNvSpPr>
          <p:nvPr>
            <p:ph type="title"/>
          </p:nvPr>
        </p:nvSpPr>
        <p:spPr/>
        <p:txBody>
          <a:bodyPr/>
          <a:lstStyle/>
          <a:p>
            <a:r>
              <a:rPr lang="nl-NL" dirty="0"/>
              <a:t>Asymmetrische encryptie (public/private </a:t>
            </a:r>
            <a:r>
              <a:rPr lang="nl-NL" dirty="0" err="1"/>
              <a:t>keys</a:t>
            </a:r>
            <a:r>
              <a:rPr lang="nl-NL" dirty="0"/>
              <a:t>)</a:t>
            </a:r>
          </a:p>
        </p:txBody>
      </p:sp>
      <p:sp>
        <p:nvSpPr>
          <p:cNvPr id="4" name="Tijdelijke aanduiding voor dianummer 3"/>
          <p:cNvSpPr>
            <a:spLocks noGrp="1"/>
          </p:cNvSpPr>
          <p:nvPr>
            <p:ph type="sldNum" sz="quarter" idx="4294967295"/>
          </p:nvPr>
        </p:nvSpPr>
        <p:spPr>
          <a:xfrm>
            <a:off x="0" y="0"/>
            <a:ext cx="0" cy="0"/>
          </a:xfrm>
        </p:spPr>
        <p:txBody>
          <a:bodyPr/>
          <a:lstStyle/>
          <a:p>
            <a:fld id="{A9096D49-DAE3-40DE-93E0-41688E0A5016}" type="slidenum">
              <a:rPr lang="nl-NL" smtClean="0"/>
              <a:pPr/>
              <a:t>45</a:t>
            </a:fld>
            <a:endParaRPr lang="nl-NL" dirty="0"/>
          </a:p>
        </p:txBody>
      </p:sp>
      <p:pic>
        <p:nvPicPr>
          <p:cNvPr id="31748" name="Picture 4" descr="Encryption / Decryption"/>
          <p:cNvPicPr>
            <a:picLocks noChangeAspect="1" noChangeArrowheads="1"/>
          </p:cNvPicPr>
          <p:nvPr/>
        </p:nvPicPr>
        <p:blipFill rotWithShape="1">
          <a:blip r:embed="rId3" cstate="print"/>
          <a:srcRect l="762" t="10000" r="620" b="1010"/>
          <a:stretch/>
        </p:blipFill>
        <p:spPr bwMode="auto">
          <a:xfrm>
            <a:off x="1299686" y="1005576"/>
            <a:ext cx="5977731" cy="3763076"/>
          </a:xfrm>
          <a:prstGeom prst="rect">
            <a:avLst/>
          </a:prstGeom>
          <a:noFill/>
        </p:spPr>
      </p:pic>
    </p:spTree>
    <p:extLst>
      <p:ext uri="{BB962C8B-B14F-4D97-AF65-F5344CB8AC3E}">
        <p14:creationId xmlns:p14="http://schemas.microsoft.com/office/powerpoint/2010/main" val="21707911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9E1138-C2DD-0E60-E8B5-8F80F7EE37F6}"/>
              </a:ext>
            </a:extLst>
          </p:cNvPr>
          <p:cNvSpPr>
            <a:spLocks noGrp="1"/>
          </p:cNvSpPr>
          <p:nvPr>
            <p:ph type="body" sz="quarter" idx="11"/>
          </p:nvPr>
        </p:nvSpPr>
        <p:spPr/>
        <p:txBody>
          <a:bodyPr/>
          <a:lstStyle/>
          <a:p>
            <a:endParaRPr lang="nl-NL"/>
          </a:p>
        </p:txBody>
      </p:sp>
      <p:sp>
        <p:nvSpPr>
          <p:cNvPr id="2" name="Titel 1"/>
          <p:cNvSpPr>
            <a:spLocks noGrp="1"/>
          </p:cNvSpPr>
          <p:nvPr>
            <p:ph type="title"/>
          </p:nvPr>
        </p:nvSpPr>
        <p:spPr/>
        <p:txBody>
          <a:bodyPr/>
          <a:lstStyle/>
          <a:p>
            <a:pPr>
              <a:buNone/>
            </a:pPr>
            <a:r>
              <a:rPr lang="nl-NL" dirty="0"/>
              <a:t>Asymmetrische authenticatie (digitaal ondertekenen)</a:t>
            </a:r>
          </a:p>
        </p:txBody>
      </p:sp>
      <p:sp>
        <p:nvSpPr>
          <p:cNvPr id="4" name="Tijdelijke aanduiding voor dianummer 3"/>
          <p:cNvSpPr>
            <a:spLocks noGrp="1"/>
          </p:cNvSpPr>
          <p:nvPr>
            <p:ph type="sldNum" sz="quarter" idx="4294967295"/>
          </p:nvPr>
        </p:nvSpPr>
        <p:spPr>
          <a:xfrm>
            <a:off x="0" y="0"/>
            <a:ext cx="0" cy="0"/>
          </a:xfrm>
        </p:spPr>
        <p:txBody>
          <a:bodyPr/>
          <a:lstStyle/>
          <a:p>
            <a:fld id="{A9096D49-DAE3-40DE-93E0-41688E0A5016}" type="slidenum">
              <a:rPr lang="nl-NL" smtClean="0"/>
              <a:pPr/>
              <a:t>46</a:t>
            </a:fld>
            <a:endParaRPr lang="nl-NL" dirty="0"/>
          </a:p>
        </p:txBody>
      </p:sp>
      <p:pic>
        <p:nvPicPr>
          <p:cNvPr id="32772" name="Picture 4" descr="Digital Signature"/>
          <p:cNvPicPr>
            <a:picLocks noChangeAspect="1" noChangeArrowheads="1"/>
          </p:cNvPicPr>
          <p:nvPr/>
        </p:nvPicPr>
        <p:blipFill rotWithShape="1">
          <a:blip r:embed="rId3" cstate="print"/>
          <a:srcRect l="590" t="10593" r="602" b="840"/>
          <a:stretch/>
        </p:blipFill>
        <p:spPr bwMode="auto">
          <a:xfrm>
            <a:off x="1788300" y="1177200"/>
            <a:ext cx="5198307" cy="3272400"/>
          </a:xfrm>
          <a:prstGeom prst="rect">
            <a:avLst/>
          </a:prstGeom>
          <a:noFill/>
        </p:spPr>
      </p:pic>
    </p:spTree>
    <p:extLst>
      <p:ext uri="{BB962C8B-B14F-4D97-AF65-F5344CB8AC3E}">
        <p14:creationId xmlns:p14="http://schemas.microsoft.com/office/powerpoint/2010/main" val="11866896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el 1"/>
          <p:cNvSpPr>
            <a:spLocks noGrp="1"/>
          </p:cNvSpPr>
          <p:nvPr>
            <p:ph type="title"/>
          </p:nvPr>
        </p:nvSpPr>
        <p:spPr/>
        <p:txBody>
          <a:bodyPr/>
          <a:lstStyle/>
          <a:p>
            <a:r>
              <a:rPr lang="nl-NL" altLang="nl-NL"/>
              <a:t>Vragen?</a:t>
            </a:r>
          </a:p>
        </p:txBody>
      </p:sp>
      <p:sp>
        <p:nvSpPr>
          <p:cNvPr id="5" name="Rectangle 4"/>
          <p:cNvSpPr/>
          <p:nvPr/>
        </p:nvSpPr>
        <p:spPr>
          <a:xfrm>
            <a:off x="3097701" y="316186"/>
            <a:ext cx="2432077" cy="4508927"/>
          </a:xfrm>
          <a:prstGeom prst="rect">
            <a:avLst/>
          </a:prstGeom>
          <a:noFill/>
        </p:spPr>
        <p:txBody>
          <a:bodyPr wrap="none" lIns="91440" tIns="45720" rIns="91440" bIns="45720">
            <a:spAutoFit/>
          </a:bodyPr>
          <a:lstStyle/>
          <a:p>
            <a:pPr algn="ctr"/>
            <a:r>
              <a:rPr lang="en-US" sz="287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3874153175"/>
      </p:ext>
    </p:extLst>
  </p:cSld>
  <p:clrMapOvr>
    <a:masterClrMapping/>
  </p:clrMapOvr>
</p:sld>
</file>

<file path=ppt/theme/theme1.xml><?xml version="1.0" encoding="utf-8"?>
<a:theme xmlns:a="http://schemas.openxmlformats.org/drawingml/2006/main" name="HU_powerpoint_breed">
  <a:themeElements>
    <a:clrScheme name="Custom 1">
      <a:dk1>
        <a:srgbClr val="000000"/>
      </a:dk1>
      <a:lt1>
        <a:srgbClr val="FFFFFF"/>
      </a:lt1>
      <a:dk2>
        <a:srgbClr val="E6302B"/>
      </a:dk2>
      <a:lt2>
        <a:srgbClr val="00A1E1"/>
      </a:lt2>
      <a:accent1>
        <a:srgbClr val="00A1E1"/>
      </a:accent1>
      <a:accent2>
        <a:srgbClr val="E6302B"/>
      </a:accent2>
      <a:accent3>
        <a:srgbClr val="FFFFFF"/>
      </a:accent3>
      <a:accent4>
        <a:srgbClr val="FFFFFF"/>
      </a:accent4>
      <a:accent5>
        <a:srgbClr val="FFFFFF"/>
      </a:accent5>
      <a:accent6>
        <a:srgbClr val="FFFFFF"/>
      </a:accent6>
      <a:hlink>
        <a:srgbClr val="005070"/>
      </a:hlink>
      <a:folHlink>
        <a:srgbClr val="005070"/>
      </a:folHlink>
    </a:clrScheme>
    <a:fontScheme name="Office - klassie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5" id="{1D63E0F2-FB9A-49BF-84FF-B4AE7725241B}" vid="{2C3128D6-C568-4DA5-98E6-FC04C224662D}"/>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HU_powerpoint_breed aanpassing Martijn</Template>
  <TotalTime>389</TotalTime>
  <Words>3367</Words>
  <Application>Microsoft Office PowerPoint</Application>
  <PresentationFormat>On-screen Show (16:9)</PresentationFormat>
  <Paragraphs>480</Paragraphs>
  <Slides>47</Slides>
  <Notes>27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Consolas</vt:lpstr>
      <vt:lpstr>Courier New</vt:lpstr>
      <vt:lpstr>Wingdings</vt:lpstr>
      <vt:lpstr>HU_powerpoint_breed</vt:lpstr>
      <vt:lpstr>PowerPoint Presentation</vt:lpstr>
      <vt:lpstr>Platformen</vt:lpstr>
      <vt:lpstr>Permissies en rechten Windows</vt:lpstr>
      <vt:lpstr>Permissions Windows (1)</vt:lpstr>
      <vt:lpstr>Permissions Windows (2)</vt:lpstr>
      <vt:lpstr>Permissions Windows(3)</vt:lpstr>
      <vt:lpstr>Allow &amp; Deny Windows</vt:lpstr>
      <vt:lpstr>Wat mag Bob?</vt:lpstr>
      <vt:lpstr>Wat mag Bob?</vt:lpstr>
      <vt:lpstr>ACL &amp; ACE Windows</vt:lpstr>
      <vt:lpstr>Security Identifiers (SID)</vt:lpstr>
      <vt:lpstr>SID structure</vt:lpstr>
      <vt:lpstr>SID Structure &amp; GUID</vt:lpstr>
      <vt:lpstr>Effect op NTFS permissies bij kopiëren en verplaatsen </vt:lpstr>
      <vt:lpstr>FileShare op Windows Server Core</vt:lpstr>
      <vt:lpstr>Windows permissies toekennen</vt:lpstr>
      <vt:lpstr>Bestandsrechten Linux (1)</vt:lpstr>
      <vt:lpstr>Bestandsrechten Linux (2)</vt:lpstr>
      <vt:lpstr>Bestandsrechten Linux (3)</vt:lpstr>
      <vt:lpstr>Bestandsrechten Linux (3)</vt:lpstr>
      <vt:lpstr>Bestandsrechten Linux (3)</vt:lpstr>
      <vt:lpstr>Extensions to the standard ACL</vt:lpstr>
      <vt:lpstr>Pluggable Authentication Modules (PAM)</vt:lpstr>
      <vt:lpstr>Kerberos: Network Cryptographic authentication</vt:lpstr>
      <vt:lpstr>Modern Access Control</vt:lpstr>
      <vt:lpstr>Modern Access Control</vt:lpstr>
      <vt:lpstr>SELinux</vt:lpstr>
      <vt:lpstr>SELinux tools</vt:lpstr>
      <vt:lpstr>SELinux status</vt:lpstr>
      <vt:lpstr>SELinux enforcement</vt:lpstr>
      <vt:lpstr>SELinux booleans</vt:lpstr>
      <vt:lpstr>SELinux contexts</vt:lpstr>
      <vt:lpstr>SELinux file context</vt:lpstr>
      <vt:lpstr>SSH, the Secure SHell</vt:lpstr>
      <vt:lpstr>SSH (2)</vt:lpstr>
      <vt:lpstr>SSH (3)</vt:lpstr>
      <vt:lpstr>SSH (4)</vt:lpstr>
      <vt:lpstr>SSH (5)</vt:lpstr>
      <vt:lpstr>SSH (6)</vt:lpstr>
      <vt:lpstr>SSH (7)</vt:lpstr>
      <vt:lpstr>SSH (8)</vt:lpstr>
      <vt:lpstr>SSH (9)</vt:lpstr>
      <vt:lpstr>SSH (1)</vt:lpstr>
      <vt:lpstr>SSH (2)</vt:lpstr>
      <vt:lpstr>Asymmetrische encryptie (public/private keys)</vt:lpstr>
      <vt:lpstr>Asymmetrische authenticatie (digitaal ondertekenen)</vt:lpstr>
      <vt:lpstr>Vragen?</vt:lpstr>
    </vt:vector>
  </TitlesOfParts>
  <Company>Hogeschool Utrecht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Marco van den Boogaard</dc:creator>
  <cp:lastModifiedBy>Marco van den Boogaard</cp:lastModifiedBy>
  <cp:revision>3</cp:revision>
  <dcterms:created xsi:type="dcterms:W3CDTF">2025-03-28T17:41:24Z</dcterms:created>
  <dcterms:modified xsi:type="dcterms:W3CDTF">2025-09-30T13:11:19Z</dcterms:modified>
</cp:coreProperties>
</file>